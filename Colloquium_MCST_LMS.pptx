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8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day. We present our capstone: a Business Intelligence-Enabled Web-Based Library Management System for Academic Resource Planning at MCST. The main highlight of this talk is the features of the system: what it can do, how it was tested, and what it can give the school.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Macro context only - no MCST problems on this slide. Academic libraries globally are moving from mere automation to analytics-based management; BI turns transactions into decision support; web-based systems extend services beyond library walls. This matters most for small/mid-sized schools like MCST, which keeps growing. The study responds with a web-based LMS with embedded BI, aligned with SDG 4 and SDG 9.</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scene-setting slide. The honest picture: KOHA is installed, but it is way too difficult for the librarian to use because of its complex interface, and it does not have an integrated Business Intelligence. For borrowings, in-library borrowing is still manual - students log onto a sheet of what book they borrowed, their program, and their name. Same with overnight borrowing: it is written on a sheet, which is later inputted into KOHA. That makes the current system fragmented, and it lacks analytics.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One combined slide: what the interviews and walkthrough found, stated plainly, closing with the literature gap. Say aloud: 'these were not assumptions - we asked the staff about their week.' KOHA is way too difficult for the librarian to use because of its complex interface, and it does not have an integrated Business Intelligence; in-library borrowing is still manual via a sheet, and overnight borrowing is written on a sheet and inputted into KOHA later. Hence: fragmented, and lacking analytics - which matches the gap documented in Chapter 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maps each issue from the interviews to what the built system does about it. Read left to right. Note the paper-sheet row: the biggest mitigation is that borrowing itself becomes a system transaction instead of a sheet re-encoded later. Keep this brief - the features that follow prove each row.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Keep it simple: imagine an online form (the browser), the staff office that approves everything (the Flask app on Render), and the filing cabinet (the PostgreSQL database on Neon). A user clicks something in the browser, the app checks who you are and what your role is allowed to do, it reads or updates the database, then sends the result back to the browser. Google handles the sign-in with school accounts, and every critical action is logged.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Access begins with Google school-account sign-in restricted to mcst.edu.ph. New students and faculty choose their role and wait for approval. Once in, four roles control what each person sees. Every critical action is recorded in the audit trail, so accountability is now defined by role.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Cataloging is on the browser - the librarian can encode from any authorized location. Accession numbers are managed automatically. For large collections, a CSV bulk import handles up to a thousand records with per-row validation, running in the background so the librarian does not wait - a workaround for periods of weak connectivity.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public catalog is what students and faculty see. Search across fields, filter like a scholar search, and read availability at a glance. Search performance held up in testing even with a few thousand accession records thanks to indexed, parameterized queries.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Circulation directly answers the paper-sheet problem: borrowing and returning are processed in the browser, so the system record is the real record - no re-encoding later. Due dates and fines are computed automatically, and overdue reminders go out in-system.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Reservations consolidate into the same platform with a first-come, first-served queue and a two-hour claim window. Notifications warn of due dates and tell users when reserved books are ready - no more manual follow-ups.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Users can request titles the library lacks; requests are tracked to approval. The profile page gives live counts of what you have borrowed and what is overdue, and history consolidates everything. Faculty reported this as the clearest reduction in manual follow-up.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Administration covers accounts, statuses, and roles - with archived-first deletion. Administrators review the audit trail to see who did what. Backups are automatic dumps plus managed point-in-time recovery. All 7 security tests passed in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answer to 'KOHA has no integrated BI'. The Reporting Dashboard has four tabs, and each gets its own slide next. Circulation Tracking answers 'where does every book and copy stand right now'; Library Analytics answers 'what patterns are happening and what may happen next'; Department Analytics compares programs; Resource Analytics drills into one book. All KPIs were checked against manual computation before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First tab: Circulation Tracking. It shows the current status of all books and copies - KPI cards, donut breakdowns by category and status, and a live table of recent copies. This is the librarian's situational dashboard: at a glance, what is where, without walking the shelves.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Second tab: Library Analytics, shown in the screenshot. Borrowing patterns by day with a 30-day moving-average forecast, top categories, peak periods, and forecast summaries. The rule-based insight is important: 'what may happen next' is a moving average, not machine learning - final decisions remain with the librarian.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Third tab: Department Analytics. Usage compared across programs and departments - borrowings, borrowers, overdues. This is the direct answer to the old problem that program chairs and deans had no evidence: now the comparison is a screen, not a manual tally.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Fourth tab - labeled 'Book Analytics' in the interface, Resource Analytics in scope: it drills into a single book's traffic - borrows, trend, borrowers, copies, and e-book activity. This is copy-level demand intelligence: does this title deserve another copy, or is one copy enough?</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Testing moved through five phases: unit tests during development; alpha by the team; beta with the librarian and selected faculty; the formal ISO 25010 evaluation; then UAT with 87 users. Key operations were also timed with Python functions and all completed within acceptable range.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Present results as a module overview rather than per problem - per the adviser's guidance. Remote access: all five tasks passed. Integration: the whole chain worked end-to-end. Analytics: KPIs matched. Security: all seven tests passed. Keep the summary of findings descriptive - stating what the figures show, in plain language.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ISO evaluation by 4 IT experts and the librarian gave an overall mean of 3.81 - Highly Acceptable across all eight characteristics. The strongest: functional suitability, compatibility, and usability. The lowest: reliability at 3.60 - still Highly Acceptable, but the area where future work starts. Scale: 3.26-4.00 = Highly Acceptable.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UAT summary of findings, presented descriptively: all six section means are Highly Acceptable, with overall acceptability at 3.43 and a grand mean of 3.36. The strongest single answer overall: the system is beneficial for academic resource planning (3.46) - which is exactly the BI purpose of the system.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Recommendations are organized by stakeholder in Chapter 5; these seven capture all of them in speaker-friendly form. Lead with reliability since it is the lowest ISO score, and note that access permissions and trend identification tied in the low 3.20s among UAT items.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Close with who benefits: the librarian gains automation; students and faculty gain access and transparency; chairs and deans gain evidence for budget decisions; the institution gains a quality-baseline and DPA-aligned records; and future researchers gain a working reference.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the panel and open the floor for questions. Anticipate: how fines are computed, why analytics stop at rule-based forecasts, and reliability improvements.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4" name="TextBox 3"/>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a:t>
            </a:r>
            <a:endParaRPr sz="900">
              <a:solidFill>
                <a:srgbClr val="6B7280"/>
              </a:solidFill>
              <a:latin typeface="Calibri" panose="020F0502020204030204"/>
            </a:endParaRPr>
          </a:p>
        </p:txBody>
      </p:sp>
      <p:sp>
        <p:nvSpPr>
          <p:cNvPr id="5" name="Rectangle 4"/>
          <p:cNvSpPr/>
          <p:nvPr/>
        </p:nvSpPr>
        <p:spPr>
          <a:xfrm>
            <a:off x="164592" y="0"/>
            <a:ext cx="12024360"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2194560"/>
          </a:xfrm>
          <a:prstGeom prst="rect">
            <a:avLst/>
          </a:prstGeom>
          <a:noFill/>
        </p:spPr>
        <p:txBody>
          <a:bodyPr wrap="square">
            <a:spAutoFit/>
          </a:bodyPr>
          <a:lstStyle/>
          <a:p>
            <a:r>
              <a:rPr sz="3400" b="1">
                <a:solidFill>
                  <a:srgbClr val="FFFFFF"/>
                </a:solidFill>
                <a:latin typeface="Calibri" panose="020F0502020204030204"/>
              </a:rPr>
              <a:t>Business Intelligence-Enabled Web-Based Library Management System for Academic Resource Planning</a:t>
            </a:r>
            <a:endParaRPr sz="3400" b="1">
              <a:solidFill>
                <a:srgbClr val="FFFFFF"/>
              </a:solidFill>
              <a:latin typeface="Calibri" panose="020F0502020204030204"/>
            </a:endParaRPr>
          </a:p>
        </p:txBody>
      </p:sp>
      <p:sp>
        <p:nvSpPr>
          <p:cNvPr id="7" name="TextBox 6"/>
          <p:cNvSpPr txBox="1"/>
          <p:nvPr/>
        </p:nvSpPr>
        <p:spPr>
          <a:xfrm>
            <a:off x="914400" y="3566160"/>
            <a:ext cx="10332720" cy="1828800"/>
          </a:xfrm>
          <a:prstGeom prst="rect">
            <a:avLst/>
          </a:prstGeom>
          <a:noFill/>
        </p:spPr>
        <p:txBody>
          <a:bodyPr wrap="square">
            <a:spAutoFit/>
          </a:bodyPr>
          <a:lstStyle/>
          <a:p>
            <a:r>
              <a:rPr sz="2000">
                <a:solidFill>
                  <a:srgbClr val="C9A227"/>
                </a:solidFill>
                <a:latin typeface="Calibri" panose="020F0502020204030204"/>
              </a:rPr>
              <a:t>Research Colloquium</a:t>
            </a:r>
            <a:endParaRPr sz="2000">
              <a:solidFill>
                <a:srgbClr val="C9A227"/>
              </a:solidFill>
              <a:latin typeface="Calibri" panose="020F0502020204030204"/>
            </a:endParaRPr>
          </a:p>
          <a:p>
            <a:r>
              <a:rPr sz="1600">
                <a:solidFill>
                  <a:srgbClr val="FFFFFF"/>
                </a:solidFill>
                <a:latin typeface="Calibri" panose="020F0502020204030204"/>
              </a:rPr>
              <a:t>Mandaluyong College of Science and Technology</a:t>
            </a:r>
            <a:endParaRPr sz="1600">
              <a:solidFill>
                <a:srgbClr val="FFFFFF"/>
              </a:solidFill>
              <a:latin typeface="Calibri" panose="020F0502020204030204"/>
            </a:endParaRPr>
          </a:p>
          <a:p>
            <a:r>
              <a:rPr sz="1400">
                <a:solidFill>
                  <a:srgbClr val="C8CEDA"/>
                </a:solidFill>
                <a:latin typeface="Calibri" panose="020F0502020204030204"/>
              </a:rPr>
              <a:t>Bachelor of Science in Information Systems - Research Team   |   October 2026</a:t>
            </a:r>
            <a:endParaRPr sz="1400">
              <a:solidFill>
                <a:srgbClr val="C8CEDA"/>
              </a:solidFill>
              <a:latin typeface="Calibri" panose="020F0502020204030204"/>
            </a:endParaRPr>
          </a:p>
        </p:txBody>
      </p:sp>
      <p:pic>
        <p:nvPicPr>
          <p:cNvPr id="8" name="Picture 7" descr="Library_Logo.jpg"/>
          <p:cNvPicPr>
            <a:picLocks noChangeAspect="1"/>
          </p:cNvPicPr>
          <p:nvPr/>
        </p:nvPicPr>
        <p:blipFill>
          <a:blip r:embed="rId1"/>
          <a:stretch>
            <a:fillRect/>
          </a:stretch>
        </p:blipFill>
        <p:spPr>
          <a:xfrm>
            <a:off x="914400" y="539496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CONTEXT</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Background of the Study</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a:t>
            </a:r>
            <a:endParaRPr sz="900">
              <a:solidFill>
                <a:srgbClr val="6B7280"/>
              </a:solidFill>
              <a:latin typeface="Calibri" panose="020F0502020204030204"/>
            </a:endParaRPr>
          </a:p>
        </p:txBody>
      </p:sp>
      <p:sp>
        <p:nvSpPr>
          <p:cNvPr id="7" name="TextBox 6"/>
          <p:cNvSpPr txBox="1"/>
          <p:nvPr/>
        </p:nvSpPr>
        <p:spPr>
          <a:xfrm>
            <a:off x="548640" y="1600200"/>
            <a:ext cx="11064240" cy="4572000"/>
          </a:xfrm>
          <a:prstGeom prst="rect">
            <a:avLst/>
          </a:prstGeom>
          <a:noFill/>
        </p:spPr>
        <p:txBody>
          <a:bodyPr wrap="square">
            <a:spAutoFit/>
          </a:bodyPr>
          <a:lstStyle/>
          <a:p>
            <a:pPr>
              <a:spcAft>
                <a:spcPts val="1000"/>
              </a:spcAft>
            </a:pPr>
            <a:r>
              <a:rPr sz="1700">
                <a:solidFill>
                  <a:srgbClr val="2E333C"/>
                </a:solidFill>
                <a:latin typeface="Calibri" panose="020F0502020204030204"/>
              </a:rPr>
              <a:t>•  Academic libraries are shifting from record-keeping automation to analytics-based resource management - turning everyday transactions into figures that support collection decisions (Roy, 2025; Sukula et al., 2023; Wan Abas &amp; Mustapha, 2025).</a:t>
            </a:r>
            <a:endParaRPr sz="1700">
              <a:solidFill>
                <a:srgbClr val="2E333C"/>
              </a:solidFill>
              <a:latin typeface="Calibri" panose="020F0502020204030204"/>
            </a:endParaRPr>
          </a:p>
          <a:p>
            <a:pPr>
              <a:spcAft>
                <a:spcPts val="1000"/>
              </a:spcAft>
            </a:pPr>
            <a:r>
              <a:rPr sz="1700">
                <a:solidFill>
                  <a:srgbClr val="2E333C"/>
                </a:solidFill>
                <a:latin typeface="Calibri" panose="020F0502020204030204"/>
              </a:rPr>
              <a:t>•  Web-based systems make library services accessible beyond the library walls, supporting remote work and self-service (Chavan &amp; Hase, 2025).</a:t>
            </a:r>
            <a:endParaRPr sz="1700">
              <a:solidFill>
                <a:srgbClr val="2E333C"/>
              </a:solidFill>
              <a:latin typeface="Calibri" panose="020F0502020204030204"/>
            </a:endParaRPr>
          </a:p>
          <a:p>
            <a:pPr>
              <a:spcAft>
                <a:spcPts val="1000"/>
              </a:spcAft>
            </a:pPr>
            <a:r>
              <a:rPr sz="1700">
                <a:solidFill>
                  <a:srgbClr val="2E333C"/>
                </a:solidFill>
                <a:latin typeface="Calibri" panose="020F0502020204030204"/>
              </a:rPr>
              <a:t>•  This shift matters most for small to mid-sized institutions, where technology infrastructure and data capabilities are limited.</a:t>
            </a:r>
            <a:endParaRPr sz="1700">
              <a:solidFill>
                <a:srgbClr val="2E333C"/>
              </a:solidFill>
              <a:latin typeface="Calibri" panose="020F0502020204030204"/>
            </a:endParaRPr>
          </a:p>
          <a:p>
            <a:pPr>
              <a:spcAft>
                <a:spcPts val="1000"/>
              </a:spcAft>
            </a:pPr>
            <a:r>
              <a:rPr sz="1700">
                <a:solidFill>
                  <a:srgbClr val="2E333C"/>
                </a:solidFill>
                <a:latin typeface="Calibri" panose="020F0502020204030204"/>
              </a:rPr>
              <a:t>•  MCST keeps growing - enrollment, borrowing activity, and collection volume increase year after year.</a:t>
            </a:r>
            <a:endParaRPr sz="1700">
              <a:solidFill>
                <a:srgbClr val="2E333C"/>
              </a:solidFill>
              <a:latin typeface="Calibri" panose="020F0502020204030204"/>
            </a:endParaRPr>
          </a:p>
          <a:p>
            <a:pPr>
              <a:spcAft>
                <a:spcPts val="1000"/>
              </a:spcAft>
            </a:pPr>
            <a:r>
              <a:rPr sz="1700">
                <a:solidFill>
                  <a:srgbClr val="2E333C"/>
                </a:solidFill>
                <a:latin typeface="Calibri" panose="020F0502020204030204"/>
              </a:rPr>
              <a:t>•  The study responds with a web-based Library Management System with Business Intelligence embedded in its operations.</a:t>
            </a:r>
            <a:endParaRPr sz="1700">
              <a:solidFill>
                <a:srgbClr val="2E333C"/>
              </a:solidFill>
              <a:latin typeface="Calibri" panose="020F0502020204030204"/>
            </a:endParaRPr>
          </a:p>
          <a:p>
            <a:pPr>
              <a:spcAft>
                <a:spcPts val="1000"/>
              </a:spcAft>
            </a:pPr>
            <a:r>
              <a:rPr sz="1700">
                <a:solidFill>
                  <a:srgbClr val="2E333C"/>
                </a:solidFill>
                <a:latin typeface="Calibri" panose="020F0502020204030204"/>
              </a:rPr>
              <a:t>•  Aligned with SDG 4 (Quality Education) and SDG 9 (Industry, Innovation, and Infrastructure).</a:t>
            </a:r>
            <a:endParaRPr sz="1700">
              <a:solidFill>
                <a:srgbClr val="2E333C"/>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CONTEXT</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Current System at MCST: KOHA + Paper Sheets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3</a:t>
            </a:r>
            <a:endParaRPr sz="900">
              <a:solidFill>
                <a:srgbClr val="6B7280"/>
              </a:solidFill>
              <a:latin typeface="Calibri" panose="020F0502020204030204"/>
            </a:endParaRPr>
          </a:p>
        </p:txBody>
      </p:sp>
      <p:sp>
        <p:nvSpPr>
          <p:cNvPr id="7" name="TextBox 6"/>
          <p:cNvSpPr txBox="1"/>
          <p:nvPr/>
        </p:nvSpPr>
        <p:spPr>
          <a:xfrm>
            <a:off x="548640" y="1554480"/>
            <a:ext cx="11064240" cy="1737360"/>
          </a:xfrm>
          <a:prstGeom prst="rect">
            <a:avLst/>
          </a:prstGeom>
          <a:noFill/>
        </p:spPr>
        <p:txBody>
          <a:bodyPr wrap="square">
            <a:spAutoFit/>
          </a:bodyPr>
          <a:lstStyle/>
          <a:p>
            <a:pPr>
              <a:spcAft>
                <a:spcPts val="800"/>
              </a:spcAft>
            </a:pPr>
            <a:r>
              <a:rPr sz="1700">
                <a:solidFill>
                  <a:srgbClr val="2E333C"/>
                </a:solidFill>
                <a:latin typeface="Calibri" panose="020F0502020204030204"/>
              </a:rPr>
              <a:t>•  The library's system is KOHA - but its complex user interface makes it too difficult for the librarian to use day to day.</a:t>
            </a:r>
            <a:endParaRPr sz="1700">
              <a:solidFill>
                <a:srgbClr val="2E333C"/>
              </a:solidFill>
              <a:latin typeface="Calibri" panose="020F0502020204030204"/>
            </a:endParaRPr>
          </a:p>
          <a:p>
            <a:pPr>
              <a:spcAft>
                <a:spcPts val="800"/>
              </a:spcAft>
            </a:pPr>
            <a:r>
              <a:rPr sz="1700">
                <a:solidFill>
                  <a:srgbClr val="2E333C"/>
                </a:solidFill>
                <a:latin typeface="Calibri" panose="020F0502020204030204"/>
              </a:rPr>
              <a:t>•  KOHA has no integrated Business Intelligence - it stores records but does not analyze them.</a:t>
            </a:r>
            <a:endParaRPr sz="1700">
              <a:solidFill>
                <a:srgbClr val="2E333C"/>
              </a:solidFill>
              <a:latin typeface="Calibri" panose="020F0502020204030204"/>
            </a:endParaRPr>
          </a:p>
          <a:p>
            <a:pPr>
              <a:spcAft>
                <a:spcPts val="800"/>
              </a:spcAft>
            </a:pPr>
            <a:r>
              <a:rPr sz="1700">
                <a:solidFill>
                  <a:srgbClr val="2E333C"/>
                </a:solidFill>
                <a:latin typeface="Calibri" panose="020F0502020204030204"/>
              </a:rPr>
              <a:t>•  Daily borrowing bypasses the system entirely - it runs on paper:</a:t>
            </a:r>
            <a:endParaRPr sz="1700">
              <a:solidFill>
                <a:srgbClr val="2E333C"/>
              </a:solidFill>
              <a:latin typeface="Calibri" panose="020F0502020204030204"/>
            </a:endParaRPr>
          </a:p>
        </p:txBody>
      </p:sp>
      <p:sp>
        <p:nvSpPr>
          <p:cNvPr id="8" name="Rounded Rectangle 7"/>
          <p:cNvSpPr/>
          <p:nvPr/>
        </p:nvSpPr>
        <p:spPr>
          <a:xfrm>
            <a:off x="548640" y="2880360"/>
            <a:ext cx="2606040" cy="868680"/>
          </a:xfrm>
          <a:prstGeom prst="round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ctr"/>
            <a:r>
              <a:rPr sz="1200" b="1">
                <a:solidFill>
                  <a:srgbClr val="FFFFFF"/>
                </a:solidFill>
                <a:latin typeface="Calibri" panose="020F0502020204030204"/>
              </a:rPr>
              <a:t>Student borrows (in-library / overnight)</a:t>
            </a:r>
            <a:endParaRPr sz="1200" b="1">
              <a:solidFill>
                <a:srgbClr val="FFFFFF"/>
              </a:solidFill>
              <a:latin typeface="Calibri" panose="020F0502020204030204"/>
            </a:endParaRPr>
          </a:p>
        </p:txBody>
      </p:sp>
      <p:sp>
        <p:nvSpPr>
          <p:cNvPr id="9" name="Rounded Rectangle 8"/>
          <p:cNvSpPr/>
          <p:nvPr/>
        </p:nvSpPr>
        <p:spPr>
          <a:xfrm>
            <a:off x="3355848" y="2880360"/>
            <a:ext cx="2606040" cy="8686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ctr"/>
            <a:r>
              <a:rPr sz="1200" b="1">
                <a:solidFill>
                  <a:srgbClr val="FFFFFF"/>
                </a:solidFill>
                <a:latin typeface="Calibri" panose="020F0502020204030204"/>
              </a:rPr>
              <a:t>Paper log sheet: book + program + name</a:t>
            </a:r>
            <a:endParaRPr sz="1200" b="1">
              <a:solidFill>
                <a:srgbClr val="FFFFFF"/>
              </a:solidFill>
              <a:latin typeface="Calibri" panose="020F0502020204030204"/>
            </a:endParaRPr>
          </a:p>
        </p:txBody>
      </p:sp>
      <p:sp>
        <p:nvSpPr>
          <p:cNvPr id="10" name="Rounded Rectangle 9"/>
          <p:cNvSpPr/>
          <p:nvPr/>
        </p:nvSpPr>
        <p:spPr>
          <a:xfrm>
            <a:off x="6163056" y="2880360"/>
            <a:ext cx="2606040" cy="868680"/>
          </a:xfrm>
          <a:prstGeom prst="round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ctr"/>
            <a:r>
              <a:rPr sz="1200" b="1">
                <a:solidFill>
                  <a:srgbClr val="FFFFFF"/>
                </a:solidFill>
                <a:latin typeface="Calibri" panose="020F0502020204030204"/>
              </a:rPr>
              <a:t>Sheets re-encoded into KOHA later</a:t>
            </a:r>
            <a:endParaRPr sz="1200" b="1">
              <a:solidFill>
                <a:srgbClr val="FFFFFF"/>
              </a:solidFill>
              <a:latin typeface="Calibri" panose="020F0502020204030204"/>
            </a:endParaRPr>
          </a:p>
        </p:txBody>
      </p:sp>
      <p:sp>
        <p:nvSpPr>
          <p:cNvPr id="11" name="Rounded Rectangle 10"/>
          <p:cNvSpPr/>
          <p:nvPr/>
        </p:nvSpPr>
        <p:spPr>
          <a:xfrm>
            <a:off x="8970264" y="2880360"/>
            <a:ext cx="2606040" cy="8686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ctr"/>
            <a:r>
              <a:rPr sz="1200" b="1">
                <a:solidFill>
                  <a:srgbClr val="FFFFFF"/>
                </a:solidFill>
                <a:latin typeface="Calibri" panose="020F0502020204030204"/>
              </a:rPr>
              <a:t>Manual tallies &amp; reports</a:t>
            </a:r>
            <a:endParaRPr sz="1200" b="1">
              <a:solidFill>
                <a:srgbClr val="FFFFFF"/>
              </a:solidFill>
              <a:latin typeface="Calibri" panose="020F0502020204030204"/>
            </a:endParaRPr>
          </a:p>
        </p:txBody>
      </p:sp>
      <p:sp>
        <p:nvSpPr>
          <p:cNvPr id="12" name="Rounded Rectangle 11"/>
          <p:cNvSpPr/>
          <p:nvPr/>
        </p:nvSpPr>
        <p:spPr>
          <a:xfrm>
            <a:off x="548640" y="4069080"/>
            <a:ext cx="11064240" cy="566928"/>
          </a:xfrm>
          <a:prstGeom prst="round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l"/>
            <a:r>
              <a:rPr sz="1400" b="1">
                <a:solidFill>
                  <a:srgbClr val="2E333C"/>
                </a:solidFill>
                <a:latin typeface="Calibri" panose="020F0502020204030204"/>
              </a:rPr>
              <a:t>Result: a fragmented system - the paper record is the real one, KOHA lags behind, and nothing is analyzed.</a:t>
            </a:r>
            <a:endParaRPr sz="1400" b="1">
              <a:solidFill>
                <a:srgbClr val="2E333C"/>
              </a:solidFill>
              <a:latin typeface="Calibri" panose="020F0502020204030204"/>
            </a:endParaRPr>
          </a:p>
        </p:txBody>
      </p:sp>
      <p:sp>
        <p:nvSpPr>
          <p:cNvPr id="13" name="TextBox 12"/>
          <p:cNvSpPr txBox="1"/>
          <p:nvPr/>
        </p:nvSpPr>
        <p:spPr>
          <a:xfrm>
            <a:off x="548640" y="4846320"/>
            <a:ext cx="11064240" cy="1371600"/>
          </a:xfrm>
          <a:prstGeom prst="rect">
            <a:avLst/>
          </a:prstGeom>
          <a:noFill/>
        </p:spPr>
        <p:txBody>
          <a:bodyPr wrap="square">
            <a:spAutoFit/>
          </a:bodyPr>
          <a:lstStyle/>
          <a:p>
            <a:pPr>
              <a:spcAft>
                <a:spcPts val="800"/>
              </a:spcAft>
            </a:pPr>
            <a:r>
              <a:rPr sz="1600">
                <a:solidFill>
                  <a:srgbClr val="2E333C"/>
                </a:solidFill>
                <a:latin typeface="Calibri" panose="020F0502020204030204"/>
              </a:rPr>
              <a:t>•  Koha's catalog is kept, but borrowing habits live on paper and are never aggregated.</a:t>
            </a:r>
            <a:endParaRPr sz="1600">
              <a:solidFill>
                <a:srgbClr val="2E333C"/>
              </a:solidFill>
              <a:latin typeface="Calibri" panose="020F0502020204030204"/>
            </a:endParaRPr>
          </a:p>
          <a:p>
            <a:pPr>
              <a:spcAft>
                <a:spcPts val="800"/>
              </a:spcAft>
            </a:pPr>
            <a:r>
              <a:rPr sz="1600">
                <a:solidFill>
                  <a:srgbClr val="2E333C"/>
                </a:solidFill>
                <a:latin typeface="Calibri" panose="020F0502020204030204"/>
              </a:rPr>
              <a:t>•  Program-level demand, borrowing trends, and utilization - the data exists, but no tool reads it.</a:t>
            </a:r>
            <a:endParaRPr sz="1600">
              <a:solidFill>
                <a:srgbClr val="2E333C"/>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CONTEXT</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Issues Found Out</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4</a:t>
            </a:r>
            <a:endParaRPr sz="900">
              <a:solidFill>
                <a:srgbClr val="6B7280"/>
              </a:solidFill>
              <a:latin typeface="Calibri" panose="020F0502020204030204"/>
            </a:endParaRPr>
          </a:p>
        </p:txBody>
      </p:sp>
      <p:sp>
        <p:nvSpPr>
          <p:cNvPr id="7" name="Rounded Rectangle 6"/>
          <p:cNvSpPr/>
          <p:nvPr/>
        </p:nvSpPr>
        <p:spPr>
          <a:xfrm>
            <a:off x="548640" y="1554480"/>
            <a:ext cx="11064240" cy="502920"/>
          </a:xfrm>
          <a:prstGeom prst="round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l"/>
            <a:r>
              <a:rPr sz="1300" b="1">
                <a:solidFill>
                  <a:srgbClr val="2E333C"/>
                </a:solidFill>
                <a:latin typeface="Calibri" panose="020F0502020204030204"/>
              </a:rPr>
              <a:t>Gathered from interviews with library staff and a walkthrough of their current workflow - KOHA and the paper borrowing logs.</a:t>
            </a:r>
            <a:endParaRPr sz="1300" b="1">
              <a:solidFill>
                <a:srgbClr val="2E333C"/>
              </a:solidFill>
              <a:latin typeface="Calibri" panose="020F0502020204030204"/>
            </a:endParaRPr>
          </a:p>
        </p:txBody>
      </p:sp>
      <p:sp>
        <p:nvSpPr>
          <p:cNvPr id="8" name="TextBox 7"/>
          <p:cNvSpPr txBox="1"/>
          <p:nvPr/>
        </p:nvSpPr>
        <p:spPr>
          <a:xfrm>
            <a:off x="548640" y="2240280"/>
            <a:ext cx="11064240" cy="3931920"/>
          </a:xfrm>
          <a:prstGeom prst="rect">
            <a:avLst/>
          </a:prstGeom>
          <a:noFill/>
        </p:spPr>
        <p:txBody>
          <a:bodyPr wrap="square">
            <a:spAutoFit/>
          </a:bodyPr>
          <a:lstStyle/>
          <a:p>
            <a:pPr>
              <a:spcAft>
                <a:spcPts val="900"/>
              </a:spcAft>
            </a:pPr>
            <a:r>
              <a:rPr sz="1600">
                <a:solidFill>
                  <a:srgbClr val="2E333C"/>
                </a:solidFill>
                <a:latin typeface="Calibri" panose="020F0502020204030204"/>
              </a:rPr>
              <a:t>•  KOHA's complex interface is too difficult for the librarian to use for daily work (rated 'Serious to Very Serious' by users of such systems - Padilla, 2022).</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KOHA has no integrated Business Intelligence - records are stored, never analyzed.</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In-library borrowing is still manual - students log the book title, their program, and their name on a sheet.</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Overnight borrowing is also written on a sheet, then inputted into KOHA only later - KOHA lags behind real activity.</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Fragmented workflow - the paper record is effectively the system of record; data is scattered between sheets and KOHA.</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No borrowing trends, program-level usage, or demand visibility - collection decisions rely on intuition.</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Inadequate authentication and access control; no audit trail for accountability.</a:t>
            </a:r>
            <a:endParaRPr sz="1600">
              <a:solidFill>
                <a:srgbClr val="2E333C"/>
              </a:solidFill>
              <a:latin typeface="Calibri" panose="020F0502020204030204"/>
            </a:endParaRPr>
          </a:p>
          <a:p>
            <a:pPr>
              <a:spcAft>
                <a:spcPts val="900"/>
              </a:spcAft>
            </a:pPr>
            <a:r>
              <a:rPr sz="1600">
                <a:solidFill>
                  <a:srgbClr val="2E333C"/>
                </a:solidFill>
                <a:latin typeface="Calibri" panose="020F0502020204030204"/>
              </a:rPr>
              <a:t>•  This is also the research gap: most existing LMS automate record-keeping, but few turn records into analytical insights (Ch. 2).</a:t>
            </a:r>
            <a:endParaRPr sz="1600">
              <a:solidFill>
                <a:srgbClr val="2E333C"/>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THE SOLUTION</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Proposed System - How It Mitigates the Issues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5</a:t>
            </a:r>
            <a:endParaRPr sz="900">
              <a:solidFill>
                <a:srgbClr val="6B7280"/>
              </a:solidFill>
              <a:latin typeface="Calibri" panose="020F0502020204030204"/>
            </a:endParaRPr>
          </a:p>
        </p:txBody>
      </p:sp>
      <p:graphicFrame>
        <p:nvGraphicFramePr>
          <p:cNvPr id="7" name="Table 6"/>
          <p:cNvGraphicFramePr>
            <a:graphicFrameLocks noGrp="1"/>
          </p:cNvGraphicFramePr>
          <p:nvPr/>
        </p:nvGraphicFramePr>
        <p:xfrm>
          <a:off x="548640" y="1645920"/>
          <a:ext cx="11064240" cy="4297680"/>
        </p:xfrm>
        <a:graphic>
          <a:graphicData uri="http://schemas.openxmlformats.org/drawingml/2006/table">
            <a:tbl>
              <a:tblPr firstRow="1" bandRow="1">
                <a:tableStyleId>{5C22544A-7EE6-4342-B048-85BDC9FD1C3A}</a:tableStyleId>
              </a:tblPr>
              <a:tblGrid>
                <a:gridCol w="4206240"/>
                <a:gridCol w="6858000"/>
              </a:tblGrid>
              <a:tr h="613954">
                <a:tc>
                  <a:txBody>
                    <a:bodyPr wrap="square"/>
                    <a:lstStyle/>
                    <a:p>
                      <a:pPr algn="ctr"/>
                      <a:r>
                        <a:rPr sz="1400" b="1">
                          <a:solidFill>
                            <a:srgbClr val="FFFFFF"/>
                          </a:solidFill>
                          <a:latin typeface="Calibri" panose="020F0502020204030204"/>
                        </a:rPr>
                        <a:t>Issue found out</a:t>
                      </a:r>
                      <a:endParaRPr sz="1400" b="1">
                        <a:solidFill>
                          <a:srgbClr val="FFFFFF"/>
                        </a:solidFill>
                        <a:latin typeface="Calibri" panose="020F0502020204030204"/>
                      </a:endParaRPr>
                    </a:p>
                  </a:txBody>
                  <a:tcPr marL="36000" marR="36000" marT="18000" marB="18000" anchor="ctr">
                    <a:solidFill>
                      <a:srgbClr val="1E2A46"/>
                    </a:solidFill>
                  </a:tcPr>
                </a:tc>
                <a:tc>
                  <a:txBody>
                    <a:bodyPr wrap="square"/>
                    <a:lstStyle/>
                    <a:p>
                      <a:pPr algn="ctr"/>
                      <a:r>
                        <a:rPr sz="1400" b="1">
                          <a:solidFill>
                            <a:srgbClr val="FFFFFF"/>
                          </a:solidFill>
                          <a:latin typeface="Calibri" panose="020F0502020204030204"/>
                        </a:rPr>
                        <a:t>How the proposed system mitigates it</a:t>
                      </a:r>
                      <a:endParaRPr sz="1400" b="1">
                        <a:solidFill>
                          <a:srgbClr val="FFFFFF"/>
                        </a:solidFill>
                        <a:latin typeface="Calibri" panose="020F0502020204030204"/>
                      </a:endParaRPr>
                    </a:p>
                  </a:txBody>
                  <a:tcPr marL="36000" marR="36000" marT="18000" marB="18000" anchor="ctr">
                    <a:solidFill>
                      <a:srgbClr val="1E2A46"/>
                    </a:solidFill>
                  </a:tcPr>
                </a:tc>
              </a:tr>
              <a:tr h="613954">
                <a:tc>
                  <a:txBody>
                    <a:bodyPr wrap="square"/>
                    <a:lstStyle/>
                    <a:p>
                      <a:r>
                        <a:rPr sz="1400">
                          <a:latin typeface="Calibri" panose="020F0502020204030204"/>
                        </a:rPr>
                        <a:t>KOHA's complex interface</a:t>
                      </a:r>
                      <a:endParaRPr sz="1400">
                        <a:latin typeface="Calibri" panose="020F0502020204030204"/>
                      </a:endParaRPr>
                    </a:p>
                  </a:txBody>
                  <a:tcPr marL="36000" marR="36000" marT="18000" marB="18000">
                    <a:solidFill>
                      <a:srgbClr val="FFFFFF"/>
                    </a:solidFill>
                  </a:tcPr>
                </a:tc>
                <a:tc>
                  <a:txBody>
                    <a:bodyPr wrap="square"/>
                    <a:lstStyle/>
                    <a:p>
                      <a:r>
                        <a:rPr sz="1400">
                          <a:latin typeface="Calibri" panose="020F0502020204030204"/>
                        </a:rPr>
                        <a:t>Simplified, consistent UI - workable with little training</a:t>
                      </a:r>
                      <a:endParaRPr sz="1400">
                        <a:latin typeface="Calibri" panose="020F0502020204030204"/>
                      </a:endParaRPr>
                    </a:p>
                  </a:txBody>
                  <a:tcPr marL="36000" marR="36000" marT="18000" marB="18000">
                    <a:solidFill>
                      <a:srgbClr val="FFFFFF"/>
                    </a:solidFill>
                  </a:tcPr>
                </a:tc>
              </a:tr>
              <a:tr h="613954">
                <a:tc>
                  <a:txBody>
                    <a:bodyPr wrap="square"/>
                    <a:lstStyle/>
                    <a:p>
                      <a:r>
                        <a:rPr sz="1400">
                          <a:latin typeface="Calibri" panose="020F0502020204030204"/>
                        </a:rPr>
                        <a:t>No integrated BI in KOHA</a:t>
                      </a:r>
                      <a:endParaRPr sz="1400">
                        <a:latin typeface="Calibri" panose="020F0502020204030204"/>
                      </a:endParaRPr>
                    </a:p>
                  </a:txBody>
                  <a:tcPr marL="36000" marR="36000" marT="18000" marB="18000">
                    <a:solidFill>
                      <a:srgbClr val="EEF1F6"/>
                    </a:solidFill>
                  </a:tcPr>
                </a:tc>
                <a:tc>
                  <a:txBody>
                    <a:bodyPr wrap="square"/>
                    <a:lstStyle/>
                    <a:p>
                      <a:r>
                        <a:rPr sz="1400">
                          <a:latin typeface="Calibri" panose="020F0502020204030204"/>
                        </a:rPr>
                        <a:t>Reporting Dashboard with 4 analytics tabs built into the same platform</a:t>
                      </a:r>
                      <a:endParaRPr sz="1400">
                        <a:latin typeface="Calibri" panose="020F0502020204030204"/>
                      </a:endParaRPr>
                    </a:p>
                  </a:txBody>
                  <a:tcPr marL="36000" marR="36000" marT="18000" marB="18000">
                    <a:solidFill>
                      <a:srgbClr val="EEF1F6"/>
                    </a:solidFill>
                  </a:tcPr>
                </a:tc>
              </a:tr>
              <a:tr h="613954">
                <a:tc>
                  <a:txBody>
                    <a:bodyPr wrap="square"/>
                    <a:lstStyle/>
                    <a:p>
                      <a:r>
                        <a:rPr sz="1400">
                          <a:latin typeface="Calibri" panose="020F0502020204030204"/>
                        </a:rPr>
                        <a:t>Paper log sheets for borrowing</a:t>
                      </a:r>
                      <a:endParaRPr sz="1400">
                        <a:latin typeface="Calibri" panose="020F0502020204030204"/>
                      </a:endParaRPr>
                    </a:p>
                  </a:txBody>
                  <a:tcPr marL="36000" marR="36000" marT="18000" marB="18000">
                    <a:solidFill>
                      <a:srgbClr val="FFFFFF"/>
                    </a:solidFill>
                  </a:tcPr>
                </a:tc>
                <a:tc>
                  <a:txBody>
                    <a:bodyPr wrap="square"/>
                    <a:lstStyle/>
                    <a:p>
                      <a:r>
                        <a:rPr sz="1400">
                          <a:latin typeface="Calibri" panose="020F0502020204030204"/>
                        </a:rPr>
                        <a:t>Borrowing/return processed in the system, on or off campus, with automatic due dates and fines</a:t>
                      </a:r>
                      <a:endParaRPr sz="1400">
                        <a:latin typeface="Calibri" panose="020F0502020204030204"/>
                      </a:endParaRPr>
                    </a:p>
                  </a:txBody>
                  <a:tcPr marL="36000" marR="36000" marT="18000" marB="18000">
                    <a:solidFill>
                      <a:srgbClr val="FFFFFF"/>
                    </a:solidFill>
                  </a:tcPr>
                </a:tc>
              </a:tr>
              <a:tr h="613954">
                <a:tc>
                  <a:txBody>
                    <a:bodyPr wrap="square"/>
                    <a:lstStyle/>
                    <a:p>
                      <a:r>
                        <a:rPr sz="1400">
                          <a:latin typeface="Calibri" panose="020F0502020204030204"/>
                        </a:rPr>
                        <a:t>Fragmented workflow (sheets re-encoded later)</a:t>
                      </a:r>
                      <a:endParaRPr sz="1400">
                        <a:latin typeface="Calibri" panose="020F0502020204030204"/>
                      </a:endParaRPr>
                    </a:p>
                  </a:txBody>
                  <a:tcPr marL="36000" marR="36000" marT="18000" marB="18000">
                    <a:solidFill>
                      <a:srgbClr val="EEF1F6"/>
                    </a:solidFill>
                  </a:tcPr>
                </a:tc>
                <a:tc>
                  <a:txBody>
                    <a:bodyPr wrap="square"/>
                    <a:lstStyle/>
                    <a:p>
                      <a:r>
                        <a:rPr sz="1400">
                          <a:latin typeface="Calibri" panose="020F0502020204030204"/>
                        </a:rPr>
                        <a:t>One integrated platform: requests, cataloging, circulation, inventory, reservations, reporting</a:t>
                      </a:r>
                      <a:endParaRPr sz="1400">
                        <a:latin typeface="Calibri" panose="020F0502020204030204"/>
                      </a:endParaRPr>
                    </a:p>
                  </a:txBody>
                  <a:tcPr marL="36000" marR="36000" marT="18000" marB="18000">
                    <a:solidFill>
                      <a:srgbClr val="EEF1F6"/>
                    </a:solidFill>
                  </a:tcPr>
                </a:tc>
              </a:tr>
              <a:tr h="613954">
                <a:tc>
                  <a:txBody>
                    <a:bodyPr wrap="square"/>
                    <a:lstStyle/>
                    <a:p>
                      <a:r>
                        <a:rPr sz="1400">
                          <a:latin typeface="Calibri" panose="020F0502020204030204"/>
                        </a:rPr>
                        <a:t>Weak authentication and access control</a:t>
                      </a:r>
                      <a:endParaRPr sz="1400">
                        <a:latin typeface="Calibri" panose="020F0502020204030204"/>
                      </a:endParaRPr>
                    </a:p>
                  </a:txBody>
                  <a:tcPr marL="36000" marR="36000" marT="18000" marB="18000">
                    <a:solidFill>
                      <a:srgbClr val="FFFFFF"/>
                    </a:solidFill>
                  </a:tcPr>
                </a:tc>
                <a:tc>
                  <a:txBody>
                    <a:bodyPr wrap="square"/>
                    <a:lstStyle/>
                    <a:p>
                      <a:r>
                        <a:rPr sz="1400">
                          <a:latin typeface="Calibri" panose="020F0502020204030204"/>
                        </a:rPr>
                        <a:t>Google OAuth @mcst.edu.ph, 4-role access control, HTTPS sessions, audit trail</a:t>
                      </a:r>
                      <a:endParaRPr sz="1400">
                        <a:latin typeface="Calibri" panose="020F0502020204030204"/>
                      </a:endParaRPr>
                    </a:p>
                  </a:txBody>
                  <a:tcPr marL="36000" marR="36000" marT="18000" marB="18000">
                    <a:solidFill>
                      <a:srgbClr val="FFFFFF"/>
                    </a:solidFill>
                  </a:tcPr>
                </a:tc>
              </a:tr>
              <a:tr h="613956">
                <a:tc>
                  <a:txBody>
                    <a:bodyPr wrap="square"/>
                    <a:lstStyle/>
                    <a:p>
                      <a:r>
                        <a:rPr sz="1400">
                          <a:latin typeface="Calibri" panose="020F0502020204030204"/>
                        </a:rPr>
                        <a:t>No quality baseline</a:t>
                      </a:r>
                      <a:endParaRPr sz="1400">
                        <a:latin typeface="Calibri" panose="020F0502020204030204"/>
                      </a:endParaRPr>
                    </a:p>
                  </a:txBody>
                  <a:tcPr marL="36000" marR="36000" marT="18000" marB="18000">
                    <a:solidFill>
                      <a:srgbClr val="EEF1F6"/>
                    </a:solidFill>
                  </a:tcPr>
                </a:tc>
                <a:tc>
                  <a:txBody>
                    <a:bodyPr wrap="square"/>
                    <a:lstStyle/>
                    <a:p>
                      <a:r>
                        <a:rPr sz="1400">
                          <a:latin typeface="Calibri" panose="020F0502020204030204"/>
                        </a:rPr>
                        <a:t>Evaluated against ISO/IEC 25010:2011 + UAT with 87 users</a:t>
                      </a:r>
                      <a:endParaRPr sz="1400">
                        <a:latin typeface="Calibri" panose="020F0502020204030204"/>
                      </a:endParaRPr>
                    </a:p>
                  </a:txBody>
                  <a:tcPr marL="36000" marR="36000" marT="18000" marB="18000">
                    <a:solidFill>
                      <a:srgbClr val="EEF1F6"/>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THE SOLUTION</a:t>
            </a:r>
            <a:endParaRPr sz="1100" b="1">
              <a:solidFill>
                <a:srgbClr val="C0392B"/>
              </a:solidFill>
              <a:latin typeface="Calibri" panose="020F0502020204030204"/>
            </a:endParaRPr>
          </a:p>
        </p:txBody>
      </p:sp>
      <p:sp>
        <p:nvSpPr>
          <p:cNvPr id="4" name="TextBox 3"/>
          <p:cNvSpPr txBox="1"/>
          <p:nvPr/>
        </p:nvSpPr>
        <p:spPr>
          <a:xfrm>
            <a:off x="411480" y="502920"/>
            <a:ext cx="11338560" cy="553085"/>
          </a:xfrm>
          <a:prstGeom prst="rect">
            <a:avLst/>
          </a:prstGeom>
          <a:noFill/>
        </p:spPr>
        <p:txBody>
          <a:bodyPr wrap="square">
            <a:spAutoFit/>
          </a:bodyPr>
          <a:lstStyle/>
          <a:p>
            <a:r>
              <a:rPr sz="3000" b="1">
                <a:solidFill>
                  <a:srgbClr val="1E2A46"/>
                </a:solidFill>
                <a:latin typeface="Calibri" panose="020F0502020204030204"/>
              </a:rPr>
              <a:t>System Architecture</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6</a:t>
            </a:r>
            <a:endParaRPr sz="900">
              <a:solidFill>
                <a:srgbClr val="6B7280"/>
              </a:solidFill>
              <a:latin typeface="Calibri" panose="020F0502020204030204"/>
            </a:endParaRPr>
          </a:p>
        </p:txBody>
      </p:sp>
      <p:sp>
        <p:nvSpPr>
          <p:cNvPr id="12" name="Rounded Rectangle 11"/>
          <p:cNvSpPr/>
          <p:nvPr/>
        </p:nvSpPr>
        <p:spPr>
          <a:xfrm>
            <a:off x="594360" y="3794760"/>
            <a:ext cx="7498079" cy="566928"/>
          </a:xfrm>
          <a:prstGeom prst="round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l"/>
            <a:r>
              <a:rPr sz="1400" b="1">
                <a:solidFill>
                  <a:srgbClr val="2E333C"/>
                </a:solidFill>
                <a:latin typeface="Calibri" panose="020F0502020204030204"/>
              </a:rPr>
              <a:t>Sign-in is Google School Account only (@mcst.edu.ph) - verified by the app before anything is shown.</a:t>
            </a:r>
            <a:endParaRPr sz="1400" b="1">
              <a:solidFill>
                <a:srgbClr val="2E333C"/>
              </a:solidFill>
              <a:latin typeface="Calibri" panose="020F0502020204030204"/>
            </a:endParaRPr>
          </a:p>
        </p:txBody>
      </p:sp>
      <p:sp>
        <p:nvSpPr>
          <p:cNvPr id="13" name="Rounded Rectangle 12"/>
          <p:cNvSpPr/>
          <p:nvPr/>
        </p:nvSpPr>
        <p:spPr>
          <a:xfrm>
            <a:off x="594360" y="4526280"/>
            <a:ext cx="7498079" cy="566928"/>
          </a:xfrm>
          <a:prstGeom prst="round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l"/>
            <a:r>
              <a:rPr sz="1400" b="1">
                <a:solidFill>
                  <a:srgbClr val="2E333C"/>
                </a:solidFill>
                <a:latin typeface="Calibri" panose="020F0502020204030204"/>
              </a:rPr>
              <a:t>Every action travels over HTTPS, is allowed or blocked by role, and is recorded in the audit trail.</a:t>
            </a:r>
            <a:endParaRPr sz="1400" b="1">
              <a:solidFill>
                <a:srgbClr val="2E333C"/>
              </a:solidFill>
              <a:latin typeface="Calibri" panose="020F0502020204030204"/>
            </a:endParaRPr>
          </a:p>
        </p:txBody>
      </p:sp>
      <p:pic>
        <p:nvPicPr>
          <p:cNvPr id="18" name="Picture 17" descr="mcst_library_system_architecture_with_background"/>
          <p:cNvPicPr>
            <a:picLocks noChangeAspect="1"/>
          </p:cNvPicPr>
          <p:nvPr/>
        </p:nvPicPr>
        <p:blipFill>
          <a:blip r:embed="rId1"/>
          <a:stretch>
            <a:fillRect/>
          </a:stretch>
        </p:blipFill>
        <p:spPr>
          <a:xfrm>
            <a:off x="8275320" y="2057400"/>
            <a:ext cx="3611880" cy="3611880"/>
          </a:xfrm>
          <a:prstGeom prst="rect">
            <a:avLst/>
          </a:prstGeom>
        </p:spPr>
      </p:pic>
      <p:sp>
        <p:nvSpPr>
          <p:cNvPr id="19" name="TextBox 18"/>
          <p:cNvSpPr txBox="1"/>
          <p:nvPr/>
        </p:nvSpPr>
        <p:spPr>
          <a:xfrm>
            <a:off x="548640" y="1554480"/>
            <a:ext cx="7498079" cy="2103120"/>
          </a:xfrm>
          <a:prstGeom prst="rect">
            <a:avLst/>
          </a:prstGeom>
          <a:noFill/>
        </p:spPr>
        <p:txBody>
          <a:bodyPr wrap="square">
            <a:spAutoFit/>
          </a:bodyPr>
          <a:lstStyle/>
          <a:p>
            <a:pPr>
              <a:spcAft>
                <a:spcPts val="800"/>
              </a:spcAft>
            </a:pPr>
            <a:r>
              <a:rPr sz="1500" b="1">
                <a:solidFill>
                  <a:srgbClr val="2E333C"/>
                </a:solidFill>
                <a:latin typeface="Calibri" panose="020F0502020204030204"/>
              </a:rPr>
              <a:t>•  Presentation layer - what you see: the site in any web browser, for students, faculty, librarian, and admin.</a:t>
            </a:r>
            <a:endParaRPr sz="1500" b="1">
              <a:solidFill>
                <a:srgbClr val="2E333C"/>
              </a:solidFill>
              <a:latin typeface="Calibri" panose="020F0502020204030204"/>
            </a:endParaRPr>
          </a:p>
          <a:p>
            <a:pPr>
              <a:spcAft>
                <a:spcPts val="800"/>
              </a:spcAft>
            </a:pPr>
            <a:r>
              <a:rPr sz="1500" b="0">
                <a:solidFill>
                  <a:srgbClr val="2E333C"/>
                </a:solidFill>
                <a:latin typeface="Calibri" panose="020F0502020204030204"/>
              </a:rPr>
              <a:t>•  Application layer - the brain: the Flask web app on Render checks your login, enforces roles, and runs cataloging, circulation, requests, inventory, and analytics.</a:t>
            </a:r>
            <a:endParaRPr sz="1500" b="0">
              <a:solidFill>
                <a:srgbClr val="2E333C"/>
              </a:solidFill>
              <a:latin typeface="Calibri" panose="020F0502020204030204"/>
            </a:endParaRPr>
          </a:p>
          <a:p>
            <a:pPr>
              <a:spcAft>
                <a:spcPts val="800"/>
              </a:spcAft>
            </a:pPr>
            <a:r>
              <a:rPr sz="1500" b="0">
                <a:solidFill>
                  <a:srgbClr val="2E333C"/>
                </a:solidFill>
                <a:latin typeface="Calibri" panose="020F0502020204030204"/>
              </a:rPr>
              <a:t>•  Data layer - the memory: PostgreSQL on Neon stores all records; backup jobs keep them safe.</a:t>
            </a:r>
            <a:endParaRPr sz="1500" b="0">
              <a:solidFill>
                <a:srgbClr val="2E333C"/>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Sign-in, Roles, and Accountability</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7</a:t>
            </a:r>
            <a:endParaRPr sz="900">
              <a:solidFill>
                <a:srgbClr val="6B7280"/>
              </a:solidFill>
              <a:latin typeface="Calibri" panose="020F0502020204030204"/>
            </a:endParaRPr>
          </a:p>
        </p:txBody>
      </p:sp>
      <p:sp>
        <p:nvSpPr>
          <p:cNvPr id="7" name="TextBox 6"/>
          <p:cNvSpPr txBox="1"/>
          <p:nvPr/>
        </p:nvSpPr>
        <p:spPr>
          <a:xfrm>
            <a:off x="548640" y="1645920"/>
            <a:ext cx="6126480" cy="2926080"/>
          </a:xfrm>
          <a:prstGeom prst="rect">
            <a:avLst/>
          </a:prstGeom>
          <a:noFill/>
        </p:spPr>
        <p:txBody>
          <a:bodyPr wrap="square">
            <a:spAutoFit/>
          </a:bodyPr>
          <a:lstStyle/>
          <a:p>
            <a:pPr>
              <a:spcAft>
                <a:spcPts val="1100"/>
              </a:spcAft>
            </a:pPr>
            <a:r>
              <a:rPr sz="1600">
                <a:solidFill>
                  <a:srgbClr val="2E333C"/>
                </a:solidFill>
                <a:latin typeface="Calibri" panose="020F0502020204030204"/>
              </a:rPr>
              <a:t>•  Sign in with Google - only @mcst.edu.ph accounts can enter.</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Students/Faculty: role selection + ID/department, then pending approval.</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Four roles: Admin, Librarian, Faculty, Student - each sees only what their role allows.</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Audit trail every write action.</a:t>
            </a:r>
            <a:endParaRPr sz="1600">
              <a:solidFill>
                <a:srgbClr val="2E333C"/>
              </a:solidFill>
              <a:latin typeface="Calibri" panose="020F0502020204030204"/>
            </a:endParaRPr>
          </a:p>
        </p:txBody>
      </p:sp>
      <p:pic>
        <p:nvPicPr>
          <p:cNvPr id="8" name="Picture 7" descr="P01_login.png"/>
          <p:cNvPicPr>
            <a:picLocks noChangeAspect="1"/>
          </p:cNvPicPr>
          <p:nvPr/>
        </p:nvPicPr>
        <p:blipFill>
          <a:blip r:embed="rId1"/>
          <a:stretch>
            <a:fillRect/>
          </a:stretch>
        </p:blipFill>
        <p:spPr>
          <a:xfrm>
            <a:off x="6949440" y="1645920"/>
            <a:ext cx="2377440" cy="1597342"/>
          </a:xfrm>
          <a:prstGeom prst="rect">
            <a:avLst/>
          </a:prstGeom>
          <a:ln w="12700">
            <a:solidFill>
              <a:srgbClr val="D0D5DE"/>
            </a:solidFill>
          </a:ln>
        </p:spPr>
      </p:pic>
      <p:sp>
        <p:nvSpPr>
          <p:cNvPr id="9" name="TextBox 8"/>
          <p:cNvSpPr txBox="1"/>
          <p:nvPr/>
        </p:nvSpPr>
        <p:spPr>
          <a:xfrm>
            <a:off x="6949440" y="3255262"/>
            <a:ext cx="2377440" cy="256032"/>
          </a:xfrm>
          <a:prstGeom prst="rect">
            <a:avLst/>
          </a:prstGeom>
          <a:noFill/>
        </p:spPr>
        <p:txBody>
          <a:bodyPr wrap="none">
            <a:spAutoFit/>
          </a:bodyPr>
          <a:lstStyle/>
          <a:p>
            <a:pPr algn="ctr"/>
            <a:r>
              <a:rPr sz="1000" i="1">
                <a:solidFill>
                  <a:srgbClr val="6B7280"/>
                </a:solidFill>
              </a:rPr>
              <a:t>Institutional sign-in</a:t>
            </a:r>
            <a:endParaRPr sz="1000" i="1">
              <a:solidFill>
                <a:srgbClr val="6B7280"/>
              </a:solidFill>
            </a:endParaRPr>
          </a:p>
        </p:txBody>
      </p:sp>
      <p:pic>
        <p:nvPicPr>
          <p:cNvPr id="10" name="Picture 9" descr="audit-trail.png"/>
          <p:cNvPicPr>
            <a:picLocks noChangeAspect="1"/>
          </p:cNvPicPr>
          <p:nvPr/>
        </p:nvPicPr>
        <p:blipFill>
          <a:blip r:embed="rId2"/>
          <a:stretch>
            <a:fillRect/>
          </a:stretch>
        </p:blipFill>
        <p:spPr>
          <a:xfrm>
            <a:off x="9464040" y="1645920"/>
            <a:ext cx="2377440" cy="1597342"/>
          </a:xfrm>
          <a:prstGeom prst="rect">
            <a:avLst/>
          </a:prstGeom>
          <a:ln w="12700">
            <a:solidFill>
              <a:srgbClr val="D0D5DE"/>
            </a:solidFill>
          </a:ln>
        </p:spPr>
      </p:pic>
      <p:sp>
        <p:nvSpPr>
          <p:cNvPr id="11" name="TextBox 10"/>
          <p:cNvSpPr txBox="1"/>
          <p:nvPr/>
        </p:nvSpPr>
        <p:spPr>
          <a:xfrm>
            <a:off x="9464040" y="3255262"/>
            <a:ext cx="2377440" cy="256032"/>
          </a:xfrm>
          <a:prstGeom prst="rect">
            <a:avLst/>
          </a:prstGeom>
          <a:noFill/>
        </p:spPr>
        <p:txBody>
          <a:bodyPr wrap="none">
            <a:spAutoFit/>
          </a:bodyPr>
          <a:lstStyle/>
          <a:p>
            <a:pPr algn="ctr"/>
            <a:r>
              <a:rPr sz="1000" i="1">
                <a:solidFill>
                  <a:srgbClr val="6B7280"/>
                </a:solidFill>
              </a:rPr>
              <a:t>Audit trail</a:t>
            </a:r>
            <a:endParaRPr sz="1000" i="1">
              <a:solidFill>
                <a:srgbClr val="6B7280"/>
              </a:solidFill>
            </a:endParaRPr>
          </a:p>
        </p:txBody>
      </p:sp>
      <p:pic>
        <p:nvPicPr>
          <p:cNvPr id="12" name="Picture 11" descr="P02_role_select.png"/>
          <p:cNvPicPr>
            <a:picLocks noChangeAspect="1"/>
          </p:cNvPicPr>
          <p:nvPr/>
        </p:nvPicPr>
        <p:blipFill>
          <a:blip r:embed="rId3"/>
          <a:stretch>
            <a:fillRect/>
          </a:stretch>
        </p:blipFill>
        <p:spPr>
          <a:xfrm>
            <a:off x="7694250" y="3977639"/>
            <a:ext cx="3402418" cy="2286000"/>
          </a:xfrm>
          <a:prstGeom prst="rect">
            <a:avLst/>
          </a:prstGeom>
          <a:ln w="12700">
            <a:solidFill>
              <a:srgbClr val="D0D5DE"/>
            </a:solidFill>
          </a:ln>
        </p:spPr>
      </p:pic>
      <p:sp>
        <p:nvSpPr>
          <p:cNvPr id="13" name="TextBox 12"/>
          <p:cNvSpPr txBox="1"/>
          <p:nvPr/>
        </p:nvSpPr>
        <p:spPr>
          <a:xfrm>
            <a:off x="6949440" y="6275639"/>
            <a:ext cx="4892040" cy="256032"/>
          </a:xfrm>
          <a:prstGeom prst="rect">
            <a:avLst/>
          </a:prstGeom>
          <a:noFill/>
        </p:spPr>
        <p:txBody>
          <a:bodyPr wrap="none">
            <a:spAutoFit/>
          </a:bodyPr>
          <a:lstStyle/>
          <a:p>
            <a:pPr algn="ctr"/>
            <a:r>
              <a:rPr sz="1000" i="1">
                <a:solidFill>
                  <a:srgbClr val="6B7280"/>
                </a:solidFill>
              </a:rPr>
              <a:t>Role selection</a:t>
            </a:r>
            <a:endParaRPr sz="1000" i="1">
              <a:solidFill>
                <a:srgbClr val="6B728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Cataloging and Accessioning</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8</a:t>
            </a:r>
            <a:endParaRPr sz="900">
              <a:solidFill>
                <a:srgbClr val="6B7280"/>
              </a:solidFill>
              <a:latin typeface="Calibri" panose="020F0502020204030204"/>
            </a:endParaRPr>
          </a:p>
        </p:txBody>
      </p:sp>
      <p:sp>
        <p:nvSpPr>
          <p:cNvPr id="7" name="TextBox 6"/>
          <p:cNvSpPr txBox="1"/>
          <p:nvPr/>
        </p:nvSpPr>
        <p:spPr>
          <a:xfrm>
            <a:off x="548640" y="1645920"/>
            <a:ext cx="6035040" cy="4206240"/>
          </a:xfrm>
          <a:prstGeom prst="rect">
            <a:avLst/>
          </a:prstGeom>
          <a:noFill/>
        </p:spPr>
        <p:txBody>
          <a:bodyPr wrap="square">
            <a:spAutoFit/>
          </a:bodyPr>
          <a:lstStyle/>
          <a:p>
            <a:pPr>
              <a:spcAft>
                <a:spcPts val="1200"/>
              </a:spcAft>
            </a:pPr>
            <a:r>
              <a:rPr sz="1600">
                <a:solidFill>
                  <a:srgbClr val="2E333C"/>
                </a:solidFill>
                <a:latin typeface="Calibri" panose="020F0502020204030204"/>
              </a:rPr>
              <a:t>•  Add, edit, and archive book records with full bibliographic details.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Accession management: unique control numbers, automatic copy numbering per title.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Bulk CSV import - up to 1,000 records per file, processed in the background.</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Per-row validation: duplicates and invalid rows are reported before they enter the catalog.</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Archive-then-delete policy - records are never hard-deleted while active.</a:t>
            </a:r>
            <a:endParaRPr sz="1600">
              <a:solidFill>
                <a:srgbClr val="2E333C"/>
              </a:solidFill>
              <a:latin typeface="Calibri" panose="020F0502020204030204"/>
            </a:endParaRPr>
          </a:p>
        </p:txBody>
      </p:sp>
      <p:pic>
        <p:nvPicPr>
          <p:cNvPr id="8" name="Picture 7" descr="cataloging.png"/>
          <p:cNvPicPr>
            <a:picLocks noChangeAspect="1"/>
          </p:cNvPicPr>
          <p:nvPr/>
        </p:nvPicPr>
        <p:blipFill>
          <a:blip r:embed="rId1"/>
          <a:stretch>
            <a:fillRect/>
          </a:stretch>
        </p:blipFill>
        <p:spPr>
          <a:xfrm>
            <a:off x="6858000" y="1691640"/>
            <a:ext cx="5074920" cy="3409711"/>
          </a:xfrm>
          <a:prstGeom prst="rect">
            <a:avLst/>
          </a:prstGeom>
          <a:ln w="12700">
            <a:solidFill>
              <a:srgbClr val="D0D5DE"/>
            </a:solidFill>
          </a:ln>
        </p:spPr>
      </p:pic>
      <p:sp>
        <p:nvSpPr>
          <p:cNvPr id="9" name="TextBox 8"/>
          <p:cNvSpPr txBox="1"/>
          <p:nvPr/>
        </p:nvSpPr>
        <p:spPr>
          <a:xfrm>
            <a:off x="6858000" y="5113351"/>
            <a:ext cx="5074920" cy="256032"/>
          </a:xfrm>
          <a:prstGeom prst="rect">
            <a:avLst/>
          </a:prstGeom>
          <a:noFill/>
        </p:spPr>
        <p:txBody>
          <a:bodyPr wrap="none">
            <a:spAutoFit/>
          </a:bodyPr>
          <a:lstStyle/>
          <a:p>
            <a:pPr algn="ctr"/>
            <a:r>
              <a:rPr sz="1000" i="1">
                <a:solidFill>
                  <a:srgbClr val="6B7280"/>
                </a:solidFill>
              </a:rPr>
              <a:t>Cataloging page, accessed remotely</a:t>
            </a:r>
            <a:endParaRPr sz="1000" i="1">
              <a:solidFill>
                <a:srgbClr val="6B728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Public Catalog and Search</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9</a:t>
            </a:r>
            <a:endParaRPr sz="900">
              <a:solidFill>
                <a:srgbClr val="6B7280"/>
              </a:solidFill>
              <a:latin typeface="Calibri" panose="020F0502020204030204"/>
            </a:endParaRPr>
          </a:p>
        </p:txBody>
      </p:sp>
      <p:sp>
        <p:nvSpPr>
          <p:cNvPr id="7" name="TextBox 6"/>
          <p:cNvSpPr txBox="1"/>
          <p:nvPr/>
        </p:nvSpPr>
        <p:spPr>
          <a:xfrm>
            <a:off x="548640" y="1645920"/>
            <a:ext cx="6035040" cy="4206240"/>
          </a:xfrm>
          <a:prstGeom prst="rect">
            <a:avLst/>
          </a:prstGeom>
          <a:noFill/>
        </p:spPr>
        <p:txBody>
          <a:bodyPr wrap="square">
            <a:spAutoFit/>
          </a:bodyPr>
          <a:lstStyle/>
          <a:p>
            <a:pPr>
              <a:spcAft>
                <a:spcPts val="1200"/>
              </a:spcAft>
            </a:pPr>
            <a:r>
              <a:rPr sz="1600">
                <a:solidFill>
                  <a:srgbClr val="2E333C"/>
                </a:solidFill>
                <a:latin typeface="Calibri" panose="020F0502020204030204"/>
              </a:rPr>
              <a:t>•  Search by title, author, ISBN, or category.</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Google Scholar-style filter sidebar: sort, category, type, availability, year presets.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Active filter chips - remove individually or clear all.</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Availability badges on every result.</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Book details page: copies, availability, related titles; favorites list.</a:t>
            </a:r>
            <a:endParaRPr sz="1600">
              <a:solidFill>
                <a:srgbClr val="2E333C"/>
              </a:solidFill>
              <a:latin typeface="Calibri" panose="020F0502020204030204"/>
            </a:endParaRPr>
          </a:p>
        </p:txBody>
      </p:sp>
      <p:pic>
        <p:nvPicPr>
          <p:cNvPr id="8" name="Picture 7" descr="P05_catalog.png"/>
          <p:cNvPicPr>
            <a:picLocks noChangeAspect="1"/>
          </p:cNvPicPr>
          <p:nvPr/>
        </p:nvPicPr>
        <p:blipFill>
          <a:blip r:embed="rId1"/>
          <a:stretch>
            <a:fillRect/>
          </a:stretch>
        </p:blipFill>
        <p:spPr>
          <a:xfrm>
            <a:off x="6858000" y="1691640"/>
            <a:ext cx="2468880" cy="1658778"/>
          </a:xfrm>
          <a:prstGeom prst="rect">
            <a:avLst/>
          </a:prstGeom>
          <a:ln w="12700">
            <a:solidFill>
              <a:srgbClr val="D0D5DE"/>
            </a:solidFill>
          </a:ln>
        </p:spPr>
      </p:pic>
      <p:sp>
        <p:nvSpPr>
          <p:cNvPr id="9" name="TextBox 8"/>
          <p:cNvSpPr txBox="1"/>
          <p:nvPr/>
        </p:nvSpPr>
        <p:spPr>
          <a:xfrm>
            <a:off x="6858000" y="3362418"/>
            <a:ext cx="2468880" cy="256032"/>
          </a:xfrm>
          <a:prstGeom prst="rect">
            <a:avLst/>
          </a:prstGeom>
          <a:noFill/>
        </p:spPr>
        <p:txBody>
          <a:bodyPr wrap="none">
            <a:spAutoFit/>
          </a:bodyPr>
          <a:lstStyle/>
          <a:p>
            <a:pPr algn="ctr"/>
            <a:r>
              <a:rPr sz="1000" i="1">
                <a:solidFill>
                  <a:srgbClr val="6B7280"/>
                </a:solidFill>
              </a:rPr>
              <a:t>Catalog search</a:t>
            </a:r>
            <a:endParaRPr sz="1000" i="1">
              <a:solidFill>
                <a:srgbClr val="6B7280"/>
              </a:solidFill>
            </a:endParaRPr>
          </a:p>
        </p:txBody>
      </p:sp>
      <p:pic>
        <p:nvPicPr>
          <p:cNvPr id="10" name="Picture 9" descr="P06_bookinfo.png"/>
          <p:cNvPicPr>
            <a:picLocks noChangeAspect="1"/>
          </p:cNvPicPr>
          <p:nvPr/>
        </p:nvPicPr>
        <p:blipFill>
          <a:blip r:embed="rId2"/>
          <a:stretch>
            <a:fillRect/>
          </a:stretch>
        </p:blipFill>
        <p:spPr>
          <a:xfrm>
            <a:off x="9464040" y="1691640"/>
            <a:ext cx="2468880" cy="1658778"/>
          </a:xfrm>
          <a:prstGeom prst="rect">
            <a:avLst/>
          </a:prstGeom>
          <a:ln w="12700">
            <a:solidFill>
              <a:srgbClr val="D0D5DE"/>
            </a:solidFill>
          </a:ln>
        </p:spPr>
      </p:pic>
      <p:sp>
        <p:nvSpPr>
          <p:cNvPr id="11" name="TextBox 10"/>
          <p:cNvSpPr txBox="1"/>
          <p:nvPr/>
        </p:nvSpPr>
        <p:spPr>
          <a:xfrm>
            <a:off x="9464040" y="3362418"/>
            <a:ext cx="2468880" cy="256032"/>
          </a:xfrm>
          <a:prstGeom prst="rect">
            <a:avLst/>
          </a:prstGeom>
          <a:noFill/>
        </p:spPr>
        <p:txBody>
          <a:bodyPr wrap="none">
            <a:spAutoFit/>
          </a:bodyPr>
          <a:lstStyle/>
          <a:p>
            <a:pPr algn="ctr"/>
            <a:r>
              <a:rPr sz="1000" i="1">
                <a:solidFill>
                  <a:srgbClr val="6B7280"/>
                </a:solidFill>
              </a:rPr>
              <a:t>Book details</a:t>
            </a:r>
            <a:endParaRPr sz="1000" i="1">
              <a:solidFill>
                <a:srgbClr val="6B7280"/>
              </a:solidFill>
            </a:endParaRPr>
          </a:p>
        </p:txBody>
      </p:sp>
      <p:pic>
        <p:nvPicPr>
          <p:cNvPr id="12" name="Picture 11" descr="catalog.png"/>
          <p:cNvPicPr>
            <a:picLocks noChangeAspect="1"/>
          </p:cNvPicPr>
          <p:nvPr/>
        </p:nvPicPr>
        <p:blipFill>
          <a:blip r:embed="rId3"/>
          <a:stretch>
            <a:fillRect/>
          </a:stretch>
        </p:blipFill>
        <p:spPr>
          <a:xfrm>
            <a:off x="7898395" y="4069080"/>
            <a:ext cx="2994128" cy="2011680"/>
          </a:xfrm>
          <a:prstGeom prst="rect">
            <a:avLst/>
          </a:prstGeom>
          <a:ln w="12700">
            <a:solidFill>
              <a:srgbClr val="D0D5DE"/>
            </a:solidFill>
          </a:ln>
        </p:spPr>
      </p:pic>
      <p:sp>
        <p:nvSpPr>
          <p:cNvPr id="13" name="TextBox 12"/>
          <p:cNvSpPr txBox="1"/>
          <p:nvPr/>
        </p:nvSpPr>
        <p:spPr>
          <a:xfrm>
            <a:off x="6858000" y="6092760"/>
            <a:ext cx="5074920" cy="256032"/>
          </a:xfrm>
          <a:prstGeom prst="rect">
            <a:avLst/>
          </a:prstGeom>
          <a:noFill/>
        </p:spPr>
        <p:txBody>
          <a:bodyPr wrap="none">
            <a:spAutoFit/>
          </a:bodyPr>
          <a:lstStyle/>
          <a:p>
            <a:pPr algn="ctr"/>
            <a:r>
              <a:rPr sz="1000" i="1">
                <a:solidFill>
                  <a:srgbClr val="6B7280"/>
                </a:solidFill>
              </a:rPr>
              <a:t>Filters and availability badges</a:t>
            </a:r>
            <a:endParaRPr sz="1000" i="1">
              <a:solidFill>
                <a:srgbClr val="6B728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Circulation Management</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10</a:t>
            </a:r>
            <a:endParaRPr sz="900">
              <a:solidFill>
                <a:srgbClr val="6B7280"/>
              </a:solidFill>
              <a:latin typeface="Calibri" panose="020F0502020204030204"/>
            </a:endParaRPr>
          </a:p>
        </p:txBody>
      </p:sp>
      <p:sp>
        <p:nvSpPr>
          <p:cNvPr id="7" name="TextBox 6"/>
          <p:cNvSpPr txBox="1"/>
          <p:nvPr/>
        </p:nvSpPr>
        <p:spPr>
          <a:xfrm>
            <a:off x="548640" y="1645920"/>
            <a:ext cx="6035040" cy="4206240"/>
          </a:xfrm>
          <a:prstGeom prst="rect">
            <a:avLst/>
          </a:prstGeom>
          <a:noFill/>
        </p:spPr>
        <p:txBody>
          <a:bodyPr wrap="square">
            <a:spAutoFit/>
          </a:bodyPr>
          <a:lstStyle/>
          <a:p>
            <a:pPr>
              <a:spcAft>
                <a:spcPts val="1200"/>
              </a:spcAft>
            </a:pPr>
            <a:r>
              <a:rPr sz="1600">
                <a:solidFill>
                  <a:srgbClr val="2E333C"/>
                </a:solidFill>
                <a:latin typeface="Calibri" panose="020F0502020204030204"/>
              </a:rPr>
              <a:t>•  Borrow and return processed in the browser, on or off campus.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Replaces the paper log sheet - the system record is the real record.</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Due dates follow library policy and user role automatically.</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Computed fines shown as part of the transaction.</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Overdue status monitoring + reminders to users.</a:t>
            </a:r>
            <a:endParaRPr sz="1600">
              <a:solidFill>
                <a:srgbClr val="2E333C"/>
              </a:solidFill>
              <a:latin typeface="Calibri" panose="020F0502020204030204"/>
            </a:endParaRPr>
          </a:p>
        </p:txBody>
      </p:sp>
      <p:pic>
        <p:nvPicPr>
          <p:cNvPr id="8" name="Picture 7" descr="circulation.png"/>
          <p:cNvPicPr>
            <a:picLocks noChangeAspect="1"/>
          </p:cNvPicPr>
          <p:nvPr/>
        </p:nvPicPr>
        <p:blipFill>
          <a:blip r:embed="rId1"/>
          <a:stretch>
            <a:fillRect/>
          </a:stretch>
        </p:blipFill>
        <p:spPr>
          <a:xfrm>
            <a:off x="6858000" y="1691640"/>
            <a:ext cx="5074920" cy="3409711"/>
          </a:xfrm>
          <a:prstGeom prst="rect">
            <a:avLst/>
          </a:prstGeom>
          <a:ln w="12700">
            <a:solidFill>
              <a:srgbClr val="D0D5DE"/>
            </a:solidFill>
          </a:ln>
        </p:spPr>
      </p:pic>
      <p:sp>
        <p:nvSpPr>
          <p:cNvPr id="9" name="TextBox 8"/>
          <p:cNvSpPr txBox="1"/>
          <p:nvPr/>
        </p:nvSpPr>
        <p:spPr>
          <a:xfrm>
            <a:off x="6858000" y="5113351"/>
            <a:ext cx="5074920" cy="256032"/>
          </a:xfrm>
          <a:prstGeom prst="rect">
            <a:avLst/>
          </a:prstGeom>
          <a:noFill/>
        </p:spPr>
        <p:txBody>
          <a:bodyPr wrap="none">
            <a:spAutoFit/>
          </a:bodyPr>
          <a:lstStyle/>
          <a:p>
            <a:pPr algn="ctr"/>
            <a:r>
              <a:rPr sz="1000" i="1">
                <a:solidFill>
                  <a:srgbClr val="6B7280"/>
                </a:solidFill>
              </a:rPr>
              <a:t>Circulation page, accessed remotely</a:t>
            </a:r>
            <a:endParaRPr sz="1000" i="1">
              <a:solidFill>
                <a:srgbClr val="6B728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Reservations and Notifications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11</a:t>
            </a:r>
            <a:endParaRPr sz="900">
              <a:solidFill>
                <a:srgbClr val="6B7280"/>
              </a:solidFill>
              <a:latin typeface="Calibri" panose="020F0502020204030204"/>
            </a:endParaRPr>
          </a:p>
        </p:txBody>
      </p:sp>
      <p:sp>
        <p:nvSpPr>
          <p:cNvPr id="7" name="TextBox 6"/>
          <p:cNvSpPr txBox="1"/>
          <p:nvPr/>
        </p:nvSpPr>
        <p:spPr>
          <a:xfrm>
            <a:off x="548640" y="1645920"/>
            <a:ext cx="6035040" cy="3108960"/>
          </a:xfrm>
          <a:prstGeom prst="rect">
            <a:avLst/>
          </a:prstGeom>
          <a:noFill/>
        </p:spPr>
        <p:txBody>
          <a:bodyPr wrap="square">
            <a:spAutoFit/>
          </a:bodyPr>
          <a:lstStyle/>
          <a:p>
            <a:pPr>
              <a:spcAft>
                <a:spcPts val="1200"/>
              </a:spcAft>
            </a:pPr>
            <a:r>
              <a:rPr sz="1600">
                <a:solidFill>
                  <a:srgbClr val="2E333C"/>
                </a:solidFill>
                <a:latin typeface="Calibri" panose="020F0502020204030204"/>
              </a:rPr>
              <a:t>•  Reservation queue per title when a book is unavailable.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FIFO queue - first reservation served first, in one system.</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2-hour claim window for unclaimed reserved copies.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In-system notifications: reservation-ready, overdue warnings, request-status updates.</a:t>
            </a:r>
            <a:endParaRPr sz="1600">
              <a:solidFill>
                <a:srgbClr val="2E333C"/>
              </a:solidFill>
              <a:latin typeface="Calibri" panose="020F0502020204030204"/>
            </a:endParaRPr>
          </a:p>
        </p:txBody>
      </p:sp>
      <p:pic>
        <p:nvPicPr>
          <p:cNvPr id="8" name="Picture 7" descr="reservations.png"/>
          <p:cNvPicPr>
            <a:picLocks noChangeAspect="1"/>
          </p:cNvPicPr>
          <p:nvPr/>
        </p:nvPicPr>
        <p:blipFill>
          <a:blip r:embed="rId1"/>
          <a:stretch>
            <a:fillRect/>
          </a:stretch>
        </p:blipFill>
        <p:spPr>
          <a:xfrm>
            <a:off x="7626202" y="1691640"/>
            <a:ext cx="3538515" cy="2377440"/>
          </a:xfrm>
          <a:prstGeom prst="rect">
            <a:avLst/>
          </a:prstGeom>
          <a:ln w="12700">
            <a:solidFill>
              <a:srgbClr val="D0D5DE"/>
            </a:solidFill>
          </a:ln>
        </p:spPr>
      </p:pic>
      <p:sp>
        <p:nvSpPr>
          <p:cNvPr id="9" name="TextBox 8"/>
          <p:cNvSpPr txBox="1"/>
          <p:nvPr/>
        </p:nvSpPr>
        <p:spPr>
          <a:xfrm>
            <a:off x="6858000" y="4081080"/>
            <a:ext cx="5074920" cy="256032"/>
          </a:xfrm>
          <a:prstGeom prst="rect">
            <a:avLst/>
          </a:prstGeom>
          <a:noFill/>
        </p:spPr>
        <p:txBody>
          <a:bodyPr wrap="none">
            <a:spAutoFit/>
          </a:bodyPr>
          <a:lstStyle/>
          <a:p>
            <a:pPr algn="ctr"/>
            <a:r>
              <a:rPr sz="1000" i="1">
                <a:solidFill>
                  <a:srgbClr val="6B7280"/>
                </a:solidFill>
              </a:rPr>
              <a:t>Reservation queue</a:t>
            </a:r>
            <a:endParaRPr sz="1000" i="1">
              <a:solidFill>
                <a:srgbClr val="6B7280"/>
              </a:solidFill>
            </a:endParaRPr>
          </a:p>
        </p:txBody>
      </p:sp>
      <p:pic>
        <p:nvPicPr>
          <p:cNvPr id="10" name="Picture 9" descr="P10_notifications.png"/>
          <p:cNvPicPr>
            <a:picLocks noChangeAspect="1"/>
          </p:cNvPicPr>
          <p:nvPr/>
        </p:nvPicPr>
        <p:blipFill>
          <a:blip r:embed="rId2"/>
          <a:stretch>
            <a:fillRect/>
          </a:stretch>
        </p:blipFill>
        <p:spPr>
          <a:xfrm>
            <a:off x="7898395" y="4206240"/>
            <a:ext cx="2994128" cy="2011680"/>
          </a:xfrm>
          <a:prstGeom prst="rect">
            <a:avLst/>
          </a:prstGeom>
          <a:ln w="12700">
            <a:solidFill>
              <a:srgbClr val="D0D5DE"/>
            </a:solidFill>
          </a:ln>
        </p:spPr>
      </p:pic>
      <p:sp>
        <p:nvSpPr>
          <p:cNvPr id="11" name="TextBox 10"/>
          <p:cNvSpPr txBox="1"/>
          <p:nvPr/>
        </p:nvSpPr>
        <p:spPr>
          <a:xfrm>
            <a:off x="6858000" y="6229920"/>
            <a:ext cx="5074920" cy="256032"/>
          </a:xfrm>
          <a:prstGeom prst="rect">
            <a:avLst/>
          </a:prstGeom>
          <a:noFill/>
        </p:spPr>
        <p:txBody>
          <a:bodyPr wrap="none">
            <a:spAutoFit/>
          </a:bodyPr>
          <a:lstStyle/>
          <a:p>
            <a:pPr algn="ctr"/>
            <a:r>
              <a:rPr sz="1000" i="1">
                <a:solidFill>
                  <a:srgbClr val="6B7280"/>
                </a:solidFill>
              </a:rPr>
              <a:t>User notifications</a:t>
            </a:r>
            <a:endParaRPr sz="1000" i="1">
              <a:solidFill>
                <a:srgbClr val="6B7280"/>
              </a:solidFill>
            </a:endParaRPr>
          </a:p>
        </p:txBody>
      </p:sp>
      <p:pic>
        <p:nvPicPr>
          <p:cNvPr id="12" name="Picture 11" descr="notifications.png"/>
          <p:cNvPicPr>
            <a:picLocks noChangeAspect="1"/>
          </p:cNvPicPr>
          <p:nvPr/>
        </p:nvPicPr>
        <p:blipFill>
          <a:blip r:embed="rId3"/>
          <a:stretch>
            <a:fillRect/>
          </a:stretch>
        </p:blipFill>
        <p:spPr>
          <a:xfrm>
            <a:off x="2283873" y="4663440"/>
            <a:ext cx="2381693" cy="1600200"/>
          </a:xfrm>
          <a:prstGeom prst="rect">
            <a:avLst/>
          </a:prstGeom>
          <a:ln w="12700">
            <a:solidFill>
              <a:srgbClr val="D0D5DE"/>
            </a:solidFill>
          </a:ln>
        </p:spPr>
      </p:pic>
      <p:sp>
        <p:nvSpPr>
          <p:cNvPr id="13" name="TextBox 12"/>
          <p:cNvSpPr txBox="1"/>
          <p:nvPr/>
        </p:nvSpPr>
        <p:spPr>
          <a:xfrm>
            <a:off x="548640" y="6275640"/>
            <a:ext cx="5852160" cy="256032"/>
          </a:xfrm>
          <a:prstGeom prst="rect">
            <a:avLst/>
          </a:prstGeom>
          <a:noFill/>
        </p:spPr>
        <p:txBody>
          <a:bodyPr wrap="none">
            <a:spAutoFit/>
          </a:bodyPr>
          <a:lstStyle/>
          <a:p>
            <a:pPr algn="ctr"/>
            <a:r>
              <a:rPr sz="1000" i="1">
                <a:solidFill>
                  <a:srgbClr val="6B7280"/>
                </a:solidFill>
              </a:rPr>
              <a:t>Notification badges</a:t>
            </a:r>
            <a:endParaRPr sz="1000" i="1">
              <a:solidFill>
                <a:srgbClr val="6B728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Requests, Profile, and Borrowing History</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12</a:t>
            </a:r>
            <a:endParaRPr sz="900">
              <a:solidFill>
                <a:srgbClr val="6B7280"/>
              </a:solidFill>
              <a:latin typeface="Calibri" panose="020F0502020204030204"/>
            </a:endParaRPr>
          </a:p>
        </p:txBody>
      </p:sp>
      <p:sp>
        <p:nvSpPr>
          <p:cNvPr id="7" name="TextBox 6"/>
          <p:cNvSpPr txBox="1"/>
          <p:nvPr/>
        </p:nvSpPr>
        <p:spPr>
          <a:xfrm>
            <a:off x="548640" y="1645920"/>
            <a:ext cx="6035040" cy="3200400"/>
          </a:xfrm>
          <a:prstGeom prst="rect">
            <a:avLst/>
          </a:prstGeom>
          <a:noFill/>
        </p:spPr>
        <p:txBody>
          <a:bodyPr wrap="square">
            <a:spAutoFit/>
          </a:bodyPr>
          <a:lstStyle/>
          <a:p>
            <a:pPr>
              <a:spcAft>
                <a:spcPts val="1200"/>
              </a:spcAft>
            </a:pPr>
            <a:r>
              <a:rPr sz="1600">
                <a:solidFill>
                  <a:srgbClr val="2E333C"/>
                </a:solidFill>
                <a:latin typeface="Calibri" panose="020F0502020204030204"/>
              </a:rPr>
              <a:t>•  Request a book the library does not carry yet; track its status live.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Profile: name, ID, department, phone; live counts of borrowed, overdue, and reservations-ready.</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Borrowing history: past borrows, reservations, requests, and fines in one page.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Encourages self-service instead of manual follow-ups.</a:t>
            </a:r>
            <a:endParaRPr sz="1600">
              <a:solidFill>
                <a:srgbClr val="2E333C"/>
              </a:solidFill>
              <a:latin typeface="Calibri" panose="020F0502020204030204"/>
            </a:endParaRPr>
          </a:p>
        </p:txBody>
      </p:sp>
      <p:pic>
        <p:nvPicPr>
          <p:cNvPr id="8" name="Picture 7" descr="P08_request_book.png"/>
          <p:cNvPicPr>
            <a:picLocks noChangeAspect="1"/>
          </p:cNvPicPr>
          <p:nvPr/>
        </p:nvPicPr>
        <p:blipFill>
          <a:blip r:embed="rId1"/>
          <a:stretch>
            <a:fillRect/>
          </a:stretch>
        </p:blipFill>
        <p:spPr>
          <a:xfrm>
            <a:off x="8136565" y="1691640"/>
            <a:ext cx="2517789" cy="1691640"/>
          </a:xfrm>
          <a:prstGeom prst="rect">
            <a:avLst/>
          </a:prstGeom>
          <a:ln w="12700">
            <a:solidFill>
              <a:srgbClr val="D0D5DE"/>
            </a:solidFill>
          </a:ln>
        </p:spPr>
      </p:pic>
      <p:sp>
        <p:nvSpPr>
          <p:cNvPr id="9" name="TextBox 8"/>
          <p:cNvSpPr txBox="1"/>
          <p:nvPr/>
        </p:nvSpPr>
        <p:spPr>
          <a:xfrm>
            <a:off x="6858000" y="3395280"/>
            <a:ext cx="5074920" cy="256032"/>
          </a:xfrm>
          <a:prstGeom prst="rect">
            <a:avLst/>
          </a:prstGeom>
          <a:noFill/>
        </p:spPr>
        <p:txBody>
          <a:bodyPr wrap="none">
            <a:spAutoFit/>
          </a:bodyPr>
          <a:lstStyle/>
          <a:p>
            <a:pPr algn="ctr"/>
            <a:r>
              <a:rPr sz="1000" i="1">
                <a:solidFill>
                  <a:srgbClr val="6B7280"/>
                </a:solidFill>
              </a:rPr>
              <a:t>Book request form</a:t>
            </a:r>
            <a:endParaRPr sz="1000" i="1">
              <a:solidFill>
                <a:srgbClr val="6B7280"/>
              </a:solidFill>
            </a:endParaRPr>
          </a:p>
        </p:txBody>
      </p:sp>
      <p:pic>
        <p:nvPicPr>
          <p:cNvPr id="10" name="Picture 9" descr="P07_profile.png"/>
          <p:cNvPicPr>
            <a:picLocks noChangeAspect="1"/>
          </p:cNvPicPr>
          <p:nvPr/>
        </p:nvPicPr>
        <p:blipFill>
          <a:blip r:embed="rId2"/>
          <a:stretch>
            <a:fillRect/>
          </a:stretch>
        </p:blipFill>
        <p:spPr>
          <a:xfrm>
            <a:off x="855920" y="4572000"/>
            <a:ext cx="2585838" cy="1737360"/>
          </a:xfrm>
          <a:prstGeom prst="rect">
            <a:avLst/>
          </a:prstGeom>
          <a:ln w="12700">
            <a:solidFill>
              <a:srgbClr val="D0D5DE"/>
            </a:solidFill>
          </a:ln>
        </p:spPr>
      </p:pic>
      <p:sp>
        <p:nvSpPr>
          <p:cNvPr id="11" name="TextBox 10"/>
          <p:cNvSpPr txBox="1"/>
          <p:nvPr/>
        </p:nvSpPr>
        <p:spPr>
          <a:xfrm>
            <a:off x="548640" y="6321360"/>
            <a:ext cx="3200400" cy="256032"/>
          </a:xfrm>
          <a:prstGeom prst="rect">
            <a:avLst/>
          </a:prstGeom>
          <a:noFill/>
        </p:spPr>
        <p:txBody>
          <a:bodyPr wrap="none">
            <a:spAutoFit/>
          </a:bodyPr>
          <a:lstStyle/>
          <a:p>
            <a:pPr algn="ctr"/>
            <a:r>
              <a:rPr sz="1000" i="1">
                <a:solidFill>
                  <a:srgbClr val="6B7280"/>
                </a:solidFill>
              </a:rPr>
              <a:t>Profile overview</a:t>
            </a:r>
            <a:endParaRPr sz="1000" i="1">
              <a:solidFill>
                <a:srgbClr val="6B7280"/>
              </a:solidFill>
            </a:endParaRPr>
          </a:p>
        </p:txBody>
      </p:sp>
      <p:pic>
        <p:nvPicPr>
          <p:cNvPr id="12" name="Picture 11" descr="P09_history.png"/>
          <p:cNvPicPr>
            <a:picLocks noChangeAspect="1"/>
          </p:cNvPicPr>
          <p:nvPr/>
        </p:nvPicPr>
        <p:blipFill>
          <a:blip r:embed="rId3"/>
          <a:stretch>
            <a:fillRect/>
          </a:stretch>
        </p:blipFill>
        <p:spPr>
          <a:xfrm>
            <a:off x="6858000" y="3520440"/>
            <a:ext cx="2468880" cy="1658778"/>
          </a:xfrm>
          <a:prstGeom prst="rect">
            <a:avLst/>
          </a:prstGeom>
          <a:ln w="12700">
            <a:solidFill>
              <a:srgbClr val="D0D5DE"/>
            </a:solidFill>
          </a:ln>
        </p:spPr>
      </p:pic>
      <p:sp>
        <p:nvSpPr>
          <p:cNvPr id="13" name="TextBox 12"/>
          <p:cNvSpPr txBox="1"/>
          <p:nvPr/>
        </p:nvSpPr>
        <p:spPr>
          <a:xfrm>
            <a:off x="6858000" y="5191218"/>
            <a:ext cx="2468880" cy="256032"/>
          </a:xfrm>
          <a:prstGeom prst="rect">
            <a:avLst/>
          </a:prstGeom>
          <a:noFill/>
        </p:spPr>
        <p:txBody>
          <a:bodyPr wrap="none">
            <a:spAutoFit/>
          </a:bodyPr>
          <a:lstStyle/>
          <a:p>
            <a:pPr algn="ctr"/>
            <a:r>
              <a:rPr sz="1000" i="1">
                <a:solidFill>
                  <a:srgbClr val="6B7280"/>
                </a:solidFill>
              </a:rPr>
              <a:t>History</a:t>
            </a:r>
            <a:endParaRPr sz="1000" i="1">
              <a:solidFill>
                <a:srgbClr val="6B7280"/>
              </a:solidFill>
            </a:endParaRPr>
          </a:p>
        </p:txBody>
      </p:sp>
      <p:pic>
        <p:nvPicPr>
          <p:cNvPr id="14" name="Picture 13" descr="requests.png"/>
          <p:cNvPicPr>
            <a:picLocks noChangeAspect="1"/>
          </p:cNvPicPr>
          <p:nvPr/>
        </p:nvPicPr>
        <p:blipFill>
          <a:blip r:embed="rId4"/>
          <a:stretch>
            <a:fillRect/>
          </a:stretch>
        </p:blipFill>
        <p:spPr>
          <a:xfrm>
            <a:off x="9464040" y="3520440"/>
            <a:ext cx="2468880" cy="1658778"/>
          </a:xfrm>
          <a:prstGeom prst="rect">
            <a:avLst/>
          </a:prstGeom>
          <a:ln w="12700">
            <a:solidFill>
              <a:srgbClr val="D0D5DE"/>
            </a:solidFill>
          </a:ln>
        </p:spPr>
      </p:pic>
      <p:sp>
        <p:nvSpPr>
          <p:cNvPr id="15" name="TextBox 14"/>
          <p:cNvSpPr txBox="1"/>
          <p:nvPr/>
        </p:nvSpPr>
        <p:spPr>
          <a:xfrm>
            <a:off x="9464040" y="5191218"/>
            <a:ext cx="2468880" cy="256032"/>
          </a:xfrm>
          <a:prstGeom prst="rect">
            <a:avLst/>
          </a:prstGeom>
          <a:noFill/>
        </p:spPr>
        <p:txBody>
          <a:bodyPr wrap="none">
            <a:spAutoFit/>
          </a:bodyPr>
          <a:lstStyle/>
          <a:p>
            <a:pPr algn="ctr"/>
            <a:r>
              <a:rPr sz="1000" i="1">
                <a:solidFill>
                  <a:srgbClr val="6B7280"/>
                </a:solidFill>
              </a:rPr>
              <a:t>Librarian request view</a:t>
            </a:r>
            <a:endParaRPr sz="1000" i="1">
              <a:solidFill>
                <a:srgbClr val="6B728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FEATURES</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Security, User Administration, and Backup</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13</a:t>
            </a:r>
            <a:endParaRPr sz="900">
              <a:solidFill>
                <a:srgbClr val="6B7280"/>
              </a:solidFill>
              <a:latin typeface="Calibri" panose="020F0502020204030204"/>
            </a:endParaRPr>
          </a:p>
        </p:txBody>
      </p:sp>
      <p:sp>
        <p:nvSpPr>
          <p:cNvPr id="7" name="TextBox 6"/>
          <p:cNvSpPr txBox="1"/>
          <p:nvPr/>
        </p:nvSpPr>
        <p:spPr>
          <a:xfrm>
            <a:off x="548640" y="1645920"/>
            <a:ext cx="6035040" cy="3291840"/>
          </a:xfrm>
          <a:prstGeom prst="rect">
            <a:avLst/>
          </a:prstGeom>
          <a:noFill/>
        </p:spPr>
        <p:txBody>
          <a:bodyPr wrap="square">
            <a:spAutoFit/>
          </a:bodyPr>
          <a:lstStyle/>
          <a:p>
            <a:pPr>
              <a:spcAft>
                <a:spcPts val="1200"/>
              </a:spcAft>
            </a:pPr>
            <a:r>
              <a:rPr sz="1600">
                <a:solidFill>
                  <a:srgbClr val="2E333C"/>
                </a:solidFill>
                <a:latin typeface="Calibri" panose="020F0502020204030204"/>
              </a:rPr>
              <a:t>•  User management: approve, disable, archive/restore, change role; hard delete only for archived.</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Audit analytics: sign-ins, access denials, errors - by category and role.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Backup: timestamped SQL dumps + managed point-in-time recovery (Neon).</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Data Privacy Act 2012-aligned: encrypted sessions + role-based control.</a:t>
            </a:r>
            <a:endParaRPr sz="1600">
              <a:solidFill>
                <a:srgbClr val="2E333C"/>
              </a:solidFill>
              <a:latin typeface="Calibri" panose="020F0502020204030204"/>
            </a:endParaRPr>
          </a:p>
        </p:txBody>
      </p:sp>
      <p:pic>
        <p:nvPicPr>
          <p:cNvPr id="8" name="Picture 7" descr="user-management.png"/>
          <p:cNvPicPr>
            <a:picLocks noChangeAspect="1"/>
          </p:cNvPicPr>
          <p:nvPr/>
        </p:nvPicPr>
        <p:blipFill>
          <a:blip r:embed="rId1"/>
          <a:stretch>
            <a:fillRect/>
          </a:stretch>
        </p:blipFill>
        <p:spPr>
          <a:xfrm>
            <a:off x="2170105" y="4572000"/>
            <a:ext cx="2517789" cy="1691640"/>
          </a:xfrm>
          <a:prstGeom prst="rect">
            <a:avLst/>
          </a:prstGeom>
          <a:ln w="12700">
            <a:solidFill>
              <a:srgbClr val="D0D5DE"/>
            </a:solidFill>
          </a:ln>
        </p:spPr>
      </p:pic>
      <p:sp>
        <p:nvSpPr>
          <p:cNvPr id="9" name="TextBox 8"/>
          <p:cNvSpPr txBox="1"/>
          <p:nvPr/>
        </p:nvSpPr>
        <p:spPr>
          <a:xfrm>
            <a:off x="548640" y="6275640"/>
            <a:ext cx="5760720" cy="256032"/>
          </a:xfrm>
          <a:prstGeom prst="rect">
            <a:avLst/>
          </a:prstGeom>
          <a:noFill/>
        </p:spPr>
        <p:txBody>
          <a:bodyPr wrap="none">
            <a:spAutoFit/>
          </a:bodyPr>
          <a:lstStyle/>
          <a:p>
            <a:pPr algn="ctr"/>
            <a:r>
              <a:rPr sz="1000" i="1">
                <a:solidFill>
                  <a:srgbClr val="6B7280"/>
                </a:solidFill>
              </a:rPr>
              <a:t>User management</a:t>
            </a:r>
            <a:endParaRPr sz="1000" i="1">
              <a:solidFill>
                <a:srgbClr val="6B7280"/>
              </a:solidFill>
            </a:endParaRPr>
          </a:p>
        </p:txBody>
      </p:sp>
      <p:pic>
        <p:nvPicPr>
          <p:cNvPr id="10" name="Picture 9" descr="backup.png"/>
          <p:cNvPicPr>
            <a:picLocks noChangeAspect="1"/>
          </p:cNvPicPr>
          <p:nvPr/>
        </p:nvPicPr>
        <p:blipFill>
          <a:blip r:embed="rId2"/>
          <a:stretch>
            <a:fillRect/>
          </a:stretch>
        </p:blipFill>
        <p:spPr>
          <a:xfrm>
            <a:off x="7694250" y="1691640"/>
            <a:ext cx="3402418" cy="2286000"/>
          </a:xfrm>
          <a:prstGeom prst="rect">
            <a:avLst/>
          </a:prstGeom>
          <a:ln w="12700">
            <a:solidFill>
              <a:srgbClr val="D0D5DE"/>
            </a:solidFill>
          </a:ln>
        </p:spPr>
      </p:pic>
      <p:sp>
        <p:nvSpPr>
          <p:cNvPr id="11" name="TextBox 10"/>
          <p:cNvSpPr txBox="1"/>
          <p:nvPr/>
        </p:nvSpPr>
        <p:spPr>
          <a:xfrm>
            <a:off x="6858000" y="3989640"/>
            <a:ext cx="5074920" cy="256032"/>
          </a:xfrm>
          <a:prstGeom prst="rect">
            <a:avLst/>
          </a:prstGeom>
          <a:noFill/>
        </p:spPr>
        <p:txBody>
          <a:bodyPr wrap="none">
            <a:spAutoFit/>
          </a:bodyPr>
          <a:lstStyle/>
          <a:p>
            <a:pPr algn="ctr"/>
            <a:r>
              <a:rPr sz="1000" i="1">
                <a:solidFill>
                  <a:srgbClr val="6B7280"/>
                </a:solidFill>
              </a:rPr>
              <a:t>Backup module</a:t>
            </a:r>
            <a:endParaRPr sz="1000" i="1">
              <a:solidFill>
                <a:srgbClr val="6B7280"/>
              </a:solidFill>
            </a:endParaRPr>
          </a:p>
        </p:txBody>
      </p:sp>
      <p:pic>
        <p:nvPicPr>
          <p:cNvPr id="12" name="Picture 11" descr="audit-trail.png"/>
          <p:cNvPicPr>
            <a:picLocks noChangeAspect="1"/>
          </p:cNvPicPr>
          <p:nvPr/>
        </p:nvPicPr>
        <p:blipFill>
          <a:blip r:embed="rId3"/>
          <a:stretch>
            <a:fillRect/>
          </a:stretch>
        </p:blipFill>
        <p:spPr>
          <a:xfrm>
            <a:off x="7830347" y="4160520"/>
            <a:ext cx="3130225" cy="2103120"/>
          </a:xfrm>
          <a:prstGeom prst="rect">
            <a:avLst/>
          </a:prstGeom>
          <a:ln w="12700">
            <a:solidFill>
              <a:srgbClr val="D0D5DE"/>
            </a:solidFill>
          </a:ln>
        </p:spPr>
      </p:pic>
      <p:sp>
        <p:nvSpPr>
          <p:cNvPr id="13" name="TextBox 12"/>
          <p:cNvSpPr txBox="1"/>
          <p:nvPr/>
        </p:nvSpPr>
        <p:spPr>
          <a:xfrm>
            <a:off x="6858000" y="6275640"/>
            <a:ext cx="5074920" cy="256032"/>
          </a:xfrm>
          <a:prstGeom prst="rect">
            <a:avLst/>
          </a:prstGeom>
          <a:noFill/>
        </p:spPr>
        <p:txBody>
          <a:bodyPr wrap="none">
            <a:spAutoFit/>
          </a:bodyPr>
          <a:lstStyle/>
          <a:p>
            <a:pPr algn="ctr"/>
            <a:r>
              <a:rPr sz="1000" i="1">
                <a:solidFill>
                  <a:srgbClr val="6B7280"/>
                </a:solidFill>
              </a:rPr>
              <a:t>Audit trail</a:t>
            </a:r>
            <a:endParaRPr sz="1000" i="1">
              <a:solidFill>
                <a:srgbClr val="6B728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BUSINESS INTELLIGENCE</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Business Intelligence - The Reporting Dashboard</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14</a:t>
            </a:r>
            <a:endParaRPr sz="900">
              <a:solidFill>
                <a:srgbClr val="6B7280"/>
              </a:solidFill>
              <a:latin typeface="Calibri" panose="020F0502020204030204"/>
            </a:endParaRPr>
          </a:p>
        </p:txBody>
      </p:sp>
      <p:sp>
        <p:nvSpPr>
          <p:cNvPr id="7" name="TextBox 6"/>
          <p:cNvSpPr txBox="1"/>
          <p:nvPr/>
        </p:nvSpPr>
        <p:spPr>
          <a:xfrm>
            <a:off x="548640" y="1645920"/>
            <a:ext cx="6035040" cy="4023360"/>
          </a:xfrm>
          <a:prstGeom prst="rect">
            <a:avLst/>
          </a:prstGeom>
          <a:noFill/>
        </p:spPr>
        <p:txBody>
          <a:bodyPr wrap="square">
            <a:spAutoFit/>
          </a:bodyPr>
          <a:lstStyle/>
          <a:p>
            <a:pPr>
              <a:spcAft>
                <a:spcPts val="1000"/>
              </a:spcAft>
            </a:pPr>
            <a:r>
              <a:rPr sz="1600">
                <a:solidFill>
                  <a:srgbClr val="2E333C"/>
                </a:solidFill>
                <a:latin typeface="Calibri" panose="020F0502020204030204"/>
              </a:rPr>
              <a:t>•  The analytics KOHA never had - built into the same platform that holds the records.</a:t>
            </a:r>
            <a:endParaRPr sz="1600">
              <a:solidFill>
                <a:srgbClr val="2E333C"/>
              </a:solidFill>
              <a:latin typeface="Calibri" panose="020F0502020204030204"/>
            </a:endParaRPr>
          </a:p>
          <a:p>
            <a:pPr>
              <a:spcAft>
                <a:spcPts val="1000"/>
              </a:spcAft>
            </a:pPr>
            <a:r>
              <a:rPr sz="1600">
                <a:solidFill>
                  <a:srgbClr val="2E333C"/>
                </a:solidFill>
                <a:latin typeface="Calibri" panose="020F0502020204030204"/>
              </a:rPr>
              <a:t>•  One Reporting Dashboard, four tabs - each answering a different question:</a:t>
            </a:r>
            <a:endParaRPr sz="1600">
              <a:solidFill>
                <a:srgbClr val="2E333C"/>
              </a:solidFill>
              <a:latin typeface="Calibri" panose="020F0502020204030204"/>
            </a:endParaRPr>
          </a:p>
          <a:p>
            <a:pPr lvl="1">
              <a:spcAft>
                <a:spcPts val="1000"/>
              </a:spcAft>
            </a:pPr>
            <a:r>
              <a:rPr sz="1500">
                <a:solidFill>
                  <a:srgbClr val="6B7280"/>
                </a:solidFill>
                <a:latin typeface="Calibri" panose="020F0502020204030204"/>
              </a:rPr>
              <a:t>–  Circulation Tracking - where does every book and copy stand right now?</a:t>
            </a:r>
            <a:endParaRPr sz="1500">
              <a:solidFill>
                <a:srgbClr val="6B7280"/>
              </a:solidFill>
              <a:latin typeface="Calibri" panose="020F0502020204030204"/>
            </a:endParaRPr>
          </a:p>
          <a:p>
            <a:pPr lvl="1">
              <a:spcAft>
                <a:spcPts val="1000"/>
              </a:spcAft>
            </a:pPr>
            <a:r>
              <a:rPr sz="1500">
                <a:solidFill>
                  <a:srgbClr val="6B7280"/>
                </a:solidFill>
                <a:latin typeface="Calibri" panose="020F0502020204030204"/>
              </a:rPr>
              <a:t>–  Library Analytics - what patterns are happening, and what may happen next?</a:t>
            </a:r>
            <a:endParaRPr sz="1500">
              <a:solidFill>
                <a:srgbClr val="6B7280"/>
              </a:solidFill>
              <a:latin typeface="Calibri" panose="020F0502020204030204"/>
            </a:endParaRPr>
          </a:p>
          <a:p>
            <a:pPr lvl="1">
              <a:spcAft>
                <a:spcPts val="1000"/>
              </a:spcAft>
            </a:pPr>
            <a:r>
              <a:rPr sz="1500">
                <a:solidFill>
                  <a:srgbClr val="6B7280"/>
                </a:solidFill>
                <a:latin typeface="Calibri" panose="020F0502020204030204"/>
              </a:rPr>
              <a:t>–  Department Analytics - how do programs compare in library usage?</a:t>
            </a:r>
            <a:endParaRPr sz="1500">
              <a:solidFill>
                <a:srgbClr val="6B7280"/>
              </a:solidFill>
              <a:latin typeface="Calibri" panose="020F0502020204030204"/>
            </a:endParaRPr>
          </a:p>
          <a:p>
            <a:pPr lvl="1">
              <a:spcAft>
                <a:spcPts val="1000"/>
              </a:spcAft>
            </a:pPr>
            <a:r>
              <a:rPr sz="1500">
                <a:solidFill>
                  <a:srgbClr val="6B7280"/>
                </a:solidFill>
                <a:latin typeface="Calibri" panose="020F0502020204030204"/>
              </a:rPr>
              <a:t>–  Resource Analytics - what is the traffic story of one specific book?</a:t>
            </a:r>
            <a:endParaRPr sz="1500">
              <a:solidFill>
                <a:srgbClr val="6B7280"/>
              </a:solidFill>
              <a:latin typeface="Calibri" panose="020F0502020204030204"/>
            </a:endParaRPr>
          </a:p>
          <a:p>
            <a:pPr>
              <a:spcAft>
                <a:spcPts val="1000"/>
              </a:spcAft>
            </a:pPr>
            <a:r>
              <a:rPr sz="1600">
                <a:solidFill>
                  <a:srgbClr val="2E333C"/>
                </a:solidFill>
                <a:latin typeface="Calibri" panose="020F0502020204030204"/>
              </a:rPr>
              <a:t>•  Descriptive analytics + rule-based insights; KPI accuracy checked against manual computation.</a:t>
            </a:r>
            <a:endParaRPr sz="1600">
              <a:solidFill>
                <a:srgbClr val="2E333C"/>
              </a:solidFill>
              <a:latin typeface="Calibri" panose="020F0502020204030204"/>
            </a:endParaRPr>
          </a:p>
          <a:p>
            <a:pPr>
              <a:spcAft>
                <a:spcPts val="1000"/>
              </a:spcAft>
            </a:pPr>
            <a:r>
              <a:rPr sz="1600">
                <a:solidFill>
                  <a:srgbClr val="2E333C"/>
                </a:solidFill>
                <a:latin typeface="Calibri" panose="020F0502020204030204"/>
              </a:rPr>
              <a:t>•  Exportable reports (CSV), with snapshots saved for the budget defense trail.</a:t>
            </a:r>
            <a:endParaRPr sz="1600">
              <a:solidFill>
                <a:srgbClr val="2E333C"/>
              </a:solidFill>
              <a:latin typeface="Calibri" panose="020F0502020204030204"/>
            </a:endParaRPr>
          </a:p>
        </p:txBody>
      </p:sp>
      <p:pic>
        <p:nvPicPr>
          <p:cNvPr id="8" name="Picture 7" descr="analytics-dashboard.png"/>
          <p:cNvPicPr>
            <a:picLocks noChangeAspect="1"/>
          </p:cNvPicPr>
          <p:nvPr/>
        </p:nvPicPr>
        <p:blipFill>
          <a:blip r:embed="rId1"/>
          <a:stretch>
            <a:fillRect/>
          </a:stretch>
        </p:blipFill>
        <p:spPr>
          <a:xfrm>
            <a:off x="6858000" y="1691640"/>
            <a:ext cx="5074920" cy="3409711"/>
          </a:xfrm>
          <a:prstGeom prst="rect">
            <a:avLst/>
          </a:prstGeom>
          <a:ln w="12700">
            <a:solidFill>
              <a:srgbClr val="D0D5DE"/>
            </a:solidFill>
          </a:ln>
        </p:spPr>
      </p:pic>
      <p:sp>
        <p:nvSpPr>
          <p:cNvPr id="9" name="TextBox 8"/>
          <p:cNvSpPr txBox="1"/>
          <p:nvPr/>
        </p:nvSpPr>
        <p:spPr>
          <a:xfrm>
            <a:off x="6858000" y="5113351"/>
            <a:ext cx="5074920" cy="256032"/>
          </a:xfrm>
          <a:prstGeom prst="rect">
            <a:avLst/>
          </a:prstGeom>
          <a:noFill/>
        </p:spPr>
        <p:txBody>
          <a:bodyPr wrap="none">
            <a:spAutoFit/>
          </a:bodyPr>
          <a:lstStyle/>
          <a:p>
            <a:pPr algn="ctr"/>
            <a:r>
              <a:rPr sz="1000" i="1">
                <a:solidFill>
                  <a:srgbClr val="6B7280"/>
                </a:solidFill>
              </a:rPr>
              <a:t>Reporting Dashboard - four tabs</a:t>
            </a:r>
            <a:endParaRPr sz="1000" i="1">
              <a:solidFill>
                <a:srgbClr val="6B728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BUSINESS INTELLIGENCE</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BI Tab 1 - Circulation Tracking</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15</a:t>
            </a:r>
            <a:endParaRPr sz="900">
              <a:solidFill>
                <a:srgbClr val="6B7280"/>
              </a:solidFill>
              <a:latin typeface="Calibri" panose="020F0502020204030204"/>
            </a:endParaRPr>
          </a:p>
        </p:txBody>
      </p:sp>
      <p:sp>
        <p:nvSpPr>
          <p:cNvPr id="7" name="TextBox 6"/>
          <p:cNvSpPr txBox="1"/>
          <p:nvPr/>
        </p:nvSpPr>
        <p:spPr>
          <a:xfrm>
            <a:off x="548640" y="1645920"/>
            <a:ext cx="6035040" cy="3840480"/>
          </a:xfrm>
          <a:prstGeom prst="rect">
            <a:avLst/>
          </a:prstGeom>
          <a:noFill/>
        </p:spPr>
        <p:txBody>
          <a:bodyPr wrap="square">
            <a:spAutoFit/>
          </a:bodyPr>
          <a:lstStyle/>
          <a:p>
            <a:pPr>
              <a:spcAft>
                <a:spcPts val="1200"/>
              </a:spcAft>
            </a:pPr>
            <a:r>
              <a:rPr sz="1600">
                <a:solidFill>
                  <a:srgbClr val="2E333C"/>
                </a:solidFill>
                <a:latin typeface="Calibri" panose="020F0502020204030204"/>
              </a:rPr>
              <a:t>•  Answers: 'Where does every book and copy stand right now?'</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KPIs on current stock and activity.</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Donut charts by category and by status (available / borrowed / reserved / etc.).</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Live recent-copies table - the freshest copy movements as they happen.</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The librarian's daily situational view - no more manual inventory tallies.</a:t>
            </a:r>
            <a:endParaRPr sz="1600">
              <a:solidFill>
                <a:srgbClr val="2E333C"/>
              </a:solidFill>
              <a:latin typeface="Calibri" panose="020F0502020204030204"/>
            </a:endParaRPr>
          </a:p>
        </p:txBody>
      </p:sp>
      <p:pic>
        <p:nvPicPr>
          <p:cNvPr id="9" name="Picture 8"/>
          <p:cNvPicPr>
            <a:picLocks noChangeAspect="1"/>
          </p:cNvPicPr>
          <p:nvPr/>
        </p:nvPicPr>
        <p:blipFill>
          <a:blip r:embed="rId1"/>
          <a:stretch>
            <a:fillRect/>
          </a:stretch>
        </p:blipFill>
        <p:spPr>
          <a:xfrm>
            <a:off x="6858000" y="2072877"/>
            <a:ext cx="5074920" cy="33980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BUSINESS INTELLIGENCE</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BI Tab 2 - Library Analytics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16</a:t>
            </a:r>
            <a:endParaRPr sz="900">
              <a:solidFill>
                <a:srgbClr val="6B7280"/>
              </a:solidFill>
              <a:latin typeface="Calibri" panose="020F0502020204030204"/>
            </a:endParaRPr>
          </a:p>
        </p:txBody>
      </p:sp>
      <p:sp>
        <p:nvSpPr>
          <p:cNvPr id="7" name="TextBox 6"/>
          <p:cNvSpPr txBox="1"/>
          <p:nvPr/>
        </p:nvSpPr>
        <p:spPr>
          <a:xfrm>
            <a:off x="548640" y="1645920"/>
            <a:ext cx="6035040" cy="3840480"/>
          </a:xfrm>
          <a:prstGeom prst="rect">
            <a:avLst/>
          </a:prstGeom>
          <a:noFill/>
        </p:spPr>
        <p:txBody>
          <a:bodyPr wrap="square">
            <a:spAutoFit/>
          </a:bodyPr>
          <a:lstStyle/>
          <a:p>
            <a:pPr>
              <a:spcAft>
                <a:spcPts val="1200"/>
              </a:spcAft>
            </a:pPr>
            <a:r>
              <a:rPr sz="1600">
                <a:solidFill>
                  <a:srgbClr val="2E333C"/>
                </a:solidFill>
                <a:latin typeface="Calibri" panose="020F0502020204030204"/>
              </a:rPr>
              <a:t>•  Answers: 'What patterns are happening - and what may happen next?'</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Borrowing trends with a 30-day moving-average forecast line.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Top borrowed titles, categories, fines, and requests.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Per-program borrowing breakdowns.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Rule-based insights: demand spikes surfaced early, while decisions stay with the librarian.</a:t>
            </a:r>
            <a:endParaRPr sz="1600">
              <a:solidFill>
                <a:srgbClr val="2E333C"/>
              </a:solidFill>
              <a:latin typeface="Calibri" panose="020F0502020204030204"/>
            </a:endParaRPr>
          </a:p>
        </p:txBody>
      </p:sp>
      <p:sp>
        <p:nvSpPr>
          <p:cNvPr id="9" name="TextBox 8"/>
          <p:cNvSpPr txBox="1"/>
          <p:nvPr/>
        </p:nvSpPr>
        <p:spPr>
          <a:xfrm>
            <a:off x="6858000" y="5113351"/>
            <a:ext cx="5074920" cy="256032"/>
          </a:xfrm>
          <a:prstGeom prst="rect">
            <a:avLst/>
          </a:prstGeom>
          <a:noFill/>
        </p:spPr>
        <p:txBody>
          <a:bodyPr wrap="none">
            <a:spAutoFit/>
          </a:bodyPr>
          <a:lstStyle/>
          <a:p>
            <a:pPr algn="ctr"/>
            <a:r>
              <a:rPr sz="1000" i="1">
                <a:solidFill>
                  <a:srgbClr val="6B7280"/>
                </a:solidFill>
              </a:rPr>
              <a:t>Reporting Dashboard - Library Analytics tab</a:t>
            </a:r>
            <a:endParaRPr sz="1000" i="1">
              <a:solidFill>
                <a:srgbClr val="6B7280"/>
              </a:solidFill>
            </a:endParaRPr>
          </a:p>
        </p:txBody>
      </p:sp>
      <p:pic>
        <p:nvPicPr>
          <p:cNvPr id="10" name="Picture 9"/>
          <p:cNvPicPr>
            <a:picLocks noChangeAspect="1"/>
          </p:cNvPicPr>
          <p:nvPr/>
        </p:nvPicPr>
        <p:blipFill>
          <a:blip r:embed="rId1"/>
          <a:stretch>
            <a:fillRect/>
          </a:stretch>
        </p:blipFill>
        <p:spPr>
          <a:xfrm>
            <a:off x="6858000" y="2044535"/>
            <a:ext cx="5074920" cy="34547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BUSINESS INTELLIGENCE</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BI Tab 3 - Department Analytics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17</a:t>
            </a:r>
            <a:endParaRPr sz="900">
              <a:solidFill>
                <a:srgbClr val="6B7280"/>
              </a:solidFill>
              <a:latin typeface="Calibri" panose="020F0502020204030204"/>
            </a:endParaRPr>
          </a:p>
        </p:txBody>
      </p:sp>
      <p:sp>
        <p:nvSpPr>
          <p:cNvPr id="7" name="TextBox 6"/>
          <p:cNvSpPr txBox="1"/>
          <p:nvPr/>
        </p:nvSpPr>
        <p:spPr>
          <a:xfrm>
            <a:off x="548640" y="1645920"/>
            <a:ext cx="6035040" cy="3840480"/>
          </a:xfrm>
          <a:prstGeom prst="rect">
            <a:avLst/>
          </a:prstGeom>
          <a:noFill/>
        </p:spPr>
        <p:txBody>
          <a:bodyPr wrap="square">
            <a:spAutoFit/>
          </a:bodyPr>
          <a:lstStyle/>
          <a:p>
            <a:pPr>
              <a:spcAft>
                <a:spcPts val="1200"/>
              </a:spcAft>
            </a:pPr>
            <a:r>
              <a:rPr sz="1600">
                <a:solidFill>
                  <a:srgbClr val="2E333C"/>
                </a:solidFill>
                <a:latin typeface="Calibri" panose="020F0502020204030204"/>
              </a:rPr>
              <a:t>•  Answers: 'How do programs compare in library usage?'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Borrowings, borrowers, and overdues - compared across programs/departments.</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Direct evidence for program chairs and deans when aligning collections with curricula.</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Supports fair, transparent budget allocation between departments.</a:t>
            </a:r>
            <a:endParaRPr sz="1600">
              <a:solidFill>
                <a:srgbClr val="2E333C"/>
              </a:solidFill>
              <a:latin typeface="Calibri" panose="020F0502020204030204"/>
            </a:endParaRPr>
          </a:p>
        </p:txBody>
      </p:sp>
      <p:pic>
        <p:nvPicPr>
          <p:cNvPr id="11" name="Picture 10"/>
          <p:cNvPicPr>
            <a:picLocks noChangeAspect="1"/>
          </p:cNvPicPr>
          <p:nvPr/>
        </p:nvPicPr>
        <p:blipFill>
          <a:blip r:embed="rId1"/>
          <a:stretch>
            <a:fillRect/>
          </a:stretch>
        </p:blipFill>
        <p:spPr>
          <a:xfrm>
            <a:off x="6858000" y="1976203"/>
            <a:ext cx="5074920" cy="359139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BUSINESS INTELLIGENCE</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BI Tab 4 - Resource Analytics (Book Analytics)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18</a:t>
            </a:r>
            <a:endParaRPr sz="900">
              <a:solidFill>
                <a:srgbClr val="6B7280"/>
              </a:solidFill>
              <a:latin typeface="Calibri" panose="020F0502020204030204"/>
            </a:endParaRPr>
          </a:p>
        </p:txBody>
      </p:sp>
      <p:sp>
        <p:nvSpPr>
          <p:cNvPr id="7" name="TextBox 6"/>
          <p:cNvSpPr txBox="1"/>
          <p:nvPr/>
        </p:nvSpPr>
        <p:spPr>
          <a:xfrm>
            <a:off x="548640" y="1645920"/>
            <a:ext cx="6035040" cy="4023360"/>
          </a:xfrm>
          <a:prstGeom prst="rect">
            <a:avLst/>
          </a:prstGeom>
          <a:noFill/>
        </p:spPr>
        <p:txBody>
          <a:bodyPr wrap="square">
            <a:spAutoFit/>
          </a:bodyPr>
          <a:lstStyle/>
          <a:p>
            <a:pPr>
              <a:spcAft>
                <a:spcPts val="1200"/>
              </a:spcAft>
            </a:pPr>
            <a:r>
              <a:rPr sz="1600">
                <a:solidFill>
                  <a:srgbClr val="2E333C"/>
                </a:solidFill>
                <a:latin typeface="Calibri" panose="020F0502020204030204"/>
              </a:rPr>
              <a:t>•  Answers: 'What is the traffic story of one specific book?'</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Drills into a single book: borrow counts, borrow trend, its borrowers, its copies, and e-book activity.</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Tells demand at copy level - which edition is hot, which copies sit idle.</a:t>
            </a:r>
            <a:endParaRPr sz="1600">
              <a:solidFill>
                <a:srgbClr val="2E333C"/>
              </a:solidFill>
              <a:latin typeface="Calibri" panose="020F0502020204030204"/>
            </a:endParaRPr>
          </a:p>
          <a:p>
            <a:pPr>
              <a:spcAft>
                <a:spcPts val="1200"/>
              </a:spcAft>
            </a:pPr>
            <a:r>
              <a:rPr sz="1600">
                <a:solidFill>
                  <a:srgbClr val="2E333C"/>
                </a:solidFill>
                <a:latin typeface="Calibri" panose="020F0502020204030204"/>
              </a:rPr>
              <a:t>•  Feeds copy-count decisions: where to add copies, where to stop re-buying.</a:t>
            </a:r>
            <a:endParaRPr sz="1600">
              <a:solidFill>
                <a:srgbClr val="2E333C"/>
              </a:solidFill>
              <a:latin typeface="Calibri" panose="020F0502020204030204"/>
            </a:endParaRPr>
          </a:p>
        </p:txBody>
      </p:sp>
      <p:pic>
        <p:nvPicPr>
          <p:cNvPr id="9" name="Picture 8"/>
          <p:cNvPicPr>
            <a:picLocks noChangeAspect="1"/>
          </p:cNvPicPr>
          <p:nvPr/>
        </p:nvPicPr>
        <p:blipFill>
          <a:blip r:embed="rId1"/>
          <a:stretch>
            <a:fillRect/>
          </a:stretch>
        </p:blipFill>
        <p:spPr>
          <a:xfrm>
            <a:off x="6858000" y="1971306"/>
            <a:ext cx="5074920" cy="360118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EVALUATION</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Testing Journey</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19</a:t>
            </a:r>
            <a:endParaRPr sz="900">
              <a:solidFill>
                <a:srgbClr val="6B7280"/>
              </a:solidFill>
              <a:latin typeface="Calibri" panose="020F0502020204030204"/>
            </a:endParaRPr>
          </a:p>
        </p:txBody>
      </p:sp>
      <p:sp>
        <p:nvSpPr>
          <p:cNvPr id="7" name="Rounded Rectangle 6"/>
          <p:cNvSpPr/>
          <p:nvPr/>
        </p:nvSpPr>
        <p:spPr>
          <a:xfrm>
            <a:off x="502920" y="1920240"/>
            <a:ext cx="2157984" cy="2286000"/>
          </a:xfrm>
          <a:prstGeom prst="round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wrap="square" lIns="52000" tIns="50000" rIns="52000" rtlCol="0" anchor="t"/>
          <a:lstStyle/>
          <a:p>
            <a:pPr algn="ctr"/>
            <a:r>
              <a:rPr sz="1500" b="1">
                <a:solidFill>
                  <a:srgbClr val="C9A227"/>
                </a:solidFill>
                <a:latin typeface="Calibri" panose="020F0502020204030204"/>
              </a:rPr>
              <a:t>UNIT TESTING</a:t>
            </a:r>
            <a:endParaRPr sz="1500" b="1">
              <a:solidFill>
                <a:srgbClr val="C9A227"/>
              </a:solidFill>
              <a:latin typeface="Calibri" panose="020F0502020204030204"/>
            </a:endParaRPr>
          </a:p>
          <a:p>
            <a:r>
              <a:rPr sz="1150">
                <a:solidFill>
                  <a:srgbClr val="FFFFFF"/>
                </a:solidFill>
                <a:latin typeface="Calibri" panose="020F0502020204030204"/>
              </a:rPr>
              <a:t>Module logic, DB reads/writes, and route behavior checked individually during development.</a:t>
            </a:r>
            <a:endParaRPr sz="1150">
              <a:solidFill>
                <a:srgbClr val="FFFFFF"/>
              </a:solidFill>
              <a:latin typeface="Calibri" panose="020F0502020204030204"/>
            </a:endParaRPr>
          </a:p>
        </p:txBody>
      </p:sp>
      <p:sp>
        <p:nvSpPr>
          <p:cNvPr id="8" name="Right Arrow 7"/>
          <p:cNvSpPr/>
          <p:nvPr/>
        </p:nvSpPr>
        <p:spPr>
          <a:xfrm>
            <a:off x="2624328" y="1920240"/>
            <a:ext cx="201168" cy="41148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88920" y="1920240"/>
            <a:ext cx="2157984" cy="2286000"/>
          </a:xfrm>
          <a:prstGeom prst="round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wrap="square" lIns="52000" tIns="50000" rIns="52000" rtlCol="0" anchor="t"/>
          <a:lstStyle/>
          <a:p>
            <a:pPr algn="ctr"/>
            <a:r>
              <a:rPr sz="1500" b="1">
                <a:solidFill>
                  <a:srgbClr val="C9A227"/>
                </a:solidFill>
                <a:latin typeface="Calibri" panose="020F0502020204030204"/>
              </a:rPr>
              <a:t>ALPHA</a:t>
            </a:r>
            <a:endParaRPr sz="1500" b="1">
              <a:solidFill>
                <a:srgbClr val="C9A227"/>
              </a:solidFill>
              <a:latin typeface="Calibri" panose="020F0502020204030204"/>
            </a:endParaRPr>
          </a:p>
          <a:p>
            <a:r>
              <a:rPr sz="1150">
                <a:solidFill>
                  <a:srgbClr val="FFFFFF"/>
                </a:solidFill>
                <a:latin typeface="Calibri" panose="020F0502020204030204"/>
              </a:rPr>
              <a:t>Internal testing by the development team; functional defects and edge cases all resolved.</a:t>
            </a:r>
            <a:endParaRPr sz="1150">
              <a:solidFill>
                <a:srgbClr val="FFFFFF"/>
              </a:solidFill>
              <a:latin typeface="Calibri" panose="020F0502020204030204"/>
            </a:endParaRPr>
          </a:p>
        </p:txBody>
      </p:sp>
      <p:sp>
        <p:nvSpPr>
          <p:cNvPr id="10" name="Right Arrow 9"/>
          <p:cNvSpPr/>
          <p:nvPr/>
        </p:nvSpPr>
        <p:spPr>
          <a:xfrm>
            <a:off x="4910328" y="1920240"/>
            <a:ext cx="201168" cy="41148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74920" y="1920240"/>
            <a:ext cx="2157984" cy="2286000"/>
          </a:xfrm>
          <a:prstGeom prst="round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wrap="square" lIns="52000" tIns="50000" rIns="52000" rtlCol="0" anchor="t"/>
          <a:lstStyle/>
          <a:p>
            <a:pPr algn="ctr"/>
            <a:r>
              <a:rPr sz="1500" b="1">
                <a:solidFill>
                  <a:srgbClr val="C9A227"/>
                </a:solidFill>
                <a:latin typeface="Calibri" panose="020F0502020204030204"/>
              </a:rPr>
              <a:t>BETA</a:t>
            </a:r>
            <a:endParaRPr sz="1500" b="1">
              <a:solidFill>
                <a:srgbClr val="C9A227"/>
              </a:solidFill>
              <a:latin typeface="Calibri" panose="020F0502020204030204"/>
            </a:endParaRPr>
          </a:p>
          <a:p>
            <a:r>
              <a:rPr sz="1150">
                <a:solidFill>
                  <a:srgbClr val="FFFFFF"/>
                </a:solidFill>
                <a:latin typeface="Calibri" panose="020F0502020204030204"/>
              </a:rPr>
              <a:t>Limited release to the librarian and selected faculty under real-use conditions; workflow gaps fixed.</a:t>
            </a:r>
            <a:endParaRPr sz="1150">
              <a:solidFill>
                <a:srgbClr val="FFFFFF"/>
              </a:solidFill>
              <a:latin typeface="Calibri" panose="020F0502020204030204"/>
            </a:endParaRPr>
          </a:p>
        </p:txBody>
      </p:sp>
      <p:sp>
        <p:nvSpPr>
          <p:cNvPr id="12" name="Right Arrow 11"/>
          <p:cNvSpPr/>
          <p:nvPr/>
        </p:nvSpPr>
        <p:spPr>
          <a:xfrm>
            <a:off x="7196328" y="1920240"/>
            <a:ext cx="201168" cy="41148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60920" y="1920240"/>
            <a:ext cx="2157984" cy="22860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52000" tIns="50000" rIns="52000" rtlCol="0" anchor="t"/>
          <a:lstStyle/>
          <a:p>
            <a:pPr algn="ctr"/>
            <a:r>
              <a:rPr sz="1500" b="1">
                <a:solidFill>
                  <a:srgbClr val="FFFFFF"/>
                </a:solidFill>
                <a:latin typeface="Calibri" panose="020F0502020204030204"/>
              </a:rPr>
              <a:t>ISO / IEC 25010</a:t>
            </a:r>
            <a:endParaRPr sz="1500" b="1">
              <a:solidFill>
                <a:srgbClr val="FFFFFF"/>
              </a:solidFill>
              <a:latin typeface="Calibri" panose="020F0502020204030204"/>
            </a:endParaRPr>
          </a:p>
          <a:p>
            <a:r>
              <a:rPr sz="1150">
                <a:solidFill>
                  <a:srgbClr val="FFFFFF"/>
                </a:solidFill>
                <a:latin typeface="Calibri" panose="020F0502020204030204"/>
              </a:rPr>
              <a:t>Formal quality evaluation by 4 IT experts + the librarian across 8 characteristics.</a:t>
            </a:r>
            <a:endParaRPr sz="1150">
              <a:solidFill>
                <a:srgbClr val="FFFFFF"/>
              </a:solidFill>
              <a:latin typeface="Calibri" panose="020F0502020204030204"/>
            </a:endParaRPr>
          </a:p>
        </p:txBody>
      </p:sp>
      <p:sp>
        <p:nvSpPr>
          <p:cNvPr id="14" name="Right Arrow 13"/>
          <p:cNvSpPr/>
          <p:nvPr/>
        </p:nvSpPr>
        <p:spPr>
          <a:xfrm>
            <a:off x="9482328" y="1920240"/>
            <a:ext cx="201168" cy="41148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46920" y="1920240"/>
            <a:ext cx="2157984" cy="22860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52000" tIns="50000" rIns="52000" rtlCol="0" anchor="t"/>
          <a:lstStyle/>
          <a:p>
            <a:pPr algn="ctr"/>
            <a:r>
              <a:rPr sz="1500" b="1">
                <a:solidFill>
                  <a:srgbClr val="FFFFFF"/>
                </a:solidFill>
                <a:latin typeface="Calibri" panose="020F0502020204030204"/>
              </a:rPr>
              <a:t>UAT</a:t>
            </a:r>
            <a:endParaRPr sz="1500" b="1">
              <a:solidFill>
                <a:srgbClr val="FFFFFF"/>
              </a:solidFill>
              <a:latin typeface="Calibri" panose="020F0502020204030204"/>
            </a:endParaRPr>
          </a:p>
          <a:p>
            <a:r>
              <a:rPr sz="1150">
                <a:solidFill>
                  <a:srgbClr val="FFFFFF"/>
                </a:solidFill>
                <a:latin typeface="Calibri" panose="020F0502020204030204"/>
              </a:rPr>
              <a:t>User Acceptance Testing with 87 users (71 students, 15 faculty, 1 librarian).</a:t>
            </a:r>
            <a:endParaRPr sz="1150">
              <a:solidFill>
                <a:srgbClr val="FFFFFF"/>
              </a:solidFill>
              <a:latin typeface="Calibri" panose="020F0502020204030204"/>
            </a:endParaRPr>
          </a:p>
        </p:txBody>
      </p:sp>
      <p:sp>
        <p:nvSpPr>
          <p:cNvPr id="16" name="Rounded Rectangle 15"/>
          <p:cNvSpPr/>
          <p:nvPr/>
        </p:nvSpPr>
        <p:spPr>
          <a:xfrm>
            <a:off x="502920" y="4572000"/>
            <a:ext cx="11201400" cy="731520"/>
          </a:xfrm>
          <a:prstGeom prst="roundRect">
            <a:avLst/>
          </a:prstGeom>
          <a:solidFill>
            <a:srgbClr val="EEF1F6"/>
          </a:solidFill>
          <a:ln>
            <a:noFill/>
          </a:ln>
        </p:spPr>
        <p:style>
          <a:lnRef idx="1">
            <a:schemeClr val="accent1"/>
          </a:lnRef>
          <a:fillRef idx="3">
            <a:schemeClr val="accent1"/>
          </a:fillRef>
          <a:effectRef idx="2">
            <a:schemeClr val="accent1"/>
          </a:effectRef>
          <a:fontRef idx="minor">
            <a:schemeClr val="lt1"/>
          </a:fontRef>
        </p:style>
        <p:txBody>
          <a:bodyPr wrap="square" lIns="72000" rIns="72000" rtlCol="0" anchor="ctr"/>
          <a:lstStyle/>
          <a:p>
            <a:pPr algn="l"/>
            <a:r>
              <a:rPr sz="1400" b="1">
                <a:solidFill>
                  <a:srgbClr val="2E333C"/>
                </a:solidFill>
                <a:latin typeface="Calibri" panose="020F0502020204030204"/>
              </a:rPr>
              <a:t>Response-time checks on key operations (catalog search, borrow/return, report generation) all PASSED - within acceptable range, by Python timing.</a:t>
            </a:r>
            <a:endParaRPr sz="1400" b="1">
              <a:solidFill>
                <a:srgbClr val="2E333C"/>
              </a:solidFill>
              <a:latin typeface="Calibri" panose="020F0502020204030204"/>
            </a:endParaRPr>
          </a:p>
        </p:txBody>
      </p:sp>
      <p:pic>
        <p:nvPicPr>
          <p:cNvPr id="17" name="Picture 16"/>
          <p:cNvPicPr>
            <a:picLocks noChangeAspect="1"/>
          </p:cNvPicPr>
          <p:nvPr/>
        </p:nvPicPr>
        <p:blipFill>
          <a:blip r:embed="rId1"/>
          <a:stretch>
            <a:fillRect/>
          </a:stretch>
        </p:blipFill>
        <p:spPr>
          <a:xfrm>
            <a:off x="1281430" y="2628265"/>
            <a:ext cx="9685020" cy="32156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EVALUATION</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Results Overview - What the Tests Showed, Per Module</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20</a:t>
            </a:r>
            <a:endParaRPr sz="900">
              <a:solidFill>
                <a:srgbClr val="6B7280"/>
              </a:solidFill>
              <a:latin typeface="Calibri" panose="020F0502020204030204"/>
            </a:endParaRPr>
          </a:p>
        </p:txBody>
      </p:sp>
      <p:sp>
        <p:nvSpPr>
          <p:cNvPr id="7" name="TextBox 6"/>
          <p:cNvSpPr txBox="1"/>
          <p:nvPr/>
        </p:nvSpPr>
        <p:spPr>
          <a:xfrm>
            <a:off x="548640" y="1645920"/>
            <a:ext cx="7863840" cy="4389120"/>
          </a:xfrm>
          <a:prstGeom prst="rect">
            <a:avLst/>
          </a:prstGeom>
          <a:noFill/>
        </p:spPr>
        <p:txBody>
          <a:bodyPr wrap="square">
            <a:spAutoFit/>
          </a:bodyPr>
          <a:lstStyle/>
          <a:p>
            <a:pPr>
              <a:spcAft>
                <a:spcPts val="1200"/>
              </a:spcAft>
            </a:pPr>
            <a:r>
              <a:rPr sz="1700">
                <a:solidFill>
                  <a:srgbClr val="2E333C"/>
                </a:solidFill>
                <a:latin typeface="Calibri" panose="020F0502020204030204"/>
              </a:rPr>
              <a:t>•  Remote access - 5 / 5 off-campus tasks passed through a browser (login, cataloging, circulation, reports, search/request).</a:t>
            </a:r>
            <a:endParaRPr sz="1700">
              <a:solidFill>
                <a:srgbClr val="2E333C"/>
              </a:solidFill>
              <a:latin typeface="Calibri" panose="020F0502020204030204"/>
            </a:endParaRPr>
          </a:p>
          <a:p>
            <a:pPr>
              <a:spcAft>
                <a:spcPts val="1200"/>
              </a:spcAft>
            </a:pPr>
            <a:r>
              <a:rPr sz="1700">
                <a:solidFill>
                  <a:srgbClr val="2E333C"/>
                </a:solidFill>
                <a:latin typeface="Calibri" panose="020F0502020204030204"/>
              </a:rPr>
              <a:t>•  Interface usability - users rated 3.38 (UAT), 3.92 (ISO Usability): workable without manual logs.</a:t>
            </a:r>
            <a:endParaRPr sz="1700">
              <a:solidFill>
                <a:srgbClr val="2E333C"/>
              </a:solidFill>
              <a:latin typeface="Calibri" panose="020F0502020204030204"/>
            </a:endParaRPr>
          </a:p>
          <a:p>
            <a:pPr>
              <a:spcAft>
                <a:spcPts val="1200"/>
              </a:spcAft>
            </a:pPr>
            <a:r>
              <a:rPr sz="1700">
                <a:solidFill>
                  <a:srgbClr val="2E333C"/>
                </a:solidFill>
                <a:latin typeface="Calibri" panose="020F0502020204030204"/>
              </a:rPr>
              <a:t>•  Workflow integration - 4 / 4 end-to-end cases passed as one connected chain.</a:t>
            </a:r>
            <a:endParaRPr sz="1700">
              <a:solidFill>
                <a:srgbClr val="2E333C"/>
              </a:solidFill>
              <a:latin typeface="Calibri" panose="020F0502020204030204"/>
            </a:endParaRPr>
          </a:p>
          <a:p>
            <a:pPr>
              <a:spcAft>
                <a:spcPts val="1200"/>
              </a:spcAft>
            </a:pPr>
            <a:r>
              <a:rPr sz="1700">
                <a:solidFill>
                  <a:srgbClr val="2E333C"/>
                </a:solidFill>
                <a:latin typeface="Calibri" panose="020F0502020204030204"/>
              </a:rPr>
              <a:t>•  Analytics - all 5 checked KPIs matched manual computation.</a:t>
            </a:r>
            <a:endParaRPr sz="1700">
              <a:solidFill>
                <a:srgbClr val="2E333C"/>
              </a:solidFill>
              <a:latin typeface="Calibri" panose="020F0502020204030204"/>
            </a:endParaRPr>
          </a:p>
          <a:p>
            <a:pPr>
              <a:spcAft>
                <a:spcPts val="1200"/>
              </a:spcAft>
            </a:pPr>
            <a:r>
              <a:rPr sz="1700">
                <a:solidFill>
                  <a:srgbClr val="2E333C"/>
                </a:solidFill>
                <a:latin typeface="Calibri" panose="020F0502020204030204"/>
              </a:rPr>
              <a:t>•  Security - 7 / 7 security tests passed; audit verified (UAT 3.31, ISO Security 3.88).</a:t>
            </a:r>
            <a:endParaRPr sz="1700">
              <a:solidFill>
                <a:srgbClr val="2E333C"/>
              </a:solidFill>
              <a:latin typeface="Calibri" panose="020F0502020204030204"/>
            </a:endParaRPr>
          </a:p>
          <a:p>
            <a:pPr>
              <a:spcAft>
                <a:spcPts val="1200"/>
              </a:spcAft>
            </a:pPr>
            <a:r>
              <a:rPr sz="1700">
                <a:solidFill>
                  <a:srgbClr val="2E333C"/>
                </a:solidFill>
                <a:latin typeface="Calibri" panose="020F0502020204030204"/>
              </a:rPr>
              <a:t>•  Every section mean fell in the 'Highly Acceptable' range.</a:t>
            </a:r>
            <a:endParaRPr sz="1700">
              <a:solidFill>
                <a:srgbClr val="2E333C"/>
              </a:solidFill>
              <a:latin typeface="Calibri" panose="020F0502020204030204"/>
            </a:endParaRPr>
          </a:p>
        </p:txBody>
      </p:sp>
      <p:pic>
        <p:nvPicPr>
          <p:cNvPr id="8" name="Picture 7" descr="circulation.png"/>
          <p:cNvPicPr>
            <a:picLocks noChangeAspect="1"/>
          </p:cNvPicPr>
          <p:nvPr/>
        </p:nvPicPr>
        <p:blipFill>
          <a:blip r:embed="rId1"/>
          <a:stretch>
            <a:fillRect/>
          </a:stretch>
        </p:blipFill>
        <p:spPr>
          <a:xfrm>
            <a:off x="8549640" y="1737360"/>
            <a:ext cx="3383280" cy="2273141"/>
          </a:xfrm>
          <a:prstGeom prst="rect">
            <a:avLst/>
          </a:prstGeom>
          <a:ln w="12700">
            <a:solidFill>
              <a:srgbClr val="D0D5DE"/>
            </a:solidFill>
          </a:ln>
        </p:spPr>
      </p:pic>
      <p:sp>
        <p:nvSpPr>
          <p:cNvPr id="9" name="TextBox 8"/>
          <p:cNvSpPr txBox="1"/>
          <p:nvPr/>
        </p:nvSpPr>
        <p:spPr>
          <a:xfrm>
            <a:off x="8549640" y="4022501"/>
            <a:ext cx="3383280" cy="256032"/>
          </a:xfrm>
          <a:prstGeom prst="rect">
            <a:avLst/>
          </a:prstGeom>
          <a:noFill/>
        </p:spPr>
        <p:txBody>
          <a:bodyPr wrap="none">
            <a:spAutoFit/>
          </a:bodyPr>
          <a:lstStyle/>
          <a:p>
            <a:pPr algn="ctr"/>
            <a:r>
              <a:rPr sz="1000" i="1">
                <a:solidFill>
                  <a:srgbClr val="6B7280"/>
                </a:solidFill>
              </a:rPr>
              <a:t>Circulation (off-campus)</a:t>
            </a:r>
            <a:endParaRPr sz="1000" i="1">
              <a:solidFill>
                <a:srgbClr val="6B7280"/>
              </a:solidFill>
            </a:endParaRPr>
          </a:p>
        </p:txBody>
      </p:sp>
      <p:pic>
        <p:nvPicPr>
          <p:cNvPr id="10" name="Picture 9" descr="book-details.png"/>
          <p:cNvPicPr>
            <a:picLocks noChangeAspect="1"/>
          </p:cNvPicPr>
          <p:nvPr/>
        </p:nvPicPr>
        <p:blipFill>
          <a:blip r:embed="rId2"/>
          <a:stretch>
            <a:fillRect/>
          </a:stretch>
        </p:blipFill>
        <p:spPr>
          <a:xfrm>
            <a:off x="8676167" y="4206240"/>
            <a:ext cx="3130225" cy="2103120"/>
          </a:xfrm>
          <a:prstGeom prst="rect">
            <a:avLst/>
          </a:prstGeom>
          <a:ln w="12700">
            <a:solidFill>
              <a:srgbClr val="D0D5DE"/>
            </a:solidFill>
          </a:ln>
        </p:spPr>
      </p:pic>
      <p:sp>
        <p:nvSpPr>
          <p:cNvPr id="11" name="TextBox 10"/>
          <p:cNvSpPr txBox="1"/>
          <p:nvPr/>
        </p:nvSpPr>
        <p:spPr>
          <a:xfrm>
            <a:off x="8549640" y="6321360"/>
            <a:ext cx="3383280" cy="256032"/>
          </a:xfrm>
          <a:prstGeom prst="rect">
            <a:avLst/>
          </a:prstGeom>
          <a:noFill/>
        </p:spPr>
        <p:txBody>
          <a:bodyPr wrap="none">
            <a:spAutoFit/>
          </a:bodyPr>
          <a:lstStyle/>
          <a:p>
            <a:pPr algn="ctr"/>
            <a:r>
              <a:rPr sz="1000" i="1">
                <a:solidFill>
                  <a:srgbClr val="6B7280"/>
                </a:solidFill>
              </a:rPr>
              <a:t>Book details</a:t>
            </a:r>
            <a:endParaRPr sz="1000" i="1">
              <a:solidFill>
                <a:srgbClr val="6B728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EVALUATION</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ISO/IEC 25010:2011 Evaluation Results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21</a:t>
            </a:r>
            <a:endParaRPr sz="900">
              <a:solidFill>
                <a:srgbClr val="6B7280"/>
              </a:solidFill>
              <a:latin typeface="Calibri" panose="020F0502020204030204"/>
            </a:endParaRPr>
          </a:p>
        </p:txBody>
      </p:sp>
      <p:graphicFrame>
        <p:nvGraphicFramePr>
          <p:cNvPr id="7" name="Table 6"/>
          <p:cNvGraphicFramePr>
            <a:graphicFrameLocks noGrp="1"/>
          </p:cNvGraphicFramePr>
          <p:nvPr/>
        </p:nvGraphicFramePr>
        <p:xfrm>
          <a:off x="548640" y="1737360"/>
          <a:ext cx="6583680" cy="4389120"/>
        </p:xfrm>
        <a:graphic>
          <a:graphicData uri="http://schemas.openxmlformats.org/drawingml/2006/table">
            <a:tbl>
              <a:tblPr firstRow="1" bandRow="1">
                <a:tableStyleId>{5C22544A-7EE6-4342-B048-85BDC9FD1C3A}</a:tableStyleId>
              </a:tblPr>
              <a:tblGrid>
                <a:gridCol w="3291840"/>
                <a:gridCol w="1188720"/>
                <a:gridCol w="2103120"/>
              </a:tblGrid>
              <a:tr h="438912">
                <a:tc>
                  <a:txBody>
                    <a:bodyPr wrap="square"/>
                    <a:lstStyle/>
                    <a:p>
                      <a:pPr algn="ctr"/>
                      <a:r>
                        <a:rPr sz="1300" b="1">
                          <a:solidFill>
                            <a:srgbClr val="FFFFFF"/>
                          </a:solidFill>
                          <a:latin typeface="Calibri" panose="020F0502020204030204"/>
                        </a:rPr>
                        <a:t>Characteristic</a:t>
                      </a:r>
                      <a:endParaRPr sz="1300" b="1">
                        <a:solidFill>
                          <a:srgbClr val="FFFFFF"/>
                        </a:solidFill>
                        <a:latin typeface="Calibri" panose="020F0502020204030204"/>
                      </a:endParaRPr>
                    </a:p>
                  </a:txBody>
                  <a:tcPr marL="36000" marR="36000" marT="18000" marB="18000" anchor="ctr">
                    <a:solidFill>
                      <a:srgbClr val="1E2A46"/>
                    </a:solidFill>
                  </a:tcPr>
                </a:tc>
                <a:tc>
                  <a:txBody>
                    <a:bodyPr wrap="square"/>
                    <a:lstStyle/>
                    <a:p>
                      <a:pPr algn="ctr"/>
                      <a:r>
                        <a:rPr sz="1300" b="1">
                          <a:solidFill>
                            <a:srgbClr val="FFFFFF"/>
                          </a:solidFill>
                          <a:latin typeface="Calibri" panose="020F0502020204030204"/>
                        </a:rPr>
                        <a:t>Mean</a:t>
                      </a:r>
                      <a:endParaRPr sz="1300" b="1">
                        <a:solidFill>
                          <a:srgbClr val="FFFFFF"/>
                        </a:solidFill>
                        <a:latin typeface="Calibri" panose="020F0502020204030204"/>
                      </a:endParaRPr>
                    </a:p>
                  </a:txBody>
                  <a:tcPr marL="36000" marR="36000" marT="18000" marB="18000" anchor="ctr">
                    <a:solidFill>
                      <a:srgbClr val="1E2A46"/>
                    </a:solidFill>
                  </a:tcPr>
                </a:tc>
                <a:tc>
                  <a:txBody>
                    <a:bodyPr wrap="square"/>
                    <a:lstStyle/>
                    <a:p>
                      <a:pPr algn="ctr"/>
                      <a:r>
                        <a:rPr sz="1300" b="1">
                          <a:solidFill>
                            <a:srgbClr val="FFFFFF"/>
                          </a:solidFill>
                          <a:latin typeface="Calibri" panose="020F0502020204030204"/>
                        </a:rPr>
                        <a:t>Verbal Interpretation</a:t>
                      </a:r>
                      <a:endParaRPr sz="1300" b="1">
                        <a:solidFill>
                          <a:srgbClr val="FFFFFF"/>
                        </a:solidFill>
                        <a:latin typeface="Calibri" panose="020F0502020204030204"/>
                      </a:endParaRPr>
                    </a:p>
                  </a:txBody>
                  <a:tcPr marL="36000" marR="36000" marT="18000" marB="18000" anchor="ctr">
                    <a:solidFill>
                      <a:srgbClr val="1E2A46"/>
                    </a:solidFill>
                  </a:tcPr>
                </a:tc>
              </a:tr>
              <a:tr h="438912">
                <a:tc>
                  <a:txBody>
                    <a:bodyPr wrap="square"/>
                    <a:lstStyle/>
                    <a:p>
                      <a:r>
                        <a:rPr sz="1300">
                          <a:latin typeface="Calibri" panose="020F0502020204030204"/>
                        </a:rPr>
                        <a:t>Functional Suitability</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3.92</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438912">
                <a:tc>
                  <a:txBody>
                    <a:bodyPr wrap="square"/>
                    <a:lstStyle/>
                    <a:p>
                      <a:r>
                        <a:rPr sz="1300">
                          <a:latin typeface="Calibri" panose="020F0502020204030204"/>
                        </a:rPr>
                        <a:t>Performance Efficiency</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3.76</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438912">
                <a:tc>
                  <a:txBody>
                    <a:bodyPr wrap="square"/>
                    <a:lstStyle/>
                    <a:p>
                      <a:r>
                        <a:rPr sz="1300">
                          <a:latin typeface="Calibri" panose="020F0502020204030204"/>
                        </a:rPr>
                        <a:t>Compatibility</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3.92</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438912">
                <a:tc>
                  <a:txBody>
                    <a:bodyPr wrap="square"/>
                    <a:lstStyle/>
                    <a:p>
                      <a:r>
                        <a:rPr sz="1300">
                          <a:latin typeface="Calibri" panose="020F0502020204030204"/>
                        </a:rPr>
                        <a:t>Usability</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3.92</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438912">
                <a:tc>
                  <a:txBody>
                    <a:bodyPr wrap="square"/>
                    <a:lstStyle/>
                    <a:p>
                      <a:r>
                        <a:rPr sz="1300">
                          <a:latin typeface="Calibri" panose="020F0502020204030204"/>
                        </a:rPr>
                        <a:t>Reliability (lowest)</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3.60</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438912">
                <a:tc>
                  <a:txBody>
                    <a:bodyPr wrap="square"/>
                    <a:lstStyle/>
                    <a:p>
                      <a:r>
                        <a:rPr sz="1300">
                          <a:latin typeface="Calibri" panose="020F0502020204030204"/>
                        </a:rPr>
                        <a:t>Security</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3.88</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438912">
                <a:tc>
                  <a:txBody>
                    <a:bodyPr wrap="square"/>
                    <a:lstStyle/>
                    <a:p>
                      <a:r>
                        <a:rPr sz="1300">
                          <a:latin typeface="Calibri" panose="020F0502020204030204"/>
                        </a:rPr>
                        <a:t>Maintainability</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3.72</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438912">
                <a:tc>
                  <a:txBody>
                    <a:bodyPr wrap="square"/>
                    <a:lstStyle/>
                    <a:p>
                      <a:r>
                        <a:rPr sz="1300">
                          <a:latin typeface="Calibri" panose="020F0502020204030204"/>
                        </a:rPr>
                        <a:t>Portability</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3.76</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438912">
                <a:tc>
                  <a:txBody>
                    <a:bodyPr wrap="square"/>
                    <a:lstStyle/>
                    <a:p>
                      <a:r>
                        <a:rPr sz="1300">
                          <a:latin typeface="Calibri" panose="020F0502020204030204"/>
                        </a:rPr>
                        <a:t>OVERALL (grand mean)</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3.81</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bl>
          </a:graphicData>
        </a:graphic>
      </p:graphicFrame>
      <p:sp>
        <p:nvSpPr>
          <p:cNvPr id="8" name="TextBox 7"/>
          <p:cNvSpPr txBox="1"/>
          <p:nvPr/>
        </p:nvSpPr>
        <p:spPr>
          <a:xfrm>
            <a:off x="7498079" y="1828800"/>
            <a:ext cx="4480560" cy="4023360"/>
          </a:xfrm>
          <a:prstGeom prst="rect">
            <a:avLst/>
          </a:prstGeom>
          <a:noFill/>
        </p:spPr>
        <p:txBody>
          <a:bodyPr wrap="square">
            <a:spAutoFit/>
          </a:bodyPr>
          <a:lstStyle/>
          <a:p>
            <a:pPr>
              <a:spcAft>
                <a:spcPts val="1100"/>
              </a:spcAft>
            </a:pPr>
            <a:r>
              <a:rPr sz="1500">
                <a:solidFill>
                  <a:srgbClr val="2E333C"/>
                </a:solidFill>
                <a:latin typeface="Calibri" panose="020F0502020204030204"/>
              </a:rPr>
              <a:t>•  Evaluated by 4 IT experts + 1 librarian (n = 5).</a:t>
            </a:r>
            <a:endParaRPr sz="1500">
              <a:solidFill>
                <a:srgbClr val="2E333C"/>
              </a:solidFill>
              <a:latin typeface="Calibri" panose="020F0502020204030204"/>
            </a:endParaRPr>
          </a:p>
          <a:p>
            <a:pPr>
              <a:spcAft>
                <a:spcPts val="1100"/>
              </a:spcAft>
            </a:pPr>
            <a:r>
              <a:rPr sz="1500">
                <a:solidFill>
                  <a:srgbClr val="2E333C"/>
                </a:solidFill>
                <a:latin typeface="Calibri" panose="020F0502020204030204"/>
              </a:rPr>
              <a:t>•  Highest: Functional Suitability, Compatibility, Usability (3.92 each).</a:t>
            </a:r>
            <a:endParaRPr sz="1500">
              <a:solidFill>
                <a:srgbClr val="2E333C"/>
              </a:solidFill>
              <a:latin typeface="Calibri" panose="020F0502020204030204"/>
            </a:endParaRPr>
          </a:p>
          <a:p>
            <a:pPr>
              <a:spcAft>
                <a:spcPts val="1100"/>
              </a:spcAft>
            </a:pPr>
            <a:r>
              <a:rPr sz="1500">
                <a:solidFill>
                  <a:srgbClr val="2E333C"/>
                </a:solidFill>
                <a:latin typeface="Calibri" panose="020F0502020204030204"/>
              </a:rPr>
              <a:t>•  Lowest: Reliability (3.60) - stability and error recovery flagged as future priorities, not failures.</a:t>
            </a:r>
            <a:endParaRPr sz="1500">
              <a:solidFill>
                <a:srgbClr val="2E333C"/>
              </a:solidFill>
              <a:latin typeface="Calibri" panose="020F0502020204030204"/>
            </a:endParaRPr>
          </a:p>
          <a:p>
            <a:pPr>
              <a:spcAft>
                <a:spcPts val="1100"/>
              </a:spcAft>
            </a:pPr>
            <a:r>
              <a:rPr sz="1500">
                <a:solidFill>
                  <a:srgbClr val="2E333C"/>
                </a:solidFill>
                <a:latin typeface="Calibri" panose="020F0502020204030204"/>
              </a:rPr>
              <a:t>•  Backup/PITR and institution-grade hosting are tied to this lowest score in the recommendations.</a:t>
            </a:r>
            <a:endParaRPr sz="1500">
              <a:solidFill>
                <a:srgbClr val="2E333C"/>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EVALUATION</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User Acceptance Testing - Summary of Findings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22</a:t>
            </a:r>
            <a:endParaRPr sz="900">
              <a:solidFill>
                <a:srgbClr val="6B7280"/>
              </a:solidFill>
              <a:latin typeface="Calibri" panose="020F0502020204030204"/>
            </a:endParaRPr>
          </a:p>
        </p:txBody>
      </p:sp>
      <p:graphicFrame>
        <p:nvGraphicFramePr>
          <p:cNvPr id="7" name="Table 6"/>
          <p:cNvGraphicFramePr>
            <a:graphicFrameLocks noGrp="1"/>
          </p:cNvGraphicFramePr>
          <p:nvPr/>
        </p:nvGraphicFramePr>
        <p:xfrm>
          <a:off x="548640" y="1783080"/>
          <a:ext cx="6949439" cy="4206240"/>
        </p:xfrm>
        <a:graphic>
          <a:graphicData uri="http://schemas.openxmlformats.org/drawingml/2006/table">
            <a:tbl>
              <a:tblPr firstRow="1" bandRow="1">
                <a:tableStyleId>{5C22544A-7EE6-4342-B048-85BDC9FD1C3A}</a:tableStyleId>
              </a:tblPr>
              <a:tblGrid>
                <a:gridCol w="3749039"/>
                <a:gridCol w="1463040"/>
                <a:gridCol w="1737360"/>
              </a:tblGrid>
              <a:tr h="525780">
                <a:tc>
                  <a:txBody>
                    <a:bodyPr wrap="square"/>
                    <a:lstStyle/>
                    <a:p>
                      <a:pPr algn="ctr"/>
                      <a:r>
                        <a:rPr sz="1300" b="1">
                          <a:solidFill>
                            <a:srgbClr val="FFFFFF"/>
                          </a:solidFill>
                          <a:latin typeface="Calibri" panose="020F0502020204030204"/>
                        </a:rPr>
                        <a:t>UAT Section</a:t>
                      </a:r>
                      <a:endParaRPr sz="1300" b="1">
                        <a:solidFill>
                          <a:srgbClr val="FFFFFF"/>
                        </a:solidFill>
                        <a:latin typeface="Calibri" panose="020F0502020204030204"/>
                      </a:endParaRPr>
                    </a:p>
                  </a:txBody>
                  <a:tcPr marL="36000" marR="36000" marT="18000" marB="18000" anchor="ctr">
                    <a:solidFill>
                      <a:srgbClr val="1E2A46"/>
                    </a:solidFill>
                  </a:tcPr>
                </a:tc>
                <a:tc>
                  <a:txBody>
                    <a:bodyPr wrap="square"/>
                    <a:lstStyle/>
                    <a:p>
                      <a:pPr algn="ctr"/>
                      <a:r>
                        <a:rPr sz="1300" b="1">
                          <a:solidFill>
                            <a:srgbClr val="FFFFFF"/>
                          </a:solidFill>
                          <a:latin typeface="Calibri" panose="020F0502020204030204"/>
                        </a:rPr>
                        <a:t>Mean (n = 87)</a:t>
                      </a:r>
                      <a:endParaRPr sz="1300" b="1">
                        <a:solidFill>
                          <a:srgbClr val="FFFFFF"/>
                        </a:solidFill>
                        <a:latin typeface="Calibri" panose="020F0502020204030204"/>
                      </a:endParaRPr>
                    </a:p>
                  </a:txBody>
                  <a:tcPr marL="36000" marR="36000" marT="18000" marB="18000" anchor="ctr">
                    <a:solidFill>
                      <a:srgbClr val="1E2A46"/>
                    </a:solidFill>
                  </a:tcPr>
                </a:tc>
                <a:tc>
                  <a:txBody>
                    <a:bodyPr wrap="square"/>
                    <a:lstStyle/>
                    <a:p>
                      <a:pPr algn="ctr"/>
                      <a:r>
                        <a:rPr sz="1300" b="1">
                          <a:solidFill>
                            <a:srgbClr val="FFFFFF"/>
                          </a:solidFill>
                          <a:latin typeface="Calibri" panose="020F0502020204030204"/>
                        </a:rPr>
                        <a:t>Verbal Interpretation</a:t>
                      </a:r>
                      <a:endParaRPr sz="1300" b="1">
                        <a:solidFill>
                          <a:srgbClr val="FFFFFF"/>
                        </a:solidFill>
                        <a:latin typeface="Calibri" panose="020F0502020204030204"/>
                      </a:endParaRPr>
                    </a:p>
                  </a:txBody>
                  <a:tcPr marL="36000" marR="36000" marT="18000" marB="18000" anchor="ctr">
                    <a:solidFill>
                      <a:srgbClr val="1E2A46"/>
                    </a:solidFill>
                  </a:tcPr>
                </a:tc>
              </a:tr>
              <a:tr h="525780">
                <a:tc>
                  <a:txBody>
                    <a:bodyPr wrap="square"/>
                    <a:lstStyle/>
                    <a:p>
                      <a:r>
                        <a:rPr sz="1300">
                          <a:latin typeface="Calibri" panose="020F0502020204030204"/>
                        </a:rPr>
                        <a:t>A. Accessibility &amp; Functionality (Q1-3)</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3.41</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525780">
                <a:tc>
                  <a:txBody>
                    <a:bodyPr wrap="square"/>
                    <a:lstStyle/>
                    <a:p>
                      <a:r>
                        <a:rPr sz="1300">
                          <a:latin typeface="Calibri" panose="020F0502020204030204"/>
                        </a:rPr>
                        <a:t>B. Usability (Q4-6)</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3.38</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525780">
                <a:tc>
                  <a:txBody>
                    <a:bodyPr wrap="square"/>
                    <a:lstStyle/>
                    <a:p>
                      <a:r>
                        <a:rPr sz="1300">
                          <a:latin typeface="Calibri" panose="020F0502020204030204"/>
                        </a:rPr>
                        <a:t>C. Integration (Q7-9)</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3.31</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525780">
                <a:tc>
                  <a:txBody>
                    <a:bodyPr wrap="square"/>
                    <a:lstStyle/>
                    <a:p>
                      <a:r>
                        <a:rPr sz="1300">
                          <a:latin typeface="Calibri" panose="020F0502020204030204"/>
                        </a:rPr>
                        <a:t>D. Analytics (Q10-12)</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3.30</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525780">
                <a:tc>
                  <a:txBody>
                    <a:bodyPr wrap="square"/>
                    <a:lstStyle/>
                    <a:p>
                      <a:r>
                        <a:rPr sz="1300">
                          <a:latin typeface="Calibri" panose="020F0502020204030204"/>
                        </a:rPr>
                        <a:t>E. Security (Q13-15)</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3.31</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r h="525780">
                <a:tc>
                  <a:txBody>
                    <a:bodyPr wrap="square"/>
                    <a:lstStyle/>
                    <a:p>
                      <a:r>
                        <a:rPr sz="1300">
                          <a:latin typeface="Calibri" panose="020F0502020204030204"/>
                        </a:rPr>
                        <a:t>F. Overall Acceptability (Q16-18)</a:t>
                      </a:r>
                      <a:endParaRPr sz="1300">
                        <a:latin typeface="Calibri" panose="020F0502020204030204"/>
                      </a:endParaRPr>
                    </a:p>
                  </a:txBody>
                  <a:tcPr marL="36000" marR="36000" marT="18000" marB="18000">
                    <a:solidFill>
                      <a:srgbClr val="EEF1F6"/>
                    </a:solidFill>
                  </a:tcPr>
                </a:tc>
                <a:tc>
                  <a:txBody>
                    <a:bodyPr wrap="square"/>
                    <a:lstStyle/>
                    <a:p>
                      <a:r>
                        <a:rPr sz="1300">
                          <a:latin typeface="Calibri" panose="020F0502020204030204"/>
                        </a:rPr>
                        <a:t>3.43</a:t>
                      </a:r>
                      <a:endParaRPr sz="1300">
                        <a:latin typeface="Calibri" panose="020F0502020204030204"/>
                      </a:endParaRPr>
                    </a:p>
                  </a:txBody>
                  <a:tcPr marL="36000" marR="36000" marT="18000" marB="18000">
                    <a:solidFill>
                      <a:srgbClr val="EEF1F6"/>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EEF1F6"/>
                    </a:solidFill>
                  </a:tcPr>
                </a:tc>
              </a:tr>
              <a:tr h="525780">
                <a:tc>
                  <a:txBody>
                    <a:bodyPr wrap="square"/>
                    <a:lstStyle/>
                    <a:p>
                      <a:r>
                        <a:rPr sz="1300">
                          <a:latin typeface="Calibri" panose="020F0502020204030204"/>
                        </a:rPr>
                        <a:t>Grand mean</a:t>
                      </a:r>
                      <a:endParaRPr sz="1300">
                        <a:latin typeface="Calibri" panose="020F0502020204030204"/>
                      </a:endParaRPr>
                    </a:p>
                  </a:txBody>
                  <a:tcPr marL="36000" marR="36000" marT="18000" marB="18000">
                    <a:solidFill>
                      <a:srgbClr val="FFFFFF"/>
                    </a:solidFill>
                  </a:tcPr>
                </a:tc>
                <a:tc>
                  <a:txBody>
                    <a:bodyPr wrap="square"/>
                    <a:lstStyle/>
                    <a:p>
                      <a:r>
                        <a:rPr sz="1300">
                          <a:latin typeface="Calibri" panose="020F0502020204030204"/>
                        </a:rPr>
                        <a:t>3.36</a:t>
                      </a:r>
                      <a:endParaRPr sz="1300">
                        <a:latin typeface="Calibri" panose="020F0502020204030204"/>
                      </a:endParaRPr>
                    </a:p>
                  </a:txBody>
                  <a:tcPr marL="36000" marR="36000" marT="18000" marB="18000">
                    <a:solidFill>
                      <a:srgbClr val="FFFFFF"/>
                    </a:solidFill>
                  </a:tcPr>
                </a:tc>
                <a:tc>
                  <a:txBody>
                    <a:bodyPr wrap="square"/>
                    <a:lstStyle/>
                    <a:p>
                      <a:r>
                        <a:rPr sz="1300" b="1">
                          <a:solidFill>
                            <a:srgbClr val="1E7E34"/>
                          </a:solidFill>
                          <a:latin typeface="Calibri" panose="020F0502020204030204"/>
                        </a:rPr>
                        <a:t>Highly Acceptable</a:t>
                      </a:r>
                      <a:endParaRPr sz="1300" b="1">
                        <a:solidFill>
                          <a:srgbClr val="1E7E34"/>
                        </a:solidFill>
                        <a:latin typeface="Calibri" panose="020F0502020204030204"/>
                      </a:endParaRPr>
                    </a:p>
                  </a:txBody>
                  <a:tcPr marL="36000" marR="36000" marT="18000" marB="18000">
                    <a:solidFill>
                      <a:srgbClr val="FFFFFF"/>
                    </a:solidFill>
                  </a:tcPr>
                </a:tc>
              </a:tr>
            </a:tbl>
          </a:graphicData>
        </a:graphic>
      </p:graphicFrame>
      <p:sp>
        <p:nvSpPr>
          <p:cNvPr id="8" name="TextBox 7"/>
          <p:cNvSpPr txBox="1"/>
          <p:nvPr/>
        </p:nvSpPr>
        <p:spPr>
          <a:xfrm>
            <a:off x="7772400" y="1920240"/>
            <a:ext cx="4206240" cy="3840480"/>
          </a:xfrm>
          <a:prstGeom prst="rect">
            <a:avLst/>
          </a:prstGeom>
          <a:noFill/>
        </p:spPr>
        <p:txBody>
          <a:bodyPr wrap="square">
            <a:spAutoFit/>
          </a:bodyPr>
          <a:lstStyle/>
          <a:p>
            <a:pPr>
              <a:spcAft>
                <a:spcPts val="1100"/>
              </a:spcAft>
            </a:pPr>
            <a:r>
              <a:rPr sz="1500">
                <a:solidFill>
                  <a:srgbClr val="2E333C"/>
                </a:solidFill>
                <a:latin typeface="Calibri" panose="020F0502020204030204"/>
              </a:rPr>
              <a:t>•  Respondents: 71 students, 15 faculty, 1 librarian.</a:t>
            </a:r>
            <a:endParaRPr sz="1500">
              <a:solidFill>
                <a:srgbClr val="2E333C"/>
              </a:solidFill>
              <a:latin typeface="Calibri" panose="020F0502020204030204"/>
            </a:endParaRPr>
          </a:p>
          <a:p>
            <a:pPr>
              <a:spcAft>
                <a:spcPts val="1100"/>
              </a:spcAft>
            </a:pPr>
            <a:r>
              <a:rPr sz="1500">
                <a:solidFill>
                  <a:srgbClr val="2E333C"/>
                </a:solidFill>
                <a:latin typeface="Calibri" panose="020F0502020204030204"/>
              </a:rPr>
              <a:t>•  Overall system acceptability: 3.43 - performs reliably (3.41), improves efficiency (3.43), beneficial for planning (3.46).</a:t>
            </a:r>
            <a:endParaRPr sz="1500">
              <a:solidFill>
                <a:srgbClr val="2E333C"/>
              </a:solidFill>
              <a:latin typeface="Calibri" panose="020F0502020204030204"/>
            </a:endParaRPr>
          </a:p>
          <a:p>
            <a:pPr>
              <a:spcAft>
                <a:spcPts val="1100"/>
              </a:spcAft>
            </a:pPr>
            <a:r>
              <a:rPr sz="1500">
                <a:solidFill>
                  <a:srgbClr val="2E333C"/>
                </a:solidFill>
                <a:latin typeface="Calibri" panose="020F0502020204030204"/>
              </a:rPr>
              <a:t>•  Presented descriptively: every section mean falls in the Highly Acceptable range (3.26-4.00).</a:t>
            </a:r>
            <a:endParaRPr sz="1500">
              <a:solidFill>
                <a:srgbClr val="2E333C"/>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CLOSING</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Future Recommendations</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23</a:t>
            </a:r>
            <a:endParaRPr sz="900">
              <a:solidFill>
                <a:srgbClr val="6B7280"/>
              </a:solidFill>
              <a:latin typeface="Calibri" panose="020F0502020204030204"/>
            </a:endParaRPr>
          </a:p>
        </p:txBody>
      </p:sp>
      <p:sp>
        <p:nvSpPr>
          <p:cNvPr id="7" name="TextBox 6"/>
          <p:cNvSpPr txBox="1"/>
          <p:nvPr/>
        </p:nvSpPr>
        <p:spPr>
          <a:xfrm>
            <a:off x="548640" y="1645920"/>
            <a:ext cx="11064240" cy="4480560"/>
          </a:xfrm>
          <a:prstGeom prst="rect">
            <a:avLst/>
          </a:prstGeom>
          <a:noFill/>
        </p:spPr>
        <p:txBody>
          <a:bodyPr wrap="square">
            <a:spAutoFit/>
          </a:bodyPr>
          <a:lstStyle/>
          <a:p>
            <a:pPr>
              <a:spcAft>
                <a:spcPts val="1100"/>
              </a:spcAft>
            </a:pPr>
            <a:r>
              <a:rPr sz="1600">
                <a:solidFill>
                  <a:srgbClr val="2E333C"/>
                </a:solidFill>
                <a:latin typeface="Calibri" panose="020F0502020204030204"/>
              </a:rPr>
              <a:t>•  Reliability first: stability and error recovery (ISO 3.60) is the main improvement area.</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Access permissions: a permissions model / role matrix beyond roles alone.</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Institutionally managed, paid hosting as usage grows beyond what was tested.</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Channel integration (e.g., KOHA) and a full disaster-recovery plan.</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Better trend visualization and report customization (trend rating was the lowest UAT item).</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Orientation, user guides, and staff training on roles and backups.</a:t>
            </a:r>
            <a:endParaRPr sz="1600">
              <a:solidFill>
                <a:srgbClr val="2E333C"/>
              </a:solidFill>
              <a:latin typeface="Calibri" panose="020F0502020204030204"/>
            </a:endParaRPr>
          </a:p>
          <a:p>
            <a:pPr>
              <a:spcAft>
                <a:spcPts val="1100"/>
              </a:spcAft>
            </a:pPr>
            <a:r>
              <a:rPr sz="1600">
                <a:solidFill>
                  <a:srgbClr val="2E333C"/>
                </a:solidFill>
                <a:latin typeface="Calibri" panose="020F0502020204030204"/>
              </a:rPr>
              <a:t>•  Future research: larger samples, longer deployment, scalability beyond tested limits, predictive forecasting (outside current descriptive scope).</a:t>
            </a:r>
            <a:endParaRPr sz="1600">
              <a:solidFill>
                <a:srgbClr val="2E333C"/>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01168"/>
            <a:ext cx="5486400" cy="320040"/>
          </a:xfrm>
          <a:prstGeom prst="rect">
            <a:avLst/>
          </a:prstGeom>
          <a:noFill/>
        </p:spPr>
        <p:txBody>
          <a:bodyPr wrap="none">
            <a:spAutoFit/>
          </a:bodyPr>
          <a:lstStyle/>
          <a:p>
            <a:r>
              <a:rPr sz="1100" b="1">
                <a:solidFill>
                  <a:srgbClr val="C0392B"/>
                </a:solidFill>
                <a:latin typeface="Calibri" panose="020F0502020204030204"/>
              </a:rPr>
              <a:t>CLOSING</a:t>
            </a:r>
            <a:endParaRPr sz="1100" b="1">
              <a:solidFill>
                <a:srgbClr val="C0392B"/>
              </a:solidFill>
              <a:latin typeface="Calibri" panose="020F0502020204030204"/>
            </a:endParaRPr>
          </a:p>
        </p:txBody>
      </p:sp>
      <p:sp>
        <p:nvSpPr>
          <p:cNvPr id="4" name="TextBox 3"/>
          <p:cNvSpPr txBox="1"/>
          <p:nvPr/>
        </p:nvSpPr>
        <p:spPr>
          <a:xfrm>
            <a:off x="411480" y="502920"/>
            <a:ext cx="11338560" cy="822960"/>
          </a:xfrm>
          <a:prstGeom prst="rect">
            <a:avLst/>
          </a:prstGeom>
          <a:noFill/>
        </p:spPr>
        <p:txBody>
          <a:bodyPr wrap="square">
            <a:spAutoFit/>
          </a:bodyPr>
          <a:lstStyle/>
          <a:p>
            <a:r>
              <a:rPr sz="3000" b="1">
                <a:solidFill>
                  <a:srgbClr val="1E2A46"/>
                </a:solidFill>
                <a:latin typeface="Calibri" panose="020F0502020204030204"/>
              </a:rPr>
              <a:t>Benefits of the Solution</a:t>
            </a:r>
            <a:endParaRPr sz="3000" b="1">
              <a:solidFill>
                <a:srgbClr val="1E2A46"/>
              </a:solidFill>
              <a:latin typeface="Calibri" panose="020F0502020204030204"/>
            </a:endParaRPr>
          </a:p>
        </p:txBody>
      </p:sp>
      <p:sp>
        <p:nvSpPr>
          <p:cNvPr id="5" name="TextBox 4"/>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6" name="TextBox 5"/>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24</a:t>
            </a:r>
            <a:endParaRPr sz="900">
              <a:solidFill>
                <a:srgbClr val="6B7280"/>
              </a:solidFill>
              <a:latin typeface="Calibri" panose="020F0502020204030204"/>
            </a:endParaRPr>
          </a:p>
        </p:txBody>
      </p:sp>
      <p:sp>
        <p:nvSpPr>
          <p:cNvPr id="7" name="Rounded Rectangle 6"/>
          <p:cNvSpPr/>
          <p:nvPr/>
        </p:nvSpPr>
        <p:spPr>
          <a:xfrm>
            <a:off x="548640" y="1691640"/>
            <a:ext cx="11109960" cy="841248"/>
          </a:xfrm>
          <a:prstGeom prst="roundRect">
            <a:avLst/>
          </a:prstGeom>
          <a:solidFill>
            <a:srgbClr val="FFFFFF"/>
          </a:solidFill>
          <a:ln w="9525">
            <a:solidFill>
              <a:srgbClr val="D0D5DE"/>
            </a:solidFill>
          </a:ln>
        </p:spPr>
        <p:style>
          <a:lnRef idx="1">
            <a:schemeClr val="accent1"/>
          </a:lnRef>
          <a:fillRef idx="3">
            <a:schemeClr val="accent1"/>
          </a:fillRef>
          <a:effectRef idx="2">
            <a:schemeClr val="accent1"/>
          </a:effectRef>
          <a:fontRef idx="minor">
            <a:schemeClr val="lt1"/>
          </a:fontRef>
        </p:style>
        <p:txBody>
          <a:bodyPr wrap="square" lIns="90000" rIns="72000" rtlCol="0" anchor="ctr"/>
          <a:lstStyle/>
          <a:p>
            <a:pPr algn="ctr"/>
            <a:r>
              <a:rPr sz="1500" b="1">
                <a:solidFill>
                  <a:srgbClr val="1E2A46"/>
                </a:solidFill>
                <a:latin typeface="Calibri" panose="020F0502020204030204"/>
              </a:rPr>
              <a:t>Librarian &amp; Staff - </a:t>
            </a:r>
            <a:r>
              <a:rPr sz="1400">
                <a:solidFill>
                  <a:srgbClr val="2E333C"/>
                </a:solidFill>
                <a:latin typeface="Calibri" panose="020F0502020204030204"/>
              </a:rPr>
              <a:t>Automated cataloging and circulation, accurate reports, less manual encoding - service quality with lower effort.</a:t>
            </a:r>
            <a:endParaRPr sz="1400">
              <a:solidFill>
                <a:srgbClr val="2E333C"/>
              </a:solidFill>
              <a:latin typeface="Calibri" panose="020F0502020204030204"/>
            </a:endParaRPr>
          </a:p>
        </p:txBody>
      </p:sp>
      <p:sp>
        <p:nvSpPr>
          <p:cNvPr id="8" name="Rounded Rectangle 7"/>
          <p:cNvSpPr/>
          <p:nvPr/>
        </p:nvSpPr>
        <p:spPr>
          <a:xfrm>
            <a:off x="548640" y="2624328"/>
            <a:ext cx="11109960" cy="841248"/>
          </a:xfrm>
          <a:prstGeom prst="roundRect">
            <a:avLst/>
          </a:prstGeom>
          <a:solidFill>
            <a:srgbClr val="EEF1F6"/>
          </a:solidFill>
          <a:ln w="9525">
            <a:solidFill>
              <a:srgbClr val="D0D5DE"/>
            </a:solidFill>
          </a:ln>
        </p:spPr>
        <p:style>
          <a:lnRef idx="1">
            <a:schemeClr val="accent1"/>
          </a:lnRef>
          <a:fillRef idx="3">
            <a:schemeClr val="accent1"/>
          </a:fillRef>
          <a:effectRef idx="2">
            <a:schemeClr val="accent1"/>
          </a:effectRef>
          <a:fontRef idx="minor">
            <a:schemeClr val="lt1"/>
          </a:fontRef>
        </p:style>
        <p:txBody>
          <a:bodyPr wrap="square" lIns="90000" rIns="72000" rtlCol="0" anchor="ctr"/>
          <a:lstStyle/>
          <a:p>
            <a:pPr algn="ctr"/>
            <a:r>
              <a:rPr sz="1500" b="1">
                <a:solidFill>
                  <a:srgbClr val="1E2A46"/>
                </a:solidFill>
                <a:latin typeface="Calibri" panose="020F0502020204030204"/>
              </a:rPr>
              <a:t>Students &amp; Faculty - </a:t>
            </a:r>
            <a:r>
              <a:rPr sz="1400">
                <a:solidFill>
                  <a:srgbClr val="2E333C"/>
                </a:solidFill>
                <a:latin typeface="Calibri" panose="020F0502020204030204"/>
              </a:rPr>
              <a:t>Web-based catalog and request submission from anywhere; self-service tracking of borrows, fines, and request status.</a:t>
            </a:r>
            <a:endParaRPr sz="1400">
              <a:solidFill>
                <a:srgbClr val="2E333C"/>
              </a:solidFill>
              <a:latin typeface="Calibri" panose="020F0502020204030204"/>
            </a:endParaRPr>
          </a:p>
        </p:txBody>
      </p:sp>
      <p:sp>
        <p:nvSpPr>
          <p:cNvPr id="9" name="Rounded Rectangle 8"/>
          <p:cNvSpPr/>
          <p:nvPr/>
        </p:nvSpPr>
        <p:spPr>
          <a:xfrm>
            <a:off x="548640" y="3557016"/>
            <a:ext cx="11109960" cy="841248"/>
          </a:xfrm>
          <a:prstGeom prst="roundRect">
            <a:avLst/>
          </a:prstGeom>
          <a:solidFill>
            <a:srgbClr val="FFFFFF"/>
          </a:solidFill>
          <a:ln w="9525">
            <a:solidFill>
              <a:srgbClr val="D0D5DE"/>
            </a:solidFill>
          </a:ln>
        </p:spPr>
        <p:style>
          <a:lnRef idx="1">
            <a:schemeClr val="accent1"/>
          </a:lnRef>
          <a:fillRef idx="3">
            <a:schemeClr val="accent1"/>
          </a:fillRef>
          <a:effectRef idx="2">
            <a:schemeClr val="accent1"/>
          </a:effectRef>
          <a:fontRef idx="minor">
            <a:schemeClr val="lt1"/>
          </a:fontRef>
        </p:style>
        <p:txBody>
          <a:bodyPr wrap="square" lIns="90000" rIns="72000" rtlCol="0" anchor="ctr"/>
          <a:lstStyle/>
          <a:p>
            <a:pPr algn="ctr"/>
            <a:r>
              <a:rPr sz="1500" b="1">
                <a:solidFill>
                  <a:srgbClr val="1E2A46"/>
                </a:solidFill>
                <a:latin typeface="Calibri" panose="020F0502020204030204"/>
              </a:rPr>
              <a:t>Program Chairs &amp; Deans - </a:t>
            </a:r>
            <a:r>
              <a:rPr sz="1400">
                <a:solidFill>
                  <a:srgbClr val="2E333C"/>
                </a:solidFill>
                <a:latin typeface="Calibri" panose="020F0502020204030204"/>
              </a:rPr>
              <a:t>Borrowing statistics, request trends, and usage reports - transparent evidence for acquisition and budget decisions.</a:t>
            </a:r>
            <a:endParaRPr sz="1400">
              <a:solidFill>
                <a:srgbClr val="2E333C"/>
              </a:solidFill>
              <a:latin typeface="Calibri" panose="020F0502020204030204"/>
            </a:endParaRPr>
          </a:p>
        </p:txBody>
      </p:sp>
      <p:sp>
        <p:nvSpPr>
          <p:cNvPr id="10" name="Rounded Rectangle 9"/>
          <p:cNvSpPr/>
          <p:nvPr/>
        </p:nvSpPr>
        <p:spPr>
          <a:xfrm>
            <a:off x="548640" y="4489704"/>
            <a:ext cx="11109960" cy="841248"/>
          </a:xfrm>
          <a:prstGeom prst="roundRect">
            <a:avLst/>
          </a:prstGeom>
          <a:solidFill>
            <a:srgbClr val="EEF1F6"/>
          </a:solidFill>
          <a:ln w="9525">
            <a:solidFill>
              <a:srgbClr val="D0D5DE"/>
            </a:solidFill>
          </a:ln>
        </p:spPr>
        <p:style>
          <a:lnRef idx="1">
            <a:schemeClr val="accent1"/>
          </a:lnRef>
          <a:fillRef idx="3">
            <a:schemeClr val="accent1"/>
          </a:fillRef>
          <a:effectRef idx="2">
            <a:schemeClr val="accent1"/>
          </a:effectRef>
          <a:fontRef idx="minor">
            <a:schemeClr val="lt1"/>
          </a:fontRef>
        </p:style>
        <p:txBody>
          <a:bodyPr wrap="square" lIns="90000" rIns="72000" rtlCol="0" anchor="ctr"/>
          <a:lstStyle/>
          <a:p>
            <a:pPr algn="ctr"/>
            <a:r>
              <a:rPr sz="1500" b="1">
                <a:solidFill>
                  <a:srgbClr val="1E2A46"/>
                </a:solidFill>
                <a:latin typeface="Calibri" panose="020F0502020204030204"/>
              </a:rPr>
              <a:t>MCST Institution - </a:t>
            </a:r>
            <a:r>
              <a:rPr sz="1400">
                <a:solidFill>
                  <a:srgbClr val="2E333C"/>
                </a:solidFill>
                <a:latin typeface="Calibri" panose="020F0502020204030204"/>
              </a:rPr>
              <a:t>Data-driven resource planning, DPA-compliant records, and a documented quality baseline (ISO 3.81).</a:t>
            </a:r>
            <a:endParaRPr sz="1400">
              <a:solidFill>
                <a:srgbClr val="2E333C"/>
              </a:solidFill>
              <a:latin typeface="Calibri" panose="020F0502020204030204"/>
            </a:endParaRPr>
          </a:p>
        </p:txBody>
      </p:sp>
      <p:sp>
        <p:nvSpPr>
          <p:cNvPr id="11" name="Rounded Rectangle 10"/>
          <p:cNvSpPr/>
          <p:nvPr/>
        </p:nvSpPr>
        <p:spPr>
          <a:xfrm>
            <a:off x="548640" y="5422392"/>
            <a:ext cx="11109960" cy="841248"/>
          </a:xfrm>
          <a:prstGeom prst="roundRect">
            <a:avLst/>
          </a:prstGeom>
          <a:solidFill>
            <a:srgbClr val="FFFFFF"/>
          </a:solidFill>
          <a:ln w="9525">
            <a:solidFill>
              <a:srgbClr val="D0D5DE"/>
            </a:solidFill>
          </a:ln>
        </p:spPr>
        <p:style>
          <a:lnRef idx="1">
            <a:schemeClr val="accent1"/>
          </a:lnRef>
          <a:fillRef idx="3">
            <a:schemeClr val="accent1"/>
          </a:fillRef>
          <a:effectRef idx="2">
            <a:schemeClr val="accent1"/>
          </a:effectRef>
          <a:fontRef idx="minor">
            <a:schemeClr val="lt1"/>
          </a:fontRef>
        </p:style>
        <p:txBody>
          <a:bodyPr wrap="square" lIns="90000" rIns="72000" rtlCol="0" anchor="ctr"/>
          <a:lstStyle/>
          <a:p>
            <a:pPr algn="ctr"/>
            <a:r>
              <a:rPr sz="1500" b="1">
                <a:solidFill>
                  <a:srgbClr val="1E2A46"/>
                </a:solidFill>
                <a:latin typeface="Calibri" panose="020F0502020204030204"/>
              </a:rPr>
              <a:t>Future Researchers - </a:t>
            </a:r>
            <a:r>
              <a:rPr sz="1400">
                <a:solidFill>
                  <a:srgbClr val="2E333C"/>
                </a:solidFill>
                <a:latin typeface="Calibri" panose="020F0502020204030204"/>
              </a:rPr>
              <a:t>A real-world reference for integrating descriptive BI into operational systems in small/mid-sized institutions.</a:t>
            </a:r>
            <a:endParaRPr sz="1400">
              <a:solidFill>
                <a:srgbClr val="2E333C"/>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64592"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473952"/>
            <a:ext cx="6400800" cy="274320"/>
          </a:xfrm>
          <a:prstGeom prst="rect">
            <a:avLst/>
          </a:prstGeom>
          <a:noFill/>
        </p:spPr>
        <p:txBody>
          <a:bodyPr wrap="none">
            <a:spAutoFit/>
          </a:bodyPr>
          <a:lstStyle/>
          <a:p>
            <a:r>
              <a:rPr sz="900">
                <a:solidFill>
                  <a:srgbClr val="6B7280"/>
                </a:solidFill>
                <a:latin typeface="Calibri" panose="020F0502020204030204"/>
              </a:rPr>
              <a:t>MCST Library Management System - Research Colloquium</a:t>
            </a:r>
            <a:endParaRPr sz="900">
              <a:solidFill>
                <a:srgbClr val="6B7280"/>
              </a:solidFill>
              <a:latin typeface="Calibri" panose="020F0502020204030204"/>
            </a:endParaRPr>
          </a:p>
        </p:txBody>
      </p:sp>
      <p:sp>
        <p:nvSpPr>
          <p:cNvPr id="4" name="TextBox 3"/>
          <p:cNvSpPr txBox="1"/>
          <p:nvPr/>
        </p:nvSpPr>
        <p:spPr>
          <a:xfrm>
            <a:off x="11292840" y="6473952"/>
            <a:ext cx="548640" cy="274320"/>
          </a:xfrm>
          <a:prstGeom prst="rect">
            <a:avLst/>
          </a:prstGeom>
          <a:noFill/>
        </p:spPr>
        <p:txBody>
          <a:bodyPr wrap="none">
            <a:spAutoFit/>
          </a:bodyPr>
          <a:lstStyle/>
          <a:p>
            <a:pPr algn="r"/>
            <a:r>
              <a:rPr sz="900">
                <a:solidFill>
                  <a:srgbClr val="6B7280"/>
                </a:solidFill>
                <a:latin typeface="Calibri" panose="020F0502020204030204"/>
              </a:rPr>
              <a:t>25</a:t>
            </a:r>
            <a:endParaRPr sz="900">
              <a:solidFill>
                <a:srgbClr val="6B7280"/>
              </a:solidFill>
              <a:latin typeface="Calibri" panose="020F0502020204030204"/>
            </a:endParaRPr>
          </a:p>
        </p:txBody>
      </p:sp>
      <p:sp>
        <p:nvSpPr>
          <p:cNvPr id="5" name="Rectangle 4"/>
          <p:cNvSpPr/>
          <p:nvPr/>
        </p:nvSpPr>
        <p:spPr>
          <a:xfrm>
            <a:off x="164592" y="0"/>
            <a:ext cx="12024360" cy="6858000"/>
          </a:xfrm>
          <a:prstGeom prst="rect">
            <a:avLst/>
          </a:prstGeom>
          <a:solidFill>
            <a:srgbClr val="1E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77440"/>
            <a:ext cx="10332720" cy="2011680"/>
          </a:xfrm>
          <a:prstGeom prst="rect">
            <a:avLst/>
          </a:prstGeom>
          <a:noFill/>
        </p:spPr>
        <p:txBody>
          <a:bodyPr wrap="square">
            <a:spAutoFit/>
          </a:bodyPr>
          <a:lstStyle/>
          <a:p>
            <a:pPr algn="ctr"/>
            <a:r>
              <a:rPr sz="5400" b="1">
                <a:solidFill>
                  <a:srgbClr val="FFFFFF"/>
                </a:solidFill>
                <a:latin typeface="Calibri" panose="020F0502020204030204"/>
              </a:rPr>
              <a:t>Thank You.</a:t>
            </a:r>
            <a:endParaRPr sz="5400" b="1">
              <a:solidFill>
                <a:srgbClr val="FFFFFF"/>
              </a:solidFill>
              <a:latin typeface="Calibri" panose="020F0502020204030204"/>
            </a:endParaRPr>
          </a:p>
          <a:p>
            <a:pPr algn="ctr"/>
            <a:r>
              <a:rPr sz="2000">
                <a:solidFill>
                  <a:srgbClr val="C9A227"/>
                </a:solidFill>
                <a:latin typeface="Calibri" panose="020F0502020204030204"/>
              </a:rPr>
              <a:t>Questions and feedback are welcome.</a:t>
            </a:r>
            <a:endParaRPr sz="2000">
              <a:solidFill>
                <a:srgbClr val="C9A227"/>
              </a:solidFill>
              <a:latin typeface="Calibri" panose="020F0502020204030204"/>
            </a:endParaRPr>
          </a:p>
        </p:txBody>
      </p:sp>
      <p:pic>
        <p:nvPicPr>
          <p:cNvPr id="7" name="Picture 6" descr="Library_Logo.jpg"/>
          <p:cNvPicPr>
            <a:picLocks noChangeAspect="1"/>
          </p:cNvPicPr>
          <p:nvPr/>
        </p:nvPicPr>
        <p:blipFill>
          <a:blip r:embed="rId1"/>
          <a:stretch>
            <a:fillRect/>
          </a:stretch>
        </p:blipFill>
        <p:spPr>
          <a:xfrm>
            <a:off x="5592927" y="4754880"/>
            <a:ext cx="1005840" cy="1005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14692</Words>
  <Application>WPS Presentation</Application>
  <PresentationFormat>On-screen Show (4:3)</PresentationFormat>
  <Paragraphs>544</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Justin Batlangao</cp:lastModifiedBy>
  <cp:revision>3</cp:revision>
  <dcterms:created xsi:type="dcterms:W3CDTF">2013-01-27T09:14:00Z</dcterms:created>
  <dcterms:modified xsi:type="dcterms:W3CDTF">2026-10-20T12:13:06Z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A2AC20938A7C4FD99999A0952F2D70EE_12</vt:lpwstr>
  </property>
  <property fmtid="{D5CDD505-2E9C-101B-9397-08002B2CF9AE}" pid="3" name="KSOProductBuildVer">
    <vt:lpwstr>1033-12.1.0.29162</vt:lpwstr>
  </property>
</Properties>
</file>