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charts/chart2.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2" r:id="rId2"/>
  </p:sldMasterIdLst>
  <p:notesMasterIdLst>
    <p:notesMasterId r:id="rId27"/>
  </p:notesMasterIdLst>
  <p:sldIdLst>
    <p:sldId id="256" r:id="rId3"/>
    <p:sldId id="257" r:id="rId4"/>
    <p:sldId id="258" r:id="rId5"/>
    <p:sldId id="259" r:id="rId6"/>
    <p:sldId id="260" r:id="rId7"/>
    <p:sldId id="28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208B02F-17CB-5DD9-74B2-42ACFECCA6E5}">
          <p14:sldIdLst>
            <p14:sldId id="256"/>
          </p14:sldIdLst>
        </p14:section>
        <p14:section name="Background" id="{C27899CD-3121-B92C-E5C1-F9E2C7FEA9D0}">
          <p14:sldIdLst>
            <p14:sldId id="257"/>
          </p14:sldIdLst>
        </p14:section>
        <p14:section name="Current System" id="{9E1B6E47-19ED-F5AF-67C1-F54187286FD7}">
          <p14:sldIdLst>
            <p14:sldId id="258"/>
          </p14:sldIdLst>
        </p14:section>
        <p14:section name="Problem" id="{497F83F6-8D5C-D92A-71E3-269613CF904E}">
          <p14:sldIdLst>
            <p14:sldId id="259"/>
          </p14:sldIdLst>
        </p14:section>
        <p14:section name="Proposed System" id="{E2028871-F904-6D3A-0D8F-B43899864066}">
          <p14:sldIdLst>
            <p14:sldId id="260"/>
          </p14:sldIdLst>
        </p14:section>
        <p14:section name="System Architecture" id="{8C73ACCD-9744-D998-D6B2-3C5E1E88E924}">
          <p14:sldIdLst>
            <p14:sldId id="280"/>
          </p14:sldIdLst>
        </p14:section>
        <p14:section name="Features" id="{FC79562C-0325-1AB5-71A8-C5B3BF422EBD}">
          <p14:sldIdLst>
            <p14:sldId id="262"/>
            <p14:sldId id="263"/>
            <p14:sldId id="264"/>
            <p14:sldId id="265"/>
            <p14:sldId id="266"/>
          </p14:sldIdLst>
        </p14:section>
        <p14:section name="Business Intelligence" id="{C87774B5-5E2B-CE29-648C-E50A0F180AE6}">
          <p14:sldIdLst>
            <p14:sldId id="267"/>
            <p14:sldId id="268"/>
            <p14:sldId id="269"/>
            <p14:sldId id="270"/>
            <p14:sldId id="271"/>
          </p14:sldIdLst>
        </p14:section>
        <p14:section name="Testing" id="{853DBA53-B736-BD5C-9B13-889FA29333A1}">
          <p14:sldIdLst>
            <p14:sldId id="272"/>
          </p14:sldIdLst>
        </p14:section>
        <p14:section name="Results" id="{E9B815FF-9E84-5C09-5089-230D3BF346D5}">
          <p14:sldIdLst>
            <p14:sldId id="273"/>
            <p14:sldId id="274"/>
            <p14:sldId id="275"/>
          </p14:sldIdLst>
        </p14:section>
        <p14:section name="Recommendations" id="{500BDB3F-78B1-9FDD-E6F6-D1F78673EE83}">
          <p14:sldIdLst>
            <p14:sldId id="276"/>
            <p14:sldId id="277"/>
          </p14:sldIdLst>
        </p14:section>
        <p14:section name="Closing" id="{1CEF010C-4A45-4032-C859-5C5C62F8D9B8}">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36375" autoAdjust="0"/>
  </p:normalViewPr>
  <p:slideViewPr>
    <p:cSldViewPr snapToGrid="0" snapToObjects="1">
      <p:cViewPr varScale="1">
        <p:scale>
          <a:sx n="27" d="100"/>
          <a:sy n="27" d="100"/>
        </p:scale>
        <p:origin x="2164" y="2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14213D"/>
                </a:solidFill>
                <a:latin typeface="+mn-lt"/>
                <a:ea typeface="+mn-ea"/>
                <a:cs typeface="+mn-cs"/>
              </a:defRPr>
            </a:pPr>
            <a:r>
              <a:rPr lang="en-US" sz="1400" b="0" i="0" u="none" strike="noStrike">
                <a:solidFill>
                  <a:srgbClr val="14213D"/>
                </a:solidFill>
                <a:latin typeface="+mn-lt"/>
              </a:rPr>
              <a:t>Mean rating per characteristic (scale 1 to 4)</a:t>
            </a:r>
          </a:p>
        </c:rich>
      </c:tx>
      <c:overlay val="0"/>
    </c:title>
    <c:autoTitleDeleted val="0"/>
    <c:plotArea>
      <c:layout/>
      <c:barChart>
        <c:barDir val="bar"/>
        <c:grouping val="clustered"/>
        <c:varyColors val="0"/>
        <c:ser>
          <c:idx val="0"/>
          <c:order val="0"/>
          <c:tx>
            <c:strRef>
              <c:f>Sheet1!$B$1</c:f>
              <c:strCache>
                <c:ptCount val="1"/>
                <c:pt idx="0">
                  <c:v>Mean</c:v>
                </c:pt>
              </c:strCache>
            </c:strRef>
          </c:tx>
          <c:spPr>
            <a:solidFill>
              <a:srgbClr val="2B6F6A"/>
            </a:solidFill>
            <a:effectLst/>
          </c:spPr>
          <c:invertIfNegative val="0"/>
          <c:dPt>
            <c:idx val="0"/>
            <c:invertIfNegative val="0"/>
            <c:bubble3D val="0"/>
            <c:extLst>
              <c:ext xmlns:c16="http://schemas.microsoft.com/office/drawing/2014/chart" uri="{C3380CC4-5D6E-409C-BE32-E72D297353CC}">
                <c16:uniqueId val="{00000001-4685-4E27-8A6F-2DD25B326856}"/>
              </c:ext>
            </c:extLst>
          </c:dPt>
          <c:dPt>
            <c:idx val="1"/>
            <c:invertIfNegative val="0"/>
            <c:bubble3D val="0"/>
            <c:spPr>
              <a:solidFill>
                <a:srgbClr val="14213D"/>
              </a:solidFill>
              <a:effectLst/>
            </c:spPr>
            <c:extLst>
              <c:ext xmlns:c16="http://schemas.microsoft.com/office/drawing/2014/chart" uri="{C3380CC4-5D6E-409C-BE32-E72D297353CC}">
                <c16:uniqueId val="{00000003-4685-4E27-8A6F-2DD25B326856}"/>
              </c:ext>
            </c:extLst>
          </c:dPt>
          <c:dPt>
            <c:idx val="2"/>
            <c:invertIfNegative val="0"/>
            <c:bubble3D val="0"/>
            <c:extLst>
              <c:ext xmlns:c16="http://schemas.microsoft.com/office/drawing/2014/chart" uri="{C3380CC4-5D6E-409C-BE32-E72D297353CC}">
                <c16:uniqueId val="{00000005-4685-4E27-8A6F-2DD25B326856}"/>
              </c:ext>
            </c:extLst>
          </c:dPt>
          <c:dPt>
            <c:idx val="3"/>
            <c:invertIfNegative val="0"/>
            <c:bubble3D val="0"/>
            <c:extLst>
              <c:ext xmlns:c16="http://schemas.microsoft.com/office/drawing/2014/chart" uri="{C3380CC4-5D6E-409C-BE32-E72D297353CC}">
                <c16:uniqueId val="{00000007-4685-4E27-8A6F-2DD25B326856}"/>
              </c:ext>
            </c:extLst>
          </c:dPt>
          <c:dPt>
            <c:idx val="4"/>
            <c:invertIfNegative val="0"/>
            <c:bubble3D val="0"/>
            <c:spPr>
              <a:solidFill>
                <a:srgbClr val="9B1C24"/>
              </a:solidFill>
              <a:effectLst/>
            </c:spPr>
            <c:extLst>
              <c:ext xmlns:c16="http://schemas.microsoft.com/office/drawing/2014/chart" uri="{C3380CC4-5D6E-409C-BE32-E72D297353CC}">
                <c16:uniqueId val="{00000009-4685-4E27-8A6F-2DD25B326856}"/>
              </c:ext>
            </c:extLst>
          </c:dPt>
          <c:dPt>
            <c:idx val="5"/>
            <c:invertIfNegative val="0"/>
            <c:bubble3D val="0"/>
            <c:spPr>
              <a:solidFill>
                <a:srgbClr val="14213D"/>
              </a:solidFill>
              <a:effectLst/>
            </c:spPr>
            <c:extLst>
              <c:ext xmlns:c16="http://schemas.microsoft.com/office/drawing/2014/chart" uri="{C3380CC4-5D6E-409C-BE32-E72D297353CC}">
                <c16:uniqueId val="{0000000B-4685-4E27-8A6F-2DD25B326856}"/>
              </c:ext>
            </c:extLst>
          </c:dPt>
          <c:dPt>
            <c:idx val="6"/>
            <c:invertIfNegative val="0"/>
            <c:bubble3D val="0"/>
            <c:spPr>
              <a:solidFill>
                <a:srgbClr val="14213D"/>
              </a:solidFill>
              <a:effectLst/>
            </c:spPr>
            <c:extLst>
              <c:ext xmlns:c16="http://schemas.microsoft.com/office/drawing/2014/chart" uri="{C3380CC4-5D6E-409C-BE32-E72D297353CC}">
                <c16:uniqueId val="{0000000D-4685-4E27-8A6F-2DD25B326856}"/>
              </c:ext>
            </c:extLst>
          </c:dPt>
          <c:dPt>
            <c:idx val="7"/>
            <c:invertIfNegative val="0"/>
            <c:bubble3D val="0"/>
            <c:spPr>
              <a:solidFill>
                <a:srgbClr val="14213D"/>
              </a:solidFill>
              <a:effectLst/>
            </c:spPr>
            <c:extLst>
              <c:ext xmlns:c16="http://schemas.microsoft.com/office/drawing/2014/chart" uri="{C3380CC4-5D6E-409C-BE32-E72D297353CC}">
                <c16:uniqueId val="{0000000F-4685-4E27-8A6F-2DD25B326856}"/>
              </c:ext>
            </c:extLst>
          </c:dPt>
          <c:dLbls>
            <c:numFmt formatCode="0.00" sourceLinked="0"/>
            <c:spPr>
              <a:noFill/>
              <a:ln>
                <a:noFill/>
              </a:ln>
              <a:effectLst/>
            </c:spPr>
            <c:txPr>
              <a:bodyPr rot="0" spcFirstLastPara="0" vertOverflow="ellipsis" vert="horz" wrap="square" lIns="38100" tIns="19050" rIns="38100" bIns="19050" anchor="ctr" anchorCtr="1"/>
              <a:lstStyle/>
              <a:p>
                <a:pPr>
                  <a:defRPr lang="en-US" sz="1300" b="1" i="0" u="none" strike="noStrike" kern="1200" baseline="0">
                    <a:solidFill>
                      <a:srgbClr val="14213D"/>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Functional Suitability</c:v>
                </c:pt>
                <c:pt idx="1">
                  <c:v>Performance Efficiency</c:v>
                </c:pt>
                <c:pt idx="2">
                  <c:v>Compatibility</c:v>
                </c:pt>
                <c:pt idx="3">
                  <c:v>Usability</c:v>
                </c:pt>
                <c:pt idx="4">
                  <c:v>Reliability</c:v>
                </c:pt>
                <c:pt idx="5">
                  <c:v>Security</c:v>
                </c:pt>
                <c:pt idx="6">
                  <c:v>Maintainability</c:v>
                </c:pt>
                <c:pt idx="7">
                  <c:v>Portability</c:v>
                </c:pt>
              </c:strCache>
            </c:strRef>
          </c:cat>
          <c:val>
            <c:numRef>
              <c:f>Sheet1!$B$2:$B$9</c:f>
              <c:numCache>
                <c:formatCode>General</c:formatCode>
                <c:ptCount val="8"/>
                <c:pt idx="0">
                  <c:v>3.92</c:v>
                </c:pt>
                <c:pt idx="1">
                  <c:v>3.76</c:v>
                </c:pt>
                <c:pt idx="2">
                  <c:v>3.92</c:v>
                </c:pt>
                <c:pt idx="3">
                  <c:v>3.92</c:v>
                </c:pt>
                <c:pt idx="4">
                  <c:v>3.6</c:v>
                </c:pt>
                <c:pt idx="5">
                  <c:v>3.88</c:v>
                </c:pt>
                <c:pt idx="6">
                  <c:v>3.72</c:v>
                </c:pt>
                <c:pt idx="7">
                  <c:v>3.76</c:v>
                </c:pt>
              </c:numCache>
            </c:numRef>
          </c:val>
          <c:extLst>
            <c:ext xmlns:c16="http://schemas.microsoft.com/office/drawing/2014/chart" uri="{C3380CC4-5D6E-409C-BE32-E72D297353CC}">
              <c16:uniqueId val="{00000010-4685-4E27-8A6F-2DD25B326856}"/>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300" b="0" i="0" u="none" strike="noStrike" kern="1200" baseline="0">
                <a:solidFill>
                  <a:srgbClr val="1B2440"/>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4.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82caa874-a962-4efc-b30e-5c9f675d634c}"/>
      </c:ext>
    </c:extLst>
  </c:chart>
  <c:spPr>
    <a:noFill/>
    <a:ln>
      <a:noFill/>
    </a:ln>
    <a:effectLst/>
  </c:spPr>
  <c:txPr>
    <a:bodyPr/>
    <a:lstStyle/>
    <a:p>
      <a:pPr>
        <a:defRPr lang="en-US"/>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14213D"/>
                </a:solidFill>
                <a:latin typeface="+mn-lt"/>
                <a:ea typeface="+mn-ea"/>
                <a:cs typeface="+mn-cs"/>
              </a:defRPr>
            </a:pPr>
            <a:r>
              <a:rPr lang="en-US" sz="1400" b="0" i="0" u="none" strike="noStrike">
                <a:solidFill>
                  <a:srgbClr val="14213D"/>
                </a:solidFill>
                <a:latin typeface="+mn-lt"/>
              </a:rPr>
              <a:t>Mean rating per UAT section (n = 87, scale 1 to 4)</a:t>
            </a:r>
          </a:p>
        </c:rich>
      </c:tx>
      <c:overlay val="0"/>
    </c:title>
    <c:autoTitleDeleted val="0"/>
    <c:plotArea>
      <c:layout/>
      <c:barChart>
        <c:barDir val="bar"/>
        <c:grouping val="clustered"/>
        <c:varyColors val="0"/>
        <c:ser>
          <c:idx val="0"/>
          <c:order val="0"/>
          <c:tx>
            <c:strRef>
              <c:f>Sheet1!$B$1</c:f>
              <c:strCache>
                <c:ptCount val="1"/>
                <c:pt idx="0">
                  <c:v>Mean</c:v>
                </c:pt>
              </c:strCache>
            </c:strRef>
          </c:tx>
          <c:spPr>
            <a:solidFill>
              <a:srgbClr val="14213D"/>
            </a:solidFill>
            <a:effectLst/>
          </c:spPr>
          <c:invertIfNegative val="0"/>
          <c:dPt>
            <c:idx val="0"/>
            <c:invertIfNegative val="0"/>
            <c:bubble3D val="0"/>
            <c:extLst>
              <c:ext xmlns:c16="http://schemas.microsoft.com/office/drawing/2014/chart" uri="{C3380CC4-5D6E-409C-BE32-E72D297353CC}">
                <c16:uniqueId val="{00000001-8078-4268-903D-9B4104297C4C}"/>
              </c:ext>
            </c:extLst>
          </c:dPt>
          <c:dPt>
            <c:idx val="1"/>
            <c:invertIfNegative val="0"/>
            <c:bubble3D val="0"/>
            <c:extLst>
              <c:ext xmlns:c16="http://schemas.microsoft.com/office/drawing/2014/chart" uri="{C3380CC4-5D6E-409C-BE32-E72D297353CC}">
                <c16:uniqueId val="{00000003-8078-4268-903D-9B4104297C4C}"/>
              </c:ext>
            </c:extLst>
          </c:dPt>
          <c:dPt>
            <c:idx val="2"/>
            <c:invertIfNegative val="0"/>
            <c:bubble3D val="0"/>
            <c:extLst>
              <c:ext xmlns:c16="http://schemas.microsoft.com/office/drawing/2014/chart" uri="{C3380CC4-5D6E-409C-BE32-E72D297353CC}">
                <c16:uniqueId val="{00000005-8078-4268-903D-9B4104297C4C}"/>
              </c:ext>
            </c:extLst>
          </c:dPt>
          <c:dPt>
            <c:idx val="3"/>
            <c:invertIfNegative val="0"/>
            <c:bubble3D val="0"/>
            <c:spPr>
              <a:solidFill>
                <a:srgbClr val="9B1C24"/>
              </a:solidFill>
              <a:effectLst/>
            </c:spPr>
            <c:extLst>
              <c:ext xmlns:c16="http://schemas.microsoft.com/office/drawing/2014/chart" uri="{C3380CC4-5D6E-409C-BE32-E72D297353CC}">
                <c16:uniqueId val="{00000007-8078-4268-903D-9B4104297C4C}"/>
              </c:ext>
            </c:extLst>
          </c:dPt>
          <c:dPt>
            <c:idx val="4"/>
            <c:invertIfNegative val="0"/>
            <c:bubble3D val="0"/>
            <c:extLst>
              <c:ext xmlns:c16="http://schemas.microsoft.com/office/drawing/2014/chart" uri="{C3380CC4-5D6E-409C-BE32-E72D297353CC}">
                <c16:uniqueId val="{00000009-8078-4268-903D-9B4104297C4C}"/>
              </c:ext>
            </c:extLst>
          </c:dPt>
          <c:dPt>
            <c:idx val="5"/>
            <c:invertIfNegative val="0"/>
            <c:bubble3D val="0"/>
            <c:spPr>
              <a:solidFill>
                <a:srgbClr val="2B6F6A"/>
              </a:solidFill>
              <a:effectLst/>
            </c:spPr>
            <c:extLst>
              <c:ext xmlns:c16="http://schemas.microsoft.com/office/drawing/2014/chart" uri="{C3380CC4-5D6E-409C-BE32-E72D297353CC}">
                <c16:uniqueId val="{0000000B-8078-4268-903D-9B4104297C4C}"/>
              </c:ext>
            </c:extLst>
          </c:dPt>
          <c:dLbls>
            <c:numFmt formatCode="0.00" sourceLinked="0"/>
            <c:spPr>
              <a:noFill/>
              <a:ln>
                <a:noFill/>
              </a:ln>
              <a:effectLst/>
            </c:spPr>
            <c:txPr>
              <a:bodyPr rot="0" spcFirstLastPara="0" vertOverflow="ellipsis" vert="horz" wrap="square" lIns="38100" tIns="19050" rIns="38100" bIns="19050" anchor="ctr" anchorCtr="1"/>
              <a:lstStyle/>
              <a:p>
                <a:pPr>
                  <a:defRPr lang="en-US" sz="1300" b="1" i="0" u="none" strike="noStrike" kern="1200" baseline="0">
                    <a:solidFill>
                      <a:srgbClr val="14213D"/>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 Accessibility and Functionality</c:v>
                </c:pt>
                <c:pt idx="1">
                  <c:v>B. Usability</c:v>
                </c:pt>
                <c:pt idx="2">
                  <c:v>C. Integration</c:v>
                </c:pt>
                <c:pt idx="3">
                  <c:v>D. Analytics</c:v>
                </c:pt>
                <c:pt idx="4">
                  <c:v>E. Security</c:v>
                </c:pt>
                <c:pt idx="5">
                  <c:v>F. Overall Acceptability</c:v>
                </c:pt>
              </c:strCache>
            </c:strRef>
          </c:cat>
          <c:val>
            <c:numRef>
              <c:f>Sheet1!$B$2:$B$7</c:f>
              <c:numCache>
                <c:formatCode>General</c:formatCode>
                <c:ptCount val="6"/>
                <c:pt idx="0">
                  <c:v>3.41</c:v>
                </c:pt>
                <c:pt idx="1">
                  <c:v>3.38</c:v>
                </c:pt>
                <c:pt idx="2">
                  <c:v>3.31</c:v>
                </c:pt>
                <c:pt idx="3">
                  <c:v>3.3</c:v>
                </c:pt>
                <c:pt idx="4">
                  <c:v>3.31</c:v>
                </c:pt>
                <c:pt idx="5">
                  <c:v>3.43</c:v>
                </c:pt>
              </c:numCache>
            </c:numRef>
          </c:val>
          <c:extLst>
            <c:ext xmlns:c16="http://schemas.microsoft.com/office/drawing/2014/chart" uri="{C3380CC4-5D6E-409C-BE32-E72D297353CC}">
              <c16:uniqueId val="{0000000C-8078-4268-903D-9B4104297C4C}"/>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300" b="0" i="0" u="none" strike="noStrike" kern="1200" baseline="0">
                <a:solidFill>
                  <a:srgbClr val="1B2440"/>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4.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35941284-14af-470e-8652-b87af79b4ad2}"/>
      </c:ext>
    </c:extLst>
  </c:chart>
  <c:spPr>
    <a:noFill/>
    <a:ln>
      <a:noFill/>
    </a:ln>
    <a:effectLst/>
  </c:spPr>
  <c:txPr>
    <a:bodyPr/>
    <a:lstStyle/>
    <a:p>
      <a:pPr>
        <a:defRPr lang="en-US"/>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SCRIPT - Presenter View only, projector shows slides only. Approx. 30-45 sec.
Opening: "Good day, ladies and gentlemen. We are the 404_NOT_FOUND, capstone research team of BSIS, Mandaluyong College of Science and Technology. Our study is titled: Business Intelligence-Enabled Web-Based Library Management System for Academic Resource Planning."
Introduce the presenters and what each will cover, then move quickly - panels remember strong openings.
Do NOT read the title slide. Wave at it while introducing.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SCRIPT - Presenter View only. Approx. 1.5-2 min. Background section.
Three beats to hit:
1. "Libraries worldwide are moving from record-keeping to analytics-driven resource management" - cite Roy 2025, Sukula et al. 2023, Wan Abas &amp; Mustapha 2025.
2. "Web-based systems push service beyond library walls" - Chavan &amp; Hase 2025.
3. "But small and mid-sized institutions feel this shift is hardest - limited infrastructure and data capability." Point at MCST: growing enrollment, borrowing, and collection volume.
LAND THE RESPONSE LINE: "Our research response: a web-based LMS with Business Intelligence embedded in daily operations."
Close by touching SDG 4 (Quality Education) and SDG 9 (Innovation and Infrastructure) briefly.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HIDDEN SCRIPT - Presenter View only. Approx. 1.5 min. Current system section.
Walk the 4-step flow like a story: "A student borrows a book - a paper log sheet records title, program, and name by hand - it is re-encoded into KOHA later - and reports are made through manual tallies."
Then the limitation that matters most: "KOHA stores records, but it does not analyze them. There is no integrated BI."
Punch line: "The PAPER is effectively the system of record - KOHA is always lagging behind real activity. And the data to answer program-level demand exists, but no tool reads it. Decisions rely on intuition, not evidence."
If asked about the image: it is the actual MCST paper log, de-identified.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HIDDEN SCRIPT - Presenter View only. Approx. 2 min. Problem section - this is where the panel judges whether the problem is real. Slow down.
Walk each of the 4 issues in WHAT HAPPENS -&gt; RESULTING PROBLEM pairs:
1. KOHA is too complex for daily work -&gt; staff fall back to manual processing (Padilla 2022 rates this "Serious to Very Serious").
2. Handwritten logs re-encoded later -&gt; KOHA lags, data is scattered.
3. No integrated BI -&gt; no trend/usage/demand view; chairs and deans have no evidence.
4. No audit trail -&gt; accountability and data security risk.
END with the net result: "A fragmented process with no analytics. Most systems automate records; few turn them into insight. That is the gap this study addresses." Transition to the proposed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SCRIPT - Presenter View only. Approx. 1.5-2 min. Proposed system section.
Frame it as one-to-one responses: "For every issue we identified, the proposed system has a direct answer."
1. Complex interface -&gt; simplified, consistent UI with minimal training.
2. Paper + re-encoding -&gt; borrowing/returns processed in-system, on or off campus, automatic due dates and fines; one platform for everything.
3. No BI -&gt; Reporting Dashboard with four analytics tabs on the same platform.
4. Weak access control -&gt; Google OAuth restricted to @mcst.edu.ph, four roles, HTTPS, full audit trail.
Mention: evaluated against ISO/IEC 25010:2011 and UAT with 87 users. If asked about AI: "Analytics are descriptive with rule-based insights; machine learning is outside the scope." - say it proactively.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system was built using three layers architecture. </a:t>
            </a:r>
          </a:p>
          <a:p>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we have the library user layer. These includes the four types of users: Students, Faculty, Librarian, and Admin, </a:t>
            </a:r>
            <a:r>
              <a:rPr lang="en-US" sz="1200" kern="1200" dirty="0" err="1">
                <a:solidFill>
                  <a:schemeClr val="tx1"/>
                </a:solidFill>
                <a:effectLst/>
                <a:latin typeface="+mn-lt"/>
                <a:ea typeface="+mn-ea"/>
                <a:cs typeface="+mn-cs"/>
              </a:rPr>
              <a:t>pwede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nilang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-access it through web-Browsers. </a:t>
            </a:r>
          </a:p>
          <a:p>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Second we have the application layer: </a:t>
            </a:r>
            <a:r>
              <a:rPr lang="en-US" sz="1200" kern="1200" dirty="0" err="1">
                <a:solidFill>
                  <a:schemeClr val="tx1"/>
                </a:solidFill>
                <a:effectLst/>
                <a:latin typeface="+mn-lt"/>
                <a:ea typeface="+mn-ea"/>
                <a:cs typeface="+mn-cs"/>
              </a:rPr>
              <a:t>dito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pinaprocess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mga</a:t>
            </a:r>
            <a:r>
              <a:rPr lang="en-US" sz="1200" kern="1200" dirty="0">
                <a:solidFill>
                  <a:schemeClr val="tx1"/>
                </a:solidFill>
                <a:effectLst/>
                <a:latin typeface="+mn-lt"/>
                <a:ea typeface="+mn-ea"/>
                <a:cs typeface="+mn-cs"/>
              </a:rPr>
              <a:t> core functions ng system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ginawa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namin</a:t>
            </a:r>
            <a:r>
              <a:rPr lang="en-US" sz="1200" kern="1200" dirty="0">
                <a:solidFill>
                  <a:schemeClr val="tx1"/>
                </a:solidFill>
                <a:effectLst/>
                <a:latin typeface="+mn-lt"/>
                <a:ea typeface="+mn-ea"/>
                <a:cs typeface="+mn-cs"/>
              </a:rPr>
              <a:t>. We developed the application using flask and then </a:t>
            </a:r>
            <a:r>
              <a:rPr lang="en-US" sz="1200" kern="1200" dirty="0" err="1">
                <a:solidFill>
                  <a:schemeClr val="tx1"/>
                </a:solidFill>
                <a:effectLst/>
                <a:latin typeface="+mn-lt"/>
                <a:ea typeface="+mn-ea"/>
                <a:cs typeface="+mn-cs"/>
              </a:rPr>
              <a:t>dineploy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namin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siya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a:t>
            </a:r>
            <a:r>
              <a:rPr lang="en-US" sz="1200" kern="1200" dirty="0">
                <a:solidFill>
                  <a:schemeClr val="tx1"/>
                </a:solidFill>
                <a:effectLst/>
                <a:latin typeface="+mn-lt"/>
                <a:ea typeface="+mn-ea"/>
                <a:cs typeface="+mn-cs"/>
              </a:rPr>
              <a:t> render. </a:t>
            </a:r>
            <a:r>
              <a:rPr lang="en-US" sz="1200" kern="1200" dirty="0" err="1">
                <a:solidFill>
                  <a:schemeClr val="tx1"/>
                </a:solidFill>
                <a:effectLst/>
                <a:latin typeface="+mn-lt"/>
                <a:ea typeface="+mn-ea"/>
                <a:cs typeface="+mn-cs"/>
              </a:rPr>
              <a:t>Itong</a:t>
            </a:r>
            <a:r>
              <a:rPr lang="en-US" sz="1200" kern="1200" dirty="0">
                <a:solidFill>
                  <a:schemeClr val="tx1"/>
                </a:solidFill>
                <a:effectLst/>
                <a:latin typeface="+mn-lt"/>
                <a:ea typeface="+mn-ea"/>
                <a:cs typeface="+mn-cs"/>
              </a:rPr>
              <a:t> layer </a:t>
            </a:r>
            <a:r>
              <a:rPr lang="en-US" sz="1200" kern="1200" dirty="0" err="1">
                <a:solidFill>
                  <a:schemeClr val="tx1"/>
                </a:solidFill>
                <a:effectLst/>
                <a:latin typeface="+mn-lt"/>
                <a:ea typeface="+mn-ea"/>
                <a:cs typeface="+mn-cs"/>
              </a:rPr>
              <a:t>na’to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nag </a:t>
            </a:r>
            <a:r>
              <a:rPr lang="en-US" sz="1200" kern="1200" dirty="0" err="1">
                <a:solidFill>
                  <a:schemeClr val="tx1"/>
                </a:solidFill>
                <a:effectLst/>
                <a:latin typeface="+mn-lt"/>
                <a:ea typeface="+mn-ea"/>
                <a:cs typeface="+mn-cs"/>
              </a:rPr>
              <a:t>hahandle</a:t>
            </a:r>
            <a:r>
              <a:rPr lang="en-US" sz="1200" kern="1200" dirty="0">
                <a:solidFill>
                  <a:schemeClr val="tx1"/>
                </a:solidFill>
                <a:effectLst/>
                <a:latin typeface="+mn-lt"/>
                <a:ea typeface="+mn-ea"/>
                <a:cs typeface="+mn-cs"/>
              </a:rPr>
              <a:t> ng different modules, </a:t>
            </a:r>
            <a:r>
              <a:rPr lang="en-US" sz="1200" kern="1200" dirty="0" err="1">
                <a:solidFill>
                  <a:schemeClr val="tx1"/>
                </a:solidFill>
                <a:effectLst/>
                <a:latin typeface="+mn-lt"/>
                <a:ea typeface="+mn-ea"/>
                <a:cs typeface="+mn-cs"/>
              </a:rPr>
              <a:t>tulad</a:t>
            </a:r>
            <a:r>
              <a:rPr lang="en-US" sz="1200" kern="1200" dirty="0">
                <a:solidFill>
                  <a:schemeClr val="tx1"/>
                </a:solidFill>
                <a:effectLst/>
                <a:latin typeface="+mn-lt"/>
                <a:ea typeface="+mn-ea"/>
                <a:cs typeface="+mn-cs"/>
              </a:rPr>
              <a:t> ng cataloging, circulation, requests, procurement, inventory, analytics, backup, and settings. It  also support report generations in PDF, Excel, and CSV format.</a:t>
            </a:r>
          </a:p>
          <a:p>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Lastly we have the database layer, </a:t>
            </a:r>
            <a:r>
              <a:rPr lang="en-US" sz="1200" kern="1200" dirty="0" err="1">
                <a:solidFill>
                  <a:schemeClr val="tx1"/>
                </a:solidFill>
                <a:effectLst/>
                <a:latin typeface="+mn-lt"/>
                <a:ea typeface="+mn-ea"/>
                <a:cs typeface="+mn-cs"/>
              </a:rPr>
              <a:t>gumamit</a:t>
            </a:r>
            <a:r>
              <a:rPr lang="en-US" sz="1200" kern="1200" dirty="0">
                <a:solidFill>
                  <a:schemeClr val="tx1"/>
                </a:solidFill>
                <a:effectLst/>
                <a:latin typeface="+mn-lt"/>
                <a:ea typeface="+mn-ea"/>
                <a:cs typeface="+mn-cs"/>
              </a:rPr>
              <a:t> kami ng PostgreSQL and </a:t>
            </a:r>
            <a:r>
              <a:rPr lang="en-US" sz="1200" kern="1200" dirty="0" err="1">
                <a:solidFill>
                  <a:schemeClr val="tx1"/>
                </a:solidFill>
                <a:effectLst/>
                <a:latin typeface="+mn-lt"/>
                <a:ea typeface="+mn-ea"/>
                <a:cs typeface="+mn-cs"/>
              </a:rPr>
              <a:t>nakahost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siya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a:t>
            </a:r>
            <a:r>
              <a:rPr lang="en-US" sz="1200" kern="1200" dirty="0">
                <a:solidFill>
                  <a:schemeClr val="tx1"/>
                </a:solidFill>
                <a:effectLst/>
                <a:latin typeface="+mn-lt"/>
                <a:ea typeface="+mn-ea"/>
                <a:cs typeface="+mn-cs"/>
              </a:rPr>
              <a:t> neon, </a:t>
            </a:r>
            <a:r>
              <a:rPr lang="en-US" sz="1200" kern="1200" dirty="0" err="1">
                <a:solidFill>
                  <a:schemeClr val="tx1"/>
                </a:solidFill>
                <a:effectLst/>
                <a:latin typeface="+mn-lt"/>
                <a:ea typeface="+mn-ea"/>
                <a:cs typeface="+mn-cs"/>
              </a:rPr>
              <a:t>dito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iniistore</a:t>
            </a:r>
            <a:r>
              <a:rPr lang="en-US" sz="1200" kern="1200" dirty="0">
                <a:solidFill>
                  <a:schemeClr val="tx1"/>
                </a:solidFill>
                <a:effectLst/>
                <a:latin typeface="+mn-lt"/>
                <a:ea typeface="+mn-ea"/>
                <a:cs typeface="+mn-cs"/>
              </a:rPr>
              <a:t> at </a:t>
            </a:r>
            <a:r>
              <a:rPr lang="en-US" sz="1200" kern="1200" dirty="0" err="1">
                <a:solidFill>
                  <a:schemeClr val="tx1"/>
                </a:solidFill>
                <a:effectLst/>
                <a:latin typeface="+mn-lt"/>
                <a:ea typeface="+mn-ea"/>
                <a:cs typeface="+mn-cs"/>
              </a:rPr>
              <a:t>minamanage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data ng system, including book records, information ng users, borrowing transactions, reservations, and requests.</a:t>
            </a:r>
            <a:endParaRPr lang="en-PH"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Para naman </a:t>
            </a:r>
            <a:r>
              <a:rPr lang="en-US" sz="1200" kern="1200" dirty="0" err="1">
                <a:solidFill>
                  <a:schemeClr val="tx1"/>
                </a:solidFill>
                <a:effectLst/>
                <a:latin typeface="+mn-lt"/>
                <a:ea typeface="+mn-ea"/>
                <a:cs typeface="+mn-cs"/>
              </a:rPr>
              <a:t>sa</a:t>
            </a:r>
            <a:r>
              <a:rPr lang="en-US" sz="1200" kern="1200" dirty="0">
                <a:solidFill>
                  <a:schemeClr val="tx1"/>
                </a:solidFill>
                <a:effectLst/>
                <a:latin typeface="+mn-lt"/>
                <a:ea typeface="+mn-ea"/>
                <a:cs typeface="+mn-cs"/>
              </a:rPr>
              <a:t> authentication, </a:t>
            </a:r>
            <a:r>
              <a:rPr lang="en-US" sz="1200" kern="1200" dirty="0" err="1">
                <a:solidFill>
                  <a:schemeClr val="tx1"/>
                </a:solidFill>
                <a:effectLst/>
                <a:latin typeface="+mn-lt"/>
                <a:ea typeface="+mn-ea"/>
                <a:cs typeface="+mn-cs"/>
              </a:rPr>
              <a:t>si</a:t>
            </a:r>
            <a:r>
              <a:rPr lang="en-US" sz="1200" kern="1200" dirty="0">
                <a:solidFill>
                  <a:schemeClr val="tx1"/>
                </a:solidFill>
                <a:effectLst/>
                <a:latin typeface="+mn-lt"/>
                <a:ea typeface="+mn-ea"/>
                <a:cs typeface="+mn-cs"/>
              </a:rPr>
              <a:t> user </a:t>
            </a:r>
            <a:r>
              <a:rPr lang="en-US" sz="1200" kern="1200" dirty="0" err="1">
                <a:solidFill>
                  <a:schemeClr val="tx1"/>
                </a:solidFill>
                <a:effectLst/>
                <a:latin typeface="+mn-lt"/>
                <a:ea typeface="+mn-ea"/>
                <a:cs typeface="+mn-cs"/>
              </a:rPr>
              <a:t>kelangan</a:t>
            </a:r>
            <a:r>
              <a:rPr lang="en-US" sz="1200" kern="1200" dirty="0">
                <a:solidFill>
                  <a:schemeClr val="tx1"/>
                </a:solidFill>
                <a:effectLst/>
                <a:latin typeface="+mn-lt"/>
                <a:ea typeface="+mn-ea"/>
                <a:cs typeface="+mn-cs"/>
              </a:rPr>
              <a:t> mag sign in using official accounts which is the @mcst.edu.ph. </a:t>
            </a:r>
            <a:r>
              <a:rPr lang="en-US" sz="1200" kern="1200" dirty="0" err="1">
                <a:solidFill>
                  <a:schemeClr val="tx1"/>
                </a:solidFill>
                <a:effectLst/>
                <a:latin typeface="+mn-lt"/>
                <a:ea typeface="+mn-ea"/>
                <a:cs typeface="+mn-cs"/>
              </a:rPr>
              <a:t>inimplement</a:t>
            </a:r>
            <a:r>
              <a:rPr lang="en-US" sz="1200" kern="1200" dirty="0">
                <a:solidFill>
                  <a:schemeClr val="tx1"/>
                </a:solidFill>
                <a:effectLst/>
                <a:latin typeface="+mn-lt"/>
                <a:ea typeface="+mn-ea"/>
                <a:cs typeface="+mn-cs"/>
              </a:rPr>
              <a:t> din naming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RBAC or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role based </a:t>
            </a:r>
            <a:r>
              <a:rPr lang="en-US" sz="1200" kern="1200" dirty="0" err="1">
                <a:solidFill>
                  <a:schemeClr val="tx1"/>
                </a:solidFill>
                <a:effectLst/>
                <a:latin typeface="+mn-lt"/>
                <a:ea typeface="+mn-ea"/>
                <a:cs typeface="+mn-cs"/>
              </a:rPr>
              <a:t>acces</a:t>
            </a:r>
            <a:r>
              <a:rPr lang="en-US" sz="1200" kern="1200" dirty="0">
                <a:solidFill>
                  <a:schemeClr val="tx1"/>
                </a:solidFill>
                <a:effectLst/>
                <a:latin typeface="+mn-lt"/>
                <a:ea typeface="+mn-ea"/>
                <a:cs typeface="+mn-cs"/>
              </a:rPr>
              <a:t> control, so that </a:t>
            </a:r>
            <a:r>
              <a:rPr lang="en-US" sz="1200" kern="1200" dirty="0" err="1">
                <a:solidFill>
                  <a:schemeClr val="tx1"/>
                </a:solidFill>
                <a:effectLst/>
                <a:latin typeface="+mn-lt"/>
                <a:ea typeface="+mn-ea"/>
                <a:cs typeface="+mn-cs"/>
              </a:rPr>
              <a:t>si</a:t>
            </a:r>
            <a:r>
              <a:rPr lang="en-US" sz="1200" kern="1200" dirty="0">
                <a:solidFill>
                  <a:schemeClr val="tx1"/>
                </a:solidFill>
                <a:effectLst/>
                <a:latin typeface="+mn-lt"/>
                <a:ea typeface="+mn-ea"/>
                <a:cs typeface="+mn-cs"/>
              </a:rPr>
              <a:t> user ang </a:t>
            </a:r>
            <a:r>
              <a:rPr lang="en-US" sz="1200" kern="1200" dirty="0" err="1">
                <a:solidFill>
                  <a:schemeClr val="tx1"/>
                </a:solidFill>
                <a:effectLst/>
                <a:latin typeface="+mn-lt"/>
                <a:ea typeface="+mn-ea"/>
                <a:cs typeface="+mn-cs"/>
              </a:rPr>
              <a:t>maaccess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niya</a:t>
            </a:r>
            <a:r>
              <a:rPr lang="en-US" sz="1200" kern="1200" dirty="0">
                <a:solidFill>
                  <a:schemeClr val="tx1"/>
                </a:solidFill>
                <a:effectLst/>
                <a:latin typeface="+mn-lt"/>
                <a:ea typeface="+mn-ea"/>
                <a:cs typeface="+mn-cs"/>
              </a:rPr>
              <a:t> lang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features is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permitted para </a:t>
            </a:r>
            <a:r>
              <a:rPr lang="en-US" sz="1200" kern="1200" dirty="0" err="1">
                <a:solidFill>
                  <a:schemeClr val="tx1"/>
                </a:solidFill>
                <a:effectLst/>
                <a:latin typeface="+mn-lt"/>
                <a:ea typeface="+mn-ea"/>
                <a:cs typeface="+mn-cs"/>
              </a:rPr>
              <a:t>sa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naka</a:t>
            </a:r>
            <a:r>
              <a:rPr lang="en-US" sz="1200" kern="1200" dirty="0">
                <a:solidFill>
                  <a:schemeClr val="tx1"/>
                </a:solidFill>
                <a:effectLst/>
                <a:latin typeface="+mn-lt"/>
                <a:ea typeface="+mn-ea"/>
                <a:cs typeface="+mn-cs"/>
              </a:rPr>
              <a:t> assigned </a:t>
            </a:r>
            <a:r>
              <a:rPr lang="en-US" sz="1200" kern="1200" dirty="0" err="1">
                <a:solidFill>
                  <a:schemeClr val="tx1"/>
                </a:solidFill>
                <a:effectLst/>
                <a:latin typeface="+mn-lt"/>
                <a:ea typeface="+mn-ea"/>
                <a:cs typeface="+mn-cs"/>
              </a:rPr>
              <a:t>sa</a:t>
            </a:r>
            <a:r>
              <a:rPr lang="en-US" sz="1200" kern="1200" dirty="0">
                <a:solidFill>
                  <a:schemeClr val="tx1"/>
                </a:solidFill>
                <a:effectLst/>
                <a:latin typeface="+mn-lt"/>
                <a:ea typeface="+mn-ea"/>
                <a:cs typeface="+mn-cs"/>
              </a:rPr>
              <a:t> role </a:t>
            </a:r>
            <a:r>
              <a:rPr lang="en-US" sz="1200" kern="1200" dirty="0" err="1">
                <a:solidFill>
                  <a:schemeClr val="tx1"/>
                </a:solidFill>
                <a:effectLst/>
                <a:latin typeface="+mn-lt"/>
                <a:ea typeface="+mn-ea"/>
                <a:cs typeface="+mn-cs"/>
              </a:rPr>
              <a:t>niya</a:t>
            </a:r>
            <a:r>
              <a:rPr lang="en-US" sz="1200" kern="1200" dirty="0">
                <a:solidFill>
                  <a:schemeClr val="tx1"/>
                </a:solidFill>
                <a:effectLst/>
                <a:latin typeface="+mn-lt"/>
                <a:ea typeface="+mn-ea"/>
                <a:cs typeface="+mn-cs"/>
              </a:rPr>
              <a:t>. In addition may audit trail din kami so that the user’s action is recorded for accountability.</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Now that we know how the system works behind the scene proceed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tayo </a:t>
            </a:r>
            <a:r>
              <a:rPr lang="en-US" sz="1200" kern="1200" dirty="0" err="1">
                <a:solidFill>
                  <a:schemeClr val="tx1"/>
                </a:solidFill>
                <a:effectLst/>
                <a:latin typeface="+mn-lt"/>
                <a:ea typeface="+mn-ea"/>
                <a:cs typeface="+mn-cs"/>
              </a:rPr>
              <a:t>sa</a:t>
            </a:r>
            <a:r>
              <a:rPr lang="en-US" sz="1200" kern="1200" dirty="0">
                <a:solidFill>
                  <a:schemeClr val="tx1"/>
                </a:solidFill>
                <a:effectLst/>
                <a:latin typeface="+mn-lt"/>
                <a:ea typeface="+mn-ea"/>
                <a:cs typeface="+mn-cs"/>
              </a:rPr>
              <a:t> actual features.</a:t>
            </a:r>
            <a:endParaRPr lang="en-PH"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Our system has 8 main functional areas: these are the Access and Roles, Cataloging, the Public Catalog, Circulation, Reservations, Notifications, Requests and History, and Administration. On top of these features is the Reporting Dashboard which contains our business intelligence and analytics functions.</a:t>
            </a:r>
          </a:p>
          <a:p>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now, mag focus </a:t>
            </a:r>
            <a:r>
              <a:rPr lang="en-US" sz="1200" kern="1200" dirty="0" err="1">
                <a:solidFill>
                  <a:schemeClr val="tx1"/>
                </a:solidFill>
                <a:effectLst/>
                <a:latin typeface="+mn-lt"/>
                <a:ea typeface="+mn-ea"/>
                <a:cs typeface="+mn-cs"/>
              </a:rPr>
              <a:t>muna</a:t>
            </a:r>
            <a:r>
              <a:rPr lang="en-US" sz="1200" kern="1200" dirty="0">
                <a:solidFill>
                  <a:schemeClr val="tx1"/>
                </a:solidFill>
                <a:effectLst/>
                <a:latin typeface="+mn-lt"/>
                <a:ea typeface="+mn-ea"/>
                <a:cs typeface="+mn-cs"/>
              </a:rPr>
              <a:t> tayo </a:t>
            </a:r>
            <a:r>
              <a:rPr lang="en-US" sz="1200" kern="1200" dirty="0" err="1">
                <a:solidFill>
                  <a:schemeClr val="tx1"/>
                </a:solidFill>
                <a:effectLst/>
                <a:latin typeface="+mn-lt"/>
                <a:ea typeface="+mn-ea"/>
                <a:cs typeface="+mn-cs"/>
              </a:rPr>
              <a:t>sa</a:t>
            </a:r>
            <a:r>
              <a:rPr lang="en-US" sz="1200" kern="1200" dirty="0">
                <a:solidFill>
                  <a:schemeClr val="tx1"/>
                </a:solidFill>
                <a:effectLst/>
                <a:latin typeface="+mn-lt"/>
                <a:ea typeface="+mn-ea"/>
                <a:cs typeface="+mn-cs"/>
              </a:rPr>
              <a:t> system’s operational features, </a:t>
            </a:r>
            <a:r>
              <a:rPr lang="en-US" sz="1200" kern="1200" dirty="0" err="1">
                <a:solidFill>
                  <a:schemeClr val="tx1"/>
                </a:solidFill>
                <a:effectLst/>
                <a:latin typeface="+mn-lt"/>
                <a:ea typeface="+mn-ea"/>
                <a:cs typeface="+mn-cs"/>
              </a:rPr>
              <a:t>umpisahan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naten</a:t>
            </a:r>
            <a:r>
              <a:rPr lang="en-US" sz="1200" kern="1200" dirty="0">
                <a:solidFill>
                  <a:schemeClr val="tx1"/>
                </a:solidFill>
                <a:effectLst/>
                <a:latin typeface="+mn-lt"/>
                <a:ea typeface="+mn-ea"/>
                <a:cs typeface="+mn-cs"/>
              </a:rPr>
              <a:t> on how users access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the system access, We restricted sign-in to official MCST accounts using the @mcst.edu.ph domain.</a:t>
            </a:r>
          </a:p>
          <a:p>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After they sign in with their official accounts, Next the user will pick a role and </a:t>
            </a:r>
            <a:r>
              <a:rPr lang="en-US" sz="1200" kern="1200" dirty="0" err="1">
                <a:solidFill>
                  <a:schemeClr val="tx1"/>
                </a:solidFill>
                <a:effectLst/>
                <a:latin typeface="+mn-lt"/>
                <a:ea typeface="+mn-ea"/>
                <a:cs typeface="+mn-cs"/>
              </a:rPr>
              <a:t>iinput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niya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ID </a:t>
            </a:r>
            <a:r>
              <a:rPr lang="en-US" sz="1200" kern="1200" dirty="0" err="1">
                <a:solidFill>
                  <a:schemeClr val="tx1"/>
                </a:solidFill>
                <a:effectLst/>
                <a:latin typeface="+mn-lt"/>
                <a:ea typeface="+mn-ea"/>
                <a:cs typeface="+mn-cs"/>
              </a:rPr>
              <a:t>niya</a:t>
            </a:r>
            <a:r>
              <a:rPr lang="en-US" sz="1200" kern="1200" dirty="0">
                <a:solidFill>
                  <a:schemeClr val="tx1"/>
                </a:solidFill>
                <a:effectLst/>
                <a:latin typeface="+mn-lt"/>
                <a:ea typeface="+mn-ea"/>
                <a:cs typeface="+mn-cs"/>
              </a:rPr>
              <a:t> and kung </a:t>
            </a:r>
            <a:r>
              <a:rPr lang="en-US" sz="1200" kern="1200" dirty="0" err="1">
                <a:solidFill>
                  <a:schemeClr val="tx1"/>
                </a:solidFill>
                <a:effectLst/>
                <a:latin typeface="+mn-lt"/>
                <a:ea typeface="+mn-ea"/>
                <a:cs typeface="+mn-cs"/>
              </a:rPr>
              <a:t>anong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departpent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siya</a:t>
            </a:r>
            <a:r>
              <a:rPr lang="en-US" sz="1200" kern="1200" dirty="0">
                <a:solidFill>
                  <a:schemeClr val="tx1"/>
                </a:solidFill>
                <a:effectLst/>
                <a:latin typeface="+mn-lt"/>
                <a:ea typeface="+mn-ea"/>
                <a:cs typeface="+mn-cs"/>
              </a:rPr>
              <a:t>. For the faculty naman after they signed in mag </a:t>
            </a:r>
            <a:r>
              <a:rPr lang="en-US" sz="1200" kern="1200" dirty="0" err="1">
                <a:solidFill>
                  <a:schemeClr val="tx1"/>
                </a:solidFill>
                <a:effectLst/>
                <a:latin typeface="+mn-lt"/>
                <a:ea typeface="+mn-ea"/>
                <a:cs typeface="+mn-cs"/>
              </a:rPr>
              <a:t>hihintay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muna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sila</a:t>
            </a:r>
            <a:r>
              <a:rPr lang="en-US" sz="1200" kern="1200" dirty="0">
                <a:solidFill>
                  <a:schemeClr val="tx1"/>
                </a:solidFill>
                <a:effectLst/>
                <a:latin typeface="+mn-lt"/>
                <a:ea typeface="+mn-ea"/>
                <a:cs typeface="+mn-cs"/>
              </a:rPr>
              <a:t> for approval ng librarian </a:t>
            </a:r>
            <a:r>
              <a:rPr lang="en-US" sz="1200" kern="1200" dirty="0" err="1">
                <a:solidFill>
                  <a:schemeClr val="tx1"/>
                </a:solidFill>
                <a:effectLst/>
                <a:latin typeface="+mn-lt"/>
                <a:ea typeface="+mn-ea"/>
                <a:cs typeface="+mn-cs"/>
              </a:rPr>
              <a:t>bago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sila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makapasok</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a:t>
            </a:r>
            <a:r>
              <a:rPr lang="en-US" sz="1200" kern="1200" dirty="0">
                <a:solidFill>
                  <a:schemeClr val="tx1"/>
                </a:solidFill>
                <a:effectLst/>
                <a:latin typeface="+mn-lt"/>
                <a:ea typeface="+mn-ea"/>
                <a:cs typeface="+mn-cs"/>
              </a:rPr>
              <a:t> site. After ma-approve mag </a:t>
            </a:r>
            <a:r>
              <a:rPr lang="en-US" sz="1200" kern="1200" dirty="0" err="1">
                <a:solidFill>
                  <a:schemeClr val="tx1"/>
                </a:solidFill>
                <a:effectLst/>
                <a:latin typeface="+mn-lt"/>
                <a:ea typeface="+mn-ea"/>
                <a:cs typeface="+mn-cs"/>
              </a:rPr>
              <a:t>rere</a:t>
            </a:r>
            <a:r>
              <a:rPr lang="en-US" sz="1200" kern="1200" dirty="0">
                <a:solidFill>
                  <a:schemeClr val="tx1"/>
                </a:solidFill>
                <a:effectLst/>
                <a:latin typeface="+mn-lt"/>
                <a:ea typeface="+mn-ea"/>
                <a:cs typeface="+mn-cs"/>
              </a:rPr>
              <a:t>-login </a:t>
            </a:r>
            <a:r>
              <a:rPr lang="en-US" sz="1200" kern="1200" dirty="0" err="1">
                <a:solidFill>
                  <a:schemeClr val="tx1"/>
                </a:solidFill>
                <a:effectLst/>
                <a:latin typeface="+mn-lt"/>
                <a:ea typeface="+mn-ea"/>
                <a:cs typeface="+mn-cs"/>
              </a:rPr>
              <a:t>sila</a:t>
            </a:r>
            <a:r>
              <a:rPr lang="en-US" sz="1200" kern="1200" dirty="0">
                <a:solidFill>
                  <a:schemeClr val="tx1"/>
                </a:solidFill>
                <a:effectLst/>
                <a:latin typeface="+mn-lt"/>
                <a:ea typeface="+mn-ea"/>
                <a:cs typeface="+mn-cs"/>
              </a:rPr>
              <a:t> to officially access the site.</a:t>
            </a:r>
          </a:p>
          <a:p>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May 4 roles kami the admin, librarian, faculty and students. Each of them has a specific module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sila</a:t>
            </a:r>
            <a:r>
              <a:rPr lang="en-US" sz="1200" kern="1200" dirty="0">
                <a:solidFill>
                  <a:schemeClr val="tx1"/>
                </a:solidFill>
                <a:effectLst/>
                <a:latin typeface="+mn-lt"/>
                <a:ea typeface="+mn-ea"/>
                <a:cs typeface="+mn-cs"/>
              </a:rPr>
              <a:t> lang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makakaaccess</a:t>
            </a:r>
            <a:r>
              <a:rPr lang="en-US" sz="1200" kern="1200" dirty="0">
                <a:solidFill>
                  <a:schemeClr val="tx1"/>
                </a:solidFill>
                <a:effectLst/>
                <a:latin typeface="+mn-lt"/>
                <a:ea typeface="+mn-ea"/>
                <a:cs typeface="+mn-cs"/>
              </a:rPr>
              <a:t>. Ito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Role Based Access Control</a:t>
            </a:r>
          </a:p>
          <a:p>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also implemented an audit trail, </a:t>
            </a:r>
            <a:r>
              <a:rPr lang="en-US" sz="1200" kern="1200" dirty="0" err="1">
                <a:solidFill>
                  <a:schemeClr val="tx1"/>
                </a:solidFill>
                <a:effectLst/>
                <a:latin typeface="+mn-lt"/>
                <a:ea typeface="+mn-ea"/>
                <a:cs typeface="+mn-cs"/>
              </a:rPr>
              <a:t>dito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nakarecord</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mga</a:t>
            </a:r>
            <a:r>
              <a:rPr lang="en-US" sz="1200" kern="1200" dirty="0">
                <a:solidFill>
                  <a:schemeClr val="tx1"/>
                </a:solidFill>
                <a:effectLst/>
                <a:latin typeface="+mn-lt"/>
                <a:ea typeface="+mn-ea"/>
                <a:cs typeface="+mn-cs"/>
              </a:rPr>
              <a:t> actions or activities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ginagawa</a:t>
            </a:r>
            <a:r>
              <a:rPr lang="en-US" sz="1200" kern="1200" dirty="0">
                <a:solidFill>
                  <a:schemeClr val="tx1"/>
                </a:solidFill>
                <a:effectLst/>
                <a:latin typeface="+mn-lt"/>
                <a:ea typeface="+mn-ea"/>
                <a:cs typeface="+mn-cs"/>
              </a:rPr>
              <a:t> ng </a:t>
            </a:r>
            <a:r>
              <a:rPr lang="en-US" sz="1200" kern="1200" dirty="0" err="1">
                <a:solidFill>
                  <a:schemeClr val="tx1"/>
                </a:solidFill>
                <a:effectLst/>
                <a:latin typeface="+mn-lt"/>
                <a:ea typeface="+mn-ea"/>
                <a:cs typeface="+mn-cs"/>
              </a:rPr>
              <a:t>mga</a:t>
            </a:r>
            <a:r>
              <a:rPr lang="en-US" sz="1200" kern="1200" dirty="0">
                <a:solidFill>
                  <a:schemeClr val="tx1"/>
                </a:solidFill>
                <a:effectLst/>
                <a:latin typeface="+mn-lt"/>
                <a:ea typeface="+mn-ea"/>
                <a:cs typeface="+mn-cs"/>
              </a:rPr>
              <a:t> users. And this is our answer to the weak access control problem.</a:t>
            </a:r>
          </a:p>
          <a:p>
            <a:endParaRPr lang="en-PH"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Soooo</a:t>
            </a:r>
            <a:r>
              <a:rPr lang="en-US" sz="1200" kern="1200" dirty="0">
                <a:solidFill>
                  <a:schemeClr val="tx1"/>
                </a:solidFill>
                <a:effectLst/>
                <a:latin typeface="+mn-lt"/>
                <a:ea typeface="+mn-ea"/>
                <a:cs typeface="+mn-cs"/>
              </a:rPr>
              <a:t> Once secure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access </a:t>
            </a:r>
            <a:r>
              <a:rPr lang="en-US" sz="1200" kern="1200" dirty="0" err="1">
                <a:solidFill>
                  <a:schemeClr val="tx1"/>
                </a:solidFill>
                <a:effectLst/>
                <a:latin typeface="+mn-lt"/>
                <a:ea typeface="+mn-ea"/>
                <a:cs typeface="+mn-cs"/>
              </a:rPr>
              <a:t>ni</a:t>
            </a:r>
            <a:r>
              <a:rPr lang="en-US" sz="1200" kern="1200" dirty="0">
                <a:solidFill>
                  <a:schemeClr val="tx1"/>
                </a:solidFill>
                <a:effectLst/>
                <a:latin typeface="+mn-lt"/>
                <a:ea typeface="+mn-ea"/>
                <a:cs typeface="+mn-cs"/>
              </a:rPr>
              <a:t> users, ang next naman is the collection itself.</a:t>
            </a:r>
            <a:endParaRPr lang="en-PH"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Si librarian </a:t>
            </a:r>
            <a:r>
              <a:rPr lang="en-US" sz="1200" kern="1200" dirty="0" err="1">
                <a:solidFill>
                  <a:schemeClr val="tx1"/>
                </a:solidFill>
                <a:effectLst/>
                <a:latin typeface="+mn-lt"/>
                <a:ea typeface="+mn-ea"/>
                <a:cs typeface="+mn-cs"/>
              </a:rPr>
              <a:t>pwede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siya</a:t>
            </a:r>
            <a:r>
              <a:rPr lang="en-US" sz="1200" kern="1200" dirty="0">
                <a:solidFill>
                  <a:schemeClr val="tx1"/>
                </a:solidFill>
                <a:effectLst/>
                <a:latin typeface="+mn-lt"/>
                <a:ea typeface="+mn-ea"/>
                <a:cs typeface="+mn-cs"/>
              </a:rPr>
              <a:t> mag catalog remotely or at any place and anytime, with automatic accession numbers, and bulk import up to 1,000 records by CSV. Para naman </a:t>
            </a:r>
            <a:r>
              <a:rPr lang="en-US" sz="1200" kern="1200" dirty="0" err="1">
                <a:solidFill>
                  <a:schemeClr val="tx1"/>
                </a:solidFill>
                <a:effectLst/>
                <a:latin typeface="+mn-lt"/>
                <a:ea typeface="+mn-ea"/>
                <a:cs typeface="+mn-cs"/>
              </a:rPr>
              <a:t>sa</a:t>
            </a:r>
            <a:r>
              <a:rPr lang="en-US" sz="1200" kern="1200" dirty="0">
                <a:solidFill>
                  <a:schemeClr val="tx1"/>
                </a:solidFill>
                <a:effectLst/>
                <a:latin typeface="+mn-lt"/>
                <a:ea typeface="+mn-ea"/>
                <a:cs typeface="+mn-cs"/>
              </a:rPr>
              <a:t> users </a:t>
            </a:r>
            <a:r>
              <a:rPr lang="en-US" sz="1200" kern="1200" dirty="0" err="1">
                <a:solidFill>
                  <a:schemeClr val="tx1"/>
                </a:solidFill>
                <a:effectLst/>
                <a:latin typeface="+mn-lt"/>
                <a:ea typeface="+mn-ea"/>
                <a:cs typeface="+mn-cs"/>
              </a:rPr>
              <a:t>tulad</a:t>
            </a:r>
            <a:r>
              <a:rPr lang="en-US" sz="1200" kern="1200" dirty="0">
                <a:solidFill>
                  <a:schemeClr val="tx1"/>
                </a:solidFill>
                <a:effectLst/>
                <a:latin typeface="+mn-lt"/>
                <a:ea typeface="+mn-ea"/>
                <a:cs typeface="+mn-cs"/>
              </a:rPr>
              <a:t> ng faculty or students we have a public catalog kung </a:t>
            </a:r>
            <a:r>
              <a:rPr lang="en-US" sz="1200" kern="1200" dirty="0" err="1">
                <a:solidFill>
                  <a:schemeClr val="tx1"/>
                </a:solidFill>
                <a:effectLst/>
                <a:latin typeface="+mn-lt"/>
                <a:ea typeface="+mn-ea"/>
                <a:cs typeface="+mn-cs"/>
              </a:rPr>
              <a:t>saan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pwede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sila</a:t>
            </a:r>
            <a:r>
              <a:rPr lang="en-US" sz="1200" kern="1200" dirty="0">
                <a:solidFill>
                  <a:schemeClr val="tx1"/>
                </a:solidFill>
                <a:effectLst/>
                <a:latin typeface="+mn-lt"/>
                <a:ea typeface="+mn-ea"/>
                <a:cs typeface="+mn-cs"/>
              </a:rPr>
              <a:t> mag search by title, ISBM, or category, </a:t>
            </a:r>
            <a:r>
              <a:rPr lang="en-US" sz="1200" kern="1200" dirty="0" err="1">
                <a:solidFill>
                  <a:schemeClr val="tx1"/>
                </a:solidFill>
                <a:effectLst/>
                <a:latin typeface="+mn-lt"/>
                <a:ea typeface="+mn-ea"/>
                <a:cs typeface="+mn-cs"/>
              </a:rPr>
              <a:t>makikita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rin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nila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agad</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badge kung available </a:t>
            </a:r>
            <a:r>
              <a:rPr lang="en-US" sz="1200" kern="1200" dirty="0" err="1">
                <a:solidFill>
                  <a:schemeClr val="tx1"/>
                </a:solidFill>
                <a:effectLst/>
                <a:latin typeface="+mn-lt"/>
                <a:ea typeface="+mn-ea"/>
                <a:cs typeface="+mn-cs"/>
              </a:rPr>
              <a:t>ba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book or not.</a:t>
            </a:r>
          </a:p>
          <a:p>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Pero </a:t>
            </a:r>
            <a:r>
              <a:rPr lang="en-US" sz="1200" kern="1200" dirty="0" err="1">
                <a:solidFill>
                  <a:schemeClr val="tx1"/>
                </a:solidFill>
                <a:effectLst/>
                <a:latin typeface="+mn-lt"/>
                <a:ea typeface="+mn-ea"/>
                <a:cs typeface="+mn-cs"/>
              </a:rPr>
              <a:t>hindi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parin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nito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nafifix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paper-based borrowing </a:t>
            </a:r>
            <a:r>
              <a:rPr lang="en-US" sz="1200" kern="1200" dirty="0" err="1">
                <a:solidFill>
                  <a:schemeClr val="tx1"/>
                </a:solidFill>
                <a:effectLst/>
                <a:latin typeface="+mn-lt"/>
                <a:ea typeface="+mn-ea"/>
                <a:cs typeface="+mn-cs"/>
              </a:rPr>
              <a:t>kahit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may complete catalog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so…</a:t>
            </a:r>
            <a:endParaRPr lang="en-PH"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Dito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namin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papalitan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paper log. Borrowing and returning </a:t>
            </a:r>
            <a:r>
              <a:rPr lang="en-US" sz="1200" kern="1200" dirty="0" err="1">
                <a:solidFill>
                  <a:schemeClr val="tx1"/>
                </a:solidFill>
                <a:effectLst/>
                <a:latin typeface="+mn-lt"/>
                <a:ea typeface="+mn-ea"/>
                <a:cs typeface="+mn-cs"/>
              </a:rPr>
              <a:t>pwede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magawa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a:t>
            </a:r>
            <a:r>
              <a:rPr lang="en-US" sz="1200" kern="1200" dirty="0">
                <a:solidFill>
                  <a:schemeClr val="tx1"/>
                </a:solidFill>
                <a:effectLst/>
                <a:latin typeface="+mn-lt"/>
                <a:ea typeface="+mn-ea"/>
                <a:cs typeface="+mn-cs"/>
              </a:rPr>
              <a:t> browser, with automatic due dates and fines.</a:t>
            </a:r>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What if </a:t>
            </a:r>
            <a:r>
              <a:rPr lang="en-US" sz="1200" kern="1200" dirty="0" err="1">
                <a:solidFill>
                  <a:schemeClr val="tx1"/>
                </a:solidFill>
                <a:effectLst/>
                <a:latin typeface="+mn-lt"/>
                <a:ea typeface="+mn-ea"/>
                <a:cs typeface="+mn-cs"/>
              </a:rPr>
              <a:t>hindi</a:t>
            </a:r>
            <a:r>
              <a:rPr lang="en-US" sz="1200" kern="1200" dirty="0">
                <a:solidFill>
                  <a:schemeClr val="tx1"/>
                </a:solidFill>
                <a:effectLst/>
                <a:latin typeface="+mn-lt"/>
                <a:ea typeface="+mn-ea"/>
                <a:cs typeface="+mn-cs"/>
              </a:rPr>
              <a:t> available ang book? Dito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papasok</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a:t>
            </a:r>
            <a:r>
              <a:rPr lang="en-US" sz="1200" kern="1200" dirty="0">
                <a:solidFill>
                  <a:schemeClr val="tx1"/>
                </a:solidFill>
                <a:effectLst/>
                <a:latin typeface="+mn-lt"/>
                <a:ea typeface="+mn-ea"/>
                <a:cs typeface="+mn-cs"/>
              </a:rPr>
              <a:t> FIFO or the first in first out reservation queue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may 2 </a:t>
            </a:r>
            <a:r>
              <a:rPr lang="en-US" sz="1200" kern="1200" dirty="0" err="1">
                <a:solidFill>
                  <a:schemeClr val="tx1"/>
                </a:solidFill>
                <a:effectLst/>
                <a:latin typeface="+mn-lt"/>
                <a:ea typeface="+mn-ea"/>
                <a:cs typeface="+mn-cs"/>
              </a:rPr>
              <a:t>hrs</a:t>
            </a:r>
            <a:r>
              <a:rPr lang="en-US" sz="1200" kern="1200" dirty="0">
                <a:solidFill>
                  <a:schemeClr val="tx1"/>
                </a:solidFill>
                <a:effectLst/>
                <a:latin typeface="+mn-lt"/>
                <a:ea typeface="+mn-ea"/>
                <a:cs typeface="+mn-cs"/>
              </a:rPr>
              <a:t> claim window, once </a:t>
            </a:r>
            <a:r>
              <a:rPr lang="en-US" sz="1200" kern="1200" dirty="0" err="1">
                <a:solidFill>
                  <a:schemeClr val="tx1"/>
                </a:solidFill>
                <a:effectLst/>
                <a:latin typeface="+mn-lt"/>
                <a:ea typeface="+mn-ea"/>
                <a:cs typeface="+mn-cs"/>
              </a:rPr>
              <a:t>natapos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2hrs </a:t>
            </a:r>
            <a:r>
              <a:rPr lang="en-US" sz="1200" kern="1200" dirty="0" err="1">
                <a:solidFill>
                  <a:schemeClr val="tx1"/>
                </a:solidFill>
                <a:effectLst/>
                <a:latin typeface="+mn-lt"/>
                <a:ea typeface="+mn-ea"/>
                <a:cs typeface="+mn-cs"/>
              </a:rPr>
              <a:t>pwde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ito</a:t>
            </a:r>
            <a:r>
              <a:rPr lang="en-US" sz="1200" kern="1200" dirty="0">
                <a:solidFill>
                  <a:schemeClr val="tx1"/>
                </a:solidFill>
                <a:effectLst/>
                <a:latin typeface="+mn-lt"/>
                <a:ea typeface="+mn-ea"/>
                <a:cs typeface="+mn-cs"/>
              </a:rPr>
              <a:t> ma-allocate for the next user. Of course meron din </a:t>
            </a:r>
            <a:r>
              <a:rPr lang="en-US" sz="1200" kern="1200" dirty="0" err="1">
                <a:solidFill>
                  <a:schemeClr val="tx1"/>
                </a:solidFill>
                <a:effectLst/>
                <a:latin typeface="+mn-lt"/>
                <a:ea typeface="+mn-ea"/>
                <a:cs typeface="+mn-cs"/>
              </a:rPr>
              <a:t>kaming</a:t>
            </a:r>
            <a:r>
              <a:rPr lang="en-US" sz="1200" kern="1200" dirty="0">
                <a:solidFill>
                  <a:schemeClr val="tx1"/>
                </a:solidFill>
                <a:effectLst/>
                <a:latin typeface="+mn-lt"/>
                <a:ea typeface="+mn-ea"/>
                <a:cs typeface="+mn-cs"/>
              </a:rPr>
              <a:t> notifications, </a:t>
            </a:r>
            <a:r>
              <a:rPr lang="en-US" sz="1200" kern="1200" dirty="0" err="1">
                <a:solidFill>
                  <a:schemeClr val="tx1"/>
                </a:solidFill>
                <a:effectLst/>
                <a:latin typeface="+mn-lt"/>
                <a:ea typeface="+mn-ea"/>
                <a:cs typeface="+mn-cs"/>
              </a:rPr>
              <a:t>dito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manonotify</a:t>
            </a:r>
            <a:r>
              <a:rPr lang="en-US" sz="1200" kern="1200" dirty="0">
                <a:solidFill>
                  <a:schemeClr val="tx1"/>
                </a:solidFill>
                <a:effectLst/>
                <a:latin typeface="+mn-lt"/>
                <a:ea typeface="+mn-ea"/>
                <a:cs typeface="+mn-cs"/>
              </a:rPr>
              <a:t> c user kung ang reservation </a:t>
            </a:r>
            <a:r>
              <a:rPr lang="en-US" sz="1200" kern="1200" dirty="0" err="1">
                <a:solidFill>
                  <a:schemeClr val="tx1"/>
                </a:solidFill>
                <a:effectLst/>
                <a:latin typeface="+mn-lt"/>
                <a:ea typeface="+mn-ea"/>
                <a:cs typeface="+mn-cs"/>
              </a:rPr>
              <a:t>niya</a:t>
            </a:r>
            <a:r>
              <a:rPr lang="en-US" sz="1200" kern="1200" dirty="0">
                <a:solidFill>
                  <a:schemeClr val="tx1"/>
                </a:solidFill>
                <a:effectLst/>
                <a:latin typeface="+mn-lt"/>
                <a:ea typeface="+mn-ea"/>
                <a:cs typeface="+mn-cs"/>
              </a:rPr>
              <a:t> is ready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or ang book is overdue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or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request is updated. So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system record is now a real record.</a:t>
            </a:r>
          </a:p>
          <a:p>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Pero…. Paano kung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book is </a:t>
            </a:r>
            <a:r>
              <a:rPr lang="en-US" sz="1200" kern="1200" dirty="0" err="1">
                <a:solidFill>
                  <a:schemeClr val="tx1"/>
                </a:solidFill>
                <a:effectLst/>
                <a:latin typeface="+mn-lt"/>
                <a:ea typeface="+mn-ea"/>
                <a:cs typeface="+mn-cs"/>
              </a:rPr>
              <a:t>hindi</a:t>
            </a:r>
            <a:r>
              <a:rPr lang="en-US" sz="1200" kern="1200" dirty="0">
                <a:solidFill>
                  <a:schemeClr val="tx1"/>
                </a:solidFill>
                <a:effectLst/>
                <a:latin typeface="+mn-lt"/>
                <a:ea typeface="+mn-ea"/>
                <a:cs typeface="+mn-cs"/>
              </a:rPr>
              <a:t> available </a:t>
            </a:r>
            <a:r>
              <a:rPr lang="en-US" sz="1200" kern="1200" dirty="0" err="1">
                <a:solidFill>
                  <a:schemeClr val="tx1"/>
                </a:solidFill>
                <a:effectLst/>
                <a:latin typeface="+mn-lt"/>
                <a:ea typeface="+mn-ea"/>
                <a:cs typeface="+mn-cs"/>
              </a:rPr>
              <a:t>sa</a:t>
            </a:r>
            <a:r>
              <a:rPr lang="en-US" sz="1200" kern="1200" dirty="0">
                <a:solidFill>
                  <a:schemeClr val="tx1"/>
                </a:solidFill>
                <a:effectLst/>
                <a:latin typeface="+mn-lt"/>
                <a:ea typeface="+mn-ea"/>
                <a:cs typeface="+mn-cs"/>
              </a:rPr>
              <a:t>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Dito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papasok</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a:t>
            </a:r>
            <a:r>
              <a:rPr lang="en-US" sz="1200" kern="1200" dirty="0">
                <a:solidFill>
                  <a:schemeClr val="tx1"/>
                </a:solidFill>
                <a:effectLst/>
                <a:latin typeface="+mn-lt"/>
                <a:ea typeface="+mn-ea"/>
                <a:cs typeface="+mn-cs"/>
              </a:rPr>
              <a:t> book request module, </a:t>
            </a:r>
            <a:r>
              <a:rPr lang="en-US" sz="1200" kern="1200" dirty="0" err="1">
                <a:solidFill>
                  <a:schemeClr val="tx1"/>
                </a:solidFill>
                <a:effectLst/>
                <a:latin typeface="+mn-lt"/>
                <a:ea typeface="+mn-ea"/>
                <a:cs typeface="+mn-cs"/>
              </a:rPr>
              <a:t>dito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pwede</a:t>
            </a:r>
            <a:r>
              <a:rPr lang="en-US" sz="1200" kern="1200" dirty="0">
                <a:solidFill>
                  <a:schemeClr val="tx1"/>
                </a:solidFill>
                <a:effectLst/>
                <a:latin typeface="+mn-lt"/>
                <a:ea typeface="+mn-ea"/>
                <a:cs typeface="+mn-cs"/>
              </a:rPr>
              <a:t> mag request </a:t>
            </a:r>
            <a:r>
              <a:rPr lang="en-US" sz="1200" kern="1200" dirty="0" err="1">
                <a:solidFill>
                  <a:schemeClr val="tx1"/>
                </a:solidFill>
                <a:effectLst/>
                <a:latin typeface="+mn-lt"/>
                <a:ea typeface="+mn-ea"/>
                <a:cs typeface="+mn-cs"/>
              </a:rPr>
              <a:t>si</a:t>
            </a:r>
            <a:r>
              <a:rPr lang="en-US" sz="1200" kern="1200" dirty="0">
                <a:solidFill>
                  <a:schemeClr val="tx1"/>
                </a:solidFill>
                <a:effectLst/>
                <a:latin typeface="+mn-lt"/>
                <a:ea typeface="+mn-ea"/>
                <a:cs typeface="+mn-cs"/>
              </a:rPr>
              <a:t> users for new titles and </a:t>
            </a:r>
            <a:r>
              <a:rPr lang="en-US" sz="1200" kern="1200" dirty="0" err="1">
                <a:solidFill>
                  <a:schemeClr val="tx1"/>
                </a:solidFill>
                <a:effectLst/>
                <a:latin typeface="+mn-lt"/>
                <a:ea typeface="+mn-ea"/>
                <a:cs typeface="+mn-cs"/>
              </a:rPr>
              <a:t>pwede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rin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nilang</a:t>
            </a:r>
            <a:r>
              <a:rPr lang="en-US" sz="1200" kern="1200" dirty="0">
                <a:solidFill>
                  <a:schemeClr val="tx1"/>
                </a:solidFill>
                <a:effectLst/>
                <a:latin typeface="+mn-lt"/>
                <a:ea typeface="+mn-ea"/>
                <a:cs typeface="+mn-cs"/>
              </a:rPr>
              <a:t> ma track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status ng request </a:t>
            </a:r>
            <a:r>
              <a:rPr lang="en-US" sz="1200" kern="1200" dirty="0" err="1">
                <a:solidFill>
                  <a:schemeClr val="tx1"/>
                </a:solidFill>
                <a:effectLst/>
                <a:latin typeface="+mn-lt"/>
                <a:ea typeface="+mn-ea"/>
                <a:cs typeface="+mn-cs"/>
              </a:rPr>
              <a:t>nila</a:t>
            </a:r>
            <a:r>
              <a:rPr lang="en-US" sz="1200" kern="1200" dirty="0">
                <a:solidFill>
                  <a:schemeClr val="tx1"/>
                </a:solidFill>
                <a:effectLst/>
                <a:latin typeface="+mn-lt"/>
                <a:ea typeface="+mn-ea"/>
                <a:cs typeface="+mn-cs"/>
              </a:rPr>
              <a:t> through notification kung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request </a:t>
            </a:r>
            <a:r>
              <a:rPr lang="en-US" sz="1200" kern="1200" dirty="0" err="1">
                <a:solidFill>
                  <a:schemeClr val="tx1"/>
                </a:solidFill>
                <a:effectLst/>
                <a:latin typeface="+mn-lt"/>
                <a:ea typeface="+mn-ea"/>
                <a:cs typeface="+mn-cs"/>
              </a:rPr>
              <a:t>ba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nila</a:t>
            </a:r>
            <a:r>
              <a:rPr lang="en-US" sz="1200" kern="1200" dirty="0">
                <a:solidFill>
                  <a:schemeClr val="tx1"/>
                </a:solidFill>
                <a:effectLst/>
                <a:latin typeface="+mn-lt"/>
                <a:ea typeface="+mn-ea"/>
                <a:cs typeface="+mn-cs"/>
              </a:rPr>
              <a:t> is </a:t>
            </a:r>
            <a:r>
              <a:rPr lang="en-US" sz="1200" kern="1200" dirty="0" err="1">
                <a:solidFill>
                  <a:schemeClr val="tx1"/>
                </a:solidFill>
                <a:effectLst/>
                <a:latin typeface="+mn-lt"/>
                <a:ea typeface="+mn-ea"/>
                <a:cs typeface="+mn-cs"/>
              </a:rPr>
              <a:t>napproved</a:t>
            </a:r>
            <a:r>
              <a:rPr lang="en-US" sz="1200" kern="1200" dirty="0">
                <a:solidFill>
                  <a:schemeClr val="tx1"/>
                </a:solidFill>
                <a:effectLst/>
                <a:latin typeface="+mn-lt"/>
                <a:ea typeface="+mn-ea"/>
                <a:cs typeface="+mn-cs"/>
              </a:rPr>
              <a:t> or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reject. And meron din </a:t>
            </a:r>
            <a:r>
              <a:rPr lang="en-US" sz="1200" kern="1200" dirty="0" err="1">
                <a:solidFill>
                  <a:schemeClr val="tx1"/>
                </a:solidFill>
                <a:effectLst/>
                <a:latin typeface="+mn-lt"/>
                <a:ea typeface="+mn-ea"/>
                <a:cs typeface="+mn-cs"/>
              </a:rPr>
              <a:t>kaming</a:t>
            </a:r>
            <a:r>
              <a:rPr lang="en-US" sz="1200" kern="1200" dirty="0">
                <a:solidFill>
                  <a:schemeClr val="tx1"/>
                </a:solidFill>
                <a:effectLst/>
                <a:latin typeface="+mn-lt"/>
                <a:ea typeface="+mn-ea"/>
                <a:cs typeface="+mn-cs"/>
              </a:rPr>
              <a:t> History ng borrowing </a:t>
            </a:r>
            <a:r>
              <a:rPr lang="en-US" sz="1200" kern="1200" dirty="0" err="1">
                <a:solidFill>
                  <a:schemeClr val="tx1"/>
                </a:solidFill>
                <a:effectLst/>
                <a:latin typeface="+mn-lt"/>
                <a:ea typeface="+mn-ea"/>
                <a:cs typeface="+mn-cs"/>
              </a:rPr>
              <a:t>makikita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pinagsamang</a:t>
            </a:r>
            <a:r>
              <a:rPr lang="en-US" sz="1200" kern="1200" dirty="0">
                <a:solidFill>
                  <a:schemeClr val="tx1"/>
                </a:solidFill>
                <a:effectLst/>
                <a:latin typeface="+mn-lt"/>
                <a:ea typeface="+mn-ea"/>
                <a:cs typeface="+mn-cs"/>
              </a:rPr>
              <a:t> borrows, reservations, requests, and fines </a:t>
            </a:r>
            <a:r>
              <a:rPr lang="en-US" sz="1200" kern="1200" dirty="0" err="1">
                <a:solidFill>
                  <a:schemeClr val="tx1"/>
                </a:solidFill>
                <a:effectLst/>
                <a:latin typeface="+mn-lt"/>
                <a:ea typeface="+mn-ea"/>
                <a:cs typeface="+mn-cs"/>
              </a:rPr>
              <a:t>sa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iisang</a:t>
            </a:r>
            <a:r>
              <a:rPr lang="en-US" sz="1200" kern="1200" dirty="0">
                <a:solidFill>
                  <a:schemeClr val="tx1"/>
                </a:solidFill>
                <a:effectLst/>
                <a:latin typeface="+mn-lt"/>
                <a:ea typeface="+mn-ea"/>
                <a:cs typeface="+mn-cs"/>
              </a:rPr>
              <a:t> place lang. As for admins, admins can manage users and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roles </a:t>
            </a:r>
            <a:r>
              <a:rPr lang="en-US" sz="1200" kern="1200" dirty="0" err="1">
                <a:solidFill>
                  <a:schemeClr val="tx1"/>
                </a:solidFill>
                <a:effectLst/>
                <a:latin typeface="+mn-lt"/>
                <a:ea typeface="+mn-ea"/>
                <a:cs typeface="+mn-cs"/>
              </a:rPr>
              <a:t>nila</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pwede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rin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siyang</a:t>
            </a:r>
            <a:r>
              <a:rPr lang="en-US" sz="1200" kern="1200" dirty="0">
                <a:solidFill>
                  <a:schemeClr val="tx1"/>
                </a:solidFill>
                <a:effectLst/>
                <a:latin typeface="+mn-lt"/>
                <a:ea typeface="+mn-ea"/>
                <a:cs typeface="+mn-cs"/>
              </a:rPr>
              <a:t> mag run ng backups with timestamped SQL dumps,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aligned </a:t>
            </a:r>
            <a:r>
              <a:rPr lang="en-US" sz="1200" kern="1200" dirty="0" err="1">
                <a:solidFill>
                  <a:schemeClr val="tx1"/>
                </a:solidFill>
                <a:effectLst/>
                <a:latin typeface="+mn-lt"/>
                <a:ea typeface="+mn-ea"/>
                <a:cs typeface="+mn-cs"/>
              </a:rPr>
              <a:t>sa</a:t>
            </a:r>
            <a:r>
              <a:rPr lang="en-US" sz="1200" kern="1200" dirty="0">
                <a:solidFill>
                  <a:schemeClr val="tx1"/>
                </a:solidFill>
                <a:effectLst/>
                <a:latin typeface="+mn-lt"/>
                <a:ea typeface="+mn-ea"/>
                <a:cs typeface="+mn-cs"/>
              </a:rPr>
              <a:t> data privacy act of 2012.</a:t>
            </a:r>
          </a:p>
          <a:p>
            <a:endParaRPr lang="en-PH"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may system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tayong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kayang</a:t>
            </a:r>
            <a:r>
              <a:rPr lang="en-US" sz="1200" kern="1200" dirty="0">
                <a:solidFill>
                  <a:schemeClr val="tx1"/>
                </a:solidFill>
                <a:effectLst/>
                <a:latin typeface="+mn-lt"/>
                <a:ea typeface="+mn-ea"/>
                <a:cs typeface="+mn-cs"/>
              </a:rPr>
              <a:t> mag run ng </a:t>
            </a:r>
            <a:r>
              <a:rPr lang="en-US" sz="1200" kern="1200" dirty="0" err="1">
                <a:solidFill>
                  <a:schemeClr val="tx1"/>
                </a:solidFill>
                <a:effectLst/>
                <a:latin typeface="+mn-lt"/>
                <a:ea typeface="+mn-ea"/>
                <a:cs typeface="+mn-cs"/>
              </a:rPr>
              <a:t>buong</a:t>
            </a:r>
            <a:r>
              <a:rPr lang="en-US" sz="1200" kern="1200" dirty="0">
                <a:solidFill>
                  <a:schemeClr val="tx1"/>
                </a:solidFill>
                <a:effectLst/>
                <a:latin typeface="+mn-lt"/>
                <a:ea typeface="+mn-ea"/>
                <a:cs typeface="+mn-cs"/>
              </a:rPr>
              <a:t> library operation. Pero ang real goal </a:t>
            </a:r>
            <a:r>
              <a:rPr lang="en-US" sz="1200" kern="1200" dirty="0" err="1">
                <a:solidFill>
                  <a:schemeClr val="tx1"/>
                </a:solidFill>
                <a:effectLst/>
                <a:latin typeface="+mn-lt"/>
                <a:ea typeface="+mn-ea"/>
                <a:cs typeface="+mn-cs"/>
              </a:rPr>
              <a:t>naten</a:t>
            </a:r>
            <a:r>
              <a:rPr lang="en-US" sz="1200" kern="1200" dirty="0">
                <a:solidFill>
                  <a:schemeClr val="tx1"/>
                </a:solidFill>
                <a:effectLst/>
                <a:latin typeface="+mn-lt"/>
                <a:ea typeface="+mn-ea"/>
                <a:cs typeface="+mn-cs"/>
              </a:rPr>
              <a:t> is further pa, which is turning this daily data into insights. Ito </a:t>
            </a:r>
            <a:r>
              <a:rPr lang="en-US" sz="1200" kern="1200" dirty="0" err="1">
                <a:solidFill>
                  <a:schemeClr val="tx1"/>
                </a:solidFill>
                <a:effectLst/>
                <a:latin typeface="+mn-lt"/>
                <a:ea typeface="+mn-ea"/>
                <a:cs typeface="+mn-cs"/>
              </a:rPr>
              <a:t>yung</a:t>
            </a:r>
            <a:r>
              <a:rPr lang="en-US" sz="1200" kern="1200" dirty="0">
                <a:solidFill>
                  <a:schemeClr val="tx1"/>
                </a:solidFill>
                <a:effectLst/>
                <a:latin typeface="+mn-lt"/>
                <a:ea typeface="+mn-ea"/>
                <a:cs typeface="+mn-cs"/>
              </a:rPr>
              <a:t> reporting dashboard.</a:t>
            </a:r>
            <a:endParaRPr lang="en-PH"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HIDDEN SCRIPT - Presenter View only. Approx. 1 min. BI overview - the heart of the study. Slow down, this is the differentiator.
"One platform, four analytics tabs, four guiding questions."
Tab 1 - Circulation Tracking: "Where does every book and copy stand RIGHT NOW?"
Tab 2 - Library Analytics: "What patterns are happening, and what may happen NEXT?"
Tab 3 - Department Analytics: "How do programs compare in library usage?"
Tab 4 - Resource Analytics: "What is the traffic story of ONE specific book?"
Close: "All analytics are descriptive with rule-based insights, with CSV export and saved snapshots - that is your budget-defense paper trail." Transition: "Let me show you each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HIDDEN SCRIPT - Presenter View only. Approx. 45 sec. BI Tab 1.
"Tab 1 answers: where does every book and copy stand right now?"
Point at the KPI cards (current stock and activity), the donut charts by category and by status, and the live table of recent copy movements.
DECISION SUPPORTED - say this phrase, panels love it: "This is the daily situational view. It replaces manual inventory tallies."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HIDDEN SCRIPT - Presenter View only. Approx. 45-60 sec. BI Tab 2.
"Tab 2 answers: what patterns are happening, and what may happen next?"
Highlight the 30-day moving-average forecast on the borrowing trend. Also mention top titles, categories, fines, requests, and per-program breakdowns.
"Rule-based insights flag demand spikes automatically."
Honest framing (panels respect this): "The system surfaces early demand signals - the final acquisition decision remains with the librarian."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HIDDEN SCRIPT - Presenter View only. Approx. 45 sec. BI Tab 3.
"Tab 3 answers: how do programs compare in library usage?"
"See borrowings, borrowers, and overdues by program - this is direct evidence for program chairs and deans, something they never had before."
Outcome: "It aligns the collection with the curricula, and it supports transparent, evidence-based budget allocation between departments."
If panel asks for an example: e.g., "If two programs both borrow the same titles heavily, budget can follow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HIDDEN SCRIPT - Presenter View only. Approx. 45 sec. BI Tab 4.
"Tab 4 answers: what is the traffic story of ONE specific book?"
"Borrow counts, trend, borrowers, and copies per title - e-book activity included."
The practical punch: "It shows which edition is hot and which copies just sit idle on the shelf."
DECISION SUPPORTED: "Copy-count decisions - where to ADD copies, and where to STOP re-buying. That is how the system pays for itself in avoided dead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HIDDEN SCRIPT - Presenter View only. Approx. 1.5 min. Testing section - show rigor. Be precise with numbers.
Five stages, in order:
1. Unit testing - module logic, DB reads/writes, routes checked individually.
2. Alpha - internal testing by our dev team; defects and edge cases resolved.
3. Beta - limited release to the librarian and selected faculty under REAL use.
4. ISO/IEC 25010 - 5 evaluators: 4 IT experts plus the librarian, across 8 quality characteristics.
5. UAT - 87 users: 71 students, 15 faculty, 1 librarian.
Mention response-time checks passed for search, borrow/return, and reports (Python timing).
If a photo placeholder is still empty, skip it smoothly - do not apologize.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HIDDEN SCRIPT - Presenter View only. Approx. 1.5 min. Results - know these numbers cold. Anticipated panel questions live here.
Lead with passing scores: 5/5 off-campus modules, 4/4 end-to-end integration cases, 5/5 analytics KPIs matched manual computation, 7/7 security tests passed with the audit trail verified.
Then the acceptance numbers: "Usability: UAT 3.38, ISO 3.92 - workable without manual logs. Security: UAT 3.31, ISO 3.88. Performance: acceptable response times across search, circulation, and reports."
LAND IT: "Every section mean falls within Highly Acceptable - that is 3.26 to 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HIDDEN SCRIPT - Presenter View only. Approx. 1 min. ISO results.
"Grand mean 3.81 on a five-evaluator panel - Highly Acceptable."
"Highest scores: Functional Suitability, Compatibility, and Usability - 3.92 each."
"On the lowest, Reliability at 3.60 - frame it proactively before they ask: 'stability and error recovery are identified as future priorities, not failures. They are already addressed in our recommendations.'"
Remind the scale: 3.26-4.00 is Highly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HIDDEN SCRIPT - Presenter View only. Approx. 1 min. UAT results.
"Grand mean 3.36 with n = 87: 71 students, 15 faculty, 1 librarian."
"Beyond that, overall acceptability is 3.43: users rate it reliable at 3.41, efficient at 3.43, and - the one I want to highlight - beneficial for PLANNING at 3.46."
"That planning number is the study thesis showing up in the data: the system is not just easier - it helps users make decisions."
"All section means fall within the Highly Acceptable range, 3.26 to 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For our recommendations, we have three main priorities.</a:t>
            </a:r>
          </a:p>
          <a:p>
            <a:endParaRPr lang="en-PH" dirty="0"/>
          </a:p>
          <a:p>
            <a:r>
              <a:rPr lang="en-PH" b="1" dirty="0"/>
              <a:t>First, Full Implementation.</a:t>
            </a:r>
            <a:r>
              <a:rPr lang="en-PH" dirty="0"/>
              <a:t> We recommend </a:t>
            </a:r>
            <a:r>
              <a:rPr lang="en-PH" dirty="0" err="1"/>
              <a:t>na</a:t>
            </a:r>
            <a:r>
              <a:rPr lang="en-PH" dirty="0"/>
              <a:t> </a:t>
            </a:r>
            <a:r>
              <a:rPr lang="en-PH" dirty="0" err="1"/>
              <a:t>gumamit</a:t>
            </a:r>
            <a:r>
              <a:rPr lang="en-PH" dirty="0"/>
              <a:t> ng institutionally managed hosting para mas </a:t>
            </a:r>
            <a:r>
              <a:rPr lang="en-PH" dirty="0" err="1"/>
              <a:t>maging</a:t>
            </a:r>
            <a:r>
              <a:rPr lang="en-PH" dirty="0"/>
              <a:t> stable ang system. We also suggest improving error recovery, strengthening permissions, preparing a disaster recovery plan, and considering integration with KOHA.</a:t>
            </a:r>
          </a:p>
          <a:p>
            <a:endParaRPr lang="en-PH" dirty="0"/>
          </a:p>
          <a:p>
            <a:r>
              <a:rPr lang="en-PH" b="1" dirty="0"/>
              <a:t>Second, Adoption.</a:t>
            </a:r>
            <a:r>
              <a:rPr lang="en-PH" dirty="0"/>
              <a:t> We recommend </a:t>
            </a:r>
            <a:r>
              <a:rPr lang="en-PH" dirty="0" err="1"/>
              <a:t>na</a:t>
            </a:r>
            <a:r>
              <a:rPr lang="en-PH" dirty="0"/>
              <a:t> </a:t>
            </a:r>
            <a:r>
              <a:rPr lang="en-PH" dirty="0" err="1"/>
              <a:t>unti-unting</a:t>
            </a:r>
            <a:r>
              <a:rPr lang="en-PH" dirty="0"/>
              <a:t> </a:t>
            </a:r>
            <a:r>
              <a:rPr lang="en-PH" dirty="0" err="1"/>
              <a:t>alisin</a:t>
            </a:r>
            <a:r>
              <a:rPr lang="en-PH" dirty="0"/>
              <a:t> ang paper log sheets at </a:t>
            </a:r>
            <a:r>
              <a:rPr lang="en-PH" dirty="0" err="1"/>
              <a:t>gamitin</a:t>
            </a:r>
            <a:r>
              <a:rPr lang="en-PH" dirty="0"/>
              <a:t> </a:t>
            </a:r>
            <a:r>
              <a:rPr lang="en-PH" dirty="0" err="1"/>
              <a:t>na</a:t>
            </a:r>
            <a:r>
              <a:rPr lang="en-PH" dirty="0"/>
              <a:t> ang system for daily transactions. We also encourage using the Reporting Dashboard during budget discussions para mas </a:t>
            </a:r>
            <a:r>
              <a:rPr lang="en-PH" dirty="0" err="1"/>
              <a:t>maging</a:t>
            </a:r>
            <a:r>
              <a:rPr lang="en-PH" dirty="0"/>
              <a:t> data-driven ang decision-making.</a:t>
            </a:r>
          </a:p>
          <a:p>
            <a:endParaRPr lang="en-PH" dirty="0"/>
          </a:p>
          <a:p>
            <a:r>
              <a:rPr lang="en-PH" b="1" dirty="0"/>
              <a:t>Third, User Training.</a:t>
            </a:r>
            <a:r>
              <a:rPr lang="en-PH" dirty="0"/>
              <a:t> </a:t>
            </a:r>
            <a:r>
              <a:rPr lang="en-PH" dirty="0" err="1"/>
              <a:t>Mahalaga</a:t>
            </a:r>
            <a:r>
              <a:rPr lang="en-PH" dirty="0"/>
              <a:t> ang proper orientation and user guides para mas </a:t>
            </a:r>
            <a:r>
              <a:rPr lang="en-PH" dirty="0" err="1"/>
              <a:t>maintindihan</a:t>
            </a:r>
            <a:r>
              <a:rPr lang="en-PH" dirty="0"/>
              <a:t> ng </a:t>
            </a:r>
            <a:r>
              <a:rPr lang="en-PH" dirty="0" err="1"/>
              <a:t>bawat</a:t>
            </a:r>
            <a:r>
              <a:rPr lang="en-PH" dirty="0"/>
              <a:t> user kung </a:t>
            </a:r>
            <a:r>
              <a:rPr lang="en-PH" dirty="0" err="1"/>
              <a:t>paano</a:t>
            </a:r>
            <a:r>
              <a:rPr lang="en-PH" dirty="0"/>
              <a:t> </a:t>
            </a:r>
            <a:r>
              <a:rPr lang="en-PH" dirty="0" err="1"/>
              <a:t>gamitin</a:t>
            </a:r>
            <a:r>
              <a:rPr lang="en-PH" dirty="0"/>
              <a:t> ang system.</a:t>
            </a:r>
          </a:p>
          <a:p>
            <a:r>
              <a:rPr lang="en-PH" dirty="0"/>
              <a:t>For future researchers, we recommend testing the system for a longer period and exploring predictive forecasting </a:t>
            </a:r>
            <a:r>
              <a:rPr lang="en-PH" dirty="0" err="1"/>
              <a:t>kapag</a:t>
            </a:r>
            <a:r>
              <a:rPr lang="en-PH" dirty="0"/>
              <a:t> mas </a:t>
            </a:r>
            <a:r>
              <a:rPr lang="en-PH" dirty="0" err="1"/>
              <a:t>marami</a:t>
            </a:r>
            <a:r>
              <a:rPr lang="en-PH" dirty="0"/>
              <a:t> </a:t>
            </a:r>
            <a:r>
              <a:rPr lang="en-PH" dirty="0" err="1"/>
              <a:t>nang</a:t>
            </a:r>
            <a:r>
              <a:rPr lang="en-PH" dirty="0"/>
              <a:t> historical data.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Sa </a:t>
            </a:r>
            <a:r>
              <a:rPr lang="en-PH" dirty="0" err="1"/>
              <a:t>pamamagitan</a:t>
            </a:r>
            <a:r>
              <a:rPr lang="en-PH" dirty="0"/>
              <a:t> ng system </a:t>
            </a:r>
            <a:r>
              <a:rPr lang="en-PH" dirty="0" err="1"/>
              <a:t>namin</a:t>
            </a:r>
            <a:r>
              <a:rPr lang="en-PH" dirty="0"/>
              <a:t>, </a:t>
            </a:r>
            <a:r>
              <a:rPr lang="en-PH" dirty="0" err="1"/>
              <a:t>bawat</a:t>
            </a:r>
            <a:r>
              <a:rPr lang="en-PH" dirty="0"/>
              <a:t> user ay may kanya-</a:t>
            </a:r>
            <a:r>
              <a:rPr lang="en-PH" dirty="0" err="1"/>
              <a:t>kanyang</a:t>
            </a:r>
            <a:r>
              <a:rPr lang="en-PH" dirty="0"/>
              <a:t> benefit.</a:t>
            </a:r>
          </a:p>
          <a:p>
            <a:endParaRPr lang="en-PH" dirty="0"/>
          </a:p>
          <a:p>
            <a:r>
              <a:rPr lang="en-PH" b="1" dirty="0"/>
              <a:t>For librarians,</a:t>
            </a:r>
            <a:r>
              <a:rPr lang="en-PH" dirty="0"/>
              <a:t> mas </a:t>
            </a:r>
            <a:r>
              <a:rPr lang="en-PH" dirty="0" err="1"/>
              <a:t>mapapadali</a:t>
            </a:r>
            <a:r>
              <a:rPr lang="en-PH" dirty="0"/>
              <a:t> ang </a:t>
            </a:r>
            <a:r>
              <a:rPr lang="en-PH" dirty="0" err="1"/>
              <a:t>pag</a:t>
            </a:r>
            <a:r>
              <a:rPr lang="en-PH" dirty="0"/>
              <a:t>-manage ng books and transactions, at </a:t>
            </a:r>
            <a:r>
              <a:rPr lang="en-PH" dirty="0" err="1"/>
              <a:t>magkakaroon</a:t>
            </a:r>
            <a:r>
              <a:rPr lang="en-PH" dirty="0"/>
              <a:t> </a:t>
            </a:r>
            <a:r>
              <a:rPr lang="en-PH" dirty="0" err="1"/>
              <a:t>sila</a:t>
            </a:r>
            <a:r>
              <a:rPr lang="en-PH" dirty="0"/>
              <a:t> ng dashboard para </a:t>
            </a:r>
            <a:r>
              <a:rPr lang="en-PH" dirty="0" err="1"/>
              <a:t>makita</a:t>
            </a:r>
            <a:r>
              <a:rPr lang="en-PH" dirty="0"/>
              <a:t> ang library trends.</a:t>
            </a:r>
          </a:p>
          <a:p>
            <a:endParaRPr lang="en-PH" dirty="0"/>
          </a:p>
          <a:p>
            <a:r>
              <a:rPr lang="en-PH" b="1" dirty="0"/>
              <a:t>For faculty,</a:t>
            </a:r>
            <a:r>
              <a:rPr lang="en-PH" dirty="0"/>
              <a:t> mas </a:t>
            </a:r>
            <a:r>
              <a:rPr lang="en-PH" dirty="0" err="1"/>
              <a:t>madali</a:t>
            </a:r>
            <a:r>
              <a:rPr lang="en-PH" dirty="0"/>
              <a:t> </a:t>
            </a:r>
            <a:r>
              <a:rPr lang="en-PH" dirty="0" err="1"/>
              <a:t>nang</a:t>
            </a:r>
            <a:r>
              <a:rPr lang="en-PH" dirty="0"/>
              <a:t> mag-search, mag-request, at mag-reserve ng books </a:t>
            </a:r>
            <a:r>
              <a:rPr lang="en-PH" dirty="0" err="1"/>
              <a:t>kahit</a:t>
            </a:r>
            <a:r>
              <a:rPr lang="en-PH" dirty="0"/>
              <a:t> </a:t>
            </a:r>
            <a:r>
              <a:rPr lang="en-PH" dirty="0" err="1"/>
              <a:t>hindi</a:t>
            </a:r>
            <a:r>
              <a:rPr lang="en-PH" dirty="0"/>
              <a:t> </a:t>
            </a:r>
            <a:r>
              <a:rPr lang="en-PH" dirty="0" err="1"/>
              <a:t>nasa</a:t>
            </a:r>
            <a:r>
              <a:rPr lang="en-PH" dirty="0"/>
              <a:t> library.</a:t>
            </a:r>
          </a:p>
          <a:p>
            <a:endParaRPr lang="en-PH" dirty="0"/>
          </a:p>
          <a:p>
            <a:r>
              <a:rPr lang="en-PH" b="1" dirty="0"/>
              <a:t>For students,</a:t>
            </a:r>
            <a:r>
              <a:rPr lang="en-PH" dirty="0"/>
              <a:t> they can check book availability, receive notifications, and view their borrowing records and requests in one place.</a:t>
            </a:r>
          </a:p>
          <a:p>
            <a:endParaRPr lang="en-PH" dirty="0"/>
          </a:p>
          <a:p>
            <a:r>
              <a:rPr lang="en-PH" dirty="0"/>
              <a:t>Our system also supports </a:t>
            </a:r>
            <a:r>
              <a:rPr lang="en-PH" b="1" dirty="0"/>
              <a:t>SDG 4, or Quality Education,</a:t>
            </a:r>
            <a:r>
              <a:rPr lang="en-PH" dirty="0"/>
              <a:t> by making learning resources more accessible, and </a:t>
            </a:r>
            <a:r>
              <a:rPr lang="en-PH" b="1" dirty="0"/>
              <a:t>SDG 9, or Industry, Innovation, and Infrastructure,</a:t>
            </a:r>
            <a:r>
              <a:rPr lang="en-PH" dirty="0"/>
              <a:t> by using technology to improve library operations.</a:t>
            </a:r>
          </a:p>
          <a:p>
            <a:endParaRPr lang="en-PH" dirty="0"/>
          </a:p>
          <a:p>
            <a:r>
              <a:rPr lang="en-PH" dirty="0"/>
              <a:t>Ultimately, </a:t>
            </a:r>
            <a:r>
              <a:rPr lang="en-PH" dirty="0" err="1"/>
              <a:t>hindi</a:t>
            </a:r>
            <a:r>
              <a:rPr lang="en-PH" dirty="0"/>
              <a:t> lang </a:t>
            </a:r>
            <a:r>
              <a:rPr lang="en-PH" dirty="0" err="1"/>
              <a:t>namin</a:t>
            </a:r>
            <a:r>
              <a:rPr lang="en-PH" dirty="0"/>
              <a:t> </a:t>
            </a:r>
            <a:r>
              <a:rPr lang="en-PH" dirty="0" err="1"/>
              <a:t>gustong</a:t>
            </a:r>
            <a:r>
              <a:rPr lang="en-PH" dirty="0"/>
              <a:t> </a:t>
            </a:r>
            <a:r>
              <a:rPr lang="en-PH" dirty="0" err="1"/>
              <a:t>mapadali</a:t>
            </a:r>
            <a:r>
              <a:rPr lang="en-PH" dirty="0"/>
              <a:t> ang library transactions. Gusto </a:t>
            </a:r>
            <a:r>
              <a:rPr lang="en-PH" dirty="0" err="1"/>
              <a:t>rin</a:t>
            </a:r>
            <a:r>
              <a:rPr lang="en-PH" dirty="0"/>
              <a:t> naming </a:t>
            </a:r>
            <a:r>
              <a:rPr lang="en-PH" dirty="0" err="1"/>
              <a:t>makatulong</a:t>
            </a:r>
            <a:r>
              <a:rPr lang="en-PH" dirty="0"/>
              <a:t> </a:t>
            </a:r>
            <a:r>
              <a:rPr lang="en-PH" dirty="0" err="1"/>
              <a:t>sa</a:t>
            </a:r>
            <a:r>
              <a:rPr lang="en-PH" dirty="0"/>
              <a:t> </a:t>
            </a:r>
            <a:r>
              <a:rPr lang="en-PH" dirty="0" err="1"/>
              <a:t>paggawa</a:t>
            </a:r>
            <a:r>
              <a:rPr lang="en-PH" dirty="0"/>
              <a:t> ng better decisions through organized data and useful insights.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HIDDEN SCRIPT - Presenter View only. Approx. 1 min. Closing.
Slow down here; this is the takeaway they must remember.
"A modern library should do more than manage resources. It should understand demand. Connect people to knowledge. And turn everyday transactions into insights for better decisions."
Read or paraphrase the Pollard quote naturally - do not rush it.
Then: "From managing books... to making better decisions. That is our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SCRIPT - Presenter View only. Final slide. Approx. 30 sec + Q&amp;A readiness.
Final lines, delivered with confidence:
"Every borrow tells a story. Every data point can guide a decision."
"The goal is no longer just to know what books we have - it is to understand what our academic community needs. That is the library we are building."
"Thank you. We are happy to take your questions."
LIKELY PANEL QUESTIONS - review before the defense:
- Why not extend KOHA instead of building new? (Answer: integrated BI + simpler UX; KOHA integration is in recommendations.)
- Where is machine learning? (Out of scope; descriptive + rule-based - say it again.)
- Data privacy handling? (DPA 2012-aligned controls, timestamped backups, role-based access.)
- Scalability? (Tested load stated; institutional hosting is recommendation #1.)
- Cost/hosting? (Have a one-line answer ready.)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chemeClr val="tx2"/>
          </a:solidFill>
        </p:spPr>
      </p:sp>
      <p:sp>
        <p:nvSpPr>
          <p:cNvPr id="3" name="Shape 1"/>
          <p:cNvSpPr/>
          <p:nvPr/>
        </p:nvSpPr>
        <p:spPr>
          <a:xfrm>
            <a:off x="0" y="6446520"/>
            <a:ext cx="12191695" cy="411480"/>
          </a:xfrm>
          <a:prstGeom prst="rect">
            <a:avLst/>
          </a:prstGeom>
          <a:solidFill>
            <a:schemeClr val="bg2"/>
          </a:solidFill>
        </p:spPr>
      </p:sp>
      <p:sp>
        <p:nvSpPr>
          <p:cNvPr id="4" name="Shape 2"/>
          <p:cNvSpPr/>
          <p:nvPr/>
        </p:nvSpPr>
        <p:spPr>
          <a:xfrm>
            <a:off x="548640" y="1188720"/>
            <a:ext cx="914400" cy="41148"/>
          </a:xfrm>
          <a:prstGeom prst="rect">
            <a:avLst/>
          </a:prstGeom>
          <a:solidFill>
            <a:schemeClr val="accent2"/>
          </a:solidFill>
        </p:spPr>
      </p:sp>
      <p:sp>
        <p:nvSpPr>
          <p:cNvPr id="5" name="Text 3"/>
          <p:cNvSpPr/>
          <p:nvPr/>
        </p:nvSpPr>
        <p:spPr>
          <a:xfrm>
            <a:off x="548640" y="6510528"/>
            <a:ext cx="8229600" cy="274320"/>
          </a:xfrm>
          <a:prstGeom prst="rect">
            <a:avLst/>
          </a:prstGeom>
          <a:noFill/>
        </p:spPr>
        <p:txBody>
          <a:bodyPr wrap="square" lIns="0" tIns="0" rIns="0" bIns="0" rtlCol="0" anchor="ctr"/>
          <a:lstStyle/>
          <a:p>
            <a:pPr marL="0" indent="0">
              <a:buNone/>
            </a:pPr>
            <a:r>
              <a:rPr lang="en-US" sz="1100" dirty="0">
                <a:solidFill>
                  <a:srgbClr val="6B7280"/>
                </a:solidFill>
              </a:rPr>
              <a:t>Mandaluyong College of Science and Technology  |  BSIS Research Colloquium  |  October 2026</a:t>
            </a:r>
            <a:endParaRPr lang="en-US" sz="1100" dirty="0"/>
          </a:p>
        </p:txBody>
      </p:sp>
      <p:sp>
        <p:nvSpPr>
          <p:cNvPr id="6" name="Text 4"/>
          <p:cNvSpPr>
            <a:spLocks noGrp="1"/>
          </p:cNvSpPr>
          <p:nvPr>
            <p:ph type="body" idx="104" hasCustomPrompt="1"/>
          </p:nvPr>
        </p:nvSpPr>
        <p:spPr>
          <a:xfrm>
            <a:off x="548640" y="237744"/>
            <a:ext cx="8229600" cy="256032"/>
          </a:xfrm>
          <a:prstGeom prst="rect">
            <a:avLst/>
          </a:prstGeom>
          <a:noFill/>
        </p:spPr>
        <p:txBody>
          <a:bodyPr wrap="square" rtlCol="0"/>
          <a:lstStyle>
            <a:lvl1pPr marL="0" indent="0" algn="l">
              <a:buNone/>
              <a:defRPr lang="en-US" sz="1200" b="1" kern="0" spc="400" dirty="0">
                <a:solidFill>
                  <a:schemeClr val="accent1"/>
                </a:solidFill>
              </a:defRPr>
            </a:lvl1pPr>
          </a:lstStyle>
          <a:p>
            <a:pPr marL="0" indent="0" algn="l">
              <a:buNone/>
            </a:pPr>
            <a:endParaRPr lang="en-US" sz="1200" dirty="0"/>
          </a:p>
        </p:txBody>
      </p:sp>
      <p:sp>
        <p:nvSpPr>
          <p:cNvPr id="7" name="Text 4"/>
          <p:cNvSpPr>
            <a:spLocks noGrp="1"/>
          </p:cNvSpPr>
          <p:nvPr>
            <p:ph type="title" idx="105" hasCustomPrompt="1"/>
          </p:nvPr>
        </p:nvSpPr>
        <p:spPr>
          <a:xfrm>
            <a:off x="548640" y="502920"/>
            <a:ext cx="11094415" cy="640080"/>
          </a:xfrm>
          <a:prstGeom prst="rect">
            <a:avLst/>
          </a:prstGeom>
          <a:noFill/>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731520" y="914400"/>
            <a:ext cx="7863840" cy="1920240"/>
          </a:xfrm>
          <a:prstGeom prst="rect">
            <a:avLst/>
          </a:prstGeom>
          <a:noFill/>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chemeClr val="tx2"/>
          </a:solidFill>
        </p:spPr>
      </p:sp>
      <p:sp>
        <p:nvSpPr>
          <p:cNvPr id="3" name="Shape 1"/>
          <p:cNvSpPr/>
          <p:nvPr/>
        </p:nvSpPr>
        <p:spPr>
          <a:xfrm>
            <a:off x="0" y="6446520"/>
            <a:ext cx="12191695" cy="411480"/>
          </a:xfrm>
          <a:prstGeom prst="rect">
            <a:avLst/>
          </a:prstGeom>
          <a:solidFill>
            <a:schemeClr val="bg2"/>
          </a:solidFill>
        </p:spPr>
      </p:sp>
      <p:sp>
        <p:nvSpPr>
          <p:cNvPr id="4" name="Shape 2"/>
          <p:cNvSpPr/>
          <p:nvPr/>
        </p:nvSpPr>
        <p:spPr>
          <a:xfrm>
            <a:off x="548640" y="1188720"/>
            <a:ext cx="914400" cy="41148"/>
          </a:xfrm>
          <a:prstGeom prst="rect">
            <a:avLst/>
          </a:prstGeom>
          <a:solidFill>
            <a:schemeClr val="accent2"/>
          </a:solidFill>
        </p:spPr>
      </p:sp>
      <p:sp>
        <p:nvSpPr>
          <p:cNvPr id="5" name="Text 3"/>
          <p:cNvSpPr/>
          <p:nvPr/>
        </p:nvSpPr>
        <p:spPr>
          <a:xfrm>
            <a:off x="548640" y="6510528"/>
            <a:ext cx="8229600" cy="274320"/>
          </a:xfrm>
          <a:prstGeom prst="rect">
            <a:avLst/>
          </a:prstGeom>
          <a:noFill/>
        </p:spPr>
        <p:txBody>
          <a:bodyPr wrap="square" lIns="0" tIns="0" rIns="0" bIns="0" rtlCol="0" anchor="ctr"/>
          <a:lstStyle/>
          <a:p>
            <a:pPr marL="0" indent="0">
              <a:buNone/>
            </a:pPr>
            <a:r>
              <a:rPr lang="en-US" sz="1100" dirty="0">
                <a:solidFill>
                  <a:srgbClr val="6B7280"/>
                </a:solidFill>
              </a:rPr>
              <a:t>Mandaluyong College of Science and Technology  |  BSIS Research Colloquium  |  October 2026</a:t>
            </a:r>
            <a:endParaRPr lang="en-US" sz="1100" dirty="0"/>
          </a:p>
        </p:txBody>
      </p:sp>
      <p:sp>
        <p:nvSpPr>
          <p:cNvPr id="6" name="Text 4"/>
          <p:cNvSpPr>
            <a:spLocks noGrp="1"/>
          </p:cNvSpPr>
          <p:nvPr>
            <p:ph type="body" idx="104" hasCustomPrompt="1"/>
          </p:nvPr>
        </p:nvSpPr>
        <p:spPr>
          <a:xfrm>
            <a:off x="548640" y="237744"/>
            <a:ext cx="8229600" cy="256032"/>
          </a:xfrm>
          <a:prstGeom prst="rect">
            <a:avLst/>
          </a:prstGeom>
          <a:noFill/>
        </p:spPr>
        <p:txBody>
          <a:bodyPr wrap="square" rtlCol="0"/>
          <a:lstStyle>
            <a:lvl1pPr marL="0" indent="0" algn="l">
              <a:buNone/>
              <a:defRPr lang="en-US" sz="1200" b="1" kern="0" spc="400" dirty="0">
                <a:solidFill>
                  <a:schemeClr val="accent1"/>
                </a:solidFill>
              </a:defRPr>
            </a:lvl1pPr>
          </a:lstStyle>
          <a:p>
            <a:pPr marL="0" indent="0" algn="l">
              <a:buNone/>
            </a:pPr>
            <a:endParaRPr lang="en-US" sz="1200" dirty="0"/>
          </a:p>
        </p:txBody>
      </p:sp>
      <p:sp>
        <p:nvSpPr>
          <p:cNvPr id="7" name="Text 4"/>
          <p:cNvSpPr>
            <a:spLocks noGrp="1"/>
          </p:cNvSpPr>
          <p:nvPr>
            <p:ph type="title" idx="105" hasCustomPrompt="1"/>
          </p:nvPr>
        </p:nvSpPr>
        <p:spPr>
          <a:xfrm>
            <a:off x="548640" y="502920"/>
            <a:ext cx="11094415" cy="640080"/>
          </a:xfrm>
          <a:prstGeom prst="rect">
            <a:avLst/>
          </a:prstGeom>
          <a:noFill/>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731520" y="914400"/>
            <a:ext cx="7863840" cy="1920240"/>
          </a:xfrm>
          <a:prstGeom prst="rect">
            <a:avLst/>
          </a:prstGeom>
          <a:noFill/>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5.png"/><Relationship Id="rId5" Type="http://schemas.openxmlformats.org/officeDocument/2006/relationships/image" Target="../media/image7.png"/><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1.png"/><Relationship Id="rId7"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1.png"/><Relationship Id="rId7"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31.png"/><Relationship Id="rId7"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10" Type="http://schemas.openxmlformats.org/officeDocument/2006/relationships/image" Target="../media/image10.png"/><Relationship Id="rId4" Type="http://schemas.openxmlformats.org/officeDocument/2006/relationships/image" Target="../media/image55.png"/><Relationship Id="rId9" Type="http://schemas.openxmlformats.org/officeDocument/2006/relationships/image" Target="../media/image60.png"/></Relationships>
</file>

<file path=ppt/slides/_rels/slide18.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9.png"/><Relationship Id="rId4" Type="http://schemas.openxmlformats.org/officeDocument/2006/relationships/image" Target="../media/image59.png"/></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2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731520" y="548640"/>
            <a:ext cx="6400800" cy="274320"/>
          </a:xfrm>
          <a:prstGeom prst="rect">
            <a:avLst/>
          </a:prstGeom>
          <a:noFill/>
        </p:spPr>
        <p:txBody>
          <a:bodyPr wrap="square" lIns="0" tIns="0" rIns="0" bIns="0" rtlCol="0" anchor="t"/>
          <a:lstStyle/>
          <a:p>
            <a:pPr marL="0" indent="0">
              <a:buNone/>
            </a:pPr>
            <a:r>
              <a:rPr lang="en-US" sz="1400" b="1" kern="0" spc="600" dirty="0">
                <a:solidFill>
                  <a:schemeClr val="accent2"/>
                </a:solidFill>
              </a:rPr>
              <a:t>RESEARCH COLLOQUIUM</a:t>
            </a:r>
            <a:endParaRPr lang="en-US" sz="1400" dirty="0"/>
          </a:p>
        </p:txBody>
      </p:sp>
      <p:sp>
        <p:nvSpPr>
          <p:cNvPr id="4" name="Text 0"/>
          <p:cNvSpPr>
            <a:spLocks noGrp="1"/>
          </p:cNvSpPr>
          <p:nvPr>
            <p:ph type="title" idx="101" hasCustomPrompt="1"/>
          </p:nvPr>
        </p:nvSpPr>
        <p:spPr>
          <a:xfrm>
            <a:off x="731520" y="914400"/>
            <a:ext cx="7863840" cy="1920240"/>
          </a:xfrm>
          <a:prstGeom prst="rect">
            <a:avLst/>
          </a:prstGeom>
          <a:noFill/>
        </p:spPr>
        <p:txBody>
          <a:bodyPr wrap="square" lIns="0" tIns="0" rIns="0" bIns="0" rtlCol="0" anchor="t"/>
          <a:lstStyle/>
          <a:p>
            <a:pPr marL="0" indent="0" algn="l">
              <a:buNone/>
            </a:pPr>
            <a:r>
              <a:rPr lang="en-US" sz="3400" b="1" dirty="0">
                <a:solidFill>
                  <a:schemeClr val="bg1"/>
                </a:solidFill>
              </a:rPr>
              <a:t>A Business Intelligence-Enabled Web-Based Library Management System for Academic Resource Planning</a:t>
            </a:r>
            <a:endParaRPr lang="en-US" sz="3400" dirty="0"/>
          </a:p>
        </p:txBody>
      </p:sp>
      <p:sp>
        <p:nvSpPr>
          <p:cNvPr id="5" name="Shape 2"/>
          <p:cNvSpPr/>
          <p:nvPr/>
        </p:nvSpPr>
        <p:spPr>
          <a:xfrm>
            <a:off x="8503920" y="1371600"/>
            <a:ext cx="3200400" cy="3200400"/>
          </a:xfrm>
          <a:prstGeom prst="ellipse">
            <a:avLst/>
          </a:prstGeom>
          <a:solidFill>
            <a:schemeClr val="bg1"/>
          </a:solidFill>
          <a:ln w="50800">
            <a:solidFill>
              <a:schemeClr val="accent2"/>
            </a:solidFill>
            <a:prstDash val="solid"/>
          </a:ln>
        </p:spPr>
      </p:sp>
      <p:pic>
        <p:nvPicPr>
          <p:cNvPr id="6" name="Logo 3" descr="MCST Library 2023 badge"/>
          <p:cNvPicPr>
            <a:picLocks noChangeAspect="1"/>
          </p:cNvPicPr>
          <p:nvPr/>
        </p:nvPicPr>
        <p:blipFill>
          <a:blip r:embed="rId3"/>
          <a:stretch>
            <a:fillRect/>
          </a:stretch>
        </p:blipFill>
        <p:spPr>
          <a:xfrm>
            <a:off x="8586216" y="1453896"/>
            <a:ext cx="3035808" cy="3035808"/>
          </a:xfrm>
          <a:prstGeom prst="ellipse">
            <a:avLst/>
          </a:prstGeom>
        </p:spPr>
      </p:pic>
      <p:sp>
        <p:nvSpPr>
          <p:cNvPr id="7" name="Text 4"/>
          <p:cNvSpPr txBox="1"/>
          <p:nvPr/>
        </p:nvSpPr>
        <p:spPr>
          <a:xfrm>
            <a:off x="731520" y="3657600"/>
            <a:ext cx="7498080" cy="411480"/>
          </a:xfrm>
          <a:prstGeom prst="rect">
            <a:avLst/>
          </a:prstGeom>
          <a:noFill/>
        </p:spPr>
        <p:txBody>
          <a:bodyPr wrap="square" lIns="0" tIns="0" rIns="0" bIns="0" rtlCol="0" anchor="t"/>
          <a:lstStyle/>
          <a:p>
            <a:pPr marL="0" indent="0">
              <a:buNone/>
            </a:pPr>
            <a:r>
              <a:rPr lang="en-US" sz="2200" b="1" dirty="0">
                <a:solidFill>
                  <a:schemeClr val="bg1"/>
                </a:solidFill>
                <a:latin typeface="+mj-lt"/>
                <a:ea typeface="+mj-lt"/>
                <a:cs typeface="+mj-lt"/>
              </a:rPr>
              <a:t>Mandaluyong College of Science and Technology</a:t>
            </a:r>
            <a:endParaRPr lang="en-US" sz="2200" dirty="0"/>
          </a:p>
        </p:txBody>
      </p:sp>
      <p:sp>
        <p:nvSpPr>
          <p:cNvPr id="8" name="Text 5"/>
          <p:cNvSpPr txBox="1"/>
          <p:nvPr/>
        </p:nvSpPr>
        <p:spPr>
          <a:xfrm>
            <a:off x="731520" y="4160520"/>
            <a:ext cx="7498080" cy="320040"/>
          </a:xfrm>
          <a:prstGeom prst="rect">
            <a:avLst/>
          </a:prstGeom>
          <a:noFill/>
        </p:spPr>
        <p:txBody>
          <a:bodyPr wrap="square" lIns="0" tIns="0" rIns="0" bIns="0" rtlCol="0" anchor="t"/>
          <a:lstStyle/>
          <a:p>
            <a:pPr marL="0" indent="0">
              <a:buNone/>
            </a:pPr>
            <a:r>
              <a:rPr lang="en-US" sz="1600" dirty="0">
                <a:solidFill>
                  <a:schemeClr val="accent5"/>
                </a:solidFill>
              </a:rPr>
              <a:t>Bachelor of Science in Information Systems  |  Capstone Research Team</a:t>
            </a:r>
            <a:endParaRPr lang="en-US" sz="1600" dirty="0"/>
          </a:p>
        </p:txBody>
      </p:sp>
      <p:sp>
        <p:nvSpPr>
          <p:cNvPr id="9" name="Shape 6"/>
          <p:cNvSpPr/>
          <p:nvPr/>
        </p:nvSpPr>
        <p:spPr>
          <a:xfrm>
            <a:off x="731520" y="4754880"/>
            <a:ext cx="7498080" cy="1005840"/>
          </a:xfrm>
          <a:prstGeom prst="roundRect">
            <a:avLst>
              <a:gd name="adj" fmla="val 9091"/>
            </a:avLst>
          </a:prstGeom>
          <a:solidFill>
            <a:schemeClr val="accent4">
              <a:alpha val="45000"/>
            </a:schemeClr>
          </a:solidFill>
          <a:ln w="12700">
            <a:solidFill>
              <a:schemeClr val="accent2"/>
            </a:solidFill>
            <a:prstDash val="dash"/>
          </a:ln>
        </p:spPr>
      </p:sp>
      <p:sp>
        <p:nvSpPr>
          <p:cNvPr id="10" name="Text 7"/>
          <p:cNvSpPr txBox="1"/>
          <p:nvPr/>
        </p:nvSpPr>
        <p:spPr>
          <a:xfrm>
            <a:off x="960120" y="4919472"/>
            <a:ext cx="7040880" cy="731520"/>
          </a:xfrm>
          <a:prstGeom prst="rect">
            <a:avLst/>
          </a:prstGeom>
          <a:noFill/>
        </p:spPr>
        <p:txBody>
          <a:bodyPr wrap="square" lIns="0" tIns="0" rIns="0" bIns="0" rtlCol="0" anchor="ctr"/>
          <a:lstStyle/>
          <a:p>
            <a:pPr marL="0" indent="0">
              <a:spcAft>
                <a:spcPts val="600"/>
              </a:spcAft>
              <a:buNone/>
            </a:pPr>
            <a:r>
              <a:rPr lang="en-US" sz="1500" b="1" dirty="0">
                <a:solidFill>
                  <a:schemeClr val="accent2"/>
                </a:solidFill>
              </a:rPr>
              <a:t>Presenters: Justin</a:t>
            </a:r>
            <a:endParaRPr lang="en-US" sz="1500" dirty="0"/>
          </a:p>
          <a:p>
            <a:pPr marL="0" indent="0">
              <a:spcAft>
                <a:spcPts val="600"/>
              </a:spcAft>
              <a:buNone/>
            </a:pPr>
            <a:r>
              <a:rPr lang="en-US" sz="1500" b="1" dirty="0">
                <a:solidFill>
                  <a:schemeClr val="accent2"/>
                </a:solidFill>
              </a:rPr>
              <a:t>Adviser: </a:t>
            </a:r>
            <a:r>
              <a:rPr lang="en-US" sz="1500" dirty="0">
                <a:solidFill>
                  <a:schemeClr val="bg1"/>
                </a:solidFill>
              </a:rPr>
              <a:t>[Insert name]</a:t>
            </a:r>
            <a:endParaRPr lang="en-US" sz="1500" dirty="0"/>
          </a:p>
        </p:txBody>
      </p:sp>
      <p:sp>
        <p:nvSpPr>
          <p:cNvPr id="11" name="Text 8"/>
          <p:cNvSpPr txBox="1"/>
          <p:nvPr/>
        </p:nvSpPr>
        <p:spPr>
          <a:xfrm>
            <a:off x="731520" y="6080760"/>
            <a:ext cx="3657600" cy="274320"/>
          </a:xfrm>
          <a:prstGeom prst="rect">
            <a:avLst/>
          </a:prstGeom>
          <a:noFill/>
        </p:spPr>
        <p:txBody>
          <a:bodyPr wrap="square" lIns="0" tIns="0" rIns="0" bIns="0" rtlCol="0" anchor="t"/>
          <a:lstStyle/>
          <a:p>
            <a:pPr marL="0" indent="0">
              <a:buNone/>
            </a:pPr>
            <a:r>
              <a:rPr lang="en-US" sz="1400" b="1" kern="0" spc="300" dirty="0">
                <a:solidFill>
                  <a:schemeClr val="accent2"/>
                </a:solidFill>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01  |  BACKGROUND</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Background of the Study</a:t>
            </a:r>
            <a:endParaRPr lang="en-US" sz="2800" dirty="0"/>
          </a:p>
        </p:txBody>
      </p:sp>
      <p:sp>
        <p:nvSpPr>
          <p:cNvPr id="5" name="Shape 9"/>
          <p:cNvSpPr/>
          <p:nvPr/>
        </p:nvSpPr>
        <p:spPr>
          <a:xfrm>
            <a:off x="548640" y="1508760"/>
            <a:ext cx="3456432" cy="3429000"/>
          </a:xfrm>
          <a:prstGeom prst="roundRect">
            <a:avLst>
              <a:gd name="adj" fmla="val 3200"/>
            </a:avLst>
          </a:prstGeom>
          <a:solidFill>
            <a:schemeClr val="bg2"/>
          </a:solidFill>
        </p:spPr>
      </p:sp>
      <p:sp>
        <p:nvSpPr>
          <p:cNvPr id="6" name="Shape 10"/>
          <p:cNvSpPr/>
          <p:nvPr/>
        </p:nvSpPr>
        <p:spPr>
          <a:xfrm>
            <a:off x="1865376" y="1691640"/>
            <a:ext cx="822960" cy="822960"/>
          </a:xfrm>
          <a:prstGeom prst="ellipse">
            <a:avLst/>
          </a:prstGeom>
          <a:solidFill>
            <a:schemeClr val="accent5">
              <a:alpha val="55000"/>
            </a:schemeClr>
          </a:solidFill>
        </p:spPr>
      </p:sp>
      <p:pic>
        <p:nvPicPr>
          <p:cNvPr id="7" name="Icon 11" descr="preencoded.png"/>
          <p:cNvPicPr>
            <a:picLocks noChangeAspect="1"/>
          </p:cNvPicPr>
          <p:nvPr/>
        </p:nvPicPr>
        <p:blipFill>
          <a:blip r:embed="rId3"/>
          <a:stretch>
            <a:fillRect/>
          </a:stretch>
        </p:blipFill>
        <p:spPr>
          <a:xfrm>
            <a:off x="2062886" y="1889150"/>
            <a:ext cx="427939" cy="427939"/>
          </a:xfrm>
          <a:prstGeom prst="rect">
            <a:avLst/>
          </a:prstGeom>
        </p:spPr>
      </p:pic>
      <p:sp>
        <p:nvSpPr>
          <p:cNvPr id="8" name="Shape 12"/>
          <p:cNvSpPr/>
          <p:nvPr/>
        </p:nvSpPr>
        <p:spPr>
          <a:xfrm>
            <a:off x="1709928" y="1645920"/>
            <a:ext cx="347472" cy="347472"/>
          </a:xfrm>
          <a:prstGeom prst="ellipse">
            <a:avLst/>
          </a:prstGeom>
          <a:solidFill>
            <a:schemeClr val="accent2"/>
          </a:solidFill>
          <a:ln w="19050">
            <a:solidFill>
              <a:schemeClr val="bg1"/>
            </a:solidFill>
            <a:prstDash val="solid"/>
          </a:ln>
        </p:spPr>
      </p:sp>
      <p:sp>
        <p:nvSpPr>
          <p:cNvPr id="9" name="Text 13"/>
          <p:cNvSpPr txBox="1"/>
          <p:nvPr/>
        </p:nvSpPr>
        <p:spPr>
          <a:xfrm>
            <a:off x="1709928" y="1645920"/>
            <a:ext cx="347472" cy="347472"/>
          </a:xfrm>
          <a:prstGeom prst="rect">
            <a:avLst/>
          </a:prstGeom>
          <a:noFill/>
        </p:spPr>
        <p:txBody>
          <a:bodyPr wrap="square" lIns="0" tIns="0" rIns="0" bIns="0" rtlCol="0" anchor="ctr"/>
          <a:lstStyle/>
          <a:p>
            <a:pPr marL="0" indent="0" algn="ctr">
              <a:buNone/>
            </a:pPr>
            <a:r>
              <a:rPr lang="en-US" sz="1300" b="1" dirty="0">
                <a:solidFill>
                  <a:schemeClr val="bg1"/>
                </a:solidFill>
                <a:latin typeface="+mj-lt"/>
                <a:ea typeface="+mj-lt"/>
                <a:cs typeface="+mj-lt"/>
              </a:rPr>
              <a:t>1</a:t>
            </a:r>
            <a:endParaRPr lang="en-US" sz="1300" dirty="0"/>
          </a:p>
        </p:txBody>
      </p:sp>
      <p:sp>
        <p:nvSpPr>
          <p:cNvPr id="10" name="Shape 14"/>
          <p:cNvSpPr/>
          <p:nvPr/>
        </p:nvSpPr>
        <p:spPr>
          <a:xfrm>
            <a:off x="731520" y="2697480"/>
            <a:ext cx="3090672" cy="731520"/>
          </a:xfrm>
          <a:prstGeom prst="roundRect">
            <a:avLst>
              <a:gd name="adj" fmla="val 10000"/>
            </a:avLst>
          </a:prstGeom>
          <a:solidFill>
            <a:schemeClr val="accent1"/>
          </a:solidFill>
        </p:spPr>
      </p:sp>
      <p:sp>
        <p:nvSpPr>
          <p:cNvPr id="11" name="Text 15"/>
          <p:cNvSpPr txBox="1"/>
          <p:nvPr/>
        </p:nvSpPr>
        <p:spPr>
          <a:xfrm>
            <a:off x="841248" y="2697480"/>
            <a:ext cx="2871216" cy="731520"/>
          </a:xfrm>
          <a:prstGeom prst="rect">
            <a:avLst/>
          </a:prstGeom>
          <a:noFill/>
        </p:spPr>
        <p:txBody>
          <a:bodyPr wrap="square" lIns="0" tIns="0" rIns="0" bIns="0" rtlCol="0" anchor="ctr"/>
          <a:lstStyle/>
          <a:p>
            <a:pPr marL="0" indent="0" algn="ctr">
              <a:buNone/>
            </a:pPr>
            <a:r>
              <a:rPr lang="en-US" sz="1500" b="1" dirty="0">
                <a:solidFill>
                  <a:schemeClr val="bg1"/>
                </a:solidFill>
                <a:latin typeface="+mj-lt"/>
                <a:ea typeface="+mj-lt"/>
                <a:cs typeface="+mj-lt"/>
              </a:rPr>
              <a:t>From automation to analytics</a:t>
            </a:r>
            <a:endParaRPr lang="en-US" sz="1500" dirty="0"/>
          </a:p>
        </p:txBody>
      </p:sp>
      <p:sp>
        <p:nvSpPr>
          <p:cNvPr id="12" name="Text 16"/>
          <p:cNvSpPr txBox="1"/>
          <p:nvPr/>
        </p:nvSpPr>
        <p:spPr>
          <a:xfrm>
            <a:off x="777240" y="3566160"/>
            <a:ext cx="2999232" cy="1325880"/>
          </a:xfrm>
          <a:prstGeom prst="rect">
            <a:avLst/>
          </a:prstGeom>
          <a:noFill/>
        </p:spPr>
        <p:txBody>
          <a:bodyPr wrap="square" lIns="0" tIns="0" rIns="0" bIns="0" rtlCol="0" anchor="t"/>
          <a:lstStyle/>
          <a:p>
            <a:pPr marL="0" indent="0">
              <a:buNone/>
            </a:pPr>
            <a:r>
              <a:rPr lang="en-US" sz="1300" dirty="0">
                <a:solidFill>
                  <a:schemeClr val="tx1"/>
                </a:solidFill>
              </a:rPr>
              <a:t>Academic libraries are shifting from record-keeping to analytics-based resource management, converting everyday transactions into evidence for collection decisions (Roy, 2025; Sukula et al., 2023; Wan Abas &amp; Mustapha, 2025).</a:t>
            </a:r>
            <a:endParaRPr lang="en-US" sz="1300" dirty="0"/>
          </a:p>
        </p:txBody>
      </p:sp>
      <p:sp>
        <p:nvSpPr>
          <p:cNvPr id="13" name="Arrow 17"/>
          <p:cNvSpPr/>
          <p:nvPr/>
        </p:nvSpPr>
        <p:spPr>
          <a:xfrm>
            <a:off x="4059936" y="2103120"/>
            <a:ext cx="256032" cy="0"/>
          </a:xfrm>
          <a:prstGeom prst="line">
            <a:avLst/>
          </a:prstGeom>
          <a:noFill/>
          <a:ln w="28575">
            <a:solidFill>
              <a:schemeClr val="accent2"/>
            </a:solidFill>
            <a:prstDash val="solid"/>
            <a:tailEnd type="triangle"/>
          </a:ln>
        </p:spPr>
      </p:sp>
      <p:sp>
        <p:nvSpPr>
          <p:cNvPr id="14" name="Shape 18"/>
          <p:cNvSpPr/>
          <p:nvPr/>
        </p:nvSpPr>
        <p:spPr>
          <a:xfrm>
            <a:off x="4370832" y="1508760"/>
            <a:ext cx="3456432" cy="3429000"/>
          </a:xfrm>
          <a:prstGeom prst="roundRect">
            <a:avLst>
              <a:gd name="adj" fmla="val 3200"/>
            </a:avLst>
          </a:prstGeom>
          <a:solidFill>
            <a:schemeClr val="bg2"/>
          </a:solidFill>
        </p:spPr>
      </p:sp>
      <p:sp>
        <p:nvSpPr>
          <p:cNvPr id="15" name="Shape 19"/>
          <p:cNvSpPr/>
          <p:nvPr/>
        </p:nvSpPr>
        <p:spPr>
          <a:xfrm>
            <a:off x="5687568" y="1691640"/>
            <a:ext cx="822960" cy="822960"/>
          </a:xfrm>
          <a:prstGeom prst="ellipse">
            <a:avLst/>
          </a:prstGeom>
          <a:solidFill>
            <a:schemeClr val="accent5">
              <a:alpha val="55000"/>
            </a:schemeClr>
          </a:solidFill>
        </p:spPr>
      </p:sp>
      <p:pic>
        <p:nvPicPr>
          <p:cNvPr id="16" name="Icon 20" descr="preencoded.png"/>
          <p:cNvPicPr>
            <a:picLocks noChangeAspect="1"/>
          </p:cNvPicPr>
          <p:nvPr/>
        </p:nvPicPr>
        <p:blipFill>
          <a:blip r:embed="rId4"/>
          <a:stretch>
            <a:fillRect/>
          </a:stretch>
        </p:blipFill>
        <p:spPr>
          <a:xfrm>
            <a:off x="5885078" y="1889150"/>
            <a:ext cx="427939" cy="427939"/>
          </a:xfrm>
          <a:prstGeom prst="rect">
            <a:avLst/>
          </a:prstGeom>
        </p:spPr>
      </p:pic>
      <p:sp>
        <p:nvSpPr>
          <p:cNvPr id="17" name="Shape 21"/>
          <p:cNvSpPr/>
          <p:nvPr/>
        </p:nvSpPr>
        <p:spPr>
          <a:xfrm>
            <a:off x="5532120" y="1645920"/>
            <a:ext cx="347472" cy="347472"/>
          </a:xfrm>
          <a:prstGeom prst="ellipse">
            <a:avLst/>
          </a:prstGeom>
          <a:solidFill>
            <a:schemeClr val="accent2"/>
          </a:solidFill>
          <a:ln w="19050">
            <a:solidFill>
              <a:schemeClr val="bg1"/>
            </a:solidFill>
            <a:prstDash val="solid"/>
          </a:ln>
        </p:spPr>
      </p:sp>
      <p:sp>
        <p:nvSpPr>
          <p:cNvPr id="18" name="Text 22"/>
          <p:cNvSpPr txBox="1"/>
          <p:nvPr/>
        </p:nvSpPr>
        <p:spPr>
          <a:xfrm>
            <a:off x="5532120" y="1645920"/>
            <a:ext cx="347472" cy="347472"/>
          </a:xfrm>
          <a:prstGeom prst="rect">
            <a:avLst/>
          </a:prstGeom>
          <a:noFill/>
        </p:spPr>
        <p:txBody>
          <a:bodyPr wrap="square" lIns="0" tIns="0" rIns="0" bIns="0" rtlCol="0" anchor="ctr"/>
          <a:lstStyle/>
          <a:p>
            <a:pPr marL="0" indent="0" algn="ctr">
              <a:buNone/>
            </a:pPr>
            <a:r>
              <a:rPr lang="en-US" sz="1300" b="1" dirty="0">
                <a:solidFill>
                  <a:schemeClr val="bg1"/>
                </a:solidFill>
                <a:latin typeface="+mj-lt"/>
                <a:ea typeface="+mj-lt"/>
                <a:cs typeface="+mj-lt"/>
              </a:rPr>
              <a:t>2</a:t>
            </a:r>
            <a:endParaRPr lang="en-US" sz="1300" dirty="0"/>
          </a:p>
        </p:txBody>
      </p:sp>
      <p:sp>
        <p:nvSpPr>
          <p:cNvPr id="19" name="Shape 23"/>
          <p:cNvSpPr/>
          <p:nvPr/>
        </p:nvSpPr>
        <p:spPr>
          <a:xfrm>
            <a:off x="4553712" y="2697480"/>
            <a:ext cx="3090672" cy="731520"/>
          </a:xfrm>
          <a:prstGeom prst="roundRect">
            <a:avLst>
              <a:gd name="adj" fmla="val 10000"/>
            </a:avLst>
          </a:prstGeom>
          <a:solidFill>
            <a:schemeClr val="accent2"/>
          </a:solidFill>
        </p:spPr>
      </p:sp>
      <p:sp>
        <p:nvSpPr>
          <p:cNvPr id="20" name="Text 24"/>
          <p:cNvSpPr txBox="1"/>
          <p:nvPr/>
        </p:nvSpPr>
        <p:spPr>
          <a:xfrm>
            <a:off x="4663440" y="2697480"/>
            <a:ext cx="2871216" cy="731520"/>
          </a:xfrm>
          <a:prstGeom prst="rect">
            <a:avLst/>
          </a:prstGeom>
          <a:noFill/>
        </p:spPr>
        <p:txBody>
          <a:bodyPr wrap="square" lIns="0" tIns="0" rIns="0" bIns="0" rtlCol="0" anchor="ctr"/>
          <a:lstStyle/>
          <a:p>
            <a:pPr marL="0" indent="0" algn="ctr">
              <a:buNone/>
            </a:pPr>
            <a:r>
              <a:rPr lang="en-US" sz="1500" b="1" dirty="0">
                <a:solidFill>
                  <a:schemeClr val="bg1"/>
                </a:solidFill>
                <a:latin typeface="+mj-lt"/>
                <a:ea typeface="+mj-lt"/>
                <a:cs typeface="+mj-lt"/>
              </a:rPr>
              <a:t>Access beyond library walls</a:t>
            </a:r>
            <a:endParaRPr lang="en-US" sz="1500" dirty="0"/>
          </a:p>
        </p:txBody>
      </p:sp>
      <p:sp>
        <p:nvSpPr>
          <p:cNvPr id="21" name="Text 25"/>
          <p:cNvSpPr txBox="1"/>
          <p:nvPr/>
        </p:nvSpPr>
        <p:spPr>
          <a:xfrm>
            <a:off x="4599432" y="3566160"/>
            <a:ext cx="2999232" cy="1325880"/>
          </a:xfrm>
          <a:prstGeom prst="rect">
            <a:avLst/>
          </a:prstGeom>
          <a:noFill/>
        </p:spPr>
        <p:txBody>
          <a:bodyPr wrap="square" lIns="0" tIns="0" rIns="0" bIns="0" rtlCol="0" anchor="t"/>
          <a:lstStyle/>
          <a:p>
            <a:pPr marL="0" indent="0">
              <a:buNone/>
            </a:pPr>
            <a:r>
              <a:rPr lang="en-US" sz="1300" dirty="0">
                <a:solidFill>
                  <a:schemeClr val="tx1"/>
                </a:solidFill>
              </a:rPr>
              <a:t>Web-based systems extend services to remote and self-service use and simplify operations (Chavan &amp; Hase, 2025).</a:t>
            </a:r>
            <a:endParaRPr lang="en-US" sz="1300" dirty="0"/>
          </a:p>
        </p:txBody>
      </p:sp>
      <p:sp>
        <p:nvSpPr>
          <p:cNvPr id="22" name="Arrow 26"/>
          <p:cNvSpPr/>
          <p:nvPr/>
        </p:nvSpPr>
        <p:spPr>
          <a:xfrm>
            <a:off x="7882128" y="2103120"/>
            <a:ext cx="256032" cy="0"/>
          </a:xfrm>
          <a:prstGeom prst="line">
            <a:avLst/>
          </a:prstGeom>
          <a:noFill/>
          <a:ln w="28575">
            <a:solidFill>
              <a:schemeClr val="accent2"/>
            </a:solidFill>
            <a:prstDash val="solid"/>
            <a:tailEnd type="triangle"/>
          </a:ln>
        </p:spPr>
      </p:sp>
      <p:sp>
        <p:nvSpPr>
          <p:cNvPr id="23" name="Shape 27"/>
          <p:cNvSpPr/>
          <p:nvPr/>
        </p:nvSpPr>
        <p:spPr>
          <a:xfrm>
            <a:off x="8193024" y="1508760"/>
            <a:ext cx="3456432" cy="3429000"/>
          </a:xfrm>
          <a:prstGeom prst="roundRect">
            <a:avLst>
              <a:gd name="adj" fmla="val 3200"/>
            </a:avLst>
          </a:prstGeom>
          <a:solidFill>
            <a:schemeClr val="bg2"/>
          </a:solidFill>
        </p:spPr>
      </p:sp>
      <p:sp>
        <p:nvSpPr>
          <p:cNvPr id="24" name="Shape 28"/>
          <p:cNvSpPr/>
          <p:nvPr/>
        </p:nvSpPr>
        <p:spPr>
          <a:xfrm>
            <a:off x="9509760" y="1691640"/>
            <a:ext cx="822960" cy="822960"/>
          </a:xfrm>
          <a:prstGeom prst="ellipse">
            <a:avLst/>
          </a:prstGeom>
          <a:solidFill>
            <a:schemeClr val="accent5">
              <a:alpha val="55000"/>
            </a:schemeClr>
          </a:solidFill>
        </p:spPr>
      </p:sp>
      <p:pic>
        <p:nvPicPr>
          <p:cNvPr id="25" name="Icon 29" descr="preencoded.png"/>
          <p:cNvPicPr>
            <a:picLocks noChangeAspect="1"/>
          </p:cNvPicPr>
          <p:nvPr/>
        </p:nvPicPr>
        <p:blipFill>
          <a:blip r:embed="rId5"/>
          <a:stretch>
            <a:fillRect/>
          </a:stretch>
        </p:blipFill>
        <p:spPr>
          <a:xfrm>
            <a:off x="9707270" y="1889150"/>
            <a:ext cx="427939" cy="427939"/>
          </a:xfrm>
          <a:prstGeom prst="rect">
            <a:avLst/>
          </a:prstGeom>
        </p:spPr>
      </p:pic>
      <p:sp>
        <p:nvSpPr>
          <p:cNvPr id="26" name="Shape 30"/>
          <p:cNvSpPr/>
          <p:nvPr/>
        </p:nvSpPr>
        <p:spPr>
          <a:xfrm>
            <a:off x="9354312" y="1645920"/>
            <a:ext cx="347472" cy="347472"/>
          </a:xfrm>
          <a:prstGeom prst="ellipse">
            <a:avLst/>
          </a:prstGeom>
          <a:solidFill>
            <a:schemeClr val="accent2"/>
          </a:solidFill>
          <a:ln w="19050">
            <a:solidFill>
              <a:schemeClr val="bg1"/>
            </a:solidFill>
            <a:prstDash val="solid"/>
          </a:ln>
        </p:spPr>
      </p:sp>
      <p:sp>
        <p:nvSpPr>
          <p:cNvPr id="27" name="Text 31"/>
          <p:cNvSpPr txBox="1"/>
          <p:nvPr/>
        </p:nvSpPr>
        <p:spPr>
          <a:xfrm>
            <a:off x="9354312" y="1645920"/>
            <a:ext cx="347472" cy="347472"/>
          </a:xfrm>
          <a:prstGeom prst="rect">
            <a:avLst/>
          </a:prstGeom>
          <a:noFill/>
        </p:spPr>
        <p:txBody>
          <a:bodyPr wrap="square" lIns="0" tIns="0" rIns="0" bIns="0" rtlCol="0" anchor="ctr"/>
          <a:lstStyle/>
          <a:p>
            <a:pPr marL="0" indent="0" algn="ctr">
              <a:buNone/>
            </a:pPr>
            <a:r>
              <a:rPr lang="en-US" sz="1300" b="1" dirty="0">
                <a:solidFill>
                  <a:schemeClr val="bg1"/>
                </a:solidFill>
                <a:latin typeface="+mj-lt"/>
                <a:ea typeface="+mj-lt"/>
                <a:cs typeface="+mj-lt"/>
              </a:rPr>
              <a:t>3</a:t>
            </a:r>
            <a:endParaRPr lang="en-US" sz="1300" dirty="0"/>
          </a:p>
        </p:txBody>
      </p:sp>
      <p:sp>
        <p:nvSpPr>
          <p:cNvPr id="28" name="Shape 32"/>
          <p:cNvSpPr/>
          <p:nvPr/>
        </p:nvSpPr>
        <p:spPr>
          <a:xfrm>
            <a:off x="8375904" y="2697480"/>
            <a:ext cx="3090672" cy="731520"/>
          </a:xfrm>
          <a:prstGeom prst="roundRect">
            <a:avLst>
              <a:gd name="adj" fmla="val 10000"/>
            </a:avLst>
          </a:prstGeom>
          <a:solidFill>
            <a:schemeClr val="accent3"/>
          </a:solidFill>
        </p:spPr>
      </p:sp>
      <p:sp>
        <p:nvSpPr>
          <p:cNvPr id="29" name="Text 33"/>
          <p:cNvSpPr txBox="1"/>
          <p:nvPr/>
        </p:nvSpPr>
        <p:spPr>
          <a:xfrm>
            <a:off x="8485632" y="2697480"/>
            <a:ext cx="2871216" cy="731520"/>
          </a:xfrm>
          <a:prstGeom prst="rect">
            <a:avLst/>
          </a:prstGeom>
          <a:noFill/>
        </p:spPr>
        <p:txBody>
          <a:bodyPr wrap="square" lIns="0" tIns="0" rIns="0" bIns="0" rtlCol="0" anchor="ctr"/>
          <a:lstStyle/>
          <a:p>
            <a:pPr marL="0" indent="0" algn="ctr">
              <a:buNone/>
            </a:pPr>
            <a:r>
              <a:rPr lang="en-US" sz="1500" b="1" dirty="0">
                <a:solidFill>
                  <a:schemeClr val="bg1"/>
                </a:solidFill>
                <a:latin typeface="+mj-lt"/>
                <a:ea typeface="+mj-lt"/>
                <a:cs typeface="+mj-lt"/>
              </a:rPr>
              <a:t>The small and mid-sized institution gap</a:t>
            </a:r>
            <a:endParaRPr lang="en-US" sz="1500" dirty="0"/>
          </a:p>
        </p:txBody>
      </p:sp>
      <p:sp>
        <p:nvSpPr>
          <p:cNvPr id="30" name="Text 34"/>
          <p:cNvSpPr txBox="1"/>
          <p:nvPr/>
        </p:nvSpPr>
        <p:spPr>
          <a:xfrm>
            <a:off x="8421624" y="3566160"/>
            <a:ext cx="2999232" cy="1325880"/>
          </a:xfrm>
          <a:prstGeom prst="rect">
            <a:avLst/>
          </a:prstGeom>
          <a:noFill/>
        </p:spPr>
        <p:txBody>
          <a:bodyPr wrap="square" lIns="0" tIns="0" rIns="0" bIns="0" rtlCol="0" anchor="t"/>
          <a:lstStyle/>
          <a:p>
            <a:pPr marL="0" indent="0">
              <a:buNone/>
            </a:pPr>
            <a:r>
              <a:rPr lang="en-US" sz="1300" dirty="0">
                <a:solidFill>
                  <a:schemeClr val="tx1"/>
                </a:solidFill>
              </a:rPr>
              <a:t>Limited technology infrastructure and data capability make this shift hardest where it is needed most. MCST continues to grow in enrollment, borrowing activity, and collection volume.</a:t>
            </a:r>
            <a:endParaRPr lang="en-US" sz="1300" dirty="0"/>
          </a:p>
        </p:txBody>
      </p:sp>
      <p:sp>
        <p:nvSpPr>
          <p:cNvPr id="31" name="Shape 35"/>
          <p:cNvSpPr/>
          <p:nvPr/>
        </p:nvSpPr>
        <p:spPr>
          <a:xfrm>
            <a:off x="548640" y="5120640"/>
            <a:ext cx="6949440" cy="1143000"/>
          </a:xfrm>
          <a:prstGeom prst="roundRect">
            <a:avLst>
              <a:gd name="adj" fmla="val 8000"/>
            </a:avLst>
          </a:prstGeom>
          <a:solidFill>
            <a:schemeClr val="tx2"/>
          </a:solidFill>
        </p:spPr>
      </p:sp>
      <p:pic>
        <p:nvPicPr>
          <p:cNvPr id="32" name="Icon 36" descr="preencoded.png"/>
          <p:cNvPicPr>
            <a:picLocks noChangeAspect="1"/>
          </p:cNvPicPr>
          <p:nvPr/>
        </p:nvPicPr>
        <p:blipFill>
          <a:blip r:embed="rId6"/>
          <a:stretch>
            <a:fillRect/>
          </a:stretch>
        </p:blipFill>
        <p:spPr>
          <a:xfrm>
            <a:off x="822960" y="5458968"/>
            <a:ext cx="457200" cy="457200"/>
          </a:xfrm>
          <a:prstGeom prst="rect">
            <a:avLst/>
          </a:prstGeom>
        </p:spPr>
      </p:pic>
      <p:sp>
        <p:nvSpPr>
          <p:cNvPr id="33" name="Text 37"/>
          <p:cNvSpPr txBox="1"/>
          <p:nvPr/>
        </p:nvSpPr>
        <p:spPr>
          <a:xfrm>
            <a:off x="1508760" y="5257800"/>
            <a:ext cx="5486400" cy="228600"/>
          </a:xfrm>
          <a:prstGeom prst="rect">
            <a:avLst/>
          </a:prstGeom>
          <a:noFill/>
        </p:spPr>
        <p:txBody>
          <a:bodyPr wrap="square" lIns="0" tIns="0" rIns="0" bIns="0" rtlCol="0" anchor="t"/>
          <a:lstStyle/>
          <a:p>
            <a:pPr marL="0" indent="0">
              <a:buNone/>
            </a:pPr>
            <a:r>
              <a:rPr lang="en-US" sz="1100" b="1" kern="0" spc="400" dirty="0">
                <a:solidFill>
                  <a:schemeClr val="accent2"/>
                </a:solidFill>
              </a:rPr>
              <a:t>RESEARCH RESPONSE</a:t>
            </a:r>
            <a:endParaRPr lang="en-US" sz="1100" dirty="0"/>
          </a:p>
        </p:txBody>
      </p:sp>
      <p:sp>
        <p:nvSpPr>
          <p:cNvPr id="34" name="Text 38"/>
          <p:cNvSpPr txBox="1"/>
          <p:nvPr/>
        </p:nvSpPr>
        <p:spPr>
          <a:xfrm>
            <a:off x="1508760" y="5532120"/>
            <a:ext cx="5760720" cy="640080"/>
          </a:xfrm>
          <a:prstGeom prst="rect">
            <a:avLst/>
          </a:prstGeom>
          <a:noFill/>
        </p:spPr>
        <p:txBody>
          <a:bodyPr wrap="square" lIns="0" tIns="0" rIns="0" bIns="0" rtlCol="0" anchor="t"/>
          <a:lstStyle/>
          <a:p>
            <a:pPr marL="0" indent="0">
              <a:buNone/>
            </a:pPr>
            <a:r>
              <a:rPr lang="en-US" sz="1600" b="1" dirty="0">
                <a:solidFill>
                  <a:schemeClr val="bg1"/>
                </a:solidFill>
                <a:latin typeface="+mj-lt"/>
                <a:ea typeface="+mj-lt"/>
                <a:cs typeface="+mj-lt"/>
              </a:rPr>
              <a:t>A web-based Library Management System with Business Intelligence embedded in daily operations.</a:t>
            </a:r>
            <a:endParaRPr lang="en-US" sz="1600" dirty="0"/>
          </a:p>
        </p:txBody>
      </p:sp>
      <p:sp>
        <p:nvSpPr>
          <p:cNvPr id="35" name="Text 39"/>
          <p:cNvSpPr txBox="1"/>
          <p:nvPr/>
        </p:nvSpPr>
        <p:spPr>
          <a:xfrm>
            <a:off x="7726680" y="5120640"/>
            <a:ext cx="3913632" cy="228600"/>
          </a:xfrm>
          <a:prstGeom prst="rect">
            <a:avLst/>
          </a:prstGeom>
          <a:noFill/>
        </p:spPr>
        <p:txBody>
          <a:bodyPr wrap="square" lIns="0" tIns="0" rIns="0" bIns="0" rtlCol="0" anchor="t"/>
          <a:lstStyle/>
          <a:p>
            <a:pPr marL="0" indent="0">
              <a:buNone/>
            </a:pPr>
            <a:r>
              <a:rPr lang="en-US" sz="1100" b="1" kern="0" spc="300" dirty="0">
                <a:solidFill>
                  <a:schemeClr val="accent6"/>
                </a:solidFill>
              </a:rPr>
              <a:t>SUSTAINABLE DEVELOPMENT GOALS</a:t>
            </a:r>
            <a:endParaRPr lang="en-US" sz="1100" dirty="0"/>
          </a:p>
        </p:txBody>
      </p:sp>
      <p:sp>
        <p:nvSpPr>
          <p:cNvPr id="36" name="Shape 40"/>
          <p:cNvSpPr/>
          <p:nvPr/>
        </p:nvSpPr>
        <p:spPr>
          <a:xfrm>
            <a:off x="7726680" y="5394960"/>
            <a:ext cx="3913632" cy="411480"/>
          </a:xfrm>
          <a:prstGeom prst="roundRect">
            <a:avLst>
              <a:gd name="adj" fmla="val 17778"/>
            </a:avLst>
          </a:prstGeom>
          <a:solidFill>
            <a:schemeClr val="accent1"/>
          </a:solidFill>
        </p:spPr>
      </p:sp>
      <p:sp>
        <p:nvSpPr>
          <p:cNvPr id="37" name="Text 41"/>
          <p:cNvSpPr txBox="1"/>
          <p:nvPr/>
        </p:nvSpPr>
        <p:spPr>
          <a:xfrm>
            <a:off x="7836408" y="5394960"/>
            <a:ext cx="3694176" cy="411480"/>
          </a:xfrm>
          <a:prstGeom prst="rect">
            <a:avLst/>
          </a:prstGeom>
          <a:noFill/>
        </p:spPr>
        <p:txBody>
          <a:bodyPr wrap="square" lIns="0" tIns="0" rIns="0" bIns="0" rtlCol="0" anchor="ctr"/>
          <a:lstStyle/>
          <a:p>
            <a:pPr marL="0" indent="0" algn="l">
              <a:buNone/>
            </a:pPr>
            <a:r>
              <a:rPr lang="en-US" sz="1300" b="1" dirty="0">
                <a:solidFill>
                  <a:schemeClr val="bg1"/>
                </a:solidFill>
                <a:latin typeface="+mn-lt"/>
                <a:ea typeface="+mn-lt"/>
                <a:cs typeface="+mn-lt"/>
              </a:rPr>
              <a:t>SDG 4  Quality Education</a:t>
            </a:r>
            <a:endParaRPr lang="en-US" sz="1300" dirty="0"/>
          </a:p>
        </p:txBody>
      </p:sp>
      <p:sp>
        <p:nvSpPr>
          <p:cNvPr id="38" name="Shape 42"/>
          <p:cNvSpPr/>
          <p:nvPr/>
        </p:nvSpPr>
        <p:spPr>
          <a:xfrm>
            <a:off x="7726680" y="5852160"/>
            <a:ext cx="3913632" cy="411480"/>
          </a:xfrm>
          <a:prstGeom prst="roundRect">
            <a:avLst>
              <a:gd name="adj" fmla="val 17778"/>
            </a:avLst>
          </a:prstGeom>
          <a:solidFill>
            <a:schemeClr val="accent2"/>
          </a:solidFill>
        </p:spPr>
      </p:sp>
      <p:sp>
        <p:nvSpPr>
          <p:cNvPr id="39" name="Text 43"/>
          <p:cNvSpPr txBox="1"/>
          <p:nvPr/>
        </p:nvSpPr>
        <p:spPr>
          <a:xfrm>
            <a:off x="7836408" y="5852160"/>
            <a:ext cx="3694176" cy="411480"/>
          </a:xfrm>
          <a:prstGeom prst="rect">
            <a:avLst/>
          </a:prstGeom>
          <a:noFill/>
        </p:spPr>
        <p:txBody>
          <a:bodyPr wrap="square" lIns="0" tIns="0" rIns="0" bIns="0" rtlCol="0" anchor="ctr"/>
          <a:lstStyle/>
          <a:p>
            <a:pPr marL="0" indent="0" algn="l">
              <a:buNone/>
            </a:pPr>
            <a:r>
              <a:rPr lang="en-US" sz="1250" b="1" dirty="0">
                <a:solidFill>
                  <a:schemeClr val="bg1"/>
                </a:solidFill>
                <a:latin typeface="+mn-lt"/>
                <a:ea typeface="+mn-lt"/>
                <a:cs typeface="+mn-lt"/>
              </a:rPr>
              <a:t>SDG 9  Industry, Innovation and Infrastructure</a:t>
            </a:r>
            <a:endParaRPr lang="en-US" sz="125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02  |  CURRENT SYSTEM</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Current System: KOHA and Paper Log Sheets</a:t>
            </a:r>
            <a:endParaRPr lang="en-US" sz="2800" dirty="0"/>
          </a:p>
        </p:txBody>
      </p:sp>
      <p:sp>
        <p:nvSpPr>
          <p:cNvPr id="5" name="Shape 44"/>
          <p:cNvSpPr/>
          <p:nvPr/>
        </p:nvSpPr>
        <p:spPr>
          <a:xfrm>
            <a:off x="1325880" y="1463040"/>
            <a:ext cx="914400" cy="914400"/>
          </a:xfrm>
          <a:prstGeom prst="ellipse">
            <a:avLst/>
          </a:prstGeom>
          <a:solidFill>
            <a:schemeClr val="accent5">
              <a:alpha val="55000"/>
            </a:schemeClr>
          </a:solidFill>
        </p:spPr>
      </p:sp>
      <p:pic>
        <p:nvPicPr>
          <p:cNvPr id="6" name="Icon 45" descr="preencoded.png"/>
          <p:cNvPicPr>
            <a:picLocks noChangeAspect="1"/>
          </p:cNvPicPr>
          <p:nvPr/>
        </p:nvPicPr>
        <p:blipFill>
          <a:blip r:embed="rId3"/>
          <a:stretch>
            <a:fillRect/>
          </a:stretch>
        </p:blipFill>
        <p:spPr>
          <a:xfrm>
            <a:off x="1545336" y="1682496"/>
            <a:ext cx="475488" cy="475488"/>
          </a:xfrm>
          <a:prstGeom prst="rect">
            <a:avLst/>
          </a:prstGeom>
        </p:spPr>
      </p:pic>
      <p:sp>
        <p:nvSpPr>
          <p:cNvPr id="7" name="Shape 46"/>
          <p:cNvSpPr/>
          <p:nvPr/>
        </p:nvSpPr>
        <p:spPr>
          <a:xfrm>
            <a:off x="1124712" y="1444752"/>
            <a:ext cx="365760" cy="365760"/>
          </a:xfrm>
          <a:prstGeom prst="ellipse">
            <a:avLst/>
          </a:prstGeom>
          <a:solidFill>
            <a:schemeClr val="accent2"/>
          </a:solidFill>
          <a:ln w="19050">
            <a:solidFill>
              <a:schemeClr val="bg1"/>
            </a:solidFill>
            <a:prstDash val="solid"/>
          </a:ln>
        </p:spPr>
      </p:sp>
      <p:sp>
        <p:nvSpPr>
          <p:cNvPr id="8" name="Text 47"/>
          <p:cNvSpPr txBox="1"/>
          <p:nvPr/>
        </p:nvSpPr>
        <p:spPr>
          <a:xfrm>
            <a:off x="1124712" y="1444752"/>
            <a:ext cx="365760" cy="365760"/>
          </a:xfrm>
          <a:prstGeom prst="rect">
            <a:avLst/>
          </a:prstGeom>
          <a:noFill/>
        </p:spPr>
        <p:txBody>
          <a:bodyPr wrap="square" lIns="0" tIns="0" rIns="0" bIns="0" rtlCol="0" anchor="ctr"/>
          <a:lstStyle/>
          <a:p>
            <a:pPr marL="0" indent="0" algn="ctr">
              <a:buNone/>
            </a:pPr>
            <a:r>
              <a:rPr lang="en-US" sz="1400" b="1" dirty="0">
                <a:solidFill>
                  <a:schemeClr val="bg1"/>
                </a:solidFill>
                <a:latin typeface="+mj-lt"/>
                <a:ea typeface="+mj-lt"/>
                <a:cs typeface="+mj-lt"/>
              </a:rPr>
              <a:t>1</a:t>
            </a:r>
            <a:endParaRPr lang="en-US" sz="1400" dirty="0"/>
          </a:p>
        </p:txBody>
      </p:sp>
      <p:sp>
        <p:nvSpPr>
          <p:cNvPr id="9" name="Shape 48"/>
          <p:cNvSpPr/>
          <p:nvPr/>
        </p:nvSpPr>
        <p:spPr>
          <a:xfrm>
            <a:off x="548640" y="2514600"/>
            <a:ext cx="2468880" cy="640080"/>
          </a:xfrm>
          <a:prstGeom prst="roundRect">
            <a:avLst>
              <a:gd name="adj" fmla="val 11429"/>
            </a:avLst>
          </a:prstGeom>
          <a:solidFill>
            <a:schemeClr val="accent1"/>
          </a:solidFill>
        </p:spPr>
      </p:sp>
      <p:sp>
        <p:nvSpPr>
          <p:cNvPr id="10" name="Text 49"/>
          <p:cNvSpPr txBox="1"/>
          <p:nvPr/>
        </p:nvSpPr>
        <p:spPr>
          <a:xfrm>
            <a:off x="658368" y="2514600"/>
            <a:ext cx="2249424" cy="640080"/>
          </a:xfrm>
          <a:prstGeom prst="rect">
            <a:avLst/>
          </a:prstGeom>
          <a:noFill/>
        </p:spPr>
        <p:txBody>
          <a:bodyPr wrap="square" lIns="0" tIns="0" rIns="0" bIns="0" rtlCol="0" anchor="ctr"/>
          <a:lstStyle/>
          <a:p>
            <a:pPr marL="0" indent="0" algn="ctr">
              <a:buNone/>
            </a:pPr>
            <a:r>
              <a:rPr lang="en-US" sz="1450" b="1" dirty="0">
                <a:solidFill>
                  <a:schemeClr val="bg1"/>
                </a:solidFill>
                <a:latin typeface="+mj-lt"/>
                <a:ea typeface="+mj-lt"/>
                <a:cs typeface="+mj-lt"/>
              </a:rPr>
              <a:t>Student borrows</a:t>
            </a:r>
            <a:endParaRPr lang="en-US" sz="1450" dirty="0"/>
          </a:p>
        </p:txBody>
      </p:sp>
      <p:sp>
        <p:nvSpPr>
          <p:cNvPr id="11" name="Text 50"/>
          <p:cNvSpPr txBox="1"/>
          <p:nvPr/>
        </p:nvSpPr>
        <p:spPr>
          <a:xfrm>
            <a:off x="548640" y="3227832"/>
            <a:ext cx="2468880" cy="274320"/>
          </a:xfrm>
          <a:prstGeom prst="rect">
            <a:avLst/>
          </a:prstGeom>
          <a:noFill/>
        </p:spPr>
        <p:txBody>
          <a:bodyPr wrap="square" lIns="0" tIns="0" rIns="0" bIns="0" rtlCol="0" anchor="t"/>
          <a:lstStyle/>
          <a:p>
            <a:pPr marL="0" indent="0" algn="ctr">
              <a:buNone/>
            </a:pPr>
            <a:r>
              <a:rPr lang="en-US" sz="1300" dirty="0">
                <a:solidFill>
                  <a:schemeClr val="accent6"/>
                </a:solidFill>
              </a:rPr>
              <a:t>in-library / overnight</a:t>
            </a:r>
            <a:endParaRPr lang="en-US" sz="1300" dirty="0"/>
          </a:p>
        </p:txBody>
      </p:sp>
      <p:sp>
        <p:nvSpPr>
          <p:cNvPr id="12" name="Arrow 51"/>
          <p:cNvSpPr/>
          <p:nvPr/>
        </p:nvSpPr>
        <p:spPr>
          <a:xfrm>
            <a:off x="3090672" y="1920240"/>
            <a:ext cx="259690" cy="0"/>
          </a:xfrm>
          <a:prstGeom prst="line">
            <a:avLst/>
          </a:prstGeom>
          <a:noFill/>
          <a:ln w="28575">
            <a:solidFill>
              <a:schemeClr val="accent2"/>
            </a:solidFill>
            <a:prstDash val="solid"/>
            <a:tailEnd type="triangle"/>
          </a:ln>
        </p:spPr>
      </p:sp>
      <p:sp>
        <p:nvSpPr>
          <p:cNvPr id="13" name="Shape 52"/>
          <p:cNvSpPr/>
          <p:nvPr/>
        </p:nvSpPr>
        <p:spPr>
          <a:xfrm>
            <a:off x="4200754" y="1463040"/>
            <a:ext cx="914400" cy="914400"/>
          </a:xfrm>
          <a:prstGeom prst="ellipse">
            <a:avLst/>
          </a:prstGeom>
          <a:solidFill>
            <a:schemeClr val="accent5">
              <a:alpha val="55000"/>
            </a:schemeClr>
          </a:solidFill>
        </p:spPr>
      </p:sp>
      <p:pic>
        <p:nvPicPr>
          <p:cNvPr id="14" name="Icon 53" descr="preencoded.png"/>
          <p:cNvPicPr>
            <a:picLocks noChangeAspect="1"/>
          </p:cNvPicPr>
          <p:nvPr/>
        </p:nvPicPr>
        <p:blipFill>
          <a:blip r:embed="rId4"/>
          <a:stretch>
            <a:fillRect/>
          </a:stretch>
        </p:blipFill>
        <p:spPr>
          <a:xfrm>
            <a:off x="4420210" y="1682496"/>
            <a:ext cx="475488" cy="475488"/>
          </a:xfrm>
          <a:prstGeom prst="rect">
            <a:avLst/>
          </a:prstGeom>
        </p:spPr>
      </p:pic>
      <p:sp>
        <p:nvSpPr>
          <p:cNvPr id="15" name="Shape 54"/>
          <p:cNvSpPr/>
          <p:nvPr/>
        </p:nvSpPr>
        <p:spPr>
          <a:xfrm>
            <a:off x="3999586" y="1444752"/>
            <a:ext cx="365760" cy="365760"/>
          </a:xfrm>
          <a:prstGeom prst="ellipse">
            <a:avLst/>
          </a:prstGeom>
          <a:solidFill>
            <a:schemeClr val="accent2"/>
          </a:solidFill>
          <a:ln w="19050">
            <a:solidFill>
              <a:schemeClr val="bg1"/>
            </a:solidFill>
            <a:prstDash val="solid"/>
          </a:ln>
        </p:spPr>
      </p:sp>
      <p:sp>
        <p:nvSpPr>
          <p:cNvPr id="16" name="Text 55"/>
          <p:cNvSpPr txBox="1"/>
          <p:nvPr/>
        </p:nvSpPr>
        <p:spPr>
          <a:xfrm>
            <a:off x="3999586" y="1444752"/>
            <a:ext cx="365760" cy="365760"/>
          </a:xfrm>
          <a:prstGeom prst="rect">
            <a:avLst/>
          </a:prstGeom>
          <a:noFill/>
        </p:spPr>
        <p:txBody>
          <a:bodyPr wrap="square" lIns="0" tIns="0" rIns="0" bIns="0" rtlCol="0" anchor="ctr"/>
          <a:lstStyle/>
          <a:p>
            <a:pPr marL="0" indent="0" algn="ctr">
              <a:buNone/>
            </a:pPr>
            <a:r>
              <a:rPr lang="en-US" sz="1400" b="1" dirty="0">
                <a:solidFill>
                  <a:schemeClr val="bg1"/>
                </a:solidFill>
                <a:latin typeface="+mj-lt"/>
                <a:ea typeface="+mj-lt"/>
                <a:cs typeface="+mj-lt"/>
              </a:rPr>
              <a:t>2</a:t>
            </a:r>
            <a:endParaRPr lang="en-US" sz="1400" dirty="0"/>
          </a:p>
        </p:txBody>
      </p:sp>
      <p:sp>
        <p:nvSpPr>
          <p:cNvPr id="17" name="Shape 56"/>
          <p:cNvSpPr/>
          <p:nvPr/>
        </p:nvSpPr>
        <p:spPr>
          <a:xfrm>
            <a:off x="3423514" y="2514600"/>
            <a:ext cx="2468880" cy="640080"/>
          </a:xfrm>
          <a:prstGeom prst="roundRect">
            <a:avLst>
              <a:gd name="adj" fmla="val 11429"/>
            </a:avLst>
          </a:prstGeom>
          <a:solidFill>
            <a:schemeClr val="accent2"/>
          </a:solidFill>
        </p:spPr>
      </p:sp>
      <p:sp>
        <p:nvSpPr>
          <p:cNvPr id="18" name="Text 57"/>
          <p:cNvSpPr txBox="1"/>
          <p:nvPr/>
        </p:nvSpPr>
        <p:spPr>
          <a:xfrm>
            <a:off x="3533242" y="2514600"/>
            <a:ext cx="2249424" cy="640080"/>
          </a:xfrm>
          <a:prstGeom prst="rect">
            <a:avLst/>
          </a:prstGeom>
          <a:noFill/>
        </p:spPr>
        <p:txBody>
          <a:bodyPr wrap="square" lIns="0" tIns="0" rIns="0" bIns="0" rtlCol="0" anchor="ctr"/>
          <a:lstStyle/>
          <a:p>
            <a:pPr marL="0" indent="0" algn="ctr">
              <a:buNone/>
            </a:pPr>
            <a:r>
              <a:rPr lang="en-US" sz="1450" b="1" dirty="0">
                <a:solidFill>
                  <a:schemeClr val="bg1"/>
                </a:solidFill>
                <a:latin typeface="+mj-lt"/>
                <a:ea typeface="+mj-lt"/>
                <a:cs typeface="+mj-lt"/>
              </a:rPr>
              <a:t>Paper log sheet</a:t>
            </a:r>
            <a:endParaRPr lang="en-US" sz="1450" dirty="0"/>
          </a:p>
        </p:txBody>
      </p:sp>
      <p:sp>
        <p:nvSpPr>
          <p:cNvPr id="19" name="Text 58"/>
          <p:cNvSpPr txBox="1"/>
          <p:nvPr/>
        </p:nvSpPr>
        <p:spPr>
          <a:xfrm>
            <a:off x="3423514" y="3227832"/>
            <a:ext cx="2468880" cy="274320"/>
          </a:xfrm>
          <a:prstGeom prst="rect">
            <a:avLst/>
          </a:prstGeom>
          <a:noFill/>
        </p:spPr>
        <p:txBody>
          <a:bodyPr wrap="square" lIns="0" tIns="0" rIns="0" bIns="0" rtlCol="0" anchor="t"/>
          <a:lstStyle/>
          <a:p>
            <a:pPr marL="0" indent="0" algn="ctr">
              <a:buNone/>
            </a:pPr>
            <a:r>
              <a:rPr lang="en-US" sz="1300" dirty="0">
                <a:solidFill>
                  <a:schemeClr val="accent6"/>
                </a:solidFill>
              </a:rPr>
              <a:t>book + program + name</a:t>
            </a:r>
            <a:endParaRPr lang="en-US" sz="1300" dirty="0"/>
          </a:p>
        </p:txBody>
      </p:sp>
      <p:sp>
        <p:nvSpPr>
          <p:cNvPr id="20" name="Arrow 59"/>
          <p:cNvSpPr/>
          <p:nvPr/>
        </p:nvSpPr>
        <p:spPr>
          <a:xfrm>
            <a:off x="5965546" y="1920240"/>
            <a:ext cx="259690" cy="0"/>
          </a:xfrm>
          <a:prstGeom prst="line">
            <a:avLst/>
          </a:prstGeom>
          <a:noFill/>
          <a:ln w="28575">
            <a:solidFill>
              <a:schemeClr val="accent2"/>
            </a:solidFill>
            <a:prstDash val="solid"/>
            <a:tailEnd type="triangle"/>
          </a:ln>
        </p:spPr>
      </p:sp>
      <p:sp>
        <p:nvSpPr>
          <p:cNvPr id="21" name="Shape 60"/>
          <p:cNvSpPr/>
          <p:nvPr/>
        </p:nvSpPr>
        <p:spPr>
          <a:xfrm>
            <a:off x="7075627" y="1463040"/>
            <a:ext cx="914400" cy="914400"/>
          </a:xfrm>
          <a:prstGeom prst="ellipse">
            <a:avLst/>
          </a:prstGeom>
          <a:solidFill>
            <a:schemeClr val="accent5">
              <a:alpha val="55000"/>
            </a:schemeClr>
          </a:solidFill>
        </p:spPr>
      </p:sp>
      <p:pic>
        <p:nvPicPr>
          <p:cNvPr id="22" name="Icon 61" descr="preencoded.png"/>
          <p:cNvPicPr>
            <a:picLocks noChangeAspect="1"/>
          </p:cNvPicPr>
          <p:nvPr/>
        </p:nvPicPr>
        <p:blipFill>
          <a:blip r:embed="rId5"/>
          <a:stretch>
            <a:fillRect/>
          </a:stretch>
        </p:blipFill>
        <p:spPr>
          <a:xfrm>
            <a:off x="7295083" y="1682496"/>
            <a:ext cx="475488" cy="475488"/>
          </a:xfrm>
          <a:prstGeom prst="rect">
            <a:avLst/>
          </a:prstGeom>
        </p:spPr>
      </p:pic>
      <p:sp>
        <p:nvSpPr>
          <p:cNvPr id="23" name="Shape 62"/>
          <p:cNvSpPr/>
          <p:nvPr/>
        </p:nvSpPr>
        <p:spPr>
          <a:xfrm>
            <a:off x="6874459" y="1444752"/>
            <a:ext cx="365760" cy="365760"/>
          </a:xfrm>
          <a:prstGeom prst="ellipse">
            <a:avLst/>
          </a:prstGeom>
          <a:solidFill>
            <a:schemeClr val="accent2"/>
          </a:solidFill>
          <a:ln w="19050">
            <a:solidFill>
              <a:schemeClr val="bg1"/>
            </a:solidFill>
            <a:prstDash val="solid"/>
          </a:ln>
        </p:spPr>
      </p:sp>
      <p:sp>
        <p:nvSpPr>
          <p:cNvPr id="24" name="Text 63"/>
          <p:cNvSpPr txBox="1"/>
          <p:nvPr/>
        </p:nvSpPr>
        <p:spPr>
          <a:xfrm>
            <a:off x="6874459" y="1444752"/>
            <a:ext cx="365760" cy="365760"/>
          </a:xfrm>
          <a:prstGeom prst="rect">
            <a:avLst/>
          </a:prstGeom>
          <a:noFill/>
        </p:spPr>
        <p:txBody>
          <a:bodyPr wrap="square" lIns="0" tIns="0" rIns="0" bIns="0" rtlCol="0" anchor="ctr"/>
          <a:lstStyle/>
          <a:p>
            <a:pPr marL="0" indent="0" algn="ctr">
              <a:buNone/>
            </a:pPr>
            <a:r>
              <a:rPr lang="en-US" sz="1400" b="1" dirty="0">
                <a:solidFill>
                  <a:schemeClr val="bg1"/>
                </a:solidFill>
                <a:latin typeface="+mj-lt"/>
                <a:ea typeface="+mj-lt"/>
                <a:cs typeface="+mj-lt"/>
              </a:rPr>
              <a:t>3</a:t>
            </a:r>
            <a:endParaRPr lang="en-US" sz="1400" dirty="0"/>
          </a:p>
        </p:txBody>
      </p:sp>
      <p:sp>
        <p:nvSpPr>
          <p:cNvPr id="25" name="Shape 64"/>
          <p:cNvSpPr/>
          <p:nvPr/>
        </p:nvSpPr>
        <p:spPr>
          <a:xfrm>
            <a:off x="6298387" y="2514600"/>
            <a:ext cx="2468880" cy="640080"/>
          </a:xfrm>
          <a:prstGeom prst="roundRect">
            <a:avLst>
              <a:gd name="adj" fmla="val 11429"/>
            </a:avLst>
          </a:prstGeom>
          <a:solidFill>
            <a:schemeClr val="accent3"/>
          </a:solidFill>
        </p:spPr>
      </p:sp>
      <p:sp>
        <p:nvSpPr>
          <p:cNvPr id="26" name="Text 65"/>
          <p:cNvSpPr txBox="1"/>
          <p:nvPr/>
        </p:nvSpPr>
        <p:spPr>
          <a:xfrm>
            <a:off x="6408115" y="2514600"/>
            <a:ext cx="2249424" cy="640080"/>
          </a:xfrm>
          <a:prstGeom prst="rect">
            <a:avLst/>
          </a:prstGeom>
          <a:noFill/>
        </p:spPr>
        <p:txBody>
          <a:bodyPr wrap="square" lIns="0" tIns="0" rIns="0" bIns="0" rtlCol="0" anchor="ctr"/>
          <a:lstStyle/>
          <a:p>
            <a:pPr marL="0" indent="0" algn="ctr">
              <a:buNone/>
            </a:pPr>
            <a:r>
              <a:rPr lang="en-US" sz="1450" b="1" dirty="0">
                <a:solidFill>
                  <a:schemeClr val="bg1"/>
                </a:solidFill>
                <a:latin typeface="+mj-lt"/>
                <a:ea typeface="+mj-lt"/>
                <a:cs typeface="+mj-lt"/>
              </a:rPr>
              <a:t>Re-encoded into KOHA</a:t>
            </a:r>
            <a:endParaRPr lang="en-US" sz="1450" dirty="0"/>
          </a:p>
        </p:txBody>
      </p:sp>
      <p:sp>
        <p:nvSpPr>
          <p:cNvPr id="27" name="Text 66"/>
          <p:cNvSpPr txBox="1"/>
          <p:nvPr/>
        </p:nvSpPr>
        <p:spPr>
          <a:xfrm>
            <a:off x="6298387" y="3227832"/>
            <a:ext cx="2468880" cy="274320"/>
          </a:xfrm>
          <a:prstGeom prst="rect">
            <a:avLst/>
          </a:prstGeom>
          <a:noFill/>
        </p:spPr>
        <p:txBody>
          <a:bodyPr wrap="square" lIns="0" tIns="0" rIns="0" bIns="0" rtlCol="0" anchor="t"/>
          <a:lstStyle/>
          <a:p>
            <a:pPr marL="0" indent="0" algn="ctr">
              <a:buNone/>
            </a:pPr>
            <a:r>
              <a:rPr lang="en-US" sz="1300" dirty="0">
                <a:solidFill>
                  <a:schemeClr val="accent6"/>
                </a:solidFill>
              </a:rPr>
              <a:t>at a later time</a:t>
            </a:r>
            <a:endParaRPr lang="en-US" sz="1300" dirty="0"/>
          </a:p>
        </p:txBody>
      </p:sp>
      <p:sp>
        <p:nvSpPr>
          <p:cNvPr id="28" name="Arrow 67"/>
          <p:cNvSpPr/>
          <p:nvPr/>
        </p:nvSpPr>
        <p:spPr>
          <a:xfrm>
            <a:off x="8840419" y="1920240"/>
            <a:ext cx="259690" cy="0"/>
          </a:xfrm>
          <a:prstGeom prst="line">
            <a:avLst/>
          </a:prstGeom>
          <a:noFill/>
          <a:ln w="28575">
            <a:solidFill>
              <a:schemeClr val="accent2"/>
            </a:solidFill>
            <a:prstDash val="solid"/>
            <a:tailEnd type="triangle"/>
          </a:ln>
        </p:spPr>
      </p:sp>
      <p:sp>
        <p:nvSpPr>
          <p:cNvPr id="29" name="Shape 68"/>
          <p:cNvSpPr/>
          <p:nvPr/>
        </p:nvSpPr>
        <p:spPr>
          <a:xfrm>
            <a:off x="9950501" y="1463040"/>
            <a:ext cx="914400" cy="914400"/>
          </a:xfrm>
          <a:prstGeom prst="ellipse">
            <a:avLst/>
          </a:prstGeom>
          <a:solidFill>
            <a:schemeClr val="accent5">
              <a:alpha val="55000"/>
            </a:schemeClr>
          </a:solidFill>
        </p:spPr>
      </p:sp>
      <p:pic>
        <p:nvPicPr>
          <p:cNvPr id="30" name="Icon 69" descr="preencoded.png"/>
          <p:cNvPicPr>
            <a:picLocks noChangeAspect="1"/>
          </p:cNvPicPr>
          <p:nvPr/>
        </p:nvPicPr>
        <p:blipFill>
          <a:blip r:embed="rId6"/>
          <a:stretch>
            <a:fillRect/>
          </a:stretch>
        </p:blipFill>
        <p:spPr>
          <a:xfrm>
            <a:off x="10169957" y="1682496"/>
            <a:ext cx="475488" cy="475488"/>
          </a:xfrm>
          <a:prstGeom prst="rect">
            <a:avLst/>
          </a:prstGeom>
        </p:spPr>
      </p:pic>
      <p:sp>
        <p:nvSpPr>
          <p:cNvPr id="31" name="Shape 70"/>
          <p:cNvSpPr/>
          <p:nvPr/>
        </p:nvSpPr>
        <p:spPr>
          <a:xfrm>
            <a:off x="9749333" y="1444752"/>
            <a:ext cx="365760" cy="365760"/>
          </a:xfrm>
          <a:prstGeom prst="ellipse">
            <a:avLst/>
          </a:prstGeom>
          <a:solidFill>
            <a:schemeClr val="accent2"/>
          </a:solidFill>
          <a:ln w="19050">
            <a:solidFill>
              <a:schemeClr val="bg1"/>
            </a:solidFill>
            <a:prstDash val="solid"/>
          </a:ln>
        </p:spPr>
      </p:sp>
      <p:sp>
        <p:nvSpPr>
          <p:cNvPr id="32" name="Text 71"/>
          <p:cNvSpPr txBox="1"/>
          <p:nvPr/>
        </p:nvSpPr>
        <p:spPr>
          <a:xfrm>
            <a:off x="9749333" y="1444752"/>
            <a:ext cx="365760" cy="365760"/>
          </a:xfrm>
          <a:prstGeom prst="rect">
            <a:avLst/>
          </a:prstGeom>
          <a:noFill/>
        </p:spPr>
        <p:txBody>
          <a:bodyPr wrap="square" lIns="0" tIns="0" rIns="0" bIns="0" rtlCol="0" anchor="ctr"/>
          <a:lstStyle/>
          <a:p>
            <a:pPr marL="0" indent="0" algn="ctr">
              <a:buNone/>
            </a:pPr>
            <a:r>
              <a:rPr lang="en-US" sz="1400" b="1" dirty="0">
                <a:solidFill>
                  <a:schemeClr val="bg1"/>
                </a:solidFill>
                <a:latin typeface="+mj-lt"/>
                <a:ea typeface="+mj-lt"/>
                <a:cs typeface="+mj-lt"/>
              </a:rPr>
              <a:t>4</a:t>
            </a:r>
            <a:endParaRPr lang="en-US" sz="1400" dirty="0"/>
          </a:p>
        </p:txBody>
      </p:sp>
      <p:sp>
        <p:nvSpPr>
          <p:cNvPr id="33" name="Shape 72"/>
          <p:cNvSpPr/>
          <p:nvPr/>
        </p:nvSpPr>
        <p:spPr>
          <a:xfrm>
            <a:off x="9173261" y="2514600"/>
            <a:ext cx="2468880" cy="640080"/>
          </a:xfrm>
          <a:prstGeom prst="roundRect">
            <a:avLst>
              <a:gd name="adj" fmla="val 11429"/>
            </a:avLst>
          </a:prstGeom>
          <a:solidFill>
            <a:schemeClr val="accent1"/>
          </a:solidFill>
        </p:spPr>
      </p:sp>
      <p:sp>
        <p:nvSpPr>
          <p:cNvPr id="34" name="Text 73"/>
          <p:cNvSpPr txBox="1"/>
          <p:nvPr/>
        </p:nvSpPr>
        <p:spPr>
          <a:xfrm>
            <a:off x="9282989" y="2514600"/>
            <a:ext cx="2249424" cy="640080"/>
          </a:xfrm>
          <a:prstGeom prst="rect">
            <a:avLst/>
          </a:prstGeom>
          <a:noFill/>
        </p:spPr>
        <p:txBody>
          <a:bodyPr wrap="square" lIns="0" tIns="0" rIns="0" bIns="0" rtlCol="0" anchor="ctr"/>
          <a:lstStyle/>
          <a:p>
            <a:pPr marL="0" indent="0" algn="ctr">
              <a:buNone/>
            </a:pPr>
            <a:r>
              <a:rPr lang="en-US" sz="1450" b="1" dirty="0">
                <a:solidFill>
                  <a:schemeClr val="bg1"/>
                </a:solidFill>
                <a:latin typeface="+mj-lt"/>
                <a:ea typeface="+mj-lt"/>
                <a:cs typeface="+mj-lt"/>
              </a:rPr>
              <a:t>Manual tallies and reports</a:t>
            </a:r>
            <a:endParaRPr lang="en-US" sz="1450" dirty="0"/>
          </a:p>
        </p:txBody>
      </p:sp>
      <p:sp>
        <p:nvSpPr>
          <p:cNvPr id="35" name="Shape 74"/>
          <p:cNvSpPr/>
          <p:nvPr/>
        </p:nvSpPr>
        <p:spPr>
          <a:xfrm>
            <a:off x="548640" y="3794760"/>
            <a:ext cx="6400800" cy="2468880"/>
          </a:xfrm>
          <a:prstGeom prst="roundRect">
            <a:avLst>
              <a:gd name="adj" fmla="val 3704"/>
            </a:avLst>
          </a:prstGeom>
          <a:solidFill>
            <a:schemeClr val="bg2"/>
          </a:solidFill>
        </p:spPr>
      </p:sp>
      <p:sp>
        <p:nvSpPr>
          <p:cNvPr id="36" name="Shape 75"/>
          <p:cNvSpPr/>
          <p:nvPr/>
        </p:nvSpPr>
        <p:spPr>
          <a:xfrm>
            <a:off x="548640" y="3794760"/>
            <a:ext cx="6400800" cy="502920"/>
          </a:xfrm>
          <a:prstGeom prst="roundRect">
            <a:avLst>
              <a:gd name="adj" fmla="val 18182"/>
            </a:avLst>
          </a:prstGeom>
          <a:solidFill>
            <a:schemeClr val="tx2"/>
          </a:solidFill>
        </p:spPr>
      </p:sp>
      <p:sp>
        <p:nvSpPr>
          <p:cNvPr id="37" name="Shape 76"/>
          <p:cNvSpPr/>
          <p:nvPr/>
        </p:nvSpPr>
        <p:spPr>
          <a:xfrm>
            <a:off x="548640" y="4069080"/>
            <a:ext cx="6400800" cy="228600"/>
          </a:xfrm>
          <a:prstGeom prst="rect">
            <a:avLst/>
          </a:prstGeom>
          <a:solidFill>
            <a:schemeClr val="tx2"/>
          </a:solidFill>
        </p:spPr>
      </p:sp>
      <p:pic>
        <p:nvPicPr>
          <p:cNvPr id="38" name="Icon 77" descr="preencoded.png"/>
          <p:cNvPicPr>
            <a:picLocks noChangeAspect="1"/>
          </p:cNvPicPr>
          <p:nvPr/>
        </p:nvPicPr>
        <p:blipFill>
          <a:blip r:embed="rId7"/>
          <a:stretch>
            <a:fillRect/>
          </a:stretch>
        </p:blipFill>
        <p:spPr>
          <a:xfrm>
            <a:off x="731520" y="3867912"/>
            <a:ext cx="347472" cy="347472"/>
          </a:xfrm>
          <a:prstGeom prst="rect">
            <a:avLst/>
          </a:prstGeom>
        </p:spPr>
      </p:pic>
      <p:sp>
        <p:nvSpPr>
          <p:cNvPr id="39" name="Text 78"/>
          <p:cNvSpPr txBox="1"/>
          <p:nvPr/>
        </p:nvSpPr>
        <p:spPr>
          <a:xfrm>
            <a:off x="1234440" y="3794760"/>
            <a:ext cx="4572000" cy="502920"/>
          </a:xfrm>
          <a:prstGeom prst="rect">
            <a:avLst/>
          </a:prstGeom>
          <a:noFill/>
        </p:spPr>
        <p:txBody>
          <a:bodyPr wrap="square" lIns="0" tIns="0" rIns="0" bIns="0" rtlCol="0" anchor="ctr"/>
          <a:lstStyle/>
          <a:p>
            <a:pPr marL="0" indent="0">
              <a:buNone/>
            </a:pPr>
            <a:r>
              <a:rPr lang="en-US" sz="1800" b="1" dirty="0">
                <a:solidFill>
                  <a:schemeClr val="bg1"/>
                </a:solidFill>
                <a:latin typeface="+mj-lt"/>
                <a:ea typeface="+mj-lt"/>
                <a:cs typeface="+mj-lt"/>
              </a:rPr>
              <a:t>Observed limitations</a:t>
            </a:r>
            <a:endParaRPr lang="en-US" sz="1800" dirty="0"/>
          </a:p>
        </p:txBody>
      </p:sp>
      <p:sp>
        <p:nvSpPr>
          <p:cNvPr id="40" name="Shape 79"/>
          <p:cNvSpPr/>
          <p:nvPr/>
        </p:nvSpPr>
        <p:spPr>
          <a:xfrm>
            <a:off x="777240" y="4416552"/>
            <a:ext cx="329184" cy="329184"/>
          </a:xfrm>
          <a:prstGeom prst="ellipse">
            <a:avLst/>
          </a:prstGeom>
          <a:solidFill>
            <a:schemeClr val="accent1"/>
          </a:solidFill>
          <a:ln w="19050">
            <a:solidFill>
              <a:schemeClr val="bg1"/>
            </a:solidFill>
            <a:prstDash val="solid"/>
          </a:ln>
        </p:spPr>
      </p:sp>
      <p:sp>
        <p:nvSpPr>
          <p:cNvPr id="41" name="Text 80"/>
          <p:cNvSpPr txBox="1"/>
          <p:nvPr/>
        </p:nvSpPr>
        <p:spPr>
          <a:xfrm>
            <a:off x="777240" y="4416552"/>
            <a:ext cx="329184" cy="329184"/>
          </a:xfrm>
          <a:prstGeom prst="rect">
            <a:avLst/>
          </a:prstGeom>
          <a:noFill/>
        </p:spPr>
        <p:txBody>
          <a:bodyPr wrap="square" lIns="0" tIns="0" rIns="0" bIns="0" rtlCol="0" anchor="ctr"/>
          <a:lstStyle/>
          <a:p>
            <a:pPr marL="0" indent="0" algn="ctr">
              <a:buNone/>
            </a:pPr>
            <a:r>
              <a:rPr lang="en-US" sz="1200" b="1" dirty="0">
                <a:solidFill>
                  <a:schemeClr val="bg1"/>
                </a:solidFill>
                <a:latin typeface="+mj-lt"/>
                <a:ea typeface="+mj-lt"/>
                <a:cs typeface="+mj-lt"/>
              </a:rPr>
              <a:t>1</a:t>
            </a:r>
            <a:endParaRPr lang="en-US" sz="1200" dirty="0"/>
          </a:p>
        </p:txBody>
      </p:sp>
      <p:sp>
        <p:nvSpPr>
          <p:cNvPr id="42" name="Text 81"/>
          <p:cNvSpPr txBox="1"/>
          <p:nvPr/>
        </p:nvSpPr>
        <p:spPr>
          <a:xfrm>
            <a:off x="1280160" y="4389120"/>
            <a:ext cx="5486400" cy="420624"/>
          </a:xfrm>
          <a:prstGeom prst="rect">
            <a:avLst/>
          </a:prstGeom>
          <a:noFill/>
        </p:spPr>
        <p:txBody>
          <a:bodyPr wrap="square" lIns="0" tIns="0" rIns="0" bIns="0" rtlCol="0" anchor="ctr"/>
          <a:lstStyle/>
          <a:p>
            <a:pPr marL="0" indent="0">
              <a:buNone/>
            </a:pPr>
            <a:r>
              <a:rPr lang="en-US" sz="1300" dirty="0">
                <a:solidFill>
                  <a:schemeClr val="tx1"/>
                </a:solidFill>
              </a:rPr>
              <a:t>KOHA stores records but does not analyze them; no integrated BI.</a:t>
            </a:r>
            <a:endParaRPr lang="en-US" sz="1300" dirty="0"/>
          </a:p>
        </p:txBody>
      </p:sp>
      <p:sp>
        <p:nvSpPr>
          <p:cNvPr id="43" name="Shape 82"/>
          <p:cNvSpPr/>
          <p:nvPr/>
        </p:nvSpPr>
        <p:spPr>
          <a:xfrm>
            <a:off x="777240" y="4873752"/>
            <a:ext cx="329184" cy="329184"/>
          </a:xfrm>
          <a:prstGeom prst="ellipse">
            <a:avLst/>
          </a:prstGeom>
          <a:solidFill>
            <a:schemeClr val="accent3"/>
          </a:solidFill>
          <a:ln w="19050">
            <a:solidFill>
              <a:schemeClr val="bg1"/>
            </a:solidFill>
            <a:prstDash val="solid"/>
          </a:ln>
        </p:spPr>
      </p:sp>
      <p:sp>
        <p:nvSpPr>
          <p:cNvPr id="44" name="Text 83"/>
          <p:cNvSpPr txBox="1"/>
          <p:nvPr/>
        </p:nvSpPr>
        <p:spPr>
          <a:xfrm>
            <a:off x="777240" y="4873752"/>
            <a:ext cx="329184" cy="329184"/>
          </a:xfrm>
          <a:prstGeom prst="rect">
            <a:avLst/>
          </a:prstGeom>
          <a:noFill/>
        </p:spPr>
        <p:txBody>
          <a:bodyPr wrap="square" lIns="0" tIns="0" rIns="0" bIns="0" rtlCol="0" anchor="ctr"/>
          <a:lstStyle/>
          <a:p>
            <a:pPr marL="0" indent="0" algn="ctr">
              <a:buNone/>
            </a:pPr>
            <a:r>
              <a:rPr lang="en-US" sz="1200" b="1" dirty="0">
                <a:solidFill>
                  <a:schemeClr val="bg1"/>
                </a:solidFill>
                <a:latin typeface="+mj-lt"/>
                <a:ea typeface="+mj-lt"/>
                <a:cs typeface="+mj-lt"/>
              </a:rPr>
              <a:t>2</a:t>
            </a:r>
            <a:endParaRPr lang="en-US" sz="1200" dirty="0"/>
          </a:p>
        </p:txBody>
      </p:sp>
      <p:sp>
        <p:nvSpPr>
          <p:cNvPr id="45" name="Text 84"/>
          <p:cNvSpPr txBox="1"/>
          <p:nvPr/>
        </p:nvSpPr>
        <p:spPr>
          <a:xfrm>
            <a:off x="1280160" y="4846320"/>
            <a:ext cx="5486400" cy="420624"/>
          </a:xfrm>
          <a:prstGeom prst="rect">
            <a:avLst/>
          </a:prstGeom>
          <a:noFill/>
        </p:spPr>
        <p:txBody>
          <a:bodyPr wrap="square" lIns="0" tIns="0" rIns="0" bIns="0" rtlCol="0" anchor="ctr"/>
          <a:lstStyle/>
          <a:p>
            <a:pPr marL="0" indent="0">
              <a:buNone/>
            </a:pPr>
            <a:r>
              <a:rPr lang="en-US" sz="1300" dirty="0">
                <a:solidFill>
                  <a:schemeClr val="tx1"/>
                </a:solidFill>
              </a:rPr>
              <a:t>The paper record is the effective system of record; KOHA lags behind real activity.</a:t>
            </a:r>
            <a:endParaRPr lang="en-US" sz="1300" dirty="0"/>
          </a:p>
        </p:txBody>
      </p:sp>
      <p:sp>
        <p:nvSpPr>
          <p:cNvPr id="46" name="Shape 85"/>
          <p:cNvSpPr/>
          <p:nvPr/>
        </p:nvSpPr>
        <p:spPr>
          <a:xfrm>
            <a:off x="777240" y="5330952"/>
            <a:ext cx="329184" cy="329184"/>
          </a:xfrm>
          <a:prstGeom prst="ellipse">
            <a:avLst/>
          </a:prstGeom>
          <a:solidFill>
            <a:schemeClr val="accent1"/>
          </a:solidFill>
          <a:ln w="19050">
            <a:solidFill>
              <a:schemeClr val="bg1"/>
            </a:solidFill>
            <a:prstDash val="solid"/>
          </a:ln>
        </p:spPr>
      </p:sp>
      <p:sp>
        <p:nvSpPr>
          <p:cNvPr id="47" name="Text 86"/>
          <p:cNvSpPr txBox="1"/>
          <p:nvPr/>
        </p:nvSpPr>
        <p:spPr>
          <a:xfrm>
            <a:off x="777240" y="5330952"/>
            <a:ext cx="329184" cy="329184"/>
          </a:xfrm>
          <a:prstGeom prst="rect">
            <a:avLst/>
          </a:prstGeom>
          <a:noFill/>
        </p:spPr>
        <p:txBody>
          <a:bodyPr wrap="square" lIns="0" tIns="0" rIns="0" bIns="0" rtlCol="0" anchor="ctr"/>
          <a:lstStyle/>
          <a:p>
            <a:pPr marL="0" indent="0" algn="ctr">
              <a:buNone/>
            </a:pPr>
            <a:r>
              <a:rPr lang="en-US" sz="1200" b="1" dirty="0">
                <a:solidFill>
                  <a:schemeClr val="bg1"/>
                </a:solidFill>
                <a:latin typeface="+mj-lt"/>
                <a:ea typeface="+mj-lt"/>
                <a:cs typeface="+mj-lt"/>
              </a:rPr>
              <a:t>3</a:t>
            </a:r>
            <a:endParaRPr lang="en-US" sz="1200" dirty="0"/>
          </a:p>
        </p:txBody>
      </p:sp>
      <p:sp>
        <p:nvSpPr>
          <p:cNvPr id="48" name="Text 87"/>
          <p:cNvSpPr txBox="1"/>
          <p:nvPr/>
        </p:nvSpPr>
        <p:spPr>
          <a:xfrm>
            <a:off x="1280160" y="5303520"/>
            <a:ext cx="5486400" cy="420624"/>
          </a:xfrm>
          <a:prstGeom prst="rect">
            <a:avLst/>
          </a:prstGeom>
          <a:noFill/>
        </p:spPr>
        <p:txBody>
          <a:bodyPr wrap="square" lIns="0" tIns="0" rIns="0" bIns="0" rtlCol="0" anchor="ctr"/>
          <a:lstStyle/>
          <a:p>
            <a:pPr marL="0" indent="0">
              <a:buNone/>
            </a:pPr>
            <a:r>
              <a:rPr lang="en-US" sz="1300" dirty="0">
                <a:solidFill>
                  <a:schemeClr val="tx1"/>
                </a:solidFill>
              </a:rPr>
              <a:t>Program-level demand, borrowing trends, and utilization exist as data, yet no tool reads them.</a:t>
            </a:r>
            <a:endParaRPr lang="en-US" sz="1300" dirty="0"/>
          </a:p>
        </p:txBody>
      </p:sp>
      <p:sp>
        <p:nvSpPr>
          <p:cNvPr id="49" name="Shape 88"/>
          <p:cNvSpPr/>
          <p:nvPr/>
        </p:nvSpPr>
        <p:spPr>
          <a:xfrm>
            <a:off x="777240" y="5788152"/>
            <a:ext cx="329184" cy="329184"/>
          </a:xfrm>
          <a:prstGeom prst="ellipse">
            <a:avLst/>
          </a:prstGeom>
          <a:solidFill>
            <a:schemeClr val="accent2"/>
          </a:solidFill>
          <a:ln w="19050">
            <a:solidFill>
              <a:schemeClr val="bg1"/>
            </a:solidFill>
            <a:prstDash val="solid"/>
          </a:ln>
        </p:spPr>
      </p:sp>
      <p:sp>
        <p:nvSpPr>
          <p:cNvPr id="50" name="Text 89"/>
          <p:cNvSpPr txBox="1"/>
          <p:nvPr/>
        </p:nvSpPr>
        <p:spPr>
          <a:xfrm>
            <a:off x="777240" y="5788152"/>
            <a:ext cx="329184" cy="329184"/>
          </a:xfrm>
          <a:prstGeom prst="rect">
            <a:avLst/>
          </a:prstGeom>
          <a:noFill/>
        </p:spPr>
        <p:txBody>
          <a:bodyPr wrap="square" lIns="0" tIns="0" rIns="0" bIns="0" rtlCol="0" anchor="ctr"/>
          <a:lstStyle/>
          <a:p>
            <a:pPr marL="0" indent="0" algn="ctr">
              <a:buNone/>
            </a:pPr>
            <a:r>
              <a:rPr lang="en-US" sz="1200" b="1" dirty="0">
                <a:solidFill>
                  <a:schemeClr val="bg1"/>
                </a:solidFill>
                <a:latin typeface="+mj-lt"/>
                <a:ea typeface="+mj-lt"/>
                <a:cs typeface="+mj-lt"/>
              </a:rPr>
              <a:t>4</a:t>
            </a:r>
            <a:endParaRPr lang="en-US" sz="1200" dirty="0"/>
          </a:p>
        </p:txBody>
      </p:sp>
      <p:sp>
        <p:nvSpPr>
          <p:cNvPr id="51" name="Text 90"/>
          <p:cNvSpPr txBox="1"/>
          <p:nvPr/>
        </p:nvSpPr>
        <p:spPr>
          <a:xfrm>
            <a:off x="1280160" y="5760720"/>
            <a:ext cx="5486400" cy="420624"/>
          </a:xfrm>
          <a:prstGeom prst="rect">
            <a:avLst/>
          </a:prstGeom>
          <a:noFill/>
        </p:spPr>
        <p:txBody>
          <a:bodyPr wrap="square" lIns="0" tIns="0" rIns="0" bIns="0" rtlCol="0" anchor="ctr"/>
          <a:lstStyle/>
          <a:p>
            <a:pPr marL="0" indent="0">
              <a:buNone/>
            </a:pPr>
            <a:r>
              <a:rPr lang="en-US" sz="1300" dirty="0">
                <a:solidFill>
                  <a:schemeClr val="tx1"/>
                </a:solidFill>
              </a:rPr>
              <a:t>Collection decisions therefore rely on intuition rather than evidence.</a:t>
            </a:r>
            <a:endParaRPr lang="en-US" sz="1300" dirty="0"/>
          </a:p>
        </p:txBody>
      </p:sp>
      <p:sp>
        <p:nvSpPr>
          <p:cNvPr id="52" name="Shape 91"/>
          <p:cNvSpPr/>
          <p:nvPr/>
        </p:nvSpPr>
        <p:spPr>
          <a:xfrm>
            <a:off x="7132320" y="3794760"/>
            <a:ext cx="4507992" cy="2468880"/>
          </a:xfrm>
          <a:prstGeom prst="roundRect">
            <a:avLst>
              <a:gd name="adj" fmla="val 3704"/>
            </a:avLst>
          </a:prstGeom>
          <a:solidFill>
            <a:schemeClr val="bg2"/>
          </a:solidFill>
          <a:ln w="19050">
            <a:solidFill>
              <a:schemeClr val="accent2"/>
            </a:solidFill>
            <a:prstDash val="dash"/>
          </a:ln>
        </p:spPr>
      </p:sp>
      <p:pic>
        <p:nvPicPr>
          <p:cNvPr id="53" name="Icon 92" descr="preencoded.png"/>
          <p:cNvPicPr>
            <a:picLocks noChangeAspect="1"/>
          </p:cNvPicPr>
          <p:nvPr/>
        </p:nvPicPr>
        <p:blipFill>
          <a:blip r:embed="rId8"/>
          <a:stretch>
            <a:fillRect/>
          </a:stretch>
        </p:blipFill>
        <p:spPr>
          <a:xfrm>
            <a:off x="7406640" y="4069080"/>
            <a:ext cx="457200" cy="457200"/>
          </a:xfrm>
          <a:prstGeom prst="rect">
            <a:avLst/>
          </a:prstGeom>
        </p:spPr>
      </p:pic>
      <p:sp>
        <p:nvSpPr>
          <p:cNvPr id="54" name="Text 93"/>
          <p:cNvSpPr txBox="1"/>
          <p:nvPr/>
        </p:nvSpPr>
        <p:spPr>
          <a:xfrm>
            <a:off x="8046720" y="4069080"/>
            <a:ext cx="3410712" cy="228600"/>
          </a:xfrm>
          <a:prstGeom prst="rect">
            <a:avLst/>
          </a:prstGeom>
          <a:noFill/>
        </p:spPr>
        <p:txBody>
          <a:bodyPr wrap="square" lIns="0" tIns="0" rIns="0" bIns="0" rtlCol="0" anchor="t"/>
          <a:lstStyle/>
          <a:p>
            <a:pPr marL="0" indent="0">
              <a:buNone/>
            </a:pPr>
            <a:r>
              <a:rPr lang="en-US" sz="1100" b="1" kern="0" spc="400" dirty="0">
                <a:solidFill>
                  <a:schemeClr val="accent2"/>
                </a:solidFill>
              </a:rPr>
              <a:t>IMAGE PLACEHOLDER</a:t>
            </a:r>
            <a:endParaRPr lang="en-US" sz="1100" dirty="0"/>
          </a:p>
        </p:txBody>
      </p:sp>
      <p:sp>
        <p:nvSpPr>
          <p:cNvPr id="55" name="Text 94"/>
          <p:cNvSpPr txBox="1"/>
          <p:nvPr/>
        </p:nvSpPr>
        <p:spPr>
          <a:xfrm>
            <a:off x="8046720" y="4306824"/>
            <a:ext cx="3410712" cy="274320"/>
          </a:xfrm>
          <a:prstGeom prst="rect">
            <a:avLst/>
          </a:prstGeom>
          <a:noFill/>
        </p:spPr>
        <p:txBody>
          <a:bodyPr wrap="square" lIns="0" tIns="0" rIns="0" bIns="0" rtlCol="0" anchor="t"/>
          <a:lstStyle/>
          <a:p>
            <a:pPr marL="0" indent="0">
              <a:buNone/>
            </a:pPr>
            <a:r>
              <a:rPr lang="en-US" sz="1400" b="1" dirty="0">
                <a:solidFill>
                  <a:schemeClr val="tx2"/>
                </a:solidFill>
                <a:latin typeface="+mj-lt"/>
                <a:ea typeface="+mj-lt"/>
                <a:cs typeface="+mj-lt"/>
              </a:rPr>
              <a:t>Photo: paper borrowing log sheet</a:t>
            </a:r>
            <a:endParaRPr lang="en-US" sz="1400" dirty="0"/>
          </a:p>
        </p:txBody>
      </p:sp>
      <p:sp>
        <p:nvSpPr>
          <p:cNvPr id="56" name="Text 95"/>
          <p:cNvSpPr txBox="1"/>
          <p:nvPr/>
        </p:nvSpPr>
        <p:spPr>
          <a:xfrm>
            <a:off x="7406640" y="4754880"/>
            <a:ext cx="3959352" cy="1005840"/>
          </a:xfrm>
          <a:prstGeom prst="rect">
            <a:avLst/>
          </a:prstGeom>
          <a:noFill/>
        </p:spPr>
        <p:txBody>
          <a:bodyPr wrap="square" lIns="0" tIns="0" rIns="0" bIns="0" rtlCol="0" anchor="t"/>
          <a:lstStyle/>
          <a:p>
            <a:pPr marL="0" indent="0">
              <a:buNone/>
            </a:pPr>
            <a:r>
              <a:rPr lang="en-US" sz="1200" dirty="0">
                <a:solidFill>
                  <a:schemeClr val="accent6"/>
                </a:solidFill>
              </a:rPr>
              <a:t>Insert a clear, de-identified photograph of the actual paper log sheet used at the MCST library (blur or crop student names).</a:t>
            </a:r>
            <a:endParaRPr lang="en-US" sz="1200" dirty="0"/>
          </a:p>
        </p:txBody>
      </p:sp>
      <p:sp>
        <p:nvSpPr>
          <p:cNvPr id="57" name="Text 96"/>
          <p:cNvSpPr txBox="1"/>
          <p:nvPr/>
        </p:nvSpPr>
        <p:spPr>
          <a:xfrm>
            <a:off x="7406640" y="5760720"/>
            <a:ext cx="3959352" cy="365760"/>
          </a:xfrm>
          <a:prstGeom prst="rect">
            <a:avLst/>
          </a:prstGeom>
          <a:noFill/>
        </p:spPr>
        <p:txBody>
          <a:bodyPr wrap="square" lIns="0" tIns="0" rIns="0" bIns="0" rtlCol="0" anchor="b"/>
          <a:lstStyle/>
          <a:p>
            <a:pPr marL="0" indent="0">
              <a:buNone/>
            </a:pPr>
            <a:r>
              <a:rPr lang="en-US" sz="1100" i="1" dirty="0">
                <a:solidFill>
                  <a:schemeClr val="tx1"/>
                </a:solidFill>
              </a:rPr>
              <a:t>Figure 1. Paper borrowing log used for in-library and overnight transactions.</a:t>
            </a:r>
            <a:endParaRPr lang="en-US" sz="110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03  |  PROBLEM</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Issues That Arise from the Current System</a:t>
            </a:r>
            <a:endParaRPr lang="en-US" sz="2800" dirty="0"/>
          </a:p>
        </p:txBody>
      </p:sp>
      <p:sp>
        <p:nvSpPr>
          <p:cNvPr id="5" name="Shape 97"/>
          <p:cNvSpPr/>
          <p:nvPr/>
        </p:nvSpPr>
        <p:spPr>
          <a:xfrm>
            <a:off x="548640" y="1463040"/>
            <a:ext cx="5477256" cy="2011680"/>
          </a:xfrm>
          <a:prstGeom prst="roundRect">
            <a:avLst>
              <a:gd name="adj" fmla="val 4545"/>
            </a:avLst>
          </a:prstGeom>
          <a:solidFill>
            <a:schemeClr val="bg2"/>
          </a:solidFill>
        </p:spPr>
      </p:sp>
      <p:sp>
        <p:nvSpPr>
          <p:cNvPr id="6" name="Shape 98"/>
          <p:cNvSpPr/>
          <p:nvPr/>
        </p:nvSpPr>
        <p:spPr>
          <a:xfrm>
            <a:off x="777240" y="2011680"/>
            <a:ext cx="914400" cy="914400"/>
          </a:xfrm>
          <a:prstGeom prst="ellipse">
            <a:avLst/>
          </a:prstGeom>
          <a:solidFill>
            <a:schemeClr val="accent5">
              <a:alpha val="55000"/>
            </a:schemeClr>
          </a:solidFill>
        </p:spPr>
      </p:sp>
      <p:pic>
        <p:nvPicPr>
          <p:cNvPr id="7" name="Icon 99" descr="preencoded.png"/>
          <p:cNvPicPr>
            <a:picLocks noChangeAspect="1"/>
          </p:cNvPicPr>
          <p:nvPr/>
        </p:nvPicPr>
        <p:blipFill>
          <a:blip r:embed="rId3"/>
          <a:stretch>
            <a:fillRect/>
          </a:stretch>
        </p:blipFill>
        <p:spPr>
          <a:xfrm>
            <a:off x="996696" y="2231136"/>
            <a:ext cx="475488" cy="475488"/>
          </a:xfrm>
          <a:prstGeom prst="rect">
            <a:avLst/>
          </a:prstGeom>
        </p:spPr>
      </p:pic>
      <p:sp>
        <p:nvSpPr>
          <p:cNvPr id="8" name="Shape 100"/>
          <p:cNvSpPr/>
          <p:nvPr/>
        </p:nvSpPr>
        <p:spPr>
          <a:xfrm>
            <a:off x="658368" y="1901952"/>
            <a:ext cx="347472" cy="347472"/>
          </a:xfrm>
          <a:prstGeom prst="ellipse">
            <a:avLst/>
          </a:prstGeom>
          <a:solidFill>
            <a:schemeClr val="accent2"/>
          </a:solidFill>
          <a:ln w="19050">
            <a:solidFill>
              <a:schemeClr val="bg1"/>
            </a:solidFill>
            <a:prstDash val="solid"/>
          </a:ln>
        </p:spPr>
      </p:sp>
      <p:sp>
        <p:nvSpPr>
          <p:cNvPr id="9" name="Text 101"/>
          <p:cNvSpPr txBox="1"/>
          <p:nvPr/>
        </p:nvSpPr>
        <p:spPr>
          <a:xfrm>
            <a:off x="658368" y="1901952"/>
            <a:ext cx="347472" cy="347472"/>
          </a:xfrm>
          <a:prstGeom prst="rect">
            <a:avLst/>
          </a:prstGeom>
          <a:noFill/>
        </p:spPr>
        <p:txBody>
          <a:bodyPr wrap="square" lIns="0" tIns="0" rIns="0" bIns="0" rtlCol="0" anchor="ctr"/>
          <a:lstStyle/>
          <a:p>
            <a:pPr marL="0" indent="0" algn="ctr">
              <a:buNone/>
            </a:pPr>
            <a:r>
              <a:rPr lang="en-US" sz="1300" b="1" dirty="0">
                <a:solidFill>
                  <a:schemeClr val="bg1"/>
                </a:solidFill>
                <a:latin typeface="+mj-lt"/>
                <a:ea typeface="+mj-lt"/>
                <a:cs typeface="+mj-lt"/>
              </a:rPr>
              <a:t>1</a:t>
            </a:r>
            <a:endParaRPr lang="en-US" sz="1300" dirty="0"/>
          </a:p>
        </p:txBody>
      </p:sp>
      <p:sp>
        <p:nvSpPr>
          <p:cNvPr id="10" name="Shape 102"/>
          <p:cNvSpPr/>
          <p:nvPr/>
        </p:nvSpPr>
        <p:spPr>
          <a:xfrm>
            <a:off x="1920240" y="1554480"/>
            <a:ext cx="3922776" cy="384048"/>
          </a:xfrm>
          <a:prstGeom prst="roundRect">
            <a:avLst>
              <a:gd name="adj" fmla="val 19048"/>
            </a:avLst>
          </a:prstGeom>
          <a:solidFill>
            <a:schemeClr val="accent1"/>
          </a:solidFill>
        </p:spPr>
      </p:sp>
      <p:sp>
        <p:nvSpPr>
          <p:cNvPr id="11" name="Text 103"/>
          <p:cNvSpPr txBox="1"/>
          <p:nvPr/>
        </p:nvSpPr>
        <p:spPr>
          <a:xfrm>
            <a:off x="2029968" y="1554480"/>
            <a:ext cx="3703320" cy="384048"/>
          </a:xfrm>
          <a:prstGeom prst="rect">
            <a:avLst/>
          </a:prstGeom>
          <a:noFill/>
        </p:spPr>
        <p:txBody>
          <a:bodyPr wrap="square" lIns="0" tIns="0" rIns="0" bIns="0" rtlCol="0" anchor="ctr"/>
          <a:lstStyle/>
          <a:p>
            <a:pPr marL="0" indent="0" algn="l">
              <a:buNone/>
            </a:pPr>
            <a:r>
              <a:rPr lang="en-US" sz="1400" b="1" dirty="0">
                <a:solidFill>
                  <a:schemeClr val="bg1"/>
                </a:solidFill>
                <a:latin typeface="+mj-lt"/>
                <a:ea typeface="+mj-lt"/>
                <a:cs typeface="+mj-lt"/>
              </a:rPr>
              <a:t>Complex KOHA interface</a:t>
            </a:r>
            <a:endParaRPr lang="en-US" sz="1400" dirty="0"/>
          </a:p>
        </p:txBody>
      </p:sp>
      <p:sp>
        <p:nvSpPr>
          <p:cNvPr id="12" name="Text 104"/>
          <p:cNvSpPr txBox="1"/>
          <p:nvPr/>
        </p:nvSpPr>
        <p:spPr>
          <a:xfrm>
            <a:off x="1920240" y="2011680"/>
            <a:ext cx="2743200" cy="182880"/>
          </a:xfrm>
          <a:prstGeom prst="rect">
            <a:avLst/>
          </a:prstGeom>
          <a:noFill/>
        </p:spPr>
        <p:txBody>
          <a:bodyPr wrap="square" lIns="0" tIns="0" rIns="0" bIns="0" rtlCol="0" anchor="t"/>
          <a:lstStyle/>
          <a:p>
            <a:pPr marL="0" indent="0">
              <a:buNone/>
            </a:pPr>
            <a:r>
              <a:rPr lang="en-US" sz="1050" b="1" kern="0" spc="200" dirty="0">
                <a:solidFill>
                  <a:schemeClr val="accent2"/>
                </a:solidFill>
              </a:rPr>
              <a:t>WHAT HAPPENS DAILY</a:t>
            </a:r>
            <a:endParaRPr lang="en-US" sz="1050" dirty="0"/>
          </a:p>
        </p:txBody>
      </p:sp>
      <p:sp>
        <p:nvSpPr>
          <p:cNvPr id="13" name="Text 105"/>
          <p:cNvSpPr txBox="1"/>
          <p:nvPr/>
        </p:nvSpPr>
        <p:spPr>
          <a:xfrm>
            <a:off x="1920240" y="2194560"/>
            <a:ext cx="3922776" cy="384048"/>
          </a:xfrm>
          <a:prstGeom prst="rect">
            <a:avLst/>
          </a:prstGeom>
          <a:noFill/>
        </p:spPr>
        <p:txBody>
          <a:bodyPr wrap="square" lIns="0" tIns="0" rIns="0" bIns="0" rtlCol="0" anchor="t"/>
          <a:lstStyle/>
          <a:p>
            <a:pPr marL="0" indent="0">
              <a:buNone/>
            </a:pPr>
            <a:r>
              <a:rPr lang="en-US" sz="1200" dirty="0">
                <a:solidFill>
                  <a:schemeClr val="tx1"/>
                </a:solidFill>
              </a:rPr>
              <a:t>The librarian finds KOHA too difficult to use for daily work.</a:t>
            </a:r>
            <a:endParaRPr lang="en-US" sz="1200" dirty="0"/>
          </a:p>
        </p:txBody>
      </p:sp>
      <p:sp>
        <p:nvSpPr>
          <p:cNvPr id="14" name="Text 106"/>
          <p:cNvSpPr txBox="1"/>
          <p:nvPr/>
        </p:nvSpPr>
        <p:spPr>
          <a:xfrm>
            <a:off x="1920240" y="2642616"/>
            <a:ext cx="2743200" cy="182880"/>
          </a:xfrm>
          <a:prstGeom prst="rect">
            <a:avLst/>
          </a:prstGeom>
          <a:noFill/>
        </p:spPr>
        <p:txBody>
          <a:bodyPr wrap="square" lIns="0" tIns="0" rIns="0" bIns="0" rtlCol="0" anchor="t"/>
          <a:lstStyle/>
          <a:p>
            <a:pPr marL="0" indent="0">
              <a:buNone/>
            </a:pPr>
            <a:r>
              <a:rPr lang="en-US" sz="1050" b="1" kern="0" spc="200" dirty="0">
                <a:solidFill>
                  <a:schemeClr val="accent1"/>
                </a:solidFill>
              </a:rPr>
              <a:t>THE RESULTING PROBLEM</a:t>
            </a:r>
            <a:endParaRPr lang="en-US" sz="1050" dirty="0"/>
          </a:p>
        </p:txBody>
      </p:sp>
      <p:sp>
        <p:nvSpPr>
          <p:cNvPr id="15" name="Text 107"/>
          <p:cNvSpPr txBox="1"/>
          <p:nvPr/>
        </p:nvSpPr>
        <p:spPr>
          <a:xfrm>
            <a:off x="1920240" y="2825496"/>
            <a:ext cx="3922776" cy="566928"/>
          </a:xfrm>
          <a:prstGeom prst="rect">
            <a:avLst/>
          </a:prstGeom>
          <a:noFill/>
        </p:spPr>
        <p:txBody>
          <a:bodyPr wrap="square" lIns="0" tIns="0" rIns="0" bIns="0" rtlCol="0" anchor="t"/>
          <a:lstStyle/>
          <a:p>
            <a:pPr marL="0" indent="0">
              <a:buNone/>
            </a:pPr>
            <a:r>
              <a:rPr lang="en-US" sz="1200" dirty="0">
                <a:solidFill>
                  <a:schemeClr val="tx1"/>
                </a:solidFill>
              </a:rPr>
              <a:t>Staff fall back on manual processing, a "Serious to Very Serious" issue (Padilla, 2022).</a:t>
            </a:r>
            <a:endParaRPr lang="en-US" sz="1200" dirty="0"/>
          </a:p>
        </p:txBody>
      </p:sp>
      <p:sp>
        <p:nvSpPr>
          <p:cNvPr id="16" name="Shape 108"/>
          <p:cNvSpPr/>
          <p:nvPr/>
        </p:nvSpPr>
        <p:spPr>
          <a:xfrm>
            <a:off x="6165799" y="1463040"/>
            <a:ext cx="5477256" cy="2011680"/>
          </a:xfrm>
          <a:prstGeom prst="roundRect">
            <a:avLst>
              <a:gd name="adj" fmla="val 4545"/>
            </a:avLst>
          </a:prstGeom>
          <a:solidFill>
            <a:schemeClr val="bg2"/>
          </a:solidFill>
        </p:spPr>
      </p:sp>
      <p:sp>
        <p:nvSpPr>
          <p:cNvPr id="17" name="Shape 109"/>
          <p:cNvSpPr/>
          <p:nvPr/>
        </p:nvSpPr>
        <p:spPr>
          <a:xfrm>
            <a:off x="6394399" y="2011680"/>
            <a:ext cx="914400" cy="914400"/>
          </a:xfrm>
          <a:prstGeom prst="ellipse">
            <a:avLst/>
          </a:prstGeom>
          <a:solidFill>
            <a:schemeClr val="accent5">
              <a:alpha val="55000"/>
            </a:schemeClr>
          </a:solidFill>
        </p:spPr>
      </p:sp>
      <p:pic>
        <p:nvPicPr>
          <p:cNvPr id="18" name="Icon 110" descr="preencoded.png"/>
          <p:cNvPicPr>
            <a:picLocks noChangeAspect="1"/>
          </p:cNvPicPr>
          <p:nvPr/>
        </p:nvPicPr>
        <p:blipFill>
          <a:blip r:embed="rId4"/>
          <a:stretch>
            <a:fillRect/>
          </a:stretch>
        </p:blipFill>
        <p:spPr>
          <a:xfrm>
            <a:off x="6613855" y="2231136"/>
            <a:ext cx="475488" cy="475488"/>
          </a:xfrm>
          <a:prstGeom prst="rect">
            <a:avLst/>
          </a:prstGeom>
        </p:spPr>
      </p:pic>
      <p:sp>
        <p:nvSpPr>
          <p:cNvPr id="19" name="Shape 111"/>
          <p:cNvSpPr/>
          <p:nvPr/>
        </p:nvSpPr>
        <p:spPr>
          <a:xfrm>
            <a:off x="6275527" y="1901952"/>
            <a:ext cx="347472" cy="347472"/>
          </a:xfrm>
          <a:prstGeom prst="ellipse">
            <a:avLst/>
          </a:prstGeom>
          <a:solidFill>
            <a:schemeClr val="accent2"/>
          </a:solidFill>
          <a:ln w="19050">
            <a:solidFill>
              <a:schemeClr val="bg1"/>
            </a:solidFill>
            <a:prstDash val="solid"/>
          </a:ln>
        </p:spPr>
      </p:sp>
      <p:sp>
        <p:nvSpPr>
          <p:cNvPr id="20" name="Text 112"/>
          <p:cNvSpPr txBox="1"/>
          <p:nvPr/>
        </p:nvSpPr>
        <p:spPr>
          <a:xfrm>
            <a:off x="6275527" y="1901952"/>
            <a:ext cx="347472" cy="347472"/>
          </a:xfrm>
          <a:prstGeom prst="rect">
            <a:avLst/>
          </a:prstGeom>
          <a:noFill/>
        </p:spPr>
        <p:txBody>
          <a:bodyPr wrap="square" lIns="0" tIns="0" rIns="0" bIns="0" rtlCol="0" anchor="ctr"/>
          <a:lstStyle/>
          <a:p>
            <a:pPr marL="0" indent="0" algn="ctr">
              <a:buNone/>
            </a:pPr>
            <a:r>
              <a:rPr lang="en-US" sz="1300" b="1" dirty="0">
                <a:solidFill>
                  <a:schemeClr val="bg1"/>
                </a:solidFill>
                <a:latin typeface="+mj-lt"/>
                <a:ea typeface="+mj-lt"/>
                <a:cs typeface="+mj-lt"/>
              </a:rPr>
              <a:t>2</a:t>
            </a:r>
            <a:endParaRPr lang="en-US" sz="1300" dirty="0"/>
          </a:p>
        </p:txBody>
      </p:sp>
      <p:sp>
        <p:nvSpPr>
          <p:cNvPr id="21" name="Shape 113"/>
          <p:cNvSpPr/>
          <p:nvPr/>
        </p:nvSpPr>
        <p:spPr>
          <a:xfrm>
            <a:off x="7537399" y="1554480"/>
            <a:ext cx="3922776" cy="384048"/>
          </a:xfrm>
          <a:prstGeom prst="roundRect">
            <a:avLst>
              <a:gd name="adj" fmla="val 19048"/>
            </a:avLst>
          </a:prstGeom>
          <a:solidFill>
            <a:schemeClr val="accent2"/>
          </a:solidFill>
        </p:spPr>
      </p:sp>
      <p:sp>
        <p:nvSpPr>
          <p:cNvPr id="22" name="Text 114"/>
          <p:cNvSpPr txBox="1"/>
          <p:nvPr/>
        </p:nvSpPr>
        <p:spPr>
          <a:xfrm>
            <a:off x="7647127" y="1554480"/>
            <a:ext cx="3703320" cy="384048"/>
          </a:xfrm>
          <a:prstGeom prst="rect">
            <a:avLst/>
          </a:prstGeom>
          <a:noFill/>
        </p:spPr>
        <p:txBody>
          <a:bodyPr wrap="square" lIns="0" tIns="0" rIns="0" bIns="0" rtlCol="0" anchor="ctr"/>
          <a:lstStyle/>
          <a:p>
            <a:pPr marL="0" indent="0" algn="l">
              <a:buNone/>
            </a:pPr>
            <a:r>
              <a:rPr lang="en-US" sz="1400" b="1" dirty="0">
                <a:solidFill>
                  <a:schemeClr val="bg1"/>
                </a:solidFill>
                <a:latin typeface="+mj-lt"/>
                <a:ea typeface="+mj-lt"/>
                <a:cs typeface="+mj-lt"/>
              </a:rPr>
              <a:t>Paper log sheets, re-encoded later</a:t>
            </a:r>
            <a:endParaRPr lang="en-US" sz="1400" dirty="0"/>
          </a:p>
        </p:txBody>
      </p:sp>
      <p:sp>
        <p:nvSpPr>
          <p:cNvPr id="23" name="Text 115"/>
          <p:cNvSpPr txBox="1"/>
          <p:nvPr/>
        </p:nvSpPr>
        <p:spPr>
          <a:xfrm>
            <a:off x="7537399" y="2011680"/>
            <a:ext cx="2743200" cy="182880"/>
          </a:xfrm>
          <a:prstGeom prst="rect">
            <a:avLst/>
          </a:prstGeom>
          <a:noFill/>
        </p:spPr>
        <p:txBody>
          <a:bodyPr wrap="square" lIns="0" tIns="0" rIns="0" bIns="0" rtlCol="0" anchor="t"/>
          <a:lstStyle/>
          <a:p>
            <a:pPr marL="0" indent="0">
              <a:buNone/>
            </a:pPr>
            <a:r>
              <a:rPr lang="en-US" sz="1050" b="1" kern="0" spc="200" dirty="0">
                <a:solidFill>
                  <a:schemeClr val="accent2"/>
                </a:solidFill>
              </a:rPr>
              <a:t>WHAT HAPPENS DAILY</a:t>
            </a:r>
            <a:endParaRPr lang="en-US" sz="1050" dirty="0"/>
          </a:p>
        </p:txBody>
      </p:sp>
      <p:sp>
        <p:nvSpPr>
          <p:cNvPr id="24" name="Text 116"/>
          <p:cNvSpPr txBox="1"/>
          <p:nvPr/>
        </p:nvSpPr>
        <p:spPr>
          <a:xfrm>
            <a:off x="7537399" y="2194560"/>
            <a:ext cx="3922776" cy="384048"/>
          </a:xfrm>
          <a:prstGeom prst="rect">
            <a:avLst/>
          </a:prstGeom>
          <a:noFill/>
        </p:spPr>
        <p:txBody>
          <a:bodyPr wrap="square" lIns="0" tIns="0" rIns="0" bIns="0" rtlCol="0" anchor="t"/>
          <a:lstStyle/>
          <a:p>
            <a:pPr marL="0" indent="0">
              <a:buNone/>
            </a:pPr>
            <a:r>
              <a:rPr lang="en-US" sz="1200" dirty="0">
                <a:solidFill>
                  <a:schemeClr val="tx1"/>
                </a:solidFill>
              </a:rPr>
              <a:t>Book, program, and name are written by hand, then keyed into KOHA at a later time.</a:t>
            </a:r>
            <a:endParaRPr lang="en-US" sz="1200" dirty="0"/>
          </a:p>
        </p:txBody>
      </p:sp>
      <p:sp>
        <p:nvSpPr>
          <p:cNvPr id="25" name="Text 117"/>
          <p:cNvSpPr txBox="1"/>
          <p:nvPr/>
        </p:nvSpPr>
        <p:spPr>
          <a:xfrm>
            <a:off x="7537399" y="2642616"/>
            <a:ext cx="2743200" cy="182880"/>
          </a:xfrm>
          <a:prstGeom prst="rect">
            <a:avLst/>
          </a:prstGeom>
          <a:noFill/>
        </p:spPr>
        <p:txBody>
          <a:bodyPr wrap="square" lIns="0" tIns="0" rIns="0" bIns="0" rtlCol="0" anchor="t"/>
          <a:lstStyle/>
          <a:p>
            <a:pPr marL="0" indent="0">
              <a:buNone/>
            </a:pPr>
            <a:r>
              <a:rPr lang="en-US" sz="1050" b="1" kern="0" spc="200" dirty="0">
                <a:solidFill>
                  <a:schemeClr val="accent1"/>
                </a:solidFill>
              </a:rPr>
              <a:t>THE RESULTING PROBLEM</a:t>
            </a:r>
            <a:endParaRPr lang="en-US" sz="1050" dirty="0"/>
          </a:p>
        </p:txBody>
      </p:sp>
      <p:sp>
        <p:nvSpPr>
          <p:cNvPr id="26" name="Text 118"/>
          <p:cNvSpPr txBox="1"/>
          <p:nvPr/>
        </p:nvSpPr>
        <p:spPr>
          <a:xfrm>
            <a:off x="7537399" y="2825496"/>
            <a:ext cx="3922776" cy="566928"/>
          </a:xfrm>
          <a:prstGeom prst="rect">
            <a:avLst/>
          </a:prstGeom>
          <a:noFill/>
        </p:spPr>
        <p:txBody>
          <a:bodyPr wrap="square" lIns="0" tIns="0" rIns="0" bIns="0" rtlCol="0" anchor="t"/>
          <a:lstStyle/>
          <a:p>
            <a:pPr marL="0" indent="0">
              <a:buNone/>
            </a:pPr>
            <a:r>
              <a:rPr lang="en-US" sz="1200" dirty="0">
                <a:solidFill>
                  <a:schemeClr val="tx1"/>
                </a:solidFill>
              </a:rPr>
              <a:t>KOHA lags behind real activity; paper becomes the real record and data is scattered.</a:t>
            </a:r>
            <a:endParaRPr lang="en-US" sz="1200" dirty="0"/>
          </a:p>
        </p:txBody>
      </p:sp>
      <p:sp>
        <p:nvSpPr>
          <p:cNvPr id="27" name="Shape 119"/>
          <p:cNvSpPr/>
          <p:nvPr/>
        </p:nvSpPr>
        <p:spPr>
          <a:xfrm>
            <a:off x="548640" y="3566160"/>
            <a:ext cx="5477256" cy="2011680"/>
          </a:xfrm>
          <a:prstGeom prst="roundRect">
            <a:avLst>
              <a:gd name="adj" fmla="val 4545"/>
            </a:avLst>
          </a:prstGeom>
          <a:solidFill>
            <a:schemeClr val="bg2"/>
          </a:solidFill>
        </p:spPr>
      </p:sp>
      <p:sp>
        <p:nvSpPr>
          <p:cNvPr id="28" name="Shape 120"/>
          <p:cNvSpPr/>
          <p:nvPr/>
        </p:nvSpPr>
        <p:spPr>
          <a:xfrm>
            <a:off x="777240" y="4114800"/>
            <a:ext cx="914400" cy="914400"/>
          </a:xfrm>
          <a:prstGeom prst="ellipse">
            <a:avLst/>
          </a:prstGeom>
          <a:solidFill>
            <a:schemeClr val="accent5">
              <a:alpha val="55000"/>
            </a:schemeClr>
          </a:solidFill>
        </p:spPr>
      </p:sp>
      <p:pic>
        <p:nvPicPr>
          <p:cNvPr id="29" name="Icon 121" descr="preencoded.png"/>
          <p:cNvPicPr>
            <a:picLocks noChangeAspect="1"/>
          </p:cNvPicPr>
          <p:nvPr/>
        </p:nvPicPr>
        <p:blipFill>
          <a:blip r:embed="rId5"/>
          <a:stretch>
            <a:fillRect/>
          </a:stretch>
        </p:blipFill>
        <p:spPr>
          <a:xfrm>
            <a:off x="996696" y="4334256"/>
            <a:ext cx="475488" cy="475488"/>
          </a:xfrm>
          <a:prstGeom prst="rect">
            <a:avLst/>
          </a:prstGeom>
        </p:spPr>
      </p:pic>
      <p:sp>
        <p:nvSpPr>
          <p:cNvPr id="30" name="Shape 122"/>
          <p:cNvSpPr/>
          <p:nvPr/>
        </p:nvSpPr>
        <p:spPr>
          <a:xfrm>
            <a:off x="658368" y="4005072"/>
            <a:ext cx="347472" cy="347472"/>
          </a:xfrm>
          <a:prstGeom prst="ellipse">
            <a:avLst/>
          </a:prstGeom>
          <a:solidFill>
            <a:schemeClr val="accent2"/>
          </a:solidFill>
          <a:ln w="19050">
            <a:solidFill>
              <a:schemeClr val="bg1"/>
            </a:solidFill>
            <a:prstDash val="solid"/>
          </a:ln>
        </p:spPr>
      </p:sp>
      <p:sp>
        <p:nvSpPr>
          <p:cNvPr id="31" name="Text 123"/>
          <p:cNvSpPr txBox="1"/>
          <p:nvPr/>
        </p:nvSpPr>
        <p:spPr>
          <a:xfrm>
            <a:off x="658368" y="4005072"/>
            <a:ext cx="347472" cy="347472"/>
          </a:xfrm>
          <a:prstGeom prst="rect">
            <a:avLst/>
          </a:prstGeom>
          <a:noFill/>
        </p:spPr>
        <p:txBody>
          <a:bodyPr wrap="square" lIns="0" tIns="0" rIns="0" bIns="0" rtlCol="0" anchor="ctr"/>
          <a:lstStyle/>
          <a:p>
            <a:pPr marL="0" indent="0" algn="ctr">
              <a:buNone/>
            </a:pPr>
            <a:r>
              <a:rPr lang="en-US" sz="1300" b="1" dirty="0">
                <a:solidFill>
                  <a:schemeClr val="bg1"/>
                </a:solidFill>
                <a:latin typeface="+mj-lt"/>
                <a:ea typeface="+mj-lt"/>
                <a:cs typeface="+mj-lt"/>
              </a:rPr>
              <a:t>3</a:t>
            </a:r>
            <a:endParaRPr lang="en-US" sz="1300" dirty="0"/>
          </a:p>
        </p:txBody>
      </p:sp>
      <p:sp>
        <p:nvSpPr>
          <p:cNvPr id="32" name="Shape 124"/>
          <p:cNvSpPr/>
          <p:nvPr/>
        </p:nvSpPr>
        <p:spPr>
          <a:xfrm>
            <a:off x="1920240" y="3657600"/>
            <a:ext cx="3922776" cy="384048"/>
          </a:xfrm>
          <a:prstGeom prst="roundRect">
            <a:avLst>
              <a:gd name="adj" fmla="val 19048"/>
            </a:avLst>
          </a:prstGeom>
          <a:solidFill>
            <a:schemeClr val="accent3"/>
          </a:solidFill>
        </p:spPr>
      </p:sp>
      <p:sp>
        <p:nvSpPr>
          <p:cNvPr id="33" name="Text 125"/>
          <p:cNvSpPr txBox="1"/>
          <p:nvPr/>
        </p:nvSpPr>
        <p:spPr>
          <a:xfrm>
            <a:off x="2029968" y="3657600"/>
            <a:ext cx="3703320" cy="384048"/>
          </a:xfrm>
          <a:prstGeom prst="rect">
            <a:avLst/>
          </a:prstGeom>
          <a:noFill/>
        </p:spPr>
        <p:txBody>
          <a:bodyPr wrap="square" lIns="0" tIns="0" rIns="0" bIns="0" rtlCol="0" anchor="ctr"/>
          <a:lstStyle/>
          <a:p>
            <a:pPr marL="0" indent="0" algn="l">
              <a:buNone/>
            </a:pPr>
            <a:r>
              <a:rPr lang="en-US" sz="1400" b="1" dirty="0">
                <a:solidFill>
                  <a:schemeClr val="bg1"/>
                </a:solidFill>
                <a:latin typeface="+mj-lt"/>
                <a:ea typeface="+mj-lt"/>
                <a:cs typeface="+mj-lt"/>
              </a:rPr>
              <a:t>No integrated BI</a:t>
            </a:r>
            <a:endParaRPr lang="en-US" sz="1400" dirty="0"/>
          </a:p>
        </p:txBody>
      </p:sp>
      <p:sp>
        <p:nvSpPr>
          <p:cNvPr id="34" name="Text 126"/>
          <p:cNvSpPr txBox="1"/>
          <p:nvPr/>
        </p:nvSpPr>
        <p:spPr>
          <a:xfrm>
            <a:off x="1920240" y="4114800"/>
            <a:ext cx="2743200" cy="182880"/>
          </a:xfrm>
          <a:prstGeom prst="rect">
            <a:avLst/>
          </a:prstGeom>
          <a:noFill/>
        </p:spPr>
        <p:txBody>
          <a:bodyPr wrap="square" lIns="0" tIns="0" rIns="0" bIns="0" rtlCol="0" anchor="t"/>
          <a:lstStyle/>
          <a:p>
            <a:pPr marL="0" indent="0">
              <a:buNone/>
            </a:pPr>
            <a:r>
              <a:rPr lang="en-US" sz="1050" b="1" kern="0" spc="200" dirty="0">
                <a:solidFill>
                  <a:schemeClr val="accent2"/>
                </a:solidFill>
              </a:rPr>
              <a:t>WHAT HAPPENS DAILY</a:t>
            </a:r>
            <a:endParaRPr lang="en-US" sz="1050" dirty="0"/>
          </a:p>
        </p:txBody>
      </p:sp>
      <p:sp>
        <p:nvSpPr>
          <p:cNvPr id="35" name="Text 127"/>
          <p:cNvSpPr txBox="1"/>
          <p:nvPr/>
        </p:nvSpPr>
        <p:spPr>
          <a:xfrm>
            <a:off x="1920240" y="4297680"/>
            <a:ext cx="3922776" cy="384048"/>
          </a:xfrm>
          <a:prstGeom prst="rect">
            <a:avLst/>
          </a:prstGeom>
          <a:noFill/>
        </p:spPr>
        <p:txBody>
          <a:bodyPr wrap="square" lIns="0" tIns="0" rIns="0" bIns="0" rtlCol="0" anchor="t"/>
          <a:lstStyle/>
          <a:p>
            <a:pPr marL="0" indent="0">
              <a:buNone/>
            </a:pPr>
            <a:r>
              <a:rPr lang="en-US" sz="1200" dirty="0">
                <a:solidFill>
                  <a:schemeClr val="tx1"/>
                </a:solidFill>
              </a:rPr>
              <a:t>KOHA stores records but never analyzes them.</a:t>
            </a:r>
            <a:endParaRPr lang="en-US" sz="1200" dirty="0"/>
          </a:p>
        </p:txBody>
      </p:sp>
      <p:sp>
        <p:nvSpPr>
          <p:cNvPr id="36" name="Text 128"/>
          <p:cNvSpPr txBox="1"/>
          <p:nvPr/>
        </p:nvSpPr>
        <p:spPr>
          <a:xfrm>
            <a:off x="1920240" y="4745736"/>
            <a:ext cx="2743200" cy="182880"/>
          </a:xfrm>
          <a:prstGeom prst="rect">
            <a:avLst/>
          </a:prstGeom>
          <a:noFill/>
        </p:spPr>
        <p:txBody>
          <a:bodyPr wrap="square" lIns="0" tIns="0" rIns="0" bIns="0" rtlCol="0" anchor="t"/>
          <a:lstStyle/>
          <a:p>
            <a:pPr marL="0" indent="0">
              <a:buNone/>
            </a:pPr>
            <a:r>
              <a:rPr lang="en-US" sz="1050" b="1" kern="0" spc="200" dirty="0">
                <a:solidFill>
                  <a:schemeClr val="accent1"/>
                </a:solidFill>
              </a:rPr>
              <a:t>THE RESULTING PROBLEM</a:t>
            </a:r>
            <a:endParaRPr lang="en-US" sz="1050" dirty="0"/>
          </a:p>
        </p:txBody>
      </p:sp>
      <p:sp>
        <p:nvSpPr>
          <p:cNvPr id="37" name="Text 129"/>
          <p:cNvSpPr txBox="1"/>
          <p:nvPr/>
        </p:nvSpPr>
        <p:spPr>
          <a:xfrm>
            <a:off x="1920240" y="4928616"/>
            <a:ext cx="3922776" cy="566928"/>
          </a:xfrm>
          <a:prstGeom prst="rect">
            <a:avLst/>
          </a:prstGeom>
          <a:noFill/>
        </p:spPr>
        <p:txBody>
          <a:bodyPr wrap="square" lIns="0" tIns="0" rIns="0" bIns="0" rtlCol="0" anchor="t"/>
          <a:lstStyle/>
          <a:p>
            <a:pPr marL="0" indent="0">
              <a:buNone/>
            </a:pPr>
            <a:r>
              <a:rPr lang="en-US" sz="1200" dirty="0">
                <a:solidFill>
                  <a:schemeClr val="tx1"/>
                </a:solidFill>
              </a:rPr>
              <a:t>No view of borrowing trends, program-level usage, or demand; decisions rely on intuition and </a:t>
            </a:r>
            <a:r>
              <a:rPr lang="en-US" sz="1200" dirty="0"/>
              <a:t>librarian </a:t>
            </a:r>
            <a:r>
              <a:rPr lang="en-US" sz="1200" dirty="0">
                <a:solidFill>
                  <a:schemeClr val="tx1"/>
                </a:solidFill>
              </a:rPr>
              <a:t>lack concrete evidence.</a:t>
            </a:r>
            <a:endParaRPr lang="en-US" sz="1200" dirty="0"/>
          </a:p>
        </p:txBody>
      </p:sp>
      <p:sp>
        <p:nvSpPr>
          <p:cNvPr id="38" name="Shape 130"/>
          <p:cNvSpPr/>
          <p:nvPr/>
        </p:nvSpPr>
        <p:spPr>
          <a:xfrm>
            <a:off x="6165799" y="3566160"/>
            <a:ext cx="5477256" cy="2011680"/>
          </a:xfrm>
          <a:prstGeom prst="roundRect">
            <a:avLst>
              <a:gd name="adj" fmla="val 4545"/>
            </a:avLst>
          </a:prstGeom>
          <a:solidFill>
            <a:schemeClr val="bg2"/>
          </a:solidFill>
        </p:spPr>
      </p:sp>
      <p:sp>
        <p:nvSpPr>
          <p:cNvPr id="39" name="Shape 131"/>
          <p:cNvSpPr/>
          <p:nvPr/>
        </p:nvSpPr>
        <p:spPr>
          <a:xfrm>
            <a:off x="6394399" y="4114800"/>
            <a:ext cx="914400" cy="914400"/>
          </a:xfrm>
          <a:prstGeom prst="ellipse">
            <a:avLst/>
          </a:prstGeom>
          <a:solidFill>
            <a:schemeClr val="accent5">
              <a:alpha val="55000"/>
            </a:schemeClr>
          </a:solidFill>
        </p:spPr>
      </p:sp>
      <p:pic>
        <p:nvPicPr>
          <p:cNvPr id="40" name="Icon 132" descr="preencoded.png"/>
          <p:cNvPicPr>
            <a:picLocks noChangeAspect="1"/>
          </p:cNvPicPr>
          <p:nvPr/>
        </p:nvPicPr>
        <p:blipFill>
          <a:blip r:embed="rId6"/>
          <a:stretch>
            <a:fillRect/>
          </a:stretch>
        </p:blipFill>
        <p:spPr>
          <a:xfrm>
            <a:off x="6613855" y="4334256"/>
            <a:ext cx="475488" cy="475488"/>
          </a:xfrm>
          <a:prstGeom prst="rect">
            <a:avLst/>
          </a:prstGeom>
        </p:spPr>
      </p:pic>
      <p:sp>
        <p:nvSpPr>
          <p:cNvPr id="41" name="Shape 133"/>
          <p:cNvSpPr/>
          <p:nvPr/>
        </p:nvSpPr>
        <p:spPr>
          <a:xfrm>
            <a:off x="6275527" y="4005072"/>
            <a:ext cx="347472" cy="347472"/>
          </a:xfrm>
          <a:prstGeom prst="ellipse">
            <a:avLst/>
          </a:prstGeom>
          <a:solidFill>
            <a:schemeClr val="accent2"/>
          </a:solidFill>
          <a:ln w="19050">
            <a:solidFill>
              <a:schemeClr val="bg1"/>
            </a:solidFill>
            <a:prstDash val="solid"/>
          </a:ln>
        </p:spPr>
      </p:sp>
      <p:sp>
        <p:nvSpPr>
          <p:cNvPr id="42" name="Text 134"/>
          <p:cNvSpPr txBox="1"/>
          <p:nvPr/>
        </p:nvSpPr>
        <p:spPr>
          <a:xfrm>
            <a:off x="6275527" y="4005072"/>
            <a:ext cx="347472" cy="347472"/>
          </a:xfrm>
          <a:prstGeom prst="rect">
            <a:avLst/>
          </a:prstGeom>
          <a:noFill/>
        </p:spPr>
        <p:txBody>
          <a:bodyPr wrap="square" lIns="0" tIns="0" rIns="0" bIns="0" rtlCol="0" anchor="ctr"/>
          <a:lstStyle/>
          <a:p>
            <a:pPr marL="0" indent="0" algn="ctr">
              <a:buNone/>
            </a:pPr>
            <a:r>
              <a:rPr lang="en-US" sz="1300" b="1" dirty="0">
                <a:solidFill>
                  <a:schemeClr val="bg1"/>
                </a:solidFill>
                <a:latin typeface="+mj-lt"/>
                <a:ea typeface="+mj-lt"/>
                <a:cs typeface="+mj-lt"/>
              </a:rPr>
              <a:t>4</a:t>
            </a:r>
            <a:endParaRPr lang="en-US" sz="1300" dirty="0"/>
          </a:p>
        </p:txBody>
      </p:sp>
      <p:sp>
        <p:nvSpPr>
          <p:cNvPr id="43" name="Shape 135"/>
          <p:cNvSpPr/>
          <p:nvPr/>
        </p:nvSpPr>
        <p:spPr>
          <a:xfrm>
            <a:off x="7537399" y="3657600"/>
            <a:ext cx="3922776" cy="384048"/>
          </a:xfrm>
          <a:prstGeom prst="roundRect">
            <a:avLst>
              <a:gd name="adj" fmla="val 19048"/>
            </a:avLst>
          </a:prstGeom>
          <a:solidFill>
            <a:schemeClr val="tx2"/>
          </a:solidFill>
        </p:spPr>
      </p:sp>
      <p:sp>
        <p:nvSpPr>
          <p:cNvPr id="44" name="Text 136"/>
          <p:cNvSpPr txBox="1"/>
          <p:nvPr/>
        </p:nvSpPr>
        <p:spPr>
          <a:xfrm>
            <a:off x="7647127" y="3657600"/>
            <a:ext cx="3703320" cy="384048"/>
          </a:xfrm>
          <a:prstGeom prst="rect">
            <a:avLst/>
          </a:prstGeom>
          <a:noFill/>
        </p:spPr>
        <p:txBody>
          <a:bodyPr wrap="square" lIns="0" tIns="0" rIns="0" bIns="0" rtlCol="0" anchor="ctr"/>
          <a:lstStyle/>
          <a:p>
            <a:pPr marL="0" indent="0" algn="l">
              <a:buNone/>
            </a:pPr>
            <a:r>
              <a:rPr lang="en-US" sz="1400" b="1" dirty="0">
                <a:solidFill>
                  <a:schemeClr val="bg1"/>
                </a:solidFill>
                <a:latin typeface="+mj-lt"/>
                <a:ea typeface="+mj-lt"/>
                <a:cs typeface="+mj-lt"/>
              </a:rPr>
              <a:t>Weak authentication and access control</a:t>
            </a:r>
            <a:endParaRPr lang="en-US" sz="1400" dirty="0"/>
          </a:p>
        </p:txBody>
      </p:sp>
      <p:sp>
        <p:nvSpPr>
          <p:cNvPr id="45" name="Text 137"/>
          <p:cNvSpPr txBox="1"/>
          <p:nvPr/>
        </p:nvSpPr>
        <p:spPr>
          <a:xfrm>
            <a:off x="7537399" y="4114800"/>
            <a:ext cx="2743200" cy="182880"/>
          </a:xfrm>
          <a:prstGeom prst="rect">
            <a:avLst/>
          </a:prstGeom>
          <a:noFill/>
        </p:spPr>
        <p:txBody>
          <a:bodyPr wrap="square" lIns="0" tIns="0" rIns="0" bIns="0" rtlCol="0" anchor="t"/>
          <a:lstStyle/>
          <a:p>
            <a:pPr marL="0" indent="0">
              <a:buNone/>
            </a:pPr>
            <a:r>
              <a:rPr lang="en-US" sz="1050" b="1" kern="0" spc="200" dirty="0">
                <a:solidFill>
                  <a:schemeClr val="accent2"/>
                </a:solidFill>
              </a:rPr>
              <a:t>WHAT HAPPENS DAILY</a:t>
            </a:r>
            <a:endParaRPr lang="en-US" sz="1050" dirty="0"/>
          </a:p>
        </p:txBody>
      </p:sp>
      <p:sp>
        <p:nvSpPr>
          <p:cNvPr id="46" name="Text 138"/>
          <p:cNvSpPr txBox="1"/>
          <p:nvPr/>
        </p:nvSpPr>
        <p:spPr>
          <a:xfrm>
            <a:off x="7537399" y="4297680"/>
            <a:ext cx="3922776" cy="384048"/>
          </a:xfrm>
          <a:prstGeom prst="rect">
            <a:avLst/>
          </a:prstGeom>
          <a:noFill/>
        </p:spPr>
        <p:txBody>
          <a:bodyPr wrap="square" lIns="0" tIns="0" rIns="0" bIns="0" rtlCol="0" anchor="t"/>
          <a:lstStyle/>
          <a:p>
            <a:pPr marL="0" indent="0">
              <a:buNone/>
            </a:pPr>
            <a:r>
              <a:rPr lang="en-US" sz="1200" dirty="0">
                <a:solidFill>
                  <a:schemeClr val="tx1"/>
                </a:solidFill>
              </a:rPr>
              <a:t>There is no audit trail of who did what.</a:t>
            </a:r>
            <a:endParaRPr lang="en-US" sz="1200" dirty="0"/>
          </a:p>
        </p:txBody>
      </p:sp>
      <p:sp>
        <p:nvSpPr>
          <p:cNvPr id="47" name="Text 139"/>
          <p:cNvSpPr txBox="1"/>
          <p:nvPr/>
        </p:nvSpPr>
        <p:spPr>
          <a:xfrm>
            <a:off x="7537399" y="4745736"/>
            <a:ext cx="2743200" cy="182880"/>
          </a:xfrm>
          <a:prstGeom prst="rect">
            <a:avLst/>
          </a:prstGeom>
          <a:noFill/>
        </p:spPr>
        <p:txBody>
          <a:bodyPr wrap="square" lIns="0" tIns="0" rIns="0" bIns="0" rtlCol="0" anchor="t"/>
          <a:lstStyle/>
          <a:p>
            <a:pPr marL="0" indent="0">
              <a:buNone/>
            </a:pPr>
            <a:r>
              <a:rPr lang="en-US" sz="1050" b="1" kern="0" spc="200" dirty="0">
                <a:solidFill>
                  <a:schemeClr val="accent1"/>
                </a:solidFill>
              </a:rPr>
              <a:t>THE RESULTING PROBLEM</a:t>
            </a:r>
            <a:endParaRPr lang="en-US" sz="1050" dirty="0"/>
          </a:p>
        </p:txBody>
      </p:sp>
      <p:sp>
        <p:nvSpPr>
          <p:cNvPr id="48" name="Text 140"/>
          <p:cNvSpPr txBox="1"/>
          <p:nvPr/>
        </p:nvSpPr>
        <p:spPr>
          <a:xfrm>
            <a:off x="7537399" y="4928616"/>
            <a:ext cx="3922776" cy="566928"/>
          </a:xfrm>
          <a:prstGeom prst="rect">
            <a:avLst/>
          </a:prstGeom>
          <a:noFill/>
        </p:spPr>
        <p:txBody>
          <a:bodyPr wrap="square" lIns="0" tIns="0" rIns="0" bIns="0" rtlCol="0" anchor="t"/>
          <a:lstStyle/>
          <a:p>
            <a:pPr marL="0" indent="0">
              <a:buNone/>
            </a:pPr>
            <a:r>
              <a:rPr lang="en-US" sz="1200" dirty="0">
                <a:solidFill>
                  <a:schemeClr val="tx1"/>
                </a:solidFill>
              </a:rPr>
              <a:t>Accountability and data security are at risk.</a:t>
            </a:r>
            <a:endParaRPr lang="en-US" sz="1200" dirty="0"/>
          </a:p>
        </p:txBody>
      </p:sp>
      <p:sp>
        <p:nvSpPr>
          <p:cNvPr id="49" name="Shape 141"/>
          <p:cNvSpPr/>
          <p:nvPr/>
        </p:nvSpPr>
        <p:spPr>
          <a:xfrm>
            <a:off x="548640" y="5687568"/>
            <a:ext cx="11094415" cy="594360"/>
          </a:xfrm>
          <a:prstGeom prst="roundRect">
            <a:avLst>
              <a:gd name="adj" fmla="val 15385"/>
            </a:avLst>
          </a:prstGeom>
          <a:solidFill>
            <a:schemeClr val="tx2"/>
          </a:solidFill>
        </p:spPr>
      </p:sp>
      <p:pic>
        <p:nvPicPr>
          <p:cNvPr id="50" name="Icon 142" descr="preencoded.png"/>
          <p:cNvPicPr>
            <a:picLocks noChangeAspect="1"/>
          </p:cNvPicPr>
          <p:nvPr/>
        </p:nvPicPr>
        <p:blipFill>
          <a:blip r:embed="rId7"/>
          <a:stretch>
            <a:fillRect/>
          </a:stretch>
        </p:blipFill>
        <p:spPr>
          <a:xfrm>
            <a:off x="777240" y="5760720"/>
            <a:ext cx="438912" cy="438912"/>
          </a:xfrm>
          <a:prstGeom prst="rect">
            <a:avLst/>
          </a:prstGeom>
        </p:spPr>
      </p:pic>
      <p:sp>
        <p:nvSpPr>
          <p:cNvPr id="51" name="Text 143"/>
          <p:cNvSpPr txBox="1"/>
          <p:nvPr/>
        </p:nvSpPr>
        <p:spPr>
          <a:xfrm>
            <a:off x="1417320" y="5687568"/>
            <a:ext cx="9997135" cy="594360"/>
          </a:xfrm>
          <a:prstGeom prst="rect">
            <a:avLst/>
          </a:prstGeom>
          <a:noFill/>
        </p:spPr>
        <p:txBody>
          <a:bodyPr wrap="square" lIns="0" tIns="0" rIns="0" bIns="0" rtlCol="0" anchor="ctr"/>
          <a:lstStyle/>
          <a:p>
            <a:pPr marL="0" indent="0">
              <a:buNone/>
            </a:pPr>
            <a:r>
              <a:rPr lang="en-US" sz="1100" b="1" kern="0" spc="300" dirty="0">
                <a:solidFill>
                  <a:schemeClr val="accent2"/>
                </a:solidFill>
              </a:rPr>
              <a:t>NET RESULT   </a:t>
            </a:r>
            <a:r>
              <a:rPr lang="en-US" sz="1350" dirty="0">
                <a:solidFill>
                  <a:schemeClr val="bg1"/>
                </a:solidFill>
              </a:rPr>
              <a:t>A fragmented process with no analytics: the gap this study addresses. Most systems automate records; few turn them into insight (Ch. 2).</a:t>
            </a:r>
            <a:endParaRPr lang="en-US" sz="135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04  |  PROPOSED SYSTEM</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Proposed System: Mapping Solutions to Identified Issues</a:t>
            </a:r>
            <a:endParaRPr lang="en-US" sz="2800" dirty="0"/>
          </a:p>
        </p:txBody>
      </p:sp>
      <p:sp>
        <p:nvSpPr>
          <p:cNvPr id="5" name="Shape 144"/>
          <p:cNvSpPr/>
          <p:nvPr/>
        </p:nvSpPr>
        <p:spPr>
          <a:xfrm>
            <a:off x="548640" y="1417320"/>
            <a:ext cx="4023360" cy="365760"/>
          </a:xfrm>
          <a:prstGeom prst="roundRect">
            <a:avLst>
              <a:gd name="adj" fmla="val 25000"/>
            </a:avLst>
          </a:prstGeom>
          <a:solidFill>
            <a:schemeClr val="bg2"/>
          </a:solidFill>
        </p:spPr>
      </p:sp>
      <p:sp>
        <p:nvSpPr>
          <p:cNvPr id="6" name="Text 145"/>
          <p:cNvSpPr txBox="1"/>
          <p:nvPr/>
        </p:nvSpPr>
        <p:spPr>
          <a:xfrm>
            <a:off x="548640" y="1417320"/>
            <a:ext cx="4023360" cy="365760"/>
          </a:xfrm>
          <a:prstGeom prst="rect">
            <a:avLst/>
          </a:prstGeom>
          <a:noFill/>
        </p:spPr>
        <p:txBody>
          <a:bodyPr wrap="square" lIns="0" tIns="0" rIns="0" bIns="0" rtlCol="0" anchor="ctr"/>
          <a:lstStyle/>
          <a:p>
            <a:pPr marL="0" indent="0" algn="ctr">
              <a:buNone/>
            </a:pPr>
            <a:r>
              <a:rPr lang="en-US" sz="1500" b="1" dirty="0">
                <a:solidFill>
                  <a:schemeClr val="tx2"/>
                </a:solidFill>
                <a:latin typeface="+mj-lt"/>
                <a:ea typeface="+mj-lt"/>
                <a:cs typeface="+mj-lt"/>
              </a:rPr>
              <a:t>Issue identified</a:t>
            </a:r>
            <a:endParaRPr lang="en-US" sz="1500" dirty="0"/>
          </a:p>
        </p:txBody>
      </p:sp>
      <p:sp>
        <p:nvSpPr>
          <p:cNvPr id="7" name="Shape 146"/>
          <p:cNvSpPr/>
          <p:nvPr/>
        </p:nvSpPr>
        <p:spPr>
          <a:xfrm>
            <a:off x="5394960" y="1417320"/>
            <a:ext cx="6245352" cy="365760"/>
          </a:xfrm>
          <a:prstGeom prst="roundRect">
            <a:avLst>
              <a:gd name="adj" fmla="val 25000"/>
            </a:avLst>
          </a:prstGeom>
          <a:solidFill>
            <a:schemeClr val="bg2"/>
          </a:solidFill>
        </p:spPr>
      </p:sp>
      <p:sp>
        <p:nvSpPr>
          <p:cNvPr id="8" name="Text 147"/>
          <p:cNvSpPr txBox="1"/>
          <p:nvPr/>
        </p:nvSpPr>
        <p:spPr>
          <a:xfrm>
            <a:off x="5394960" y="1417320"/>
            <a:ext cx="6245352" cy="365760"/>
          </a:xfrm>
          <a:prstGeom prst="rect">
            <a:avLst/>
          </a:prstGeom>
          <a:noFill/>
        </p:spPr>
        <p:txBody>
          <a:bodyPr wrap="square" lIns="0" tIns="0" rIns="0" bIns="0" rtlCol="0" anchor="ctr"/>
          <a:lstStyle/>
          <a:p>
            <a:pPr marL="0" indent="0" algn="ctr">
              <a:buNone/>
            </a:pPr>
            <a:r>
              <a:rPr lang="en-US" sz="1500" b="1" dirty="0">
                <a:solidFill>
                  <a:schemeClr val="tx2"/>
                </a:solidFill>
                <a:latin typeface="+mj-lt"/>
                <a:ea typeface="+mj-lt"/>
                <a:cs typeface="+mj-lt"/>
              </a:rPr>
              <a:t>Proposed system response</a:t>
            </a:r>
            <a:endParaRPr lang="en-US" sz="1500" dirty="0"/>
          </a:p>
        </p:txBody>
      </p:sp>
      <p:sp>
        <p:nvSpPr>
          <p:cNvPr id="9" name="Shape 148"/>
          <p:cNvSpPr/>
          <p:nvPr/>
        </p:nvSpPr>
        <p:spPr>
          <a:xfrm>
            <a:off x="1005840" y="1929384"/>
            <a:ext cx="3566160" cy="694944"/>
          </a:xfrm>
          <a:prstGeom prst="roundRect">
            <a:avLst>
              <a:gd name="adj" fmla="val 13158"/>
            </a:avLst>
          </a:prstGeom>
          <a:solidFill>
            <a:schemeClr val="accent1"/>
          </a:solidFill>
        </p:spPr>
      </p:sp>
      <p:sp>
        <p:nvSpPr>
          <p:cNvPr id="10" name="Text 149"/>
          <p:cNvSpPr txBox="1"/>
          <p:nvPr/>
        </p:nvSpPr>
        <p:spPr>
          <a:xfrm>
            <a:off x="1600200" y="1929384"/>
            <a:ext cx="2926080" cy="694944"/>
          </a:xfrm>
          <a:prstGeom prst="rect">
            <a:avLst/>
          </a:prstGeom>
          <a:noFill/>
        </p:spPr>
        <p:txBody>
          <a:bodyPr wrap="square" lIns="0" tIns="0" rIns="0" bIns="0" rtlCol="0" anchor="ctr"/>
          <a:lstStyle/>
          <a:p>
            <a:pPr marL="0" indent="0">
              <a:buNone/>
            </a:pPr>
            <a:r>
              <a:rPr lang="en-US" sz="1500" b="1" dirty="0">
                <a:solidFill>
                  <a:schemeClr val="bg1"/>
                </a:solidFill>
                <a:latin typeface="+mj-lt"/>
                <a:ea typeface="+mj-lt"/>
                <a:cs typeface="+mj-lt"/>
              </a:rPr>
              <a:t>Complex KOHA interface</a:t>
            </a:r>
            <a:endParaRPr lang="en-US" sz="1500" dirty="0"/>
          </a:p>
        </p:txBody>
      </p:sp>
      <p:sp>
        <p:nvSpPr>
          <p:cNvPr id="11" name="Shape 150"/>
          <p:cNvSpPr/>
          <p:nvPr/>
        </p:nvSpPr>
        <p:spPr>
          <a:xfrm>
            <a:off x="548640" y="1874520"/>
            <a:ext cx="804672" cy="804672"/>
          </a:xfrm>
          <a:prstGeom prst="ellipse">
            <a:avLst/>
          </a:prstGeom>
          <a:solidFill>
            <a:schemeClr val="accent5"/>
          </a:solidFill>
        </p:spPr>
      </p:sp>
      <p:pic>
        <p:nvPicPr>
          <p:cNvPr id="12" name="Icon 151" descr="preencoded.png"/>
          <p:cNvPicPr>
            <a:picLocks noChangeAspect="1"/>
          </p:cNvPicPr>
          <p:nvPr/>
        </p:nvPicPr>
        <p:blipFill>
          <a:blip r:embed="rId3"/>
          <a:stretch>
            <a:fillRect/>
          </a:stretch>
        </p:blipFill>
        <p:spPr>
          <a:xfrm>
            <a:off x="741761" y="2067641"/>
            <a:ext cx="418429" cy="418429"/>
          </a:xfrm>
          <a:prstGeom prst="rect">
            <a:avLst/>
          </a:prstGeom>
        </p:spPr>
      </p:pic>
      <p:sp>
        <p:nvSpPr>
          <p:cNvPr id="13" name="Shape 152"/>
          <p:cNvSpPr/>
          <p:nvPr/>
        </p:nvSpPr>
        <p:spPr>
          <a:xfrm>
            <a:off x="475488" y="1837944"/>
            <a:ext cx="310896" cy="310896"/>
          </a:xfrm>
          <a:prstGeom prst="ellipse">
            <a:avLst/>
          </a:prstGeom>
          <a:solidFill>
            <a:schemeClr val="accent2"/>
          </a:solidFill>
          <a:ln w="19050">
            <a:solidFill>
              <a:schemeClr val="bg1"/>
            </a:solidFill>
            <a:prstDash val="solid"/>
          </a:ln>
        </p:spPr>
      </p:sp>
      <p:sp>
        <p:nvSpPr>
          <p:cNvPr id="14" name="Text 153"/>
          <p:cNvSpPr txBox="1"/>
          <p:nvPr/>
        </p:nvSpPr>
        <p:spPr>
          <a:xfrm>
            <a:off x="475488" y="1837944"/>
            <a:ext cx="310896" cy="310896"/>
          </a:xfrm>
          <a:prstGeom prst="rect">
            <a:avLst/>
          </a:prstGeom>
          <a:noFill/>
        </p:spPr>
        <p:txBody>
          <a:bodyPr wrap="square" lIns="0" tIns="0" rIns="0" bIns="0" rtlCol="0" anchor="ctr"/>
          <a:lstStyle/>
          <a:p>
            <a:pPr marL="0" indent="0" algn="ctr">
              <a:buNone/>
            </a:pPr>
            <a:r>
              <a:rPr lang="en-US" sz="1200" b="1" dirty="0">
                <a:solidFill>
                  <a:schemeClr val="bg1"/>
                </a:solidFill>
                <a:latin typeface="+mj-lt"/>
                <a:ea typeface="+mj-lt"/>
                <a:cs typeface="+mj-lt"/>
              </a:rPr>
              <a:t>1</a:t>
            </a:r>
            <a:endParaRPr lang="en-US" sz="1200" dirty="0"/>
          </a:p>
        </p:txBody>
      </p:sp>
      <p:sp>
        <p:nvSpPr>
          <p:cNvPr id="15" name="Arrow 154"/>
          <p:cNvSpPr/>
          <p:nvPr/>
        </p:nvSpPr>
        <p:spPr>
          <a:xfrm>
            <a:off x="4617720" y="2276856"/>
            <a:ext cx="685800" cy="0"/>
          </a:xfrm>
          <a:prstGeom prst="line">
            <a:avLst/>
          </a:prstGeom>
          <a:noFill/>
          <a:ln w="28575">
            <a:solidFill>
              <a:schemeClr val="accent2"/>
            </a:solidFill>
            <a:prstDash val="solid"/>
            <a:tailEnd type="triangle"/>
          </a:ln>
        </p:spPr>
      </p:sp>
      <p:sp>
        <p:nvSpPr>
          <p:cNvPr id="16" name="Shape 155"/>
          <p:cNvSpPr/>
          <p:nvPr/>
        </p:nvSpPr>
        <p:spPr>
          <a:xfrm>
            <a:off x="5760720" y="1911096"/>
            <a:ext cx="5879592" cy="731520"/>
          </a:xfrm>
          <a:prstGeom prst="roundRect">
            <a:avLst>
              <a:gd name="adj" fmla="val 12500"/>
            </a:avLst>
          </a:prstGeom>
          <a:solidFill>
            <a:schemeClr val="accent1">
              <a:alpha val="14000"/>
            </a:schemeClr>
          </a:solidFill>
        </p:spPr>
      </p:sp>
      <p:sp>
        <p:nvSpPr>
          <p:cNvPr id="17" name="Shape 156"/>
          <p:cNvSpPr/>
          <p:nvPr/>
        </p:nvSpPr>
        <p:spPr>
          <a:xfrm>
            <a:off x="5394960" y="1874520"/>
            <a:ext cx="804672" cy="804672"/>
          </a:xfrm>
          <a:prstGeom prst="rect">
            <a:avLst/>
          </a:prstGeom>
          <a:solidFill>
            <a:schemeClr val="bg2"/>
          </a:solidFill>
        </p:spPr>
      </p:sp>
      <p:sp>
        <p:nvSpPr>
          <p:cNvPr id="18" name="Shape 157"/>
          <p:cNvSpPr/>
          <p:nvPr/>
        </p:nvSpPr>
        <p:spPr>
          <a:xfrm>
            <a:off x="5394960" y="1874520"/>
            <a:ext cx="804672" cy="804672"/>
          </a:xfrm>
          <a:prstGeom prst="ellipse">
            <a:avLst/>
          </a:prstGeom>
          <a:solidFill>
            <a:schemeClr val="accent5"/>
          </a:solidFill>
        </p:spPr>
      </p:sp>
      <p:pic>
        <p:nvPicPr>
          <p:cNvPr id="19" name="Icon 158" descr="preencoded.png"/>
          <p:cNvPicPr>
            <a:picLocks noChangeAspect="1"/>
          </p:cNvPicPr>
          <p:nvPr/>
        </p:nvPicPr>
        <p:blipFill>
          <a:blip r:embed="rId4"/>
          <a:stretch>
            <a:fillRect/>
          </a:stretch>
        </p:blipFill>
        <p:spPr>
          <a:xfrm>
            <a:off x="5588081" y="2067641"/>
            <a:ext cx="418429" cy="418429"/>
          </a:xfrm>
          <a:prstGeom prst="rect">
            <a:avLst/>
          </a:prstGeom>
        </p:spPr>
      </p:pic>
      <p:sp>
        <p:nvSpPr>
          <p:cNvPr id="20" name="Text 159"/>
          <p:cNvSpPr txBox="1"/>
          <p:nvPr/>
        </p:nvSpPr>
        <p:spPr>
          <a:xfrm>
            <a:off x="6355080" y="1911096"/>
            <a:ext cx="5166360" cy="731520"/>
          </a:xfrm>
          <a:prstGeom prst="rect">
            <a:avLst/>
          </a:prstGeom>
          <a:noFill/>
        </p:spPr>
        <p:txBody>
          <a:bodyPr wrap="square" lIns="0" tIns="0" rIns="0" bIns="0" rtlCol="0" anchor="ctr"/>
          <a:lstStyle/>
          <a:p>
            <a:pPr marL="0" indent="0">
              <a:buNone/>
            </a:pPr>
            <a:r>
              <a:rPr lang="en-US" sz="1300" dirty="0">
                <a:solidFill>
                  <a:schemeClr val="tx1"/>
                </a:solidFill>
              </a:rPr>
              <a:t>Simplified, consistent interface usable with minimal training</a:t>
            </a:r>
            <a:endParaRPr lang="en-US" sz="1300" dirty="0"/>
          </a:p>
        </p:txBody>
      </p:sp>
      <p:sp>
        <p:nvSpPr>
          <p:cNvPr id="21" name="Shape 160"/>
          <p:cNvSpPr/>
          <p:nvPr/>
        </p:nvSpPr>
        <p:spPr>
          <a:xfrm>
            <a:off x="1005840" y="2825496"/>
            <a:ext cx="3566160" cy="694944"/>
          </a:xfrm>
          <a:prstGeom prst="roundRect">
            <a:avLst>
              <a:gd name="adj" fmla="val 13158"/>
            </a:avLst>
          </a:prstGeom>
          <a:solidFill>
            <a:schemeClr val="accent2"/>
          </a:solidFill>
        </p:spPr>
      </p:sp>
      <p:sp>
        <p:nvSpPr>
          <p:cNvPr id="22" name="Text 161"/>
          <p:cNvSpPr txBox="1"/>
          <p:nvPr/>
        </p:nvSpPr>
        <p:spPr>
          <a:xfrm>
            <a:off x="1600200" y="2825496"/>
            <a:ext cx="2926080" cy="694944"/>
          </a:xfrm>
          <a:prstGeom prst="rect">
            <a:avLst/>
          </a:prstGeom>
          <a:noFill/>
        </p:spPr>
        <p:txBody>
          <a:bodyPr wrap="square" lIns="0" tIns="0" rIns="0" bIns="0" rtlCol="0" anchor="ctr"/>
          <a:lstStyle/>
          <a:p>
            <a:pPr marL="0" indent="0">
              <a:buNone/>
            </a:pPr>
            <a:r>
              <a:rPr lang="en-US" sz="1500" b="1" dirty="0">
                <a:solidFill>
                  <a:schemeClr val="bg1"/>
                </a:solidFill>
                <a:latin typeface="+mj-lt"/>
                <a:ea typeface="+mj-lt"/>
                <a:cs typeface="+mj-lt"/>
              </a:rPr>
              <a:t>Paper log sheets and re-encoding</a:t>
            </a:r>
            <a:endParaRPr lang="en-US" sz="1500" dirty="0"/>
          </a:p>
        </p:txBody>
      </p:sp>
      <p:sp>
        <p:nvSpPr>
          <p:cNvPr id="23" name="Shape 162"/>
          <p:cNvSpPr/>
          <p:nvPr/>
        </p:nvSpPr>
        <p:spPr>
          <a:xfrm>
            <a:off x="548640" y="2770632"/>
            <a:ext cx="804672" cy="804672"/>
          </a:xfrm>
          <a:prstGeom prst="ellipse">
            <a:avLst/>
          </a:prstGeom>
          <a:solidFill>
            <a:schemeClr val="accent5"/>
          </a:solidFill>
        </p:spPr>
      </p:sp>
      <p:pic>
        <p:nvPicPr>
          <p:cNvPr id="24" name="Icon 163" descr="preencoded.png"/>
          <p:cNvPicPr>
            <a:picLocks noChangeAspect="1"/>
          </p:cNvPicPr>
          <p:nvPr/>
        </p:nvPicPr>
        <p:blipFill>
          <a:blip r:embed="rId5"/>
          <a:stretch>
            <a:fillRect/>
          </a:stretch>
        </p:blipFill>
        <p:spPr>
          <a:xfrm>
            <a:off x="741761" y="2963753"/>
            <a:ext cx="418429" cy="418429"/>
          </a:xfrm>
          <a:prstGeom prst="rect">
            <a:avLst/>
          </a:prstGeom>
        </p:spPr>
      </p:pic>
      <p:sp>
        <p:nvSpPr>
          <p:cNvPr id="25" name="Shape 164"/>
          <p:cNvSpPr/>
          <p:nvPr/>
        </p:nvSpPr>
        <p:spPr>
          <a:xfrm>
            <a:off x="475488" y="2734056"/>
            <a:ext cx="310896" cy="310896"/>
          </a:xfrm>
          <a:prstGeom prst="ellipse">
            <a:avLst/>
          </a:prstGeom>
          <a:solidFill>
            <a:schemeClr val="accent2"/>
          </a:solidFill>
          <a:ln w="19050">
            <a:solidFill>
              <a:schemeClr val="bg1"/>
            </a:solidFill>
            <a:prstDash val="solid"/>
          </a:ln>
        </p:spPr>
      </p:sp>
      <p:sp>
        <p:nvSpPr>
          <p:cNvPr id="26" name="Text 165"/>
          <p:cNvSpPr txBox="1"/>
          <p:nvPr/>
        </p:nvSpPr>
        <p:spPr>
          <a:xfrm>
            <a:off x="475488" y="2734056"/>
            <a:ext cx="310896" cy="310896"/>
          </a:xfrm>
          <a:prstGeom prst="rect">
            <a:avLst/>
          </a:prstGeom>
          <a:noFill/>
        </p:spPr>
        <p:txBody>
          <a:bodyPr wrap="square" lIns="0" tIns="0" rIns="0" bIns="0" rtlCol="0" anchor="ctr"/>
          <a:lstStyle/>
          <a:p>
            <a:pPr marL="0" indent="0" algn="ctr">
              <a:buNone/>
            </a:pPr>
            <a:r>
              <a:rPr lang="en-US" sz="1200" b="1" dirty="0">
                <a:solidFill>
                  <a:schemeClr val="bg1"/>
                </a:solidFill>
                <a:latin typeface="+mj-lt"/>
                <a:ea typeface="+mj-lt"/>
                <a:cs typeface="+mj-lt"/>
              </a:rPr>
              <a:t>2</a:t>
            </a:r>
            <a:endParaRPr lang="en-US" sz="1200" dirty="0"/>
          </a:p>
        </p:txBody>
      </p:sp>
      <p:sp>
        <p:nvSpPr>
          <p:cNvPr id="27" name="Arrow 166"/>
          <p:cNvSpPr/>
          <p:nvPr/>
        </p:nvSpPr>
        <p:spPr>
          <a:xfrm>
            <a:off x="4617720" y="3172968"/>
            <a:ext cx="685800" cy="0"/>
          </a:xfrm>
          <a:prstGeom prst="line">
            <a:avLst/>
          </a:prstGeom>
          <a:noFill/>
          <a:ln w="28575">
            <a:solidFill>
              <a:schemeClr val="accent2"/>
            </a:solidFill>
            <a:prstDash val="solid"/>
            <a:tailEnd type="triangle"/>
          </a:ln>
        </p:spPr>
      </p:sp>
      <p:sp>
        <p:nvSpPr>
          <p:cNvPr id="28" name="Shape 167"/>
          <p:cNvSpPr/>
          <p:nvPr/>
        </p:nvSpPr>
        <p:spPr>
          <a:xfrm>
            <a:off x="5760720" y="2807208"/>
            <a:ext cx="5879592" cy="731520"/>
          </a:xfrm>
          <a:prstGeom prst="roundRect">
            <a:avLst>
              <a:gd name="adj" fmla="val 12500"/>
            </a:avLst>
          </a:prstGeom>
          <a:solidFill>
            <a:schemeClr val="accent2">
              <a:alpha val="14000"/>
            </a:schemeClr>
          </a:solidFill>
        </p:spPr>
      </p:sp>
      <p:sp>
        <p:nvSpPr>
          <p:cNvPr id="29" name="Shape 168"/>
          <p:cNvSpPr/>
          <p:nvPr/>
        </p:nvSpPr>
        <p:spPr>
          <a:xfrm>
            <a:off x="5394960" y="2770632"/>
            <a:ext cx="804672" cy="804672"/>
          </a:xfrm>
          <a:prstGeom prst="rect">
            <a:avLst/>
          </a:prstGeom>
          <a:solidFill>
            <a:schemeClr val="bg2"/>
          </a:solidFill>
        </p:spPr>
      </p:sp>
      <p:sp>
        <p:nvSpPr>
          <p:cNvPr id="30" name="Shape 169"/>
          <p:cNvSpPr/>
          <p:nvPr/>
        </p:nvSpPr>
        <p:spPr>
          <a:xfrm>
            <a:off x="5394960" y="2770632"/>
            <a:ext cx="804672" cy="804672"/>
          </a:xfrm>
          <a:prstGeom prst="ellipse">
            <a:avLst/>
          </a:prstGeom>
          <a:solidFill>
            <a:schemeClr val="accent5"/>
          </a:solidFill>
        </p:spPr>
      </p:sp>
      <p:pic>
        <p:nvPicPr>
          <p:cNvPr id="31" name="Icon 170" descr="preencoded.png"/>
          <p:cNvPicPr>
            <a:picLocks noChangeAspect="1"/>
          </p:cNvPicPr>
          <p:nvPr/>
        </p:nvPicPr>
        <p:blipFill>
          <a:blip r:embed="rId6"/>
          <a:stretch>
            <a:fillRect/>
          </a:stretch>
        </p:blipFill>
        <p:spPr>
          <a:xfrm>
            <a:off x="5588081" y="2963753"/>
            <a:ext cx="418429" cy="418429"/>
          </a:xfrm>
          <a:prstGeom prst="rect">
            <a:avLst/>
          </a:prstGeom>
        </p:spPr>
      </p:pic>
      <p:sp>
        <p:nvSpPr>
          <p:cNvPr id="32" name="Text 171"/>
          <p:cNvSpPr txBox="1"/>
          <p:nvPr/>
        </p:nvSpPr>
        <p:spPr>
          <a:xfrm>
            <a:off x="6355080" y="2807208"/>
            <a:ext cx="5166360" cy="731520"/>
          </a:xfrm>
          <a:prstGeom prst="rect">
            <a:avLst/>
          </a:prstGeom>
          <a:noFill/>
        </p:spPr>
        <p:txBody>
          <a:bodyPr wrap="square" lIns="0" tIns="0" rIns="0" bIns="0" rtlCol="0" anchor="ctr"/>
          <a:lstStyle/>
          <a:p>
            <a:pPr marL="0" indent="0">
              <a:buNone/>
            </a:pPr>
            <a:r>
              <a:rPr lang="en-US" sz="1300" dirty="0">
                <a:solidFill>
                  <a:schemeClr val="tx1"/>
                </a:solidFill>
              </a:rPr>
              <a:t>Borrowing and returns processed in-system, on or off campus, with automatic due dates and fines; one platform for requests, cataloging, circulation, inventory, reservations, and reporting</a:t>
            </a:r>
            <a:endParaRPr lang="en-US" sz="1300" dirty="0"/>
          </a:p>
        </p:txBody>
      </p:sp>
      <p:sp>
        <p:nvSpPr>
          <p:cNvPr id="33" name="Shape 172"/>
          <p:cNvSpPr/>
          <p:nvPr/>
        </p:nvSpPr>
        <p:spPr>
          <a:xfrm>
            <a:off x="1005840" y="3721608"/>
            <a:ext cx="3566160" cy="694944"/>
          </a:xfrm>
          <a:prstGeom prst="roundRect">
            <a:avLst>
              <a:gd name="adj" fmla="val 13158"/>
            </a:avLst>
          </a:prstGeom>
          <a:solidFill>
            <a:schemeClr val="accent3"/>
          </a:solidFill>
        </p:spPr>
      </p:sp>
      <p:sp>
        <p:nvSpPr>
          <p:cNvPr id="34" name="Text 173"/>
          <p:cNvSpPr txBox="1"/>
          <p:nvPr/>
        </p:nvSpPr>
        <p:spPr>
          <a:xfrm>
            <a:off x="1600200" y="3721608"/>
            <a:ext cx="2926080" cy="694944"/>
          </a:xfrm>
          <a:prstGeom prst="rect">
            <a:avLst/>
          </a:prstGeom>
          <a:noFill/>
        </p:spPr>
        <p:txBody>
          <a:bodyPr wrap="square" lIns="0" tIns="0" rIns="0" bIns="0" rtlCol="0" anchor="ctr"/>
          <a:lstStyle/>
          <a:p>
            <a:pPr marL="0" indent="0">
              <a:buNone/>
            </a:pPr>
            <a:r>
              <a:rPr lang="en-US" sz="1500" b="1" dirty="0">
                <a:solidFill>
                  <a:schemeClr val="bg1"/>
                </a:solidFill>
                <a:latin typeface="+mj-lt"/>
                <a:ea typeface="+mj-lt"/>
                <a:cs typeface="+mj-lt"/>
              </a:rPr>
              <a:t>No integrated BI</a:t>
            </a:r>
            <a:endParaRPr lang="en-US" sz="1500" dirty="0"/>
          </a:p>
        </p:txBody>
      </p:sp>
      <p:sp>
        <p:nvSpPr>
          <p:cNvPr id="35" name="Shape 174"/>
          <p:cNvSpPr/>
          <p:nvPr/>
        </p:nvSpPr>
        <p:spPr>
          <a:xfrm>
            <a:off x="548640" y="3666744"/>
            <a:ext cx="804672" cy="804672"/>
          </a:xfrm>
          <a:prstGeom prst="ellipse">
            <a:avLst/>
          </a:prstGeom>
          <a:solidFill>
            <a:schemeClr val="accent5"/>
          </a:solidFill>
        </p:spPr>
      </p:sp>
      <p:pic>
        <p:nvPicPr>
          <p:cNvPr id="36" name="Icon 175" descr="preencoded.png"/>
          <p:cNvPicPr>
            <a:picLocks noChangeAspect="1"/>
          </p:cNvPicPr>
          <p:nvPr/>
        </p:nvPicPr>
        <p:blipFill>
          <a:blip r:embed="rId7"/>
          <a:stretch>
            <a:fillRect/>
          </a:stretch>
        </p:blipFill>
        <p:spPr>
          <a:xfrm>
            <a:off x="741761" y="3859865"/>
            <a:ext cx="418429" cy="418429"/>
          </a:xfrm>
          <a:prstGeom prst="rect">
            <a:avLst/>
          </a:prstGeom>
        </p:spPr>
      </p:pic>
      <p:sp>
        <p:nvSpPr>
          <p:cNvPr id="37" name="Shape 176"/>
          <p:cNvSpPr/>
          <p:nvPr/>
        </p:nvSpPr>
        <p:spPr>
          <a:xfrm>
            <a:off x="475488" y="3630168"/>
            <a:ext cx="310896" cy="310896"/>
          </a:xfrm>
          <a:prstGeom prst="ellipse">
            <a:avLst/>
          </a:prstGeom>
          <a:solidFill>
            <a:schemeClr val="accent2"/>
          </a:solidFill>
          <a:ln w="19050">
            <a:solidFill>
              <a:schemeClr val="bg1"/>
            </a:solidFill>
            <a:prstDash val="solid"/>
          </a:ln>
        </p:spPr>
      </p:sp>
      <p:sp>
        <p:nvSpPr>
          <p:cNvPr id="38" name="Text 177"/>
          <p:cNvSpPr txBox="1"/>
          <p:nvPr/>
        </p:nvSpPr>
        <p:spPr>
          <a:xfrm>
            <a:off x="475488" y="3630168"/>
            <a:ext cx="310896" cy="310896"/>
          </a:xfrm>
          <a:prstGeom prst="rect">
            <a:avLst/>
          </a:prstGeom>
          <a:noFill/>
        </p:spPr>
        <p:txBody>
          <a:bodyPr wrap="square" lIns="0" tIns="0" rIns="0" bIns="0" rtlCol="0" anchor="ctr"/>
          <a:lstStyle/>
          <a:p>
            <a:pPr marL="0" indent="0" algn="ctr">
              <a:buNone/>
            </a:pPr>
            <a:r>
              <a:rPr lang="en-US" sz="1200" b="1" dirty="0">
                <a:solidFill>
                  <a:schemeClr val="bg1"/>
                </a:solidFill>
                <a:latin typeface="+mj-lt"/>
                <a:ea typeface="+mj-lt"/>
                <a:cs typeface="+mj-lt"/>
              </a:rPr>
              <a:t>3</a:t>
            </a:r>
            <a:endParaRPr lang="en-US" sz="1200" dirty="0"/>
          </a:p>
        </p:txBody>
      </p:sp>
      <p:sp>
        <p:nvSpPr>
          <p:cNvPr id="39" name="Arrow 178"/>
          <p:cNvSpPr/>
          <p:nvPr/>
        </p:nvSpPr>
        <p:spPr>
          <a:xfrm>
            <a:off x="4617720" y="4069080"/>
            <a:ext cx="685800" cy="0"/>
          </a:xfrm>
          <a:prstGeom prst="line">
            <a:avLst/>
          </a:prstGeom>
          <a:noFill/>
          <a:ln w="28575">
            <a:solidFill>
              <a:schemeClr val="accent2"/>
            </a:solidFill>
            <a:prstDash val="solid"/>
            <a:tailEnd type="triangle"/>
          </a:ln>
        </p:spPr>
      </p:sp>
      <p:sp>
        <p:nvSpPr>
          <p:cNvPr id="40" name="Shape 179"/>
          <p:cNvSpPr/>
          <p:nvPr/>
        </p:nvSpPr>
        <p:spPr>
          <a:xfrm>
            <a:off x="5760720" y="3703320"/>
            <a:ext cx="5879592" cy="731520"/>
          </a:xfrm>
          <a:prstGeom prst="roundRect">
            <a:avLst>
              <a:gd name="adj" fmla="val 12500"/>
            </a:avLst>
          </a:prstGeom>
          <a:solidFill>
            <a:schemeClr val="accent3">
              <a:alpha val="14000"/>
            </a:schemeClr>
          </a:solidFill>
        </p:spPr>
      </p:sp>
      <p:sp>
        <p:nvSpPr>
          <p:cNvPr id="41" name="Shape 180"/>
          <p:cNvSpPr/>
          <p:nvPr/>
        </p:nvSpPr>
        <p:spPr>
          <a:xfrm>
            <a:off x="5394960" y="3666744"/>
            <a:ext cx="804672" cy="804672"/>
          </a:xfrm>
          <a:prstGeom prst="rect">
            <a:avLst/>
          </a:prstGeom>
          <a:solidFill>
            <a:schemeClr val="bg2"/>
          </a:solidFill>
        </p:spPr>
      </p:sp>
      <p:sp>
        <p:nvSpPr>
          <p:cNvPr id="42" name="Shape 181"/>
          <p:cNvSpPr/>
          <p:nvPr/>
        </p:nvSpPr>
        <p:spPr>
          <a:xfrm>
            <a:off x="5394960" y="3666744"/>
            <a:ext cx="804672" cy="804672"/>
          </a:xfrm>
          <a:prstGeom prst="ellipse">
            <a:avLst/>
          </a:prstGeom>
          <a:solidFill>
            <a:schemeClr val="accent5"/>
          </a:solidFill>
        </p:spPr>
      </p:sp>
      <p:pic>
        <p:nvPicPr>
          <p:cNvPr id="43" name="Icon 182" descr="preencoded.png"/>
          <p:cNvPicPr>
            <a:picLocks noChangeAspect="1"/>
          </p:cNvPicPr>
          <p:nvPr/>
        </p:nvPicPr>
        <p:blipFill>
          <a:blip r:embed="rId8"/>
          <a:stretch>
            <a:fillRect/>
          </a:stretch>
        </p:blipFill>
        <p:spPr>
          <a:xfrm>
            <a:off x="5588081" y="3859865"/>
            <a:ext cx="418429" cy="418429"/>
          </a:xfrm>
          <a:prstGeom prst="rect">
            <a:avLst/>
          </a:prstGeom>
        </p:spPr>
      </p:pic>
      <p:sp>
        <p:nvSpPr>
          <p:cNvPr id="44" name="Text 183"/>
          <p:cNvSpPr txBox="1"/>
          <p:nvPr/>
        </p:nvSpPr>
        <p:spPr>
          <a:xfrm>
            <a:off x="6355080" y="3703320"/>
            <a:ext cx="5166360" cy="731520"/>
          </a:xfrm>
          <a:prstGeom prst="rect">
            <a:avLst/>
          </a:prstGeom>
          <a:noFill/>
        </p:spPr>
        <p:txBody>
          <a:bodyPr wrap="square" lIns="0" tIns="0" rIns="0" bIns="0" rtlCol="0" anchor="ctr"/>
          <a:lstStyle/>
          <a:p>
            <a:pPr marL="0" indent="0">
              <a:buNone/>
            </a:pPr>
            <a:r>
              <a:rPr lang="en-US" sz="1300" dirty="0">
                <a:solidFill>
                  <a:schemeClr val="tx1"/>
                </a:solidFill>
              </a:rPr>
              <a:t>Reporting Dashboard with four analytics tabs on the same platform</a:t>
            </a:r>
            <a:endParaRPr lang="en-US" sz="1300" dirty="0"/>
          </a:p>
        </p:txBody>
      </p:sp>
      <p:sp>
        <p:nvSpPr>
          <p:cNvPr id="45" name="Shape 184"/>
          <p:cNvSpPr/>
          <p:nvPr/>
        </p:nvSpPr>
        <p:spPr>
          <a:xfrm>
            <a:off x="1005840" y="4617720"/>
            <a:ext cx="3566160" cy="694944"/>
          </a:xfrm>
          <a:prstGeom prst="roundRect">
            <a:avLst>
              <a:gd name="adj" fmla="val 13158"/>
            </a:avLst>
          </a:prstGeom>
          <a:solidFill>
            <a:schemeClr val="tx2"/>
          </a:solidFill>
        </p:spPr>
      </p:sp>
      <p:sp>
        <p:nvSpPr>
          <p:cNvPr id="46" name="Text 185"/>
          <p:cNvSpPr txBox="1"/>
          <p:nvPr/>
        </p:nvSpPr>
        <p:spPr>
          <a:xfrm>
            <a:off x="1600200" y="4617720"/>
            <a:ext cx="2926080" cy="694944"/>
          </a:xfrm>
          <a:prstGeom prst="rect">
            <a:avLst/>
          </a:prstGeom>
          <a:noFill/>
        </p:spPr>
        <p:txBody>
          <a:bodyPr wrap="square" lIns="0" tIns="0" rIns="0" bIns="0" rtlCol="0" anchor="ctr"/>
          <a:lstStyle/>
          <a:p>
            <a:pPr marL="0" indent="0">
              <a:buNone/>
            </a:pPr>
            <a:r>
              <a:rPr lang="en-US" sz="1500" b="1" dirty="0">
                <a:solidFill>
                  <a:schemeClr val="bg1"/>
                </a:solidFill>
                <a:latin typeface="+mj-lt"/>
                <a:ea typeface="+mj-lt"/>
                <a:cs typeface="+mj-lt"/>
              </a:rPr>
              <a:t>Weak access control</a:t>
            </a:r>
            <a:endParaRPr lang="en-US" sz="1500" dirty="0"/>
          </a:p>
        </p:txBody>
      </p:sp>
      <p:sp>
        <p:nvSpPr>
          <p:cNvPr id="47" name="Shape 186"/>
          <p:cNvSpPr/>
          <p:nvPr/>
        </p:nvSpPr>
        <p:spPr>
          <a:xfrm>
            <a:off x="548640" y="4562856"/>
            <a:ext cx="804672" cy="804672"/>
          </a:xfrm>
          <a:prstGeom prst="ellipse">
            <a:avLst/>
          </a:prstGeom>
          <a:solidFill>
            <a:schemeClr val="accent5"/>
          </a:solidFill>
        </p:spPr>
      </p:sp>
      <p:pic>
        <p:nvPicPr>
          <p:cNvPr id="48" name="Icon 187" descr="preencoded.png"/>
          <p:cNvPicPr>
            <a:picLocks noChangeAspect="1"/>
          </p:cNvPicPr>
          <p:nvPr/>
        </p:nvPicPr>
        <p:blipFill>
          <a:blip r:embed="rId9"/>
          <a:stretch>
            <a:fillRect/>
          </a:stretch>
        </p:blipFill>
        <p:spPr>
          <a:xfrm>
            <a:off x="741761" y="4755977"/>
            <a:ext cx="418429" cy="418429"/>
          </a:xfrm>
          <a:prstGeom prst="rect">
            <a:avLst/>
          </a:prstGeom>
        </p:spPr>
      </p:pic>
      <p:sp>
        <p:nvSpPr>
          <p:cNvPr id="49" name="Shape 188"/>
          <p:cNvSpPr/>
          <p:nvPr/>
        </p:nvSpPr>
        <p:spPr>
          <a:xfrm>
            <a:off x="475488" y="4526280"/>
            <a:ext cx="310896" cy="310896"/>
          </a:xfrm>
          <a:prstGeom prst="ellipse">
            <a:avLst/>
          </a:prstGeom>
          <a:solidFill>
            <a:schemeClr val="accent2"/>
          </a:solidFill>
          <a:ln w="19050">
            <a:solidFill>
              <a:schemeClr val="bg1"/>
            </a:solidFill>
            <a:prstDash val="solid"/>
          </a:ln>
        </p:spPr>
      </p:sp>
      <p:sp>
        <p:nvSpPr>
          <p:cNvPr id="50" name="Text 189"/>
          <p:cNvSpPr txBox="1"/>
          <p:nvPr/>
        </p:nvSpPr>
        <p:spPr>
          <a:xfrm>
            <a:off x="475488" y="4526280"/>
            <a:ext cx="310896" cy="310896"/>
          </a:xfrm>
          <a:prstGeom prst="rect">
            <a:avLst/>
          </a:prstGeom>
          <a:noFill/>
        </p:spPr>
        <p:txBody>
          <a:bodyPr wrap="square" lIns="0" tIns="0" rIns="0" bIns="0" rtlCol="0" anchor="ctr"/>
          <a:lstStyle/>
          <a:p>
            <a:pPr marL="0" indent="0" algn="ctr">
              <a:buNone/>
            </a:pPr>
            <a:r>
              <a:rPr lang="en-US" sz="1200" b="1" dirty="0">
                <a:solidFill>
                  <a:schemeClr val="bg1"/>
                </a:solidFill>
                <a:latin typeface="+mj-lt"/>
                <a:ea typeface="+mj-lt"/>
                <a:cs typeface="+mj-lt"/>
              </a:rPr>
              <a:t>4</a:t>
            </a:r>
            <a:endParaRPr lang="en-US" sz="1200" dirty="0"/>
          </a:p>
        </p:txBody>
      </p:sp>
      <p:sp>
        <p:nvSpPr>
          <p:cNvPr id="51" name="Arrow 190"/>
          <p:cNvSpPr/>
          <p:nvPr/>
        </p:nvSpPr>
        <p:spPr>
          <a:xfrm>
            <a:off x="4617720" y="4965192"/>
            <a:ext cx="685800" cy="0"/>
          </a:xfrm>
          <a:prstGeom prst="line">
            <a:avLst/>
          </a:prstGeom>
          <a:noFill/>
          <a:ln w="28575">
            <a:solidFill>
              <a:schemeClr val="accent2"/>
            </a:solidFill>
            <a:prstDash val="solid"/>
            <a:tailEnd type="triangle"/>
          </a:ln>
        </p:spPr>
      </p:sp>
      <p:sp>
        <p:nvSpPr>
          <p:cNvPr id="52" name="Shape 191"/>
          <p:cNvSpPr/>
          <p:nvPr/>
        </p:nvSpPr>
        <p:spPr>
          <a:xfrm>
            <a:off x="5760720" y="4599432"/>
            <a:ext cx="5879592" cy="731520"/>
          </a:xfrm>
          <a:prstGeom prst="roundRect">
            <a:avLst>
              <a:gd name="adj" fmla="val 12500"/>
            </a:avLst>
          </a:prstGeom>
          <a:solidFill>
            <a:schemeClr val="tx2">
              <a:alpha val="14000"/>
            </a:schemeClr>
          </a:solidFill>
        </p:spPr>
      </p:sp>
      <p:sp>
        <p:nvSpPr>
          <p:cNvPr id="53" name="Shape 192"/>
          <p:cNvSpPr/>
          <p:nvPr/>
        </p:nvSpPr>
        <p:spPr>
          <a:xfrm>
            <a:off x="5394960" y="4562856"/>
            <a:ext cx="804672" cy="804672"/>
          </a:xfrm>
          <a:prstGeom prst="rect">
            <a:avLst/>
          </a:prstGeom>
          <a:solidFill>
            <a:schemeClr val="bg2"/>
          </a:solidFill>
        </p:spPr>
      </p:sp>
      <p:sp>
        <p:nvSpPr>
          <p:cNvPr id="54" name="Shape 193"/>
          <p:cNvSpPr/>
          <p:nvPr/>
        </p:nvSpPr>
        <p:spPr>
          <a:xfrm>
            <a:off x="5394960" y="4562856"/>
            <a:ext cx="804672" cy="804672"/>
          </a:xfrm>
          <a:prstGeom prst="ellipse">
            <a:avLst/>
          </a:prstGeom>
          <a:solidFill>
            <a:schemeClr val="accent5"/>
          </a:solidFill>
        </p:spPr>
      </p:sp>
      <p:pic>
        <p:nvPicPr>
          <p:cNvPr id="55" name="Icon 194" descr="preencoded.png"/>
          <p:cNvPicPr>
            <a:picLocks noChangeAspect="1"/>
          </p:cNvPicPr>
          <p:nvPr/>
        </p:nvPicPr>
        <p:blipFill>
          <a:blip r:embed="rId10"/>
          <a:stretch>
            <a:fillRect/>
          </a:stretch>
        </p:blipFill>
        <p:spPr>
          <a:xfrm>
            <a:off x="5588081" y="4755977"/>
            <a:ext cx="418429" cy="418429"/>
          </a:xfrm>
          <a:prstGeom prst="rect">
            <a:avLst/>
          </a:prstGeom>
        </p:spPr>
      </p:pic>
      <p:sp>
        <p:nvSpPr>
          <p:cNvPr id="56" name="Text 195"/>
          <p:cNvSpPr txBox="1"/>
          <p:nvPr/>
        </p:nvSpPr>
        <p:spPr>
          <a:xfrm>
            <a:off x="6355080" y="4599432"/>
            <a:ext cx="5166360" cy="731520"/>
          </a:xfrm>
          <a:prstGeom prst="rect">
            <a:avLst/>
          </a:prstGeom>
          <a:noFill/>
        </p:spPr>
        <p:txBody>
          <a:bodyPr wrap="square" lIns="0" tIns="0" rIns="0" bIns="0" rtlCol="0" anchor="ctr"/>
          <a:lstStyle/>
          <a:p>
            <a:pPr marL="0" indent="0">
              <a:buNone/>
            </a:pPr>
            <a:r>
              <a:rPr lang="en-US" sz="1300" dirty="0">
                <a:solidFill>
                  <a:schemeClr val="tx1"/>
                </a:solidFill>
              </a:rPr>
              <a:t>Google OAuth (@mcst.edu.ph), four-role access control, HTTPS sessions, audit trail</a:t>
            </a:r>
            <a:endParaRPr lang="en-US" sz="1300" dirty="0"/>
          </a:p>
        </p:txBody>
      </p:sp>
      <p:sp>
        <p:nvSpPr>
          <p:cNvPr id="57" name="Shape 196"/>
          <p:cNvSpPr/>
          <p:nvPr/>
        </p:nvSpPr>
        <p:spPr>
          <a:xfrm>
            <a:off x="548640" y="5596128"/>
            <a:ext cx="11094415" cy="685800"/>
          </a:xfrm>
          <a:prstGeom prst="roundRect">
            <a:avLst>
              <a:gd name="adj" fmla="val 13333"/>
            </a:avLst>
          </a:prstGeom>
          <a:solidFill>
            <a:schemeClr val="bg2"/>
          </a:solidFill>
        </p:spPr>
      </p:sp>
      <p:sp>
        <p:nvSpPr>
          <p:cNvPr id="58" name="Shape 197"/>
          <p:cNvSpPr/>
          <p:nvPr/>
        </p:nvSpPr>
        <p:spPr>
          <a:xfrm>
            <a:off x="548640" y="5596128"/>
            <a:ext cx="1005840" cy="685800"/>
          </a:xfrm>
          <a:prstGeom prst="roundRect">
            <a:avLst>
              <a:gd name="adj" fmla="val 13333"/>
            </a:avLst>
          </a:prstGeom>
          <a:solidFill>
            <a:schemeClr val="tx2"/>
          </a:solidFill>
        </p:spPr>
      </p:sp>
      <p:sp>
        <p:nvSpPr>
          <p:cNvPr id="59" name="Shape 198"/>
          <p:cNvSpPr/>
          <p:nvPr/>
        </p:nvSpPr>
        <p:spPr>
          <a:xfrm>
            <a:off x="1097280" y="5596128"/>
            <a:ext cx="457200" cy="685800"/>
          </a:xfrm>
          <a:prstGeom prst="rect">
            <a:avLst/>
          </a:prstGeom>
          <a:solidFill>
            <a:schemeClr val="tx2"/>
          </a:solidFill>
        </p:spPr>
      </p:sp>
      <p:pic>
        <p:nvPicPr>
          <p:cNvPr id="60" name="Icon 199" descr="preencoded.png"/>
          <p:cNvPicPr>
            <a:picLocks noChangeAspect="1"/>
          </p:cNvPicPr>
          <p:nvPr/>
        </p:nvPicPr>
        <p:blipFill>
          <a:blip r:embed="rId11"/>
          <a:stretch>
            <a:fillRect/>
          </a:stretch>
        </p:blipFill>
        <p:spPr>
          <a:xfrm>
            <a:off x="822960" y="5715000"/>
            <a:ext cx="457200" cy="457200"/>
          </a:xfrm>
          <a:prstGeom prst="rect">
            <a:avLst/>
          </a:prstGeom>
        </p:spPr>
      </p:pic>
      <p:sp>
        <p:nvSpPr>
          <p:cNvPr id="61" name="Text 200"/>
          <p:cNvSpPr txBox="1"/>
          <p:nvPr/>
        </p:nvSpPr>
        <p:spPr>
          <a:xfrm>
            <a:off x="1828800" y="5596128"/>
            <a:ext cx="9631375" cy="685800"/>
          </a:xfrm>
          <a:prstGeom prst="rect">
            <a:avLst/>
          </a:prstGeom>
          <a:noFill/>
        </p:spPr>
        <p:txBody>
          <a:bodyPr wrap="square" lIns="0" tIns="0" rIns="0" bIns="0" rtlCol="0" anchor="ctr"/>
          <a:lstStyle/>
          <a:p>
            <a:pPr marL="0" indent="0">
              <a:buNone/>
            </a:pPr>
            <a:r>
              <a:rPr lang="en-US" sz="1400" b="1" dirty="0">
                <a:solidFill>
                  <a:schemeClr val="tx2"/>
                </a:solidFill>
              </a:rPr>
              <a:t>Evaluated against ISO/IEC 25010:2011 and UAT with 87 users.</a:t>
            </a:r>
            <a:endParaRPr lang="en-US" sz="1400" dirty="0"/>
          </a:p>
          <a:p>
            <a:pPr marL="0" indent="0">
              <a:buNone/>
            </a:pPr>
            <a:r>
              <a:rPr lang="en-US" sz="1250" dirty="0">
                <a:solidFill>
                  <a:schemeClr val="tx1"/>
                </a:solidFill>
              </a:rPr>
              <a:t>Analytics are descriptive with rule-based insights; machine learning is outside the study scope.</a:t>
            </a:r>
            <a:endParaRPr lang="en-US" sz="140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05  |  SYSTEM ARCHITECTURE</a:t>
            </a:r>
            <a:endParaRPr lang="en-US" sz="1200" dirty="0"/>
          </a:p>
        </p:txBody>
      </p:sp>
      <p:sp>
        <p:nvSpPr>
          <p:cNvPr id="3" name="Text 4"/>
          <p:cNvSpPr>
            <a:spLocks noGrp="1"/>
          </p:cNvSpPr>
          <p:nvPr>
            <p:ph type="title" idx="105" hasCustomPrompt="1"/>
          </p:nvPr>
        </p:nvSpPr>
        <p:spPr>
          <a:xfrm>
            <a:off x="548640" y="502920"/>
            <a:ext cx="11094720" cy="420370"/>
          </a:xfrm>
          <a:prstGeom prst="rect">
            <a:avLst/>
          </a:prstGeom>
          <a:noFill/>
        </p:spPr>
        <p:txBody>
          <a:bodyPr wrap="square" lIns="0" tIns="0" rIns="0" bIns="0" rtlCol="0" anchor="ctr"/>
          <a:lstStyle/>
          <a:p>
            <a:pPr marL="0" indent="0" algn="l">
              <a:buNone/>
            </a:pPr>
            <a:r>
              <a:rPr lang="en-US" sz="2800" b="1" dirty="0">
                <a:solidFill>
                  <a:schemeClr val="tx2"/>
                </a:solidFill>
              </a:rPr>
              <a:t>System Architecture</a:t>
            </a:r>
            <a:endParaRPr lang="en-US" sz="2800" dirty="0"/>
          </a:p>
        </p:txBody>
      </p:sp>
      <p:sp>
        <p:nvSpPr>
          <p:cNvPr id="5" name="Text 201"/>
          <p:cNvSpPr txBox="1"/>
          <p:nvPr/>
        </p:nvSpPr>
        <p:spPr>
          <a:xfrm>
            <a:off x="7680960" y="640080"/>
            <a:ext cx="3959352" cy="274320"/>
          </a:xfrm>
          <a:prstGeom prst="rect">
            <a:avLst/>
          </a:prstGeom>
          <a:noFill/>
        </p:spPr>
        <p:txBody>
          <a:bodyPr wrap="square" lIns="0" tIns="0" rIns="0" bIns="0" rtlCol="0" anchor="t"/>
          <a:lstStyle/>
          <a:p>
            <a:pPr marL="0" indent="0" algn="r">
              <a:buNone/>
            </a:pPr>
            <a:r>
              <a:rPr lang="en-US" sz="1100" i="1" dirty="0">
                <a:solidFill>
                  <a:schemeClr val="accent6"/>
                </a:solidFill>
              </a:rPr>
              <a:t>Figure 2. Three-tier system architecture</a:t>
            </a:r>
            <a:endParaRPr lang="en-US" sz="1100" dirty="0"/>
          </a:p>
        </p:txBody>
      </p:sp>
      <p:grpSp>
        <p:nvGrpSpPr>
          <p:cNvPr id="74" name="Group 73"/>
          <p:cNvGrpSpPr/>
          <p:nvPr/>
        </p:nvGrpSpPr>
        <p:grpSpPr>
          <a:xfrm>
            <a:off x="4447540" y="1035685"/>
            <a:ext cx="3340100" cy="518795"/>
            <a:chOff x="864" y="2304"/>
            <a:chExt cx="5260" cy="1296"/>
          </a:xfrm>
        </p:grpSpPr>
        <p:sp>
          <p:nvSpPr>
            <p:cNvPr id="6" name="Shape 202"/>
            <p:cNvSpPr/>
            <p:nvPr/>
          </p:nvSpPr>
          <p:spPr>
            <a:xfrm>
              <a:off x="864" y="2304"/>
              <a:ext cx="5260" cy="1296"/>
            </a:xfrm>
            <a:prstGeom prst="roundRect">
              <a:avLst>
                <a:gd name="adj" fmla="val 11111"/>
              </a:avLst>
            </a:prstGeom>
            <a:solidFill>
              <a:schemeClr val="accent1"/>
            </a:solidFill>
          </p:spPr>
        </p:sp>
        <p:sp>
          <p:nvSpPr>
            <p:cNvPr id="7" name="Shape 203"/>
            <p:cNvSpPr/>
            <p:nvPr/>
          </p:nvSpPr>
          <p:spPr>
            <a:xfrm>
              <a:off x="1080" y="2520"/>
              <a:ext cx="864" cy="864"/>
            </a:xfrm>
            <a:prstGeom prst="ellipse">
              <a:avLst/>
            </a:prstGeom>
            <a:solidFill>
              <a:schemeClr val="accent5"/>
            </a:solidFill>
          </p:spPr>
        </p:sp>
        <p:pic>
          <p:nvPicPr>
            <p:cNvPr id="8" name="Icon 204" descr="preencoded.png"/>
            <p:cNvPicPr>
              <a:picLocks noChangeAspect="1"/>
            </p:cNvPicPr>
            <p:nvPr/>
          </p:nvPicPr>
          <p:blipFill>
            <a:blip r:embed="rId3"/>
            <a:stretch>
              <a:fillRect/>
            </a:stretch>
          </p:blipFill>
          <p:spPr>
            <a:xfrm>
              <a:off x="1287" y="2727"/>
              <a:ext cx="449" cy="449"/>
            </a:xfrm>
            <a:prstGeom prst="rect">
              <a:avLst/>
            </a:prstGeom>
          </p:spPr>
        </p:pic>
        <p:sp>
          <p:nvSpPr>
            <p:cNvPr id="9" name="Text 205"/>
            <p:cNvSpPr txBox="1"/>
            <p:nvPr/>
          </p:nvSpPr>
          <p:spPr>
            <a:xfrm>
              <a:off x="2160" y="2371"/>
              <a:ext cx="2736" cy="485"/>
            </a:xfrm>
            <a:prstGeom prst="rect">
              <a:avLst/>
            </a:prstGeom>
            <a:noFill/>
          </p:spPr>
          <p:txBody>
            <a:bodyPr wrap="square" lIns="0" tIns="0" rIns="0" bIns="0" rtlCol="0" anchor="ctr"/>
            <a:lstStyle/>
            <a:p>
              <a:pPr marL="0" indent="0">
                <a:buNone/>
              </a:pPr>
              <a:r>
                <a:rPr lang="en-US" sz="2000" b="1" dirty="0">
                  <a:solidFill>
                    <a:schemeClr val="bg1"/>
                  </a:solidFill>
                  <a:latin typeface="+mj-lt"/>
                  <a:ea typeface="+mj-lt"/>
                  <a:cs typeface="+mj-lt"/>
                </a:rPr>
                <a:t>Library Users</a:t>
              </a:r>
            </a:p>
          </p:txBody>
        </p:sp>
        <p:sp>
          <p:nvSpPr>
            <p:cNvPr id="75" name="Text 205"/>
            <p:cNvSpPr txBox="1"/>
            <p:nvPr/>
          </p:nvSpPr>
          <p:spPr>
            <a:xfrm>
              <a:off x="2160" y="2953"/>
              <a:ext cx="3957" cy="555"/>
            </a:xfrm>
            <a:prstGeom prst="rect">
              <a:avLst/>
            </a:prstGeom>
            <a:noFill/>
          </p:spPr>
          <p:txBody>
            <a:bodyPr wrap="square" lIns="0" tIns="0" rIns="0" bIns="0" rtlCol="0" anchor="ctr"/>
            <a:lstStyle/>
            <a:p>
              <a:pPr marL="0" indent="0">
                <a:buNone/>
              </a:pPr>
              <a:r>
                <a:rPr lang="en-US" sz="1200" b="1" dirty="0">
                  <a:solidFill>
                    <a:schemeClr val="bg1"/>
                  </a:solidFill>
                  <a:latin typeface="+mj-lt"/>
                  <a:ea typeface="+mj-lt"/>
                  <a:cs typeface="+mj-lt"/>
                </a:rPr>
                <a:t>Students, Faculty, Librarian, Admin</a:t>
              </a:r>
            </a:p>
          </p:txBody>
        </p:sp>
      </p:grpSp>
      <p:sp>
        <p:nvSpPr>
          <p:cNvPr id="20" name="Shape 216"/>
          <p:cNvSpPr/>
          <p:nvPr/>
        </p:nvSpPr>
        <p:spPr>
          <a:xfrm>
            <a:off x="11430000" y="1554480"/>
            <a:ext cx="0" cy="0"/>
          </a:xfrm>
          <a:prstGeom prst="roundRect">
            <a:avLst>
              <a:gd name="adj" fmla="val 0"/>
            </a:avLst>
          </a:prstGeom>
          <a:solidFill>
            <a:schemeClr val="bg1"/>
          </a:solidFill>
          <a:ln w="12700">
            <a:solidFill>
              <a:schemeClr val="accent5"/>
            </a:solidFill>
            <a:prstDash val="solid"/>
          </a:ln>
        </p:spPr>
      </p:sp>
      <p:sp>
        <p:nvSpPr>
          <p:cNvPr id="21" name="Text 217"/>
          <p:cNvSpPr txBox="1"/>
          <p:nvPr/>
        </p:nvSpPr>
        <p:spPr>
          <a:xfrm>
            <a:off x="11430000" y="1554480"/>
            <a:ext cx="0" cy="0"/>
          </a:xfrm>
          <a:prstGeom prst="rect">
            <a:avLst/>
          </a:prstGeom>
          <a:noFill/>
        </p:spPr>
        <p:txBody>
          <a:bodyPr wrap="square" lIns="0" tIns="0" rIns="0" bIns="0" rtlCol="0" anchor="ctr"/>
          <a:lstStyle>
            <a:lvl1pPr/>
          </a:lstStyle>
          <a:p>
            <a:pPr marL="0" indent="0" algn="ctr">
              <a:buNone/>
            </a:pPr>
            <a:endParaRPr lang="en-US" sz="1150" dirty="0"/>
          </a:p>
        </p:txBody>
      </p:sp>
      <p:grpSp>
        <p:nvGrpSpPr>
          <p:cNvPr id="76" name="Group 75"/>
          <p:cNvGrpSpPr/>
          <p:nvPr/>
        </p:nvGrpSpPr>
        <p:grpSpPr>
          <a:xfrm>
            <a:off x="4491355" y="1943100"/>
            <a:ext cx="3251200" cy="518160"/>
            <a:chOff x="864" y="3888"/>
            <a:chExt cx="5120" cy="1007"/>
          </a:xfrm>
        </p:grpSpPr>
        <p:sp>
          <p:nvSpPr>
            <p:cNvPr id="23" name="Shape 219"/>
            <p:cNvSpPr/>
            <p:nvPr/>
          </p:nvSpPr>
          <p:spPr>
            <a:xfrm>
              <a:off x="864" y="3888"/>
              <a:ext cx="5120" cy="1007"/>
            </a:xfrm>
            <a:prstGeom prst="roundRect">
              <a:avLst>
                <a:gd name="adj" fmla="val 4255"/>
              </a:avLst>
            </a:prstGeom>
            <a:solidFill>
              <a:schemeClr val="accent2"/>
            </a:solidFill>
          </p:spPr>
        </p:sp>
        <p:sp>
          <p:nvSpPr>
            <p:cNvPr id="24" name="Shape 220"/>
            <p:cNvSpPr/>
            <p:nvPr/>
          </p:nvSpPr>
          <p:spPr>
            <a:xfrm>
              <a:off x="1080" y="4104"/>
              <a:ext cx="724" cy="656"/>
            </a:xfrm>
            <a:prstGeom prst="ellipse">
              <a:avLst/>
            </a:prstGeom>
            <a:solidFill>
              <a:schemeClr val="accent5"/>
            </a:solidFill>
          </p:spPr>
        </p:sp>
        <p:pic>
          <p:nvPicPr>
            <p:cNvPr id="25" name="Icon 221" descr="preencoded.png"/>
            <p:cNvPicPr>
              <a:picLocks noChangeAspect="1"/>
            </p:cNvPicPr>
            <p:nvPr/>
          </p:nvPicPr>
          <p:blipFill>
            <a:blip r:embed="rId4"/>
            <a:stretch>
              <a:fillRect/>
            </a:stretch>
          </p:blipFill>
          <p:spPr>
            <a:xfrm>
              <a:off x="1287" y="4311"/>
              <a:ext cx="378" cy="378"/>
            </a:xfrm>
            <a:prstGeom prst="rect">
              <a:avLst/>
            </a:prstGeom>
          </p:spPr>
        </p:pic>
        <p:sp>
          <p:nvSpPr>
            <p:cNvPr id="26" name="Text 222"/>
            <p:cNvSpPr txBox="1"/>
            <p:nvPr/>
          </p:nvSpPr>
          <p:spPr>
            <a:xfrm>
              <a:off x="2160" y="3996"/>
              <a:ext cx="2736" cy="432"/>
            </a:xfrm>
            <a:prstGeom prst="rect">
              <a:avLst/>
            </a:prstGeom>
            <a:noFill/>
          </p:spPr>
          <p:txBody>
            <a:bodyPr wrap="square" lIns="0" tIns="0" rIns="0" bIns="0" rtlCol="0" anchor="ctr"/>
            <a:lstStyle/>
            <a:p>
              <a:pPr marL="0" indent="0">
                <a:buNone/>
              </a:pPr>
              <a:r>
                <a:rPr lang="en-US" sz="1500" b="1" dirty="0">
                  <a:solidFill>
                    <a:schemeClr val="bg1"/>
                  </a:solidFill>
                  <a:latin typeface="+mj-lt"/>
                  <a:ea typeface="+mj-lt"/>
                  <a:cs typeface="+mj-lt"/>
                </a:rPr>
                <a:t>Flask Web App</a:t>
              </a:r>
              <a:endParaRPr lang="en-US" sz="1500" dirty="0"/>
            </a:p>
          </p:txBody>
        </p:sp>
        <p:sp>
          <p:nvSpPr>
            <p:cNvPr id="27" name="Text 223"/>
            <p:cNvSpPr txBox="1"/>
            <p:nvPr/>
          </p:nvSpPr>
          <p:spPr>
            <a:xfrm>
              <a:off x="2160" y="4428"/>
              <a:ext cx="3824" cy="332"/>
            </a:xfrm>
            <a:prstGeom prst="rect">
              <a:avLst/>
            </a:prstGeom>
            <a:noFill/>
          </p:spPr>
          <p:txBody>
            <a:bodyPr wrap="square" lIns="0" tIns="0" rIns="0" bIns="0" rtlCol="0" anchor="t"/>
            <a:lstStyle/>
            <a:p>
              <a:pPr marL="0" indent="0">
                <a:buNone/>
              </a:pPr>
              <a:r>
                <a:rPr lang="en-US" sz="1200" dirty="0">
                  <a:solidFill>
                    <a:schemeClr val="bg1"/>
                  </a:solidFill>
                </a:rPr>
                <a:t>Jinja2 + Tailwind + Gunicorn on Render</a:t>
              </a:r>
              <a:endParaRPr lang="en-US" sz="1200" dirty="0"/>
            </a:p>
          </p:txBody>
        </p:sp>
      </p:grpSp>
      <p:grpSp>
        <p:nvGrpSpPr>
          <p:cNvPr id="78" name="Group 77"/>
          <p:cNvGrpSpPr/>
          <p:nvPr/>
        </p:nvGrpSpPr>
        <p:grpSpPr>
          <a:xfrm>
            <a:off x="1209675" y="2909570"/>
            <a:ext cx="9685655" cy="1828165"/>
            <a:chOff x="19408" y="3663"/>
            <a:chExt cx="13074" cy="3384"/>
          </a:xfrm>
        </p:grpSpPr>
        <p:sp>
          <p:nvSpPr>
            <p:cNvPr id="28" name="Shape 224"/>
            <p:cNvSpPr/>
            <p:nvPr/>
          </p:nvSpPr>
          <p:spPr>
            <a:xfrm>
              <a:off x="19408" y="3663"/>
              <a:ext cx="3672" cy="3384"/>
            </a:xfrm>
            <a:prstGeom prst="roundRect">
              <a:avLst>
                <a:gd name="adj" fmla="val 4255"/>
              </a:avLst>
            </a:prstGeom>
            <a:solidFill>
              <a:schemeClr val="bg2"/>
            </a:solidFill>
          </p:spPr>
        </p:sp>
        <p:sp>
          <p:nvSpPr>
            <p:cNvPr id="29" name="Shape 225"/>
            <p:cNvSpPr/>
            <p:nvPr/>
          </p:nvSpPr>
          <p:spPr>
            <a:xfrm>
              <a:off x="19408" y="3663"/>
              <a:ext cx="3672" cy="648"/>
            </a:xfrm>
            <a:prstGeom prst="roundRect">
              <a:avLst>
                <a:gd name="adj" fmla="val 22222"/>
              </a:avLst>
            </a:prstGeom>
            <a:solidFill>
              <a:schemeClr val="accent3"/>
            </a:solidFill>
          </p:spPr>
        </p:sp>
        <p:sp>
          <p:nvSpPr>
            <p:cNvPr id="30" name="Shape 226"/>
            <p:cNvSpPr/>
            <p:nvPr/>
          </p:nvSpPr>
          <p:spPr>
            <a:xfrm>
              <a:off x="19408" y="4023"/>
              <a:ext cx="3672" cy="288"/>
            </a:xfrm>
            <a:prstGeom prst="rect">
              <a:avLst/>
            </a:prstGeom>
            <a:solidFill>
              <a:schemeClr val="accent3"/>
            </a:solidFill>
          </p:spPr>
        </p:sp>
        <p:sp>
          <p:nvSpPr>
            <p:cNvPr id="31" name="Text 227"/>
            <p:cNvSpPr txBox="1"/>
            <p:nvPr/>
          </p:nvSpPr>
          <p:spPr>
            <a:xfrm>
              <a:off x="19408" y="3663"/>
              <a:ext cx="3672" cy="648"/>
            </a:xfrm>
            <a:prstGeom prst="rect">
              <a:avLst/>
            </a:prstGeom>
            <a:noFill/>
          </p:spPr>
          <p:txBody>
            <a:bodyPr wrap="square" lIns="0" tIns="0" rIns="0" bIns="0" rtlCol="0" anchor="ctr"/>
            <a:lstStyle/>
            <a:p>
              <a:pPr marL="0" indent="0" algn="ctr">
                <a:buNone/>
              </a:pPr>
              <a:r>
                <a:rPr lang="en-US" sz="1350" b="1" dirty="0">
                  <a:solidFill>
                    <a:schemeClr val="bg1"/>
                  </a:solidFill>
                  <a:latin typeface="+mj-lt"/>
                  <a:ea typeface="+mj-lt"/>
                  <a:cs typeface="+mj-lt"/>
                </a:rPr>
                <a:t>Authentication Module</a:t>
              </a:r>
              <a:endParaRPr lang="en-US" sz="1350" dirty="0"/>
            </a:p>
          </p:txBody>
        </p:sp>
        <p:sp>
          <p:nvSpPr>
            <p:cNvPr id="32" name="Shape 228"/>
            <p:cNvSpPr/>
            <p:nvPr/>
          </p:nvSpPr>
          <p:spPr>
            <a:xfrm>
              <a:off x="23224" y="3663"/>
              <a:ext cx="5616" cy="3384"/>
            </a:xfrm>
            <a:prstGeom prst="roundRect">
              <a:avLst>
                <a:gd name="adj" fmla="val 4255"/>
              </a:avLst>
            </a:prstGeom>
            <a:solidFill>
              <a:schemeClr val="bg2"/>
            </a:solidFill>
          </p:spPr>
        </p:sp>
        <p:sp>
          <p:nvSpPr>
            <p:cNvPr id="33" name="Shape 229"/>
            <p:cNvSpPr/>
            <p:nvPr/>
          </p:nvSpPr>
          <p:spPr>
            <a:xfrm>
              <a:off x="23224" y="3663"/>
              <a:ext cx="5616" cy="648"/>
            </a:xfrm>
            <a:prstGeom prst="roundRect">
              <a:avLst>
                <a:gd name="adj" fmla="val 22222"/>
              </a:avLst>
            </a:prstGeom>
            <a:solidFill>
              <a:schemeClr val="tx2"/>
            </a:solidFill>
          </p:spPr>
        </p:sp>
        <p:sp>
          <p:nvSpPr>
            <p:cNvPr id="34" name="Shape 230"/>
            <p:cNvSpPr/>
            <p:nvPr/>
          </p:nvSpPr>
          <p:spPr>
            <a:xfrm>
              <a:off x="23224" y="4023"/>
              <a:ext cx="5616" cy="288"/>
            </a:xfrm>
            <a:prstGeom prst="rect">
              <a:avLst/>
            </a:prstGeom>
            <a:solidFill>
              <a:schemeClr val="tx2"/>
            </a:solidFill>
          </p:spPr>
        </p:sp>
        <p:sp>
          <p:nvSpPr>
            <p:cNvPr id="35" name="Text 231"/>
            <p:cNvSpPr txBox="1"/>
            <p:nvPr/>
          </p:nvSpPr>
          <p:spPr>
            <a:xfrm>
              <a:off x="23224" y="3663"/>
              <a:ext cx="5616" cy="648"/>
            </a:xfrm>
            <a:prstGeom prst="rect">
              <a:avLst/>
            </a:prstGeom>
            <a:noFill/>
          </p:spPr>
          <p:txBody>
            <a:bodyPr wrap="square" lIns="0" tIns="0" rIns="0" bIns="0" rtlCol="0" anchor="ctr"/>
            <a:lstStyle/>
            <a:p>
              <a:pPr marL="0" indent="0" algn="ctr">
                <a:buNone/>
              </a:pPr>
              <a:r>
                <a:rPr lang="en-US" sz="1350" b="1" dirty="0">
                  <a:solidFill>
                    <a:schemeClr val="bg1"/>
                  </a:solidFill>
                  <a:latin typeface="+mj-lt"/>
                  <a:ea typeface="+mj-lt"/>
                  <a:cs typeface="+mj-lt"/>
                </a:rPr>
                <a:t>Core Modules</a:t>
              </a:r>
              <a:endParaRPr lang="en-US" sz="1350" dirty="0"/>
            </a:p>
          </p:txBody>
        </p:sp>
        <p:sp>
          <p:nvSpPr>
            <p:cNvPr id="36" name="Shape 232"/>
            <p:cNvSpPr/>
            <p:nvPr/>
          </p:nvSpPr>
          <p:spPr>
            <a:xfrm>
              <a:off x="28984" y="3663"/>
              <a:ext cx="3499" cy="3384"/>
            </a:xfrm>
            <a:prstGeom prst="roundRect">
              <a:avLst>
                <a:gd name="adj" fmla="val 4255"/>
              </a:avLst>
            </a:prstGeom>
            <a:solidFill>
              <a:schemeClr val="bg2"/>
            </a:solidFill>
          </p:spPr>
        </p:sp>
        <p:sp>
          <p:nvSpPr>
            <p:cNvPr id="37" name="Shape 233"/>
            <p:cNvSpPr/>
            <p:nvPr/>
          </p:nvSpPr>
          <p:spPr>
            <a:xfrm>
              <a:off x="28984" y="3663"/>
              <a:ext cx="3499" cy="648"/>
            </a:xfrm>
            <a:prstGeom prst="roundRect">
              <a:avLst>
                <a:gd name="adj" fmla="val 22222"/>
              </a:avLst>
            </a:prstGeom>
            <a:solidFill>
              <a:schemeClr val="accent3"/>
            </a:solidFill>
          </p:spPr>
        </p:sp>
        <p:sp>
          <p:nvSpPr>
            <p:cNvPr id="38" name="Shape 234"/>
            <p:cNvSpPr/>
            <p:nvPr/>
          </p:nvSpPr>
          <p:spPr>
            <a:xfrm>
              <a:off x="28984" y="4023"/>
              <a:ext cx="3499" cy="288"/>
            </a:xfrm>
            <a:prstGeom prst="rect">
              <a:avLst/>
            </a:prstGeom>
            <a:solidFill>
              <a:schemeClr val="accent3"/>
            </a:solidFill>
          </p:spPr>
        </p:sp>
        <p:sp>
          <p:nvSpPr>
            <p:cNvPr id="39" name="Text 235"/>
            <p:cNvSpPr txBox="1"/>
            <p:nvPr/>
          </p:nvSpPr>
          <p:spPr>
            <a:xfrm>
              <a:off x="28984" y="3663"/>
              <a:ext cx="3499" cy="648"/>
            </a:xfrm>
            <a:prstGeom prst="rect">
              <a:avLst/>
            </a:prstGeom>
            <a:noFill/>
          </p:spPr>
          <p:txBody>
            <a:bodyPr wrap="square" lIns="0" tIns="0" rIns="0" bIns="0" rtlCol="0" anchor="ctr"/>
            <a:lstStyle/>
            <a:p>
              <a:pPr marL="0" indent="0" algn="ctr">
                <a:buNone/>
              </a:pPr>
              <a:r>
                <a:rPr lang="en-US" sz="1350" b="1" dirty="0">
                  <a:solidFill>
                    <a:schemeClr val="bg1"/>
                  </a:solidFill>
                  <a:latin typeface="+mj-lt"/>
                  <a:ea typeface="+mj-lt"/>
                  <a:cs typeface="+mj-lt"/>
                </a:rPr>
                <a:t>Data and Services</a:t>
              </a:r>
              <a:endParaRPr lang="en-US" sz="1350" dirty="0"/>
            </a:p>
          </p:txBody>
        </p:sp>
        <p:sp>
          <p:nvSpPr>
            <p:cNvPr id="40" name="Text 236"/>
            <p:cNvSpPr txBox="1"/>
            <p:nvPr/>
          </p:nvSpPr>
          <p:spPr>
            <a:xfrm>
              <a:off x="19696" y="4671"/>
              <a:ext cx="3168" cy="2016"/>
            </a:xfrm>
            <a:prstGeom prst="rect">
              <a:avLst/>
            </a:prstGeom>
            <a:noFill/>
          </p:spPr>
          <p:txBody>
            <a:bodyPr wrap="square" lIns="0" tIns="0" rIns="0" bIns="0" rtlCol="0" anchor="t"/>
            <a:lstStyle/>
            <a:p>
              <a:pPr marL="177800" indent="-177800">
                <a:spcAft>
                  <a:spcPts val="1000"/>
                </a:spcAft>
                <a:buSzPct val="100000"/>
                <a:buChar char="•"/>
              </a:pPr>
              <a:r>
                <a:rPr lang="en-US" sz="1300" dirty="0">
                  <a:solidFill>
                    <a:schemeClr val="tx1"/>
                  </a:solidFill>
                </a:rPr>
                <a:t>Google OAuth 2.0 login</a:t>
              </a:r>
              <a:endParaRPr lang="en-US" sz="1300" dirty="0"/>
            </a:p>
            <a:p>
              <a:pPr marL="177800" indent="-177800">
                <a:spcAft>
                  <a:spcPts val="1000"/>
                </a:spcAft>
                <a:buSzPct val="100000"/>
                <a:buChar char="•"/>
              </a:pPr>
              <a:r>
                <a:rPr lang="en-US" sz="1300" dirty="0">
                  <a:solidFill>
                    <a:schemeClr val="tx1"/>
                  </a:solidFill>
                </a:rPr>
                <a:t>Flask-Login sessions</a:t>
              </a:r>
              <a:endParaRPr lang="en-US" sz="1300" dirty="0"/>
            </a:p>
            <a:p>
              <a:pPr marL="177800" indent="-177800">
                <a:spcAft>
                  <a:spcPts val="1000"/>
                </a:spcAft>
                <a:buSzPct val="100000"/>
                <a:buChar char="•"/>
              </a:pPr>
              <a:r>
                <a:rPr lang="en-US" sz="1300" dirty="0">
                  <a:solidFill>
                    <a:schemeClr val="tx1"/>
                  </a:solidFill>
                </a:rPr>
                <a:t>Role-based access (RBAC)</a:t>
              </a:r>
              <a:endParaRPr lang="en-US" sz="1300" dirty="0"/>
            </a:p>
          </p:txBody>
        </p:sp>
        <p:sp>
          <p:nvSpPr>
            <p:cNvPr id="41" name="Shape 237"/>
            <p:cNvSpPr/>
            <p:nvPr/>
          </p:nvSpPr>
          <p:spPr>
            <a:xfrm>
              <a:off x="23440" y="4498"/>
              <a:ext cx="2448" cy="518"/>
            </a:xfrm>
            <a:prstGeom prst="roundRect">
              <a:avLst>
                <a:gd name="adj" fmla="val 16667"/>
              </a:avLst>
            </a:prstGeom>
            <a:solidFill>
              <a:schemeClr val="bg1"/>
            </a:solidFill>
            <a:ln w="12700">
              <a:solidFill>
                <a:schemeClr val="accent5"/>
              </a:solidFill>
              <a:prstDash val="solid"/>
            </a:ln>
          </p:spPr>
        </p:sp>
        <p:sp>
          <p:nvSpPr>
            <p:cNvPr id="42" name="Text 238"/>
            <p:cNvSpPr txBox="1"/>
            <p:nvPr/>
          </p:nvSpPr>
          <p:spPr>
            <a:xfrm>
              <a:off x="23440" y="4498"/>
              <a:ext cx="2448" cy="518"/>
            </a:xfrm>
            <a:prstGeom prst="rect">
              <a:avLst/>
            </a:prstGeom>
            <a:noFill/>
          </p:spPr>
          <p:txBody>
            <a:bodyPr wrap="square" lIns="0" tIns="0" rIns="0" bIns="0" rtlCol="0" anchor="ctr"/>
            <a:lstStyle/>
            <a:p>
              <a:pPr marL="0" indent="0" algn="ctr">
                <a:buNone/>
              </a:pPr>
              <a:r>
                <a:rPr lang="en-US" sz="1200" dirty="0">
                  <a:solidFill>
                    <a:schemeClr val="tx2"/>
                  </a:solidFill>
                </a:rPr>
                <a:t>Cataloging</a:t>
              </a:r>
              <a:endParaRPr lang="en-US" sz="1200" dirty="0"/>
            </a:p>
          </p:txBody>
        </p:sp>
        <p:sp>
          <p:nvSpPr>
            <p:cNvPr id="43" name="Shape 239"/>
            <p:cNvSpPr/>
            <p:nvPr/>
          </p:nvSpPr>
          <p:spPr>
            <a:xfrm>
              <a:off x="26032" y="4498"/>
              <a:ext cx="2448" cy="518"/>
            </a:xfrm>
            <a:prstGeom prst="roundRect">
              <a:avLst>
                <a:gd name="adj" fmla="val 16667"/>
              </a:avLst>
            </a:prstGeom>
            <a:solidFill>
              <a:schemeClr val="bg1"/>
            </a:solidFill>
            <a:ln w="12700">
              <a:solidFill>
                <a:schemeClr val="accent5"/>
              </a:solidFill>
              <a:prstDash val="solid"/>
            </a:ln>
          </p:spPr>
        </p:sp>
        <p:sp>
          <p:nvSpPr>
            <p:cNvPr id="44" name="Text 240"/>
            <p:cNvSpPr txBox="1"/>
            <p:nvPr/>
          </p:nvSpPr>
          <p:spPr>
            <a:xfrm>
              <a:off x="26032" y="4498"/>
              <a:ext cx="2448" cy="518"/>
            </a:xfrm>
            <a:prstGeom prst="rect">
              <a:avLst/>
            </a:prstGeom>
            <a:noFill/>
          </p:spPr>
          <p:txBody>
            <a:bodyPr wrap="square" lIns="0" tIns="0" rIns="0" bIns="0" rtlCol="0" anchor="ctr"/>
            <a:lstStyle/>
            <a:p>
              <a:pPr marL="0" indent="0" algn="ctr">
                <a:buNone/>
              </a:pPr>
              <a:r>
                <a:rPr lang="en-US" sz="1200" dirty="0">
                  <a:solidFill>
                    <a:schemeClr val="tx2"/>
                  </a:solidFill>
                </a:rPr>
                <a:t>Circulation</a:t>
              </a:r>
              <a:endParaRPr lang="en-US" sz="1200" dirty="0"/>
            </a:p>
          </p:txBody>
        </p:sp>
        <p:sp>
          <p:nvSpPr>
            <p:cNvPr id="45" name="Shape 241"/>
            <p:cNvSpPr/>
            <p:nvPr/>
          </p:nvSpPr>
          <p:spPr>
            <a:xfrm>
              <a:off x="23440" y="5103"/>
              <a:ext cx="2448" cy="518"/>
            </a:xfrm>
            <a:prstGeom prst="roundRect">
              <a:avLst>
                <a:gd name="adj" fmla="val 16667"/>
              </a:avLst>
            </a:prstGeom>
            <a:solidFill>
              <a:schemeClr val="bg1"/>
            </a:solidFill>
            <a:ln w="12700">
              <a:solidFill>
                <a:schemeClr val="accent5"/>
              </a:solidFill>
              <a:prstDash val="solid"/>
            </a:ln>
          </p:spPr>
        </p:sp>
        <p:sp>
          <p:nvSpPr>
            <p:cNvPr id="46" name="Text 242"/>
            <p:cNvSpPr txBox="1"/>
            <p:nvPr/>
          </p:nvSpPr>
          <p:spPr>
            <a:xfrm>
              <a:off x="23440" y="5103"/>
              <a:ext cx="2448" cy="518"/>
            </a:xfrm>
            <a:prstGeom prst="rect">
              <a:avLst/>
            </a:prstGeom>
            <a:noFill/>
          </p:spPr>
          <p:txBody>
            <a:bodyPr wrap="square" lIns="0" tIns="0" rIns="0" bIns="0" rtlCol="0" anchor="ctr"/>
            <a:lstStyle/>
            <a:p>
              <a:pPr marL="0" indent="0" algn="ctr">
                <a:buNone/>
              </a:pPr>
              <a:r>
                <a:rPr lang="en-US" sz="1200" dirty="0">
                  <a:solidFill>
                    <a:schemeClr val="tx2"/>
                  </a:solidFill>
                </a:rPr>
                <a:t>Requests</a:t>
              </a:r>
              <a:endParaRPr lang="en-US" sz="1200" dirty="0"/>
            </a:p>
          </p:txBody>
        </p:sp>
        <p:sp>
          <p:nvSpPr>
            <p:cNvPr id="47" name="Shape 243"/>
            <p:cNvSpPr/>
            <p:nvPr/>
          </p:nvSpPr>
          <p:spPr>
            <a:xfrm>
              <a:off x="26032" y="5103"/>
              <a:ext cx="2448" cy="518"/>
            </a:xfrm>
            <a:prstGeom prst="roundRect">
              <a:avLst>
                <a:gd name="adj" fmla="val 16667"/>
              </a:avLst>
            </a:prstGeom>
            <a:solidFill>
              <a:schemeClr val="bg1"/>
            </a:solidFill>
            <a:ln w="12700">
              <a:solidFill>
                <a:schemeClr val="accent5"/>
              </a:solidFill>
              <a:prstDash val="solid"/>
            </a:ln>
          </p:spPr>
        </p:sp>
        <p:sp>
          <p:nvSpPr>
            <p:cNvPr id="48" name="Text 244"/>
            <p:cNvSpPr txBox="1"/>
            <p:nvPr/>
          </p:nvSpPr>
          <p:spPr>
            <a:xfrm>
              <a:off x="26032" y="5103"/>
              <a:ext cx="2448" cy="518"/>
            </a:xfrm>
            <a:prstGeom prst="rect">
              <a:avLst/>
            </a:prstGeom>
            <a:noFill/>
          </p:spPr>
          <p:txBody>
            <a:bodyPr wrap="square" lIns="0" tIns="0" rIns="0" bIns="0" rtlCol="0" anchor="ctr"/>
            <a:lstStyle/>
            <a:p>
              <a:pPr marL="0" indent="0" algn="ctr">
                <a:buNone/>
              </a:pPr>
              <a:r>
                <a:rPr lang="en-US" sz="1200" dirty="0">
                  <a:solidFill>
                    <a:schemeClr val="tx2"/>
                  </a:solidFill>
                </a:rPr>
                <a:t>Procurement</a:t>
              </a:r>
              <a:endParaRPr lang="en-US" sz="1200" dirty="0"/>
            </a:p>
          </p:txBody>
        </p:sp>
        <p:sp>
          <p:nvSpPr>
            <p:cNvPr id="49" name="Shape 245"/>
            <p:cNvSpPr/>
            <p:nvPr/>
          </p:nvSpPr>
          <p:spPr>
            <a:xfrm>
              <a:off x="23440" y="5708"/>
              <a:ext cx="2448" cy="518"/>
            </a:xfrm>
            <a:prstGeom prst="roundRect">
              <a:avLst>
                <a:gd name="adj" fmla="val 16667"/>
              </a:avLst>
            </a:prstGeom>
            <a:solidFill>
              <a:schemeClr val="bg1"/>
            </a:solidFill>
            <a:ln w="12700">
              <a:solidFill>
                <a:schemeClr val="accent5"/>
              </a:solidFill>
              <a:prstDash val="solid"/>
            </a:ln>
          </p:spPr>
        </p:sp>
        <p:sp>
          <p:nvSpPr>
            <p:cNvPr id="50" name="Text 246"/>
            <p:cNvSpPr txBox="1"/>
            <p:nvPr/>
          </p:nvSpPr>
          <p:spPr>
            <a:xfrm>
              <a:off x="23440" y="5708"/>
              <a:ext cx="2448" cy="518"/>
            </a:xfrm>
            <a:prstGeom prst="rect">
              <a:avLst/>
            </a:prstGeom>
            <a:noFill/>
          </p:spPr>
          <p:txBody>
            <a:bodyPr wrap="square" lIns="0" tIns="0" rIns="0" bIns="0" rtlCol="0" anchor="ctr"/>
            <a:lstStyle/>
            <a:p>
              <a:pPr marL="0" indent="0" algn="ctr">
                <a:buNone/>
              </a:pPr>
              <a:r>
                <a:rPr lang="en-US" sz="1200" dirty="0">
                  <a:solidFill>
                    <a:schemeClr val="tx2"/>
                  </a:solidFill>
                </a:rPr>
                <a:t>Inventory</a:t>
              </a:r>
              <a:endParaRPr lang="en-US" sz="1200" dirty="0"/>
            </a:p>
          </p:txBody>
        </p:sp>
        <p:sp>
          <p:nvSpPr>
            <p:cNvPr id="51" name="Shape 247"/>
            <p:cNvSpPr/>
            <p:nvPr/>
          </p:nvSpPr>
          <p:spPr>
            <a:xfrm>
              <a:off x="26032" y="5708"/>
              <a:ext cx="2448" cy="518"/>
            </a:xfrm>
            <a:prstGeom prst="roundRect">
              <a:avLst>
                <a:gd name="adj" fmla="val 16667"/>
              </a:avLst>
            </a:prstGeom>
            <a:solidFill>
              <a:schemeClr val="bg1"/>
            </a:solidFill>
            <a:ln w="12700">
              <a:solidFill>
                <a:schemeClr val="accent5"/>
              </a:solidFill>
              <a:prstDash val="solid"/>
            </a:ln>
          </p:spPr>
        </p:sp>
        <p:sp>
          <p:nvSpPr>
            <p:cNvPr id="52" name="Text 248"/>
            <p:cNvSpPr txBox="1"/>
            <p:nvPr/>
          </p:nvSpPr>
          <p:spPr>
            <a:xfrm>
              <a:off x="26032" y="5708"/>
              <a:ext cx="2448" cy="518"/>
            </a:xfrm>
            <a:prstGeom prst="rect">
              <a:avLst/>
            </a:prstGeom>
            <a:noFill/>
          </p:spPr>
          <p:txBody>
            <a:bodyPr wrap="square" lIns="0" tIns="0" rIns="0" bIns="0" rtlCol="0" anchor="ctr"/>
            <a:lstStyle/>
            <a:p>
              <a:pPr marL="0" indent="0" algn="ctr">
                <a:buNone/>
              </a:pPr>
              <a:r>
                <a:rPr lang="en-US" sz="1200" dirty="0">
                  <a:solidFill>
                    <a:schemeClr val="tx2"/>
                  </a:solidFill>
                </a:rPr>
                <a:t>Analytics</a:t>
              </a:r>
              <a:endParaRPr lang="en-US" sz="1200" dirty="0"/>
            </a:p>
          </p:txBody>
        </p:sp>
        <p:sp>
          <p:nvSpPr>
            <p:cNvPr id="53" name="Shape 249"/>
            <p:cNvSpPr/>
            <p:nvPr/>
          </p:nvSpPr>
          <p:spPr>
            <a:xfrm>
              <a:off x="23440" y="6313"/>
              <a:ext cx="2448" cy="518"/>
            </a:xfrm>
            <a:prstGeom prst="roundRect">
              <a:avLst>
                <a:gd name="adj" fmla="val 16667"/>
              </a:avLst>
            </a:prstGeom>
            <a:solidFill>
              <a:schemeClr val="bg1"/>
            </a:solidFill>
            <a:ln w="12700">
              <a:solidFill>
                <a:schemeClr val="accent5"/>
              </a:solidFill>
              <a:prstDash val="solid"/>
            </a:ln>
          </p:spPr>
        </p:sp>
        <p:sp>
          <p:nvSpPr>
            <p:cNvPr id="54" name="Text 250"/>
            <p:cNvSpPr txBox="1"/>
            <p:nvPr/>
          </p:nvSpPr>
          <p:spPr>
            <a:xfrm>
              <a:off x="23440" y="6313"/>
              <a:ext cx="2448" cy="518"/>
            </a:xfrm>
            <a:prstGeom prst="rect">
              <a:avLst/>
            </a:prstGeom>
            <a:noFill/>
          </p:spPr>
          <p:txBody>
            <a:bodyPr wrap="square" lIns="0" tIns="0" rIns="0" bIns="0" rtlCol="0" anchor="ctr"/>
            <a:lstStyle/>
            <a:p>
              <a:pPr marL="0" indent="0" algn="ctr">
                <a:buNone/>
              </a:pPr>
              <a:r>
                <a:rPr lang="en-US" sz="1200" dirty="0">
                  <a:solidFill>
                    <a:schemeClr val="tx2"/>
                  </a:solidFill>
                </a:rPr>
                <a:t>Backup</a:t>
              </a:r>
              <a:endParaRPr lang="en-US" sz="1200" dirty="0"/>
            </a:p>
          </p:txBody>
        </p:sp>
        <p:sp>
          <p:nvSpPr>
            <p:cNvPr id="55" name="Shape 251"/>
            <p:cNvSpPr/>
            <p:nvPr/>
          </p:nvSpPr>
          <p:spPr>
            <a:xfrm>
              <a:off x="26032" y="6313"/>
              <a:ext cx="2448" cy="518"/>
            </a:xfrm>
            <a:prstGeom prst="roundRect">
              <a:avLst>
                <a:gd name="adj" fmla="val 16667"/>
              </a:avLst>
            </a:prstGeom>
            <a:solidFill>
              <a:schemeClr val="bg1"/>
            </a:solidFill>
            <a:ln w="12700">
              <a:solidFill>
                <a:schemeClr val="accent5"/>
              </a:solidFill>
              <a:prstDash val="solid"/>
            </a:ln>
          </p:spPr>
        </p:sp>
        <p:sp>
          <p:nvSpPr>
            <p:cNvPr id="56" name="Text 252"/>
            <p:cNvSpPr txBox="1"/>
            <p:nvPr/>
          </p:nvSpPr>
          <p:spPr>
            <a:xfrm>
              <a:off x="26032" y="6313"/>
              <a:ext cx="2448" cy="518"/>
            </a:xfrm>
            <a:prstGeom prst="rect">
              <a:avLst/>
            </a:prstGeom>
            <a:noFill/>
          </p:spPr>
          <p:txBody>
            <a:bodyPr wrap="square" lIns="0" tIns="0" rIns="0" bIns="0" rtlCol="0" anchor="ctr"/>
            <a:lstStyle/>
            <a:p>
              <a:pPr marL="0" indent="0" algn="ctr">
                <a:buNone/>
              </a:pPr>
              <a:r>
                <a:rPr lang="en-US" sz="1200" dirty="0">
                  <a:solidFill>
                    <a:schemeClr val="tx2"/>
                  </a:solidFill>
                </a:rPr>
                <a:t>Settings</a:t>
              </a:r>
              <a:endParaRPr lang="en-US" sz="1200" dirty="0"/>
            </a:p>
          </p:txBody>
        </p:sp>
        <p:sp>
          <p:nvSpPr>
            <p:cNvPr id="57" name="Text 253"/>
            <p:cNvSpPr txBox="1"/>
            <p:nvPr/>
          </p:nvSpPr>
          <p:spPr>
            <a:xfrm>
              <a:off x="29200" y="4527"/>
              <a:ext cx="3096" cy="2448"/>
            </a:xfrm>
            <a:prstGeom prst="rect">
              <a:avLst/>
            </a:prstGeom>
            <a:noFill/>
          </p:spPr>
          <p:txBody>
            <a:bodyPr wrap="square" lIns="0" tIns="0" rIns="0" bIns="0" rtlCol="0" anchor="t"/>
            <a:lstStyle/>
            <a:p>
              <a:pPr marL="0" indent="0">
                <a:spcAft>
                  <a:spcPts val="300"/>
                </a:spcAft>
                <a:buNone/>
              </a:pPr>
              <a:r>
                <a:rPr lang="en-US" sz="1250" b="1" dirty="0">
                  <a:solidFill>
                    <a:schemeClr val="tx1"/>
                  </a:solidFill>
                </a:rPr>
                <a:t>Reports</a:t>
              </a:r>
              <a:endParaRPr lang="en-US" sz="1400" dirty="0"/>
            </a:p>
            <a:p>
              <a:pPr marL="0" indent="0">
                <a:spcAft>
                  <a:spcPts val="300"/>
                </a:spcAft>
                <a:buNone/>
              </a:pPr>
              <a:r>
                <a:rPr lang="en-US" sz="1100" dirty="0">
                  <a:solidFill>
                    <a:schemeClr val="accent6"/>
                  </a:solidFill>
                </a:rPr>
                <a:t>reportlab PDF, openpyxl Excel, CSV bulk import</a:t>
              </a:r>
              <a:endParaRPr lang="en-US" sz="1400" dirty="0"/>
            </a:p>
            <a:p>
              <a:pPr marL="0" indent="0">
                <a:spcAft>
                  <a:spcPts val="300"/>
                </a:spcAft>
                <a:buNone/>
              </a:pPr>
              <a:r>
                <a:rPr lang="en-US" sz="1250" b="1" dirty="0">
                  <a:solidFill>
                    <a:schemeClr val="tx1"/>
                  </a:solidFill>
                </a:rPr>
                <a:t>Backup Job</a:t>
              </a:r>
              <a:endParaRPr lang="en-US" sz="1400" dirty="0"/>
            </a:p>
            <a:p>
              <a:pPr marL="0" indent="0">
                <a:spcAft>
                  <a:spcPts val="300"/>
                </a:spcAft>
                <a:buNone/>
              </a:pPr>
              <a:r>
                <a:rPr lang="en-US" sz="1100" dirty="0">
                  <a:solidFill>
                    <a:schemeClr val="accent6"/>
                  </a:solidFill>
                </a:rPr>
                <a:t>APScheduler + pg_dump</a:t>
              </a:r>
              <a:endParaRPr lang="en-US" sz="1400" dirty="0"/>
            </a:p>
            <a:p>
              <a:pPr marL="0" indent="0">
                <a:spcAft>
                  <a:spcPts val="300"/>
                </a:spcAft>
                <a:buNone/>
              </a:pPr>
              <a:r>
                <a:rPr lang="en-US" sz="1250" b="1" dirty="0">
                  <a:solidFill>
                    <a:schemeClr val="tx1"/>
                  </a:solidFill>
                </a:rPr>
                <a:t>Audit Trail / Role Checks</a:t>
              </a:r>
              <a:endParaRPr lang="en-US" sz="1400" dirty="0"/>
            </a:p>
          </p:txBody>
        </p:sp>
      </p:grpSp>
      <p:grpSp>
        <p:nvGrpSpPr>
          <p:cNvPr id="83" name="Group 82"/>
          <p:cNvGrpSpPr/>
          <p:nvPr/>
        </p:nvGrpSpPr>
        <p:grpSpPr>
          <a:xfrm>
            <a:off x="548640" y="5864860"/>
            <a:ext cx="11094720" cy="416560"/>
            <a:chOff x="864" y="9000"/>
            <a:chExt cx="17472" cy="892"/>
          </a:xfrm>
        </p:grpSpPr>
        <p:sp>
          <p:nvSpPr>
            <p:cNvPr id="71" name="Shape 267"/>
            <p:cNvSpPr/>
            <p:nvPr/>
          </p:nvSpPr>
          <p:spPr>
            <a:xfrm>
              <a:off x="864" y="9000"/>
              <a:ext cx="17472" cy="893"/>
            </a:xfrm>
            <a:prstGeom prst="roundRect">
              <a:avLst>
                <a:gd name="adj" fmla="val 16129"/>
              </a:avLst>
            </a:prstGeom>
            <a:solidFill>
              <a:schemeClr val="tx2"/>
            </a:solidFill>
          </p:spPr>
        </p:sp>
        <p:pic>
          <p:nvPicPr>
            <p:cNvPr id="72" name="Icon 268" descr="preencoded.png"/>
            <p:cNvPicPr>
              <a:picLocks noChangeAspect="1"/>
            </p:cNvPicPr>
            <p:nvPr/>
          </p:nvPicPr>
          <p:blipFill>
            <a:blip r:embed="rId5"/>
            <a:stretch>
              <a:fillRect/>
            </a:stretch>
          </p:blipFill>
          <p:spPr>
            <a:xfrm>
              <a:off x="1224" y="9086"/>
              <a:ext cx="720" cy="720"/>
            </a:xfrm>
            <a:prstGeom prst="rect">
              <a:avLst/>
            </a:prstGeom>
          </p:spPr>
        </p:pic>
        <p:sp>
          <p:nvSpPr>
            <p:cNvPr id="73" name="Text 269"/>
            <p:cNvSpPr txBox="1"/>
            <p:nvPr/>
          </p:nvSpPr>
          <p:spPr>
            <a:xfrm>
              <a:off x="2232" y="9000"/>
              <a:ext cx="15744" cy="893"/>
            </a:xfrm>
            <a:prstGeom prst="rect">
              <a:avLst/>
            </a:prstGeom>
            <a:noFill/>
          </p:spPr>
          <p:txBody>
            <a:bodyPr wrap="square" lIns="0" tIns="0" rIns="0" bIns="0" rtlCol="0" anchor="ctr"/>
            <a:lstStyle/>
            <a:p>
              <a:pPr marL="0" indent="0">
                <a:buNone/>
              </a:pPr>
              <a:r>
                <a:rPr lang="en-US" sz="1300" dirty="0">
                  <a:solidFill>
                    <a:schemeClr val="bg1"/>
                  </a:solidFill>
                </a:rPr>
                <a:t>Google school-account sign-in only (@mcst.edu.ph); every action runs over HTTPS, is role-checked, and is written to the audit trail.</a:t>
              </a:r>
              <a:endParaRPr lang="en-US" sz="1300" dirty="0"/>
            </a:p>
          </p:txBody>
        </p:sp>
      </p:gr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6</a:t>
            </a:fld>
            <a:endParaRPr lang="en-US"/>
          </a:p>
        </p:txBody>
      </p:sp>
      <p:grpSp>
        <p:nvGrpSpPr>
          <p:cNvPr id="80" name="Group 79"/>
          <p:cNvGrpSpPr/>
          <p:nvPr/>
        </p:nvGrpSpPr>
        <p:grpSpPr>
          <a:xfrm>
            <a:off x="4791710" y="5204460"/>
            <a:ext cx="2651760" cy="518160"/>
            <a:chOff x="864" y="7560"/>
            <a:chExt cx="4176" cy="1224"/>
          </a:xfrm>
        </p:grpSpPr>
        <p:sp>
          <p:nvSpPr>
            <p:cNvPr id="59" name="Shape 255"/>
            <p:cNvSpPr/>
            <p:nvPr/>
          </p:nvSpPr>
          <p:spPr>
            <a:xfrm>
              <a:off x="864" y="7560"/>
              <a:ext cx="4176" cy="1224"/>
            </a:xfrm>
            <a:prstGeom prst="roundRect">
              <a:avLst>
                <a:gd name="adj" fmla="val 11765"/>
              </a:avLst>
            </a:prstGeom>
            <a:solidFill>
              <a:schemeClr val="accent3"/>
            </a:solidFill>
          </p:spPr>
        </p:sp>
        <p:sp>
          <p:nvSpPr>
            <p:cNvPr id="60" name="Shape 256"/>
            <p:cNvSpPr/>
            <p:nvPr/>
          </p:nvSpPr>
          <p:spPr>
            <a:xfrm>
              <a:off x="1080" y="7740"/>
              <a:ext cx="864" cy="864"/>
            </a:xfrm>
            <a:prstGeom prst="ellipse">
              <a:avLst/>
            </a:prstGeom>
            <a:solidFill>
              <a:schemeClr val="accent5"/>
            </a:solidFill>
          </p:spPr>
        </p:sp>
        <p:pic>
          <p:nvPicPr>
            <p:cNvPr id="61" name="Icon 257" descr="preencoded.png"/>
            <p:cNvPicPr>
              <a:picLocks noChangeAspect="1"/>
            </p:cNvPicPr>
            <p:nvPr/>
          </p:nvPicPr>
          <p:blipFill>
            <a:blip r:embed="rId6"/>
            <a:stretch>
              <a:fillRect/>
            </a:stretch>
          </p:blipFill>
          <p:spPr>
            <a:xfrm>
              <a:off x="1287" y="7947"/>
              <a:ext cx="449" cy="449"/>
            </a:xfrm>
            <a:prstGeom prst="rect">
              <a:avLst/>
            </a:prstGeom>
          </p:spPr>
        </p:pic>
        <p:sp>
          <p:nvSpPr>
            <p:cNvPr id="62" name="Text 258"/>
            <p:cNvSpPr txBox="1"/>
            <p:nvPr/>
          </p:nvSpPr>
          <p:spPr>
            <a:xfrm>
              <a:off x="2160" y="7742"/>
              <a:ext cx="2736" cy="453"/>
            </a:xfrm>
            <a:prstGeom prst="rect">
              <a:avLst/>
            </a:prstGeom>
            <a:noFill/>
          </p:spPr>
          <p:txBody>
            <a:bodyPr wrap="square" lIns="0" tIns="0" rIns="0" bIns="0" rtlCol="0" anchor="ctr"/>
            <a:lstStyle/>
            <a:p>
              <a:pPr marL="0" indent="0">
                <a:buNone/>
              </a:pPr>
              <a:r>
                <a:rPr lang="en-US" sz="1500" b="1" dirty="0">
                  <a:solidFill>
                    <a:schemeClr val="bg1"/>
                  </a:solidFill>
                  <a:latin typeface="+mj-lt"/>
                  <a:ea typeface="+mj-lt"/>
                  <a:cs typeface="+mj-lt"/>
                </a:rPr>
                <a:t>PostgreSQL</a:t>
              </a:r>
              <a:endParaRPr lang="en-US" sz="1500" dirty="0"/>
            </a:p>
          </p:txBody>
        </p:sp>
        <p:sp>
          <p:nvSpPr>
            <p:cNvPr id="79" name="Text 223"/>
            <p:cNvSpPr txBox="1"/>
            <p:nvPr/>
          </p:nvSpPr>
          <p:spPr>
            <a:xfrm>
              <a:off x="2159" y="8193"/>
              <a:ext cx="2881" cy="332"/>
            </a:xfrm>
            <a:prstGeom prst="rect">
              <a:avLst/>
            </a:prstGeom>
            <a:noFill/>
          </p:spPr>
          <p:txBody>
            <a:bodyPr wrap="square" lIns="0" tIns="0" rIns="0" bIns="0" rtlCol="0" anchor="t"/>
            <a:lstStyle/>
            <a:p>
              <a:pPr marL="0" indent="0">
                <a:buNone/>
              </a:pPr>
              <a:r>
                <a:rPr lang="en-US" sz="1200" dirty="0">
                  <a:solidFill>
                    <a:schemeClr val="bg1"/>
                  </a:solidFill>
                </a:rPr>
                <a:t>Hosted on NEON</a:t>
              </a:r>
              <a:endParaRPr lang="en-US" sz="1200" dirty="0"/>
            </a:p>
          </p:txBody>
        </p:sp>
      </p:grpSp>
      <p:cxnSp>
        <p:nvCxnSpPr>
          <p:cNvPr id="87" name="Elbow Connector 86"/>
          <p:cNvCxnSpPr>
            <a:stCxn id="23" idx="2"/>
            <a:endCxn id="31" idx="0"/>
          </p:cNvCxnSpPr>
          <p:nvPr/>
        </p:nvCxnSpPr>
        <p:spPr>
          <a:xfrm rot="5400000">
            <a:off x="4119245" y="911860"/>
            <a:ext cx="448310" cy="3547110"/>
          </a:xfrm>
          <a:prstGeom prst="bentConnector3">
            <a:avLst>
              <a:gd name="adj1" fmla="val 50000"/>
            </a:avLst>
          </a:prstGeom>
          <a:ln>
            <a:solidFill>
              <a:srgbClr val="FFC000"/>
            </a:solidFill>
            <a:tailEnd type="arrow" w="med" len="med"/>
          </a:ln>
        </p:spPr>
        <p:style>
          <a:lnRef idx="3">
            <a:schemeClr val="accent1"/>
          </a:lnRef>
          <a:fillRef idx="0">
            <a:srgbClr val="FFFFFF"/>
          </a:fillRef>
          <a:effectRef idx="0">
            <a:srgbClr val="FFFFFF"/>
          </a:effectRef>
          <a:fontRef idx="minor">
            <a:schemeClr val="tx1"/>
          </a:fontRef>
        </p:style>
      </p:cxnSp>
      <p:cxnSp>
        <p:nvCxnSpPr>
          <p:cNvPr id="88" name="Elbow Connector 87"/>
          <p:cNvCxnSpPr>
            <a:stCxn id="23" idx="2"/>
            <a:endCxn id="39" idx="0"/>
          </p:cNvCxnSpPr>
          <p:nvPr/>
        </p:nvCxnSpPr>
        <p:spPr>
          <a:xfrm rot="5400000" flipV="1">
            <a:off x="7634288" y="943928"/>
            <a:ext cx="448310" cy="3482975"/>
          </a:xfrm>
          <a:prstGeom prst="bentConnector3">
            <a:avLst>
              <a:gd name="adj1" fmla="val 49929"/>
            </a:avLst>
          </a:prstGeom>
          <a:ln>
            <a:solidFill>
              <a:srgbClr val="FFC000"/>
            </a:solidFill>
            <a:tailEnd type="arrow" w="med" len="med"/>
          </a:ln>
        </p:spPr>
        <p:style>
          <a:lnRef idx="3">
            <a:schemeClr val="accent1"/>
          </a:lnRef>
          <a:fillRef idx="0">
            <a:srgbClr val="FFFFFF"/>
          </a:fillRef>
          <a:effectRef idx="0">
            <a:srgbClr val="FFFFFF"/>
          </a:effectRef>
          <a:fontRef idx="minor">
            <a:schemeClr val="tx1"/>
          </a:fontRef>
        </p:style>
      </p:cxnSp>
      <p:cxnSp>
        <p:nvCxnSpPr>
          <p:cNvPr id="89" name="Straight Arrow Connector 88"/>
          <p:cNvCxnSpPr>
            <a:stCxn id="23" idx="2"/>
            <a:endCxn id="35" idx="0"/>
          </p:cNvCxnSpPr>
          <p:nvPr/>
        </p:nvCxnSpPr>
        <p:spPr>
          <a:xfrm>
            <a:off x="6116955" y="2461260"/>
            <a:ext cx="0" cy="448310"/>
          </a:xfrm>
          <a:prstGeom prst="straightConnector1">
            <a:avLst/>
          </a:prstGeom>
          <a:ln>
            <a:solidFill>
              <a:srgbClr val="FFC000"/>
            </a:solidFill>
            <a:tailEnd type="arrow" w="med" len="med"/>
          </a:ln>
        </p:spPr>
        <p:style>
          <a:lnRef idx="3">
            <a:schemeClr val="accent1"/>
          </a:lnRef>
          <a:fillRef idx="0">
            <a:srgbClr val="FFFFFF"/>
          </a:fillRef>
          <a:effectRef idx="0">
            <a:srgbClr val="FFFFFF"/>
          </a:effectRef>
          <a:fontRef idx="minor">
            <a:schemeClr val="tx1"/>
          </a:fontRef>
        </p:style>
      </p:cxnSp>
      <p:cxnSp>
        <p:nvCxnSpPr>
          <p:cNvPr id="92" name="Straight Arrow Connector 91"/>
          <p:cNvCxnSpPr>
            <a:stCxn id="6" idx="2"/>
            <a:endCxn id="23" idx="0"/>
          </p:cNvCxnSpPr>
          <p:nvPr/>
        </p:nvCxnSpPr>
        <p:spPr>
          <a:xfrm flipH="1">
            <a:off x="6116955" y="1554480"/>
            <a:ext cx="635" cy="388620"/>
          </a:xfrm>
          <a:prstGeom prst="straightConnector1">
            <a:avLst/>
          </a:prstGeom>
          <a:ln>
            <a:solidFill>
              <a:srgbClr val="FFC000"/>
            </a:solidFill>
            <a:tailEnd type="arrow" w="med" len="med"/>
          </a:ln>
        </p:spPr>
        <p:style>
          <a:lnRef idx="3">
            <a:schemeClr val="accent1"/>
          </a:lnRef>
          <a:fillRef idx="0">
            <a:srgbClr val="FFFFFF"/>
          </a:fillRef>
          <a:effectRef idx="0">
            <a:srgbClr val="FFFFFF"/>
          </a:effectRef>
          <a:fontRef idx="minor">
            <a:schemeClr val="tx1"/>
          </a:fontRef>
        </p:style>
      </p:cxnSp>
      <p:cxnSp>
        <p:nvCxnSpPr>
          <p:cNvPr id="94" name="Elbow Connector 93"/>
          <p:cNvCxnSpPr>
            <a:stCxn id="28" idx="2"/>
            <a:endCxn id="59" idx="0"/>
          </p:cNvCxnSpPr>
          <p:nvPr/>
        </p:nvCxnSpPr>
        <p:spPr>
          <a:xfrm rot="5400000" flipV="1">
            <a:off x="4110355" y="3197225"/>
            <a:ext cx="466725" cy="3547745"/>
          </a:xfrm>
          <a:prstGeom prst="bentConnector3">
            <a:avLst>
              <a:gd name="adj1" fmla="val 50068"/>
            </a:avLst>
          </a:prstGeom>
          <a:ln>
            <a:solidFill>
              <a:srgbClr val="FFC000"/>
            </a:solidFill>
            <a:tailEnd type="arrow" w="med" len="med"/>
          </a:ln>
        </p:spPr>
        <p:style>
          <a:lnRef idx="3">
            <a:schemeClr val="accent1"/>
          </a:lnRef>
          <a:fillRef idx="0">
            <a:srgbClr val="FFFFFF"/>
          </a:fillRef>
          <a:effectRef idx="0">
            <a:srgbClr val="FFFFFF"/>
          </a:effectRef>
          <a:fontRef idx="minor">
            <a:schemeClr val="tx1"/>
          </a:fontRef>
        </p:style>
      </p:cxnSp>
      <p:cxnSp>
        <p:nvCxnSpPr>
          <p:cNvPr id="95" name="Elbow Connector 94"/>
          <p:cNvCxnSpPr>
            <a:stCxn id="36" idx="2"/>
            <a:endCxn id="59" idx="0"/>
          </p:cNvCxnSpPr>
          <p:nvPr/>
        </p:nvCxnSpPr>
        <p:spPr>
          <a:xfrm rot="5400000">
            <a:off x="7625398" y="3229928"/>
            <a:ext cx="466725" cy="3482340"/>
          </a:xfrm>
          <a:prstGeom prst="bentConnector3">
            <a:avLst>
              <a:gd name="adj1" fmla="val 50000"/>
            </a:avLst>
          </a:prstGeom>
          <a:ln>
            <a:solidFill>
              <a:srgbClr val="FFC000"/>
            </a:solidFill>
            <a:tailEnd type="arrow" w="med" len="med"/>
          </a:ln>
        </p:spPr>
        <p:style>
          <a:lnRef idx="3">
            <a:schemeClr val="accent1"/>
          </a:lnRef>
          <a:fillRef idx="0">
            <a:srgbClr val="FFFFFF"/>
          </a:fillRef>
          <a:effectRef idx="0">
            <a:srgbClr val="FFFFFF"/>
          </a:effectRef>
          <a:fontRef idx="minor">
            <a:schemeClr val="tx1"/>
          </a:fontRef>
        </p:style>
      </p:cxnSp>
      <p:cxnSp>
        <p:nvCxnSpPr>
          <p:cNvPr id="96" name="Straight Arrow Connector 95"/>
          <p:cNvCxnSpPr>
            <a:stCxn id="32" idx="2"/>
            <a:endCxn id="59" idx="0"/>
          </p:cNvCxnSpPr>
          <p:nvPr/>
        </p:nvCxnSpPr>
        <p:spPr>
          <a:xfrm>
            <a:off x="6116955" y="4737735"/>
            <a:ext cx="635" cy="466725"/>
          </a:xfrm>
          <a:prstGeom prst="straightConnector1">
            <a:avLst/>
          </a:prstGeom>
          <a:ln>
            <a:solidFill>
              <a:srgbClr val="FFC000"/>
            </a:solidFill>
            <a:tailEnd type="arrow" w="med" len="med"/>
          </a:ln>
        </p:spPr>
        <p:style>
          <a:lnRef idx="3">
            <a:schemeClr val="accent1"/>
          </a:lnRef>
          <a:fillRef idx="0">
            <a:srgbClr val="FFFFFF"/>
          </a:fillRef>
          <a:effectRef idx="0">
            <a:srgbClr val="FFFFFF"/>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06  |  FEATURES</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System Features: Main Highlight</a:t>
            </a:r>
            <a:endParaRPr lang="en-US" sz="2800" dirty="0"/>
          </a:p>
        </p:txBody>
      </p:sp>
      <p:sp>
        <p:nvSpPr>
          <p:cNvPr id="5" name="Shape 270"/>
          <p:cNvSpPr/>
          <p:nvPr/>
        </p:nvSpPr>
        <p:spPr>
          <a:xfrm>
            <a:off x="548640" y="1463040"/>
            <a:ext cx="2633472" cy="1920240"/>
          </a:xfrm>
          <a:prstGeom prst="roundRect">
            <a:avLst>
              <a:gd name="adj" fmla="val 4762"/>
            </a:avLst>
          </a:prstGeom>
          <a:solidFill>
            <a:schemeClr val="bg2"/>
          </a:solidFill>
        </p:spPr>
      </p:sp>
      <p:sp>
        <p:nvSpPr>
          <p:cNvPr id="6" name="Shape 271"/>
          <p:cNvSpPr/>
          <p:nvPr/>
        </p:nvSpPr>
        <p:spPr>
          <a:xfrm>
            <a:off x="731520" y="1645920"/>
            <a:ext cx="658368" cy="658368"/>
          </a:xfrm>
          <a:prstGeom prst="ellipse">
            <a:avLst/>
          </a:prstGeom>
          <a:solidFill>
            <a:schemeClr val="accent1"/>
          </a:solidFill>
        </p:spPr>
      </p:sp>
      <p:pic>
        <p:nvPicPr>
          <p:cNvPr id="7" name="Icon 272" descr="preencoded.png"/>
          <p:cNvPicPr>
            <a:picLocks noChangeAspect="1"/>
          </p:cNvPicPr>
          <p:nvPr/>
        </p:nvPicPr>
        <p:blipFill>
          <a:blip r:embed="rId3"/>
          <a:stretch>
            <a:fillRect/>
          </a:stretch>
        </p:blipFill>
        <p:spPr>
          <a:xfrm>
            <a:off x="886968" y="1801368"/>
            <a:ext cx="347472" cy="347472"/>
          </a:xfrm>
          <a:prstGeom prst="rect">
            <a:avLst/>
          </a:prstGeom>
        </p:spPr>
      </p:pic>
      <p:sp>
        <p:nvSpPr>
          <p:cNvPr id="8" name="Text 273"/>
          <p:cNvSpPr txBox="1"/>
          <p:nvPr/>
        </p:nvSpPr>
        <p:spPr>
          <a:xfrm>
            <a:off x="2359152" y="1645920"/>
            <a:ext cx="640080" cy="457200"/>
          </a:xfrm>
          <a:prstGeom prst="rect">
            <a:avLst/>
          </a:prstGeom>
          <a:noFill/>
        </p:spPr>
        <p:txBody>
          <a:bodyPr wrap="square" lIns="0" tIns="0" rIns="0" bIns="0" rtlCol="0" anchor="ctr"/>
          <a:lstStyle/>
          <a:p>
            <a:pPr marL="0" indent="0" algn="r">
              <a:buNone/>
            </a:pPr>
            <a:r>
              <a:rPr lang="en-US" sz="2600" b="1" dirty="0">
                <a:solidFill>
                  <a:schemeClr val="accent5"/>
                </a:solidFill>
                <a:latin typeface="+mj-lt"/>
                <a:ea typeface="+mj-lt"/>
                <a:cs typeface="+mj-lt"/>
              </a:rPr>
              <a:t>01</a:t>
            </a:r>
            <a:endParaRPr lang="en-US" sz="2600" dirty="0"/>
          </a:p>
        </p:txBody>
      </p:sp>
      <p:sp>
        <p:nvSpPr>
          <p:cNvPr id="9" name="Text 274"/>
          <p:cNvSpPr txBox="1"/>
          <p:nvPr/>
        </p:nvSpPr>
        <p:spPr>
          <a:xfrm>
            <a:off x="731520" y="2423160"/>
            <a:ext cx="2267712" cy="320040"/>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Access and Roles</a:t>
            </a:r>
            <a:endParaRPr lang="en-US" sz="1600" dirty="0"/>
          </a:p>
        </p:txBody>
      </p:sp>
      <p:sp>
        <p:nvSpPr>
          <p:cNvPr id="10" name="Text 275"/>
          <p:cNvSpPr txBox="1"/>
          <p:nvPr/>
        </p:nvSpPr>
        <p:spPr>
          <a:xfrm>
            <a:off x="731520" y="2770632"/>
            <a:ext cx="2267712" cy="566928"/>
          </a:xfrm>
          <a:prstGeom prst="rect">
            <a:avLst/>
          </a:prstGeom>
          <a:noFill/>
        </p:spPr>
        <p:txBody>
          <a:bodyPr wrap="square" lIns="0" tIns="0" rIns="0" bIns="0" rtlCol="0" anchor="t"/>
          <a:lstStyle/>
          <a:p>
            <a:pPr marL="0" indent="0">
              <a:buNone/>
            </a:pPr>
            <a:r>
              <a:rPr lang="en-US" sz="1250" dirty="0">
                <a:solidFill>
                  <a:schemeClr val="tx1"/>
                </a:solidFill>
              </a:rPr>
              <a:t>Google sign-in, four roles, approval flow, audit trail</a:t>
            </a:r>
            <a:endParaRPr lang="en-US" sz="1250" dirty="0"/>
          </a:p>
        </p:txBody>
      </p:sp>
      <p:sp>
        <p:nvSpPr>
          <p:cNvPr id="11" name="Shape 276"/>
          <p:cNvSpPr/>
          <p:nvPr/>
        </p:nvSpPr>
        <p:spPr>
          <a:xfrm>
            <a:off x="3364992" y="1463040"/>
            <a:ext cx="2633472" cy="1920240"/>
          </a:xfrm>
          <a:prstGeom prst="roundRect">
            <a:avLst>
              <a:gd name="adj" fmla="val 4762"/>
            </a:avLst>
          </a:prstGeom>
          <a:solidFill>
            <a:schemeClr val="bg2"/>
          </a:solidFill>
        </p:spPr>
      </p:sp>
      <p:sp>
        <p:nvSpPr>
          <p:cNvPr id="12" name="Shape 277"/>
          <p:cNvSpPr/>
          <p:nvPr/>
        </p:nvSpPr>
        <p:spPr>
          <a:xfrm>
            <a:off x="3547872" y="1645920"/>
            <a:ext cx="658368" cy="658368"/>
          </a:xfrm>
          <a:prstGeom prst="ellipse">
            <a:avLst/>
          </a:prstGeom>
          <a:solidFill>
            <a:schemeClr val="accent2"/>
          </a:solidFill>
        </p:spPr>
      </p:sp>
      <p:pic>
        <p:nvPicPr>
          <p:cNvPr id="13" name="Icon 278" descr="preencoded.png"/>
          <p:cNvPicPr>
            <a:picLocks noChangeAspect="1"/>
          </p:cNvPicPr>
          <p:nvPr/>
        </p:nvPicPr>
        <p:blipFill>
          <a:blip r:embed="rId4"/>
          <a:stretch>
            <a:fillRect/>
          </a:stretch>
        </p:blipFill>
        <p:spPr>
          <a:xfrm>
            <a:off x="3703320" y="1801368"/>
            <a:ext cx="347472" cy="347472"/>
          </a:xfrm>
          <a:prstGeom prst="rect">
            <a:avLst/>
          </a:prstGeom>
        </p:spPr>
      </p:pic>
      <p:sp>
        <p:nvSpPr>
          <p:cNvPr id="14" name="Text 279"/>
          <p:cNvSpPr txBox="1"/>
          <p:nvPr/>
        </p:nvSpPr>
        <p:spPr>
          <a:xfrm>
            <a:off x="5175504" y="1645920"/>
            <a:ext cx="640080" cy="457200"/>
          </a:xfrm>
          <a:prstGeom prst="rect">
            <a:avLst/>
          </a:prstGeom>
          <a:noFill/>
        </p:spPr>
        <p:txBody>
          <a:bodyPr wrap="square" lIns="0" tIns="0" rIns="0" bIns="0" rtlCol="0" anchor="ctr"/>
          <a:lstStyle/>
          <a:p>
            <a:pPr marL="0" indent="0" algn="r">
              <a:buNone/>
            </a:pPr>
            <a:r>
              <a:rPr lang="en-US" sz="2600" b="1" dirty="0">
                <a:solidFill>
                  <a:schemeClr val="accent5"/>
                </a:solidFill>
                <a:latin typeface="+mj-lt"/>
                <a:ea typeface="+mj-lt"/>
                <a:cs typeface="+mj-lt"/>
              </a:rPr>
              <a:t>02</a:t>
            </a:r>
            <a:endParaRPr lang="en-US" sz="2600" dirty="0"/>
          </a:p>
        </p:txBody>
      </p:sp>
      <p:sp>
        <p:nvSpPr>
          <p:cNvPr id="15" name="Text 280"/>
          <p:cNvSpPr txBox="1"/>
          <p:nvPr/>
        </p:nvSpPr>
        <p:spPr>
          <a:xfrm>
            <a:off x="3547872" y="2423160"/>
            <a:ext cx="2267712" cy="320040"/>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Cataloging</a:t>
            </a:r>
            <a:endParaRPr lang="en-US" sz="1600" dirty="0"/>
          </a:p>
        </p:txBody>
      </p:sp>
      <p:sp>
        <p:nvSpPr>
          <p:cNvPr id="16" name="Text 281"/>
          <p:cNvSpPr txBox="1"/>
          <p:nvPr/>
        </p:nvSpPr>
        <p:spPr>
          <a:xfrm>
            <a:off x="3547872" y="2770632"/>
            <a:ext cx="2267712" cy="566928"/>
          </a:xfrm>
          <a:prstGeom prst="rect">
            <a:avLst/>
          </a:prstGeom>
          <a:noFill/>
        </p:spPr>
        <p:txBody>
          <a:bodyPr wrap="square" lIns="0" tIns="0" rIns="0" bIns="0" rtlCol="0" anchor="t"/>
          <a:lstStyle/>
          <a:p>
            <a:pPr marL="0" indent="0">
              <a:buNone/>
            </a:pPr>
            <a:r>
              <a:rPr lang="en-US" sz="1250" dirty="0">
                <a:solidFill>
                  <a:schemeClr val="tx1"/>
                </a:solidFill>
              </a:rPr>
              <a:t>Records, accessioning, CSV bulk import up to 1,000 rows</a:t>
            </a:r>
            <a:endParaRPr lang="en-US" sz="1250" dirty="0"/>
          </a:p>
        </p:txBody>
      </p:sp>
      <p:sp>
        <p:nvSpPr>
          <p:cNvPr id="17" name="Shape 282"/>
          <p:cNvSpPr/>
          <p:nvPr/>
        </p:nvSpPr>
        <p:spPr>
          <a:xfrm>
            <a:off x="6181344" y="1463040"/>
            <a:ext cx="2633472" cy="1920240"/>
          </a:xfrm>
          <a:prstGeom prst="roundRect">
            <a:avLst>
              <a:gd name="adj" fmla="val 4762"/>
            </a:avLst>
          </a:prstGeom>
          <a:solidFill>
            <a:schemeClr val="bg2"/>
          </a:solidFill>
        </p:spPr>
      </p:sp>
      <p:sp>
        <p:nvSpPr>
          <p:cNvPr id="18" name="Shape 283"/>
          <p:cNvSpPr/>
          <p:nvPr/>
        </p:nvSpPr>
        <p:spPr>
          <a:xfrm>
            <a:off x="6364224" y="1645920"/>
            <a:ext cx="658368" cy="658368"/>
          </a:xfrm>
          <a:prstGeom prst="ellipse">
            <a:avLst/>
          </a:prstGeom>
          <a:solidFill>
            <a:schemeClr val="accent3"/>
          </a:solidFill>
        </p:spPr>
      </p:sp>
      <p:pic>
        <p:nvPicPr>
          <p:cNvPr id="19" name="Icon 284" descr="preencoded.png"/>
          <p:cNvPicPr>
            <a:picLocks noChangeAspect="1"/>
          </p:cNvPicPr>
          <p:nvPr/>
        </p:nvPicPr>
        <p:blipFill>
          <a:blip r:embed="rId5"/>
          <a:stretch>
            <a:fillRect/>
          </a:stretch>
        </p:blipFill>
        <p:spPr>
          <a:xfrm>
            <a:off x="6519672" y="1801368"/>
            <a:ext cx="347472" cy="347472"/>
          </a:xfrm>
          <a:prstGeom prst="rect">
            <a:avLst/>
          </a:prstGeom>
        </p:spPr>
      </p:pic>
      <p:sp>
        <p:nvSpPr>
          <p:cNvPr id="20" name="Text 285"/>
          <p:cNvSpPr txBox="1"/>
          <p:nvPr/>
        </p:nvSpPr>
        <p:spPr>
          <a:xfrm>
            <a:off x="7991856" y="1645920"/>
            <a:ext cx="640080" cy="457200"/>
          </a:xfrm>
          <a:prstGeom prst="rect">
            <a:avLst/>
          </a:prstGeom>
          <a:noFill/>
        </p:spPr>
        <p:txBody>
          <a:bodyPr wrap="square" lIns="0" tIns="0" rIns="0" bIns="0" rtlCol="0" anchor="ctr"/>
          <a:lstStyle/>
          <a:p>
            <a:pPr marL="0" indent="0" algn="r">
              <a:buNone/>
            </a:pPr>
            <a:r>
              <a:rPr lang="en-US" sz="2600" b="1" dirty="0">
                <a:solidFill>
                  <a:schemeClr val="accent5"/>
                </a:solidFill>
                <a:latin typeface="+mj-lt"/>
                <a:ea typeface="+mj-lt"/>
                <a:cs typeface="+mj-lt"/>
              </a:rPr>
              <a:t>03</a:t>
            </a:r>
            <a:endParaRPr lang="en-US" sz="2600" dirty="0"/>
          </a:p>
        </p:txBody>
      </p:sp>
      <p:sp>
        <p:nvSpPr>
          <p:cNvPr id="21" name="Text 286"/>
          <p:cNvSpPr txBox="1"/>
          <p:nvPr/>
        </p:nvSpPr>
        <p:spPr>
          <a:xfrm>
            <a:off x="6364224" y="2423160"/>
            <a:ext cx="2267712" cy="320040"/>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Public Catalog</a:t>
            </a:r>
            <a:endParaRPr lang="en-US" sz="1600" dirty="0"/>
          </a:p>
        </p:txBody>
      </p:sp>
      <p:sp>
        <p:nvSpPr>
          <p:cNvPr id="22" name="Text 287"/>
          <p:cNvSpPr txBox="1"/>
          <p:nvPr/>
        </p:nvSpPr>
        <p:spPr>
          <a:xfrm>
            <a:off x="6364224" y="2770632"/>
            <a:ext cx="2267712" cy="566928"/>
          </a:xfrm>
          <a:prstGeom prst="rect">
            <a:avLst/>
          </a:prstGeom>
          <a:noFill/>
        </p:spPr>
        <p:txBody>
          <a:bodyPr wrap="square" lIns="0" tIns="0" rIns="0" bIns="0" rtlCol="0" anchor="t"/>
          <a:lstStyle/>
          <a:p>
            <a:pPr marL="0" indent="0">
              <a:buNone/>
            </a:pPr>
            <a:r>
              <a:rPr lang="en-US" sz="1250" dirty="0">
                <a:solidFill>
                  <a:schemeClr val="tx1"/>
                </a:solidFill>
              </a:rPr>
              <a:t>Scholar-style search, filters, availability badges</a:t>
            </a:r>
            <a:endParaRPr lang="en-US" sz="1250" dirty="0"/>
          </a:p>
        </p:txBody>
      </p:sp>
      <p:sp>
        <p:nvSpPr>
          <p:cNvPr id="23" name="Shape 288"/>
          <p:cNvSpPr/>
          <p:nvPr/>
        </p:nvSpPr>
        <p:spPr>
          <a:xfrm>
            <a:off x="8997696" y="1463040"/>
            <a:ext cx="2633472" cy="1920240"/>
          </a:xfrm>
          <a:prstGeom prst="roundRect">
            <a:avLst>
              <a:gd name="adj" fmla="val 4762"/>
            </a:avLst>
          </a:prstGeom>
          <a:solidFill>
            <a:schemeClr val="bg2"/>
          </a:solidFill>
        </p:spPr>
      </p:sp>
      <p:sp>
        <p:nvSpPr>
          <p:cNvPr id="24" name="Shape 289"/>
          <p:cNvSpPr/>
          <p:nvPr/>
        </p:nvSpPr>
        <p:spPr>
          <a:xfrm>
            <a:off x="9180576" y="1645920"/>
            <a:ext cx="658368" cy="658368"/>
          </a:xfrm>
          <a:prstGeom prst="ellipse">
            <a:avLst/>
          </a:prstGeom>
          <a:solidFill>
            <a:schemeClr val="tx2"/>
          </a:solidFill>
        </p:spPr>
      </p:sp>
      <p:pic>
        <p:nvPicPr>
          <p:cNvPr id="25" name="Icon 290" descr="preencoded.png"/>
          <p:cNvPicPr>
            <a:picLocks noChangeAspect="1"/>
          </p:cNvPicPr>
          <p:nvPr/>
        </p:nvPicPr>
        <p:blipFill>
          <a:blip r:embed="rId6"/>
          <a:stretch>
            <a:fillRect/>
          </a:stretch>
        </p:blipFill>
        <p:spPr>
          <a:xfrm>
            <a:off x="9336024" y="1801368"/>
            <a:ext cx="347472" cy="347472"/>
          </a:xfrm>
          <a:prstGeom prst="rect">
            <a:avLst/>
          </a:prstGeom>
        </p:spPr>
      </p:pic>
      <p:sp>
        <p:nvSpPr>
          <p:cNvPr id="26" name="Text 291"/>
          <p:cNvSpPr txBox="1"/>
          <p:nvPr/>
        </p:nvSpPr>
        <p:spPr>
          <a:xfrm>
            <a:off x="10808208" y="1645920"/>
            <a:ext cx="640080" cy="457200"/>
          </a:xfrm>
          <a:prstGeom prst="rect">
            <a:avLst/>
          </a:prstGeom>
          <a:noFill/>
        </p:spPr>
        <p:txBody>
          <a:bodyPr wrap="square" lIns="0" tIns="0" rIns="0" bIns="0" rtlCol="0" anchor="ctr"/>
          <a:lstStyle/>
          <a:p>
            <a:pPr marL="0" indent="0" algn="r">
              <a:buNone/>
            </a:pPr>
            <a:r>
              <a:rPr lang="en-US" sz="2600" b="1" dirty="0">
                <a:solidFill>
                  <a:schemeClr val="accent5"/>
                </a:solidFill>
                <a:latin typeface="+mj-lt"/>
                <a:ea typeface="+mj-lt"/>
                <a:cs typeface="+mj-lt"/>
              </a:rPr>
              <a:t>04</a:t>
            </a:r>
            <a:endParaRPr lang="en-US" sz="2600" dirty="0"/>
          </a:p>
        </p:txBody>
      </p:sp>
      <p:sp>
        <p:nvSpPr>
          <p:cNvPr id="27" name="Text 292"/>
          <p:cNvSpPr txBox="1"/>
          <p:nvPr/>
        </p:nvSpPr>
        <p:spPr>
          <a:xfrm>
            <a:off x="9180576" y="2423160"/>
            <a:ext cx="2267712" cy="320040"/>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Circulation</a:t>
            </a:r>
            <a:endParaRPr lang="en-US" sz="1600" dirty="0"/>
          </a:p>
        </p:txBody>
      </p:sp>
      <p:sp>
        <p:nvSpPr>
          <p:cNvPr id="28" name="Text 293"/>
          <p:cNvSpPr txBox="1"/>
          <p:nvPr/>
        </p:nvSpPr>
        <p:spPr>
          <a:xfrm>
            <a:off x="9180576" y="2770632"/>
            <a:ext cx="2267712" cy="566928"/>
          </a:xfrm>
          <a:prstGeom prst="rect">
            <a:avLst/>
          </a:prstGeom>
          <a:noFill/>
        </p:spPr>
        <p:txBody>
          <a:bodyPr wrap="square" lIns="0" tIns="0" rIns="0" bIns="0" rtlCol="0" anchor="t"/>
          <a:lstStyle/>
          <a:p>
            <a:pPr marL="0" indent="0">
              <a:buNone/>
            </a:pPr>
            <a:r>
              <a:rPr lang="en-US" sz="1250" dirty="0">
                <a:solidFill>
                  <a:schemeClr val="tx1"/>
                </a:solidFill>
              </a:rPr>
              <a:t>Browser-based borrow and return, due dates, fines</a:t>
            </a:r>
            <a:endParaRPr lang="en-US" sz="1250" dirty="0"/>
          </a:p>
        </p:txBody>
      </p:sp>
      <p:sp>
        <p:nvSpPr>
          <p:cNvPr id="29" name="Shape 294"/>
          <p:cNvSpPr/>
          <p:nvPr/>
        </p:nvSpPr>
        <p:spPr>
          <a:xfrm>
            <a:off x="548640" y="3566160"/>
            <a:ext cx="2633472" cy="1920240"/>
          </a:xfrm>
          <a:prstGeom prst="roundRect">
            <a:avLst>
              <a:gd name="adj" fmla="val 4762"/>
            </a:avLst>
          </a:prstGeom>
          <a:solidFill>
            <a:schemeClr val="bg2"/>
          </a:solidFill>
        </p:spPr>
      </p:sp>
      <p:sp>
        <p:nvSpPr>
          <p:cNvPr id="30" name="Shape 295"/>
          <p:cNvSpPr/>
          <p:nvPr/>
        </p:nvSpPr>
        <p:spPr>
          <a:xfrm>
            <a:off x="731520" y="3749040"/>
            <a:ext cx="658368" cy="658368"/>
          </a:xfrm>
          <a:prstGeom prst="ellipse">
            <a:avLst/>
          </a:prstGeom>
          <a:solidFill>
            <a:schemeClr val="accent1"/>
          </a:solidFill>
        </p:spPr>
      </p:sp>
      <p:pic>
        <p:nvPicPr>
          <p:cNvPr id="31" name="Icon 296" descr="preencoded.png"/>
          <p:cNvPicPr>
            <a:picLocks noChangeAspect="1"/>
          </p:cNvPicPr>
          <p:nvPr/>
        </p:nvPicPr>
        <p:blipFill>
          <a:blip r:embed="rId7"/>
          <a:stretch>
            <a:fillRect/>
          </a:stretch>
        </p:blipFill>
        <p:spPr>
          <a:xfrm>
            <a:off x="886968" y="3904488"/>
            <a:ext cx="347472" cy="347472"/>
          </a:xfrm>
          <a:prstGeom prst="rect">
            <a:avLst/>
          </a:prstGeom>
        </p:spPr>
      </p:pic>
      <p:sp>
        <p:nvSpPr>
          <p:cNvPr id="32" name="Text 297"/>
          <p:cNvSpPr txBox="1"/>
          <p:nvPr/>
        </p:nvSpPr>
        <p:spPr>
          <a:xfrm>
            <a:off x="2359152" y="3749040"/>
            <a:ext cx="640080" cy="457200"/>
          </a:xfrm>
          <a:prstGeom prst="rect">
            <a:avLst/>
          </a:prstGeom>
          <a:noFill/>
        </p:spPr>
        <p:txBody>
          <a:bodyPr wrap="square" lIns="0" tIns="0" rIns="0" bIns="0" rtlCol="0" anchor="ctr"/>
          <a:lstStyle/>
          <a:p>
            <a:pPr marL="0" indent="0" algn="r">
              <a:buNone/>
            </a:pPr>
            <a:r>
              <a:rPr lang="en-US" sz="2600" b="1" dirty="0">
                <a:solidFill>
                  <a:schemeClr val="accent5"/>
                </a:solidFill>
                <a:latin typeface="+mj-lt"/>
                <a:ea typeface="+mj-lt"/>
                <a:cs typeface="+mj-lt"/>
              </a:rPr>
              <a:t>05</a:t>
            </a:r>
            <a:endParaRPr lang="en-US" sz="2600" dirty="0"/>
          </a:p>
        </p:txBody>
      </p:sp>
      <p:sp>
        <p:nvSpPr>
          <p:cNvPr id="33" name="Text 298"/>
          <p:cNvSpPr txBox="1"/>
          <p:nvPr/>
        </p:nvSpPr>
        <p:spPr>
          <a:xfrm>
            <a:off x="731520" y="4526280"/>
            <a:ext cx="2267712" cy="320040"/>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Reservations</a:t>
            </a:r>
            <a:endParaRPr lang="en-US" sz="1600" dirty="0"/>
          </a:p>
        </p:txBody>
      </p:sp>
      <p:sp>
        <p:nvSpPr>
          <p:cNvPr id="34" name="Text 299"/>
          <p:cNvSpPr txBox="1"/>
          <p:nvPr/>
        </p:nvSpPr>
        <p:spPr>
          <a:xfrm>
            <a:off x="731520" y="4873752"/>
            <a:ext cx="2267712" cy="566928"/>
          </a:xfrm>
          <a:prstGeom prst="rect">
            <a:avLst/>
          </a:prstGeom>
          <a:noFill/>
        </p:spPr>
        <p:txBody>
          <a:bodyPr wrap="square" lIns="0" tIns="0" rIns="0" bIns="0" rtlCol="0" anchor="t"/>
          <a:lstStyle/>
          <a:p>
            <a:pPr marL="0" indent="0">
              <a:buNone/>
            </a:pPr>
            <a:r>
              <a:rPr lang="en-US" sz="1250" dirty="0">
                <a:solidFill>
                  <a:schemeClr val="tx1"/>
                </a:solidFill>
              </a:rPr>
              <a:t>FIFO queue with a 2-hour claim window</a:t>
            </a:r>
            <a:endParaRPr lang="en-US" sz="1250" dirty="0"/>
          </a:p>
        </p:txBody>
      </p:sp>
      <p:sp>
        <p:nvSpPr>
          <p:cNvPr id="35" name="Shape 300"/>
          <p:cNvSpPr/>
          <p:nvPr/>
        </p:nvSpPr>
        <p:spPr>
          <a:xfrm>
            <a:off x="3364992" y="3566160"/>
            <a:ext cx="2633472" cy="1920240"/>
          </a:xfrm>
          <a:prstGeom prst="roundRect">
            <a:avLst>
              <a:gd name="adj" fmla="val 4762"/>
            </a:avLst>
          </a:prstGeom>
          <a:solidFill>
            <a:schemeClr val="bg2"/>
          </a:solidFill>
        </p:spPr>
      </p:sp>
      <p:sp>
        <p:nvSpPr>
          <p:cNvPr id="36" name="Shape 301"/>
          <p:cNvSpPr/>
          <p:nvPr/>
        </p:nvSpPr>
        <p:spPr>
          <a:xfrm>
            <a:off x="3547872" y="3749040"/>
            <a:ext cx="658368" cy="658368"/>
          </a:xfrm>
          <a:prstGeom prst="ellipse">
            <a:avLst/>
          </a:prstGeom>
          <a:solidFill>
            <a:schemeClr val="accent2"/>
          </a:solidFill>
        </p:spPr>
      </p:sp>
      <p:pic>
        <p:nvPicPr>
          <p:cNvPr id="37" name="Icon 302" descr="preencoded.png"/>
          <p:cNvPicPr>
            <a:picLocks noChangeAspect="1"/>
          </p:cNvPicPr>
          <p:nvPr/>
        </p:nvPicPr>
        <p:blipFill>
          <a:blip r:embed="rId8"/>
          <a:stretch>
            <a:fillRect/>
          </a:stretch>
        </p:blipFill>
        <p:spPr>
          <a:xfrm>
            <a:off x="3703320" y="3904488"/>
            <a:ext cx="347472" cy="347472"/>
          </a:xfrm>
          <a:prstGeom prst="rect">
            <a:avLst/>
          </a:prstGeom>
        </p:spPr>
      </p:pic>
      <p:sp>
        <p:nvSpPr>
          <p:cNvPr id="38" name="Text 303"/>
          <p:cNvSpPr txBox="1"/>
          <p:nvPr/>
        </p:nvSpPr>
        <p:spPr>
          <a:xfrm>
            <a:off x="5175504" y="3749040"/>
            <a:ext cx="640080" cy="457200"/>
          </a:xfrm>
          <a:prstGeom prst="rect">
            <a:avLst/>
          </a:prstGeom>
          <a:noFill/>
        </p:spPr>
        <p:txBody>
          <a:bodyPr wrap="square" lIns="0" tIns="0" rIns="0" bIns="0" rtlCol="0" anchor="ctr"/>
          <a:lstStyle/>
          <a:p>
            <a:pPr marL="0" indent="0" algn="r">
              <a:buNone/>
            </a:pPr>
            <a:r>
              <a:rPr lang="en-US" sz="2600" b="1" dirty="0">
                <a:solidFill>
                  <a:schemeClr val="accent5"/>
                </a:solidFill>
                <a:latin typeface="+mj-lt"/>
                <a:ea typeface="+mj-lt"/>
                <a:cs typeface="+mj-lt"/>
              </a:rPr>
              <a:t>06</a:t>
            </a:r>
            <a:endParaRPr lang="en-US" sz="2600" dirty="0"/>
          </a:p>
        </p:txBody>
      </p:sp>
      <p:sp>
        <p:nvSpPr>
          <p:cNvPr id="39" name="Text 304"/>
          <p:cNvSpPr txBox="1"/>
          <p:nvPr/>
        </p:nvSpPr>
        <p:spPr>
          <a:xfrm>
            <a:off x="3547872" y="4526280"/>
            <a:ext cx="2267712" cy="320040"/>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Notifications</a:t>
            </a:r>
            <a:endParaRPr lang="en-US" sz="1600" dirty="0"/>
          </a:p>
        </p:txBody>
      </p:sp>
      <p:sp>
        <p:nvSpPr>
          <p:cNvPr id="40" name="Text 305"/>
          <p:cNvSpPr txBox="1"/>
          <p:nvPr/>
        </p:nvSpPr>
        <p:spPr>
          <a:xfrm>
            <a:off x="3547872" y="4873752"/>
            <a:ext cx="2267712" cy="566928"/>
          </a:xfrm>
          <a:prstGeom prst="rect">
            <a:avLst/>
          </a:prstGeom>
          <a:noFill/>
        </p:spPr>
        <p:txBody>
          <a:bodyPr wrap="square" lIns="0" tIns="0" rIns="0" bIns="0" rtlCol="0" anchor="t"/>
          <a:lstStyle/>
          <a:p>
            <a:pPr marL="0" indent="0">
              <a:buNone/>
            </a:pPr>
            <a:r>
              <a:rPr lang="en-US" sz="1250" dirty="0">
                <a:solidFill>
                  <a:schemeClr val="tx1"/>
                </a:solidFill>
              </a:rPr>
              <a:t>Ready, overdue, and request-status alerts</a:t>
            </a:r>
            <a:endParaRPr lang="en-US" sz="1250" dirty="0"/>
          </a:p>
        </p:txBody>
      </p:sp>
      <p:sp>
        <p:nvSpPr>
          <p:cNvPr id="41" name="Shape 306"/>
          <p:cNvSpPr/>
          <p:nvPr/>
        </p:nvSpPr>
        <p:spPr>
          <a:xfrm>
            <a:off x="6181344" y="3566160"/>
            <a:ext cx="2633472" cy="1920240"/>
          </a:xfrm>
          <a:prstGeom prst="roundRect">
            <a:avLst>
              <a:gd name="adj" fmla="val 4762"/>
            </a:avLst>
          </a:prstGeom>
          <a:solidFill>
            <a:schemeClr val="bg2"/>
          </a:solidFill>
        </p:spPr>
      </p:sp>
      <p:sp>
        <p:nvSpPr>
          <p:cNvPr id="42" name="Shape 307"/>
          <p:cNvSpPr/>
          <p:nvPr/>
        </p:nvSpPr>
        <p:spPr>
          <a:xfrm>
            <a:off x="6364224" y="3749040"/>
            <a:ext cx="658368" cy="658368"/>
          </a:xfrm>
          <a:prstGeom prst="ellipse">
            <a:avLst/>
          </a:prstGeom>
          <a:solidFill>
            <a:schemeClr val="accent3"/>
          </a:solidFill>
        </p:spPr>
      </p:sp>
      <p:pic>
        <p:nvPicPr>
          <p:cNvPr id="43" name="Icon 308" descr="preencoded.png"/>
          <p:cNvPicPr>
            <a:picLocks noChangeAspect="1"/>
          </p:cNvPicPr>
          <p:nvPr/>
        </p:nvPicPr>
        <p:blipFill>
          <a:blip r:embed="rId9"/>
          <a:stretch>
            <a:fillRect/>
          </a:stretch>
        </p:blipFill>
        <p:spPr>
          <a:xfrm>
            <a:off x="6519672" y="3904488"/>
            <a:ext cx="347472" cy="347472"/>
          </a:xfrm>
          <a:prstGeom prst="rect">
            <a:avLst/>
          </a:prstGeom>
        </p:spPr>
      </p:pic>
      <p:sp>
        <p:nvSpPr>
          <p:cNvPr id="44" name="Text 309"/>
          <p:cNvSpPr txBox="1"/>
          <p:nvPr/>
        </p:nvSpPr>
        <p:spPr>
          <a:xfrm>
            <a:off x="7991856" y="3749040"/>
            <a:ext cx="640080" cy="457200"/>
          </a:xfrm>
          <a:prstGeom prst="rect">
            <a:avLst/>
          </a:prstGeom>
          <a:noFill/>
        </p:spPr>
        <p:txBody>
          <a:bodyPr wrap="square" lIns="0" tIns="0" rIns="0" bIns="0" rtlCol="0" anchor="ctr"/>
          <a:lstStyle/>
          <a:p>
            <a:pPr marL="0" indent="0" algn="r">
              <a:buNone/>
            </a:pPr>
            <a:r>
              <a:rPr lang="en-US" sz="2600" b="1" dirty="0">
                <a:solidFill>
                  <a:schemeClr val="accent5"/>
                </a:solidFill>
                <a:latin typeface="+mj-lt"/>
                <a:ea typeface="+mj-lt"/>
                <a:cs typeface="+mj-lt"/>
              </a:rPr>
              <a:t>07</a:t>
            </a:r>
            <a:endParaRPr lang="en-US" sz="2600" dirty="0"/>
          </a:p>
        </p:txBody>
      </p:sp>
      <p:sp>
        <p:nvSpPr>
          <p:cNvPr id="45" name="Text 310"/>
          <p:cNvSpPr txBox="1"/>
          <p:nvPr/>
        </p:nvSpPr>
        <p:spPr>
          <a:xfrm>
            <a:off x="6364224" y="4526280"/>
            <a:ext cx="2267712" cy="320040"/>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Requests and History</a:t>
            </a:r>
            <a:endParaRPr lang="en-US" sz="1600" dirty="0"/>
          </a:p>
        </p:txBody>
      </p:sp>
      <p:sp>
        <p:nvSpPr>
          <p:cNvPr id="46" name="Text 311"/>
          <p:cNvSpPr txBox="1"/>
          <p:nvPr/>
        </p:nvSpPr>
        <p:spPr>
          <a:xfrm>
            <a:off x="6364224" y="4873752"/>
            <a:ext cx="2267712" cy="566928"/>
          </a:xfrm>
          <a:prstGeom prst="rect">
            <a:avLst/>
          </a:prstGeom>
          <a:noFill/>
        </p:spPr>
        <p:txBody>
          <a:bodyPr wrap="square" lIns="0" tIns="0" rIns="0" bIns="0" rtlCol="0" anchor="t"/>
          <a:lstStyle/>
          <a:p>
            <a:pPr marL="0" indent="0">
              <a:buNone/>
            </a:pPr>
            <a:r>
              <a:rPr lang="en-US" sz="1250" dirty="0">
                <a:solidFill>
                  <a:schemeClr val="tx1"/>
                </a:solidFill>
              </a:rPr>
              <a:t>Book requests, profile, borrowing history</a:t>
            </a:r>
            <a:endParaRPr lang="en-US" sz="1250" dirty="0"/>
          </a:p>
        </p:txBody>
      </p:sp>
      <p:sp>
        <p:nvSpPr>
          <p:cNvPr id="47" name="Shape 312"/>
          <p:cNvSpPr/>
          <p:nvPr/>
        </p:nvSpPr>
        <p:spPr>
          <a:xfrm>
            <a:off x="8997696" y="3566160"/>
            <a:ext cx="2633472" cy="1920240"/>
          </a:xfrm>
          <a:prstGeom prst="roundRect">
            <a:avLst>
              <a:gd name="adj" fmla="val 4762"/>
            </a:avLst>
          </a:prstGeom>
          <a:solidFill>
            <a:schemeClr val="bg2"/>
          </a:solidFill>
        </p:spPr>
      </p:sp>
      <p:sp>
        <p:nvSpPr>
          <p:cNvPr id="48" name="Shape 313"/>
          <p:cNvSpPr/>
          <p:nvPr/>
        </p:nvSpPr>
        <p:spPr>
          <a:xfrm>
            <a:off x="9180576" y="3749040"/>
            <a:ext cx="658368" cy="658368"/>
          </a:xfrm>
          <a:prstGeom prst="ellipse">
            <a:avLst/>
          </a:prstGeom>
          <a:solidFill>
            <a:schemeClr val="tx2"/>
          </a:solidFill>
        </p:spPr>
      </p:sp>
      <p:pic>
        <p:nvPicPr>
          <p:cNvPr id="49" name="Icon 314" descr="preencoded.png"/>
          <p:cNvPicPr>
            <a:picLocks noChangeAspect="1"/>
          </p:cNvPicPr>
          <p:nvPr/>
        </p:nvPicPr>
        <p:blipFill>
          <a:blip r:embed="rId10"/>
          <a:stretch>
            <a:fillRect/>
          </a:stretch>
        </p:blipFill>
        <p:spPr>
          <a:xfrm>
            <a:off x="9336024" y="3904488"/>
            <a:ext cx="347472" cy="347472"/>
          </a:xfrm>
          <a:prstGeom prst="rect">
            <a:avLst/>
          </a:prstGeom>
        </p:spPr>
      </p:pic>
      <p:sp>
        <p:nvSpPr>
          <p:cNvPr id="50" name="Text 315"/>
          <p:cNvSpPr txBox="1"/>
          <p:nvPr/>
        </p:nvSpPr>
        <p:spPr>
          <a:xfrm>
            <a:off x="10808208" y="3749040"/>
            <a:ext cx="640080" cy="457200"/>
          </a:xfrm>
          <a:prstGeom prst="rect">
            <a:avLst/>
          </a:prstGeom>
          <a:noFill/>
        </p:spPr>
        <p:txBody>
          <a:bodyPr wrap="square" lIns="0" tIns="0" rIns="0" bIns="0" rtlCol="0" anchor="ctr"/>
          <a:lstStyle/>
          <a:p>
            <a:pPr marL="0" indent="0" algn="r">
              <a:buNone/>
            </a:pPr>
            <a:r>
              <a:rPr lang="en-US" sz="2600" b="1" dirty="0">
                <a:solidFill>
                  <a:schemeClr val="accent5"/>
                </a:solidFill>
                <a:latin typeface="+mj-lt"/>
                <a:ea typeface="+mj-lt"/>
                <a:cs typeface="+mj-lt"/>
              </a:rPr>
              <a:t>08</a:t>
            </a:r>
            <a:endParaRPr lang="en-US" sz="2600" dirty="0"/>
          </a:p>
        </p:txBody>
      </p:sp>
      <p:sp>
        <p:nvSpPr>
          <p:cNvPr id="51" name="Text 316"/>
          <p:cNvSpPr txBox="1"/>
          <p:nvPr/>
        </p:nvSpPr>
        <p:spPr>
          <a:xfrm>
            <a:off x="9180576" y="4526280"/>
            <a:ext cx="2267712" cy="320040"/>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Administration</a:t>
            </a:r>
            <a:endParaRPr lang="en-US" sz="1600" dirty="0"/>
          </a:p>
        </p:txBody>
      </p:sp>
      <p:sp>
        <p:nvSpPr>
          <p:cNvPr id="52" name="Text 317"/>
          <p:cNvSpPr txBox="1"/>
          <p:nvPr/>
        </p:nvSpPr>
        <p:spPr>
          <a:xfrm>
            <a:off x="9180576" y="4873752"/>
            <a:ext cx="2267712" cy="566928"/>
          </a:xfrm>
          <a:prstGeom prst="rect">
            <a:avLst/>
          </a:prstGeom>
          <a:noFill/>
        </p:spPr>
        <p:txBody>
          <a:bodyPr wrap="square" lIns="0" tIns="0" rIns="0" bIns="0" rtlCol="0" anchor="t"/>
          <a:lstStyle/>
          <a:p>
            <a:pPr marL="0" indent="0">
              <a:buNone/>
            </a:pPr>
            <a:r>
              <a:rPr lang="en-US" sz="1250" dirty="0">
                <a:solidFill>
                  <a:schemeClr val="tx1"/>
                </a:solidFill>
              </a:rPr>
              <a:t>User management, audit analytics, backup and recovery</a:t>
            </a:r>
            <a:endParaRPr lang="en-US" sz="1250" dirty="0"/>
          </a:p>
        </p:txBody>
      </p:sp>
      <p:sp>
        <p:nvSpPr>
          <p:cNvPr id="53" name="Shape 318"/>
          <p:cNvSpPr/>
          <p:nvPr/>
        </p:nvSpPr>
        <p:spPr>
          <a:xfrm>
            <a:off x="548640" y="5715000"/>
            <a:ext cx="11094415" cy="548640"/>
          </a:xfrm>
          <a:prstGeom prst="roundRect">
            <a:avLst>
              <a:gd name="adj" fmla="val 16667"/>
            </a:avLst>
          </a:prstGeom>
          <a:solidFill>
            <a:schemeClr val="tx2"/>
          </a:solidFill>
        </p:spPr>
      </p:sp>
      <p:pic>
        <p:nvPicPr>
          <p:cNvPr id="54" name="Icon 319" descr="preencoded.png"/>
          <p:cNvPicPr>
            <a:picLocks noChangeAspect="1"/>
          </p:cNvPicPr>
          <p:nvPr/>
        </p:nvPicPr>
        <p:blipFill>
          <a:blip r:embed="rId11"/>
          <a:stretch>
            <a:fillRect/>
          </a:stretch>
        </p:blipFill>
        <p:spPr>
          <a:xfrm>
            <a:off x="777240" y="5760720"/>
            <a:ext cx="457200" cy="457200"/>
          </a:xfrm>
          <a:prstGeom prst="rect">
            <a:avLst/>
          </a:prstGeom>
        </p:spPr>
      </p:pic>
      <p:sp>
        <p:nvSpPr>
          <p:cNvPr id="55" name="Text 320"/>
          <p:cNvSpPr txBox="1"/>
          <p:nvPr/>
        </p:nvSpPr>
        <p:spPr>
          <a:xfrm>
            <a:off x="1417320" y="5715000"/>
            <a:ext cx="9997135" cy="548640"/>
          </a:xfrm>
          <a:prstGeom prst="rect">
            <a:avLst/>
          </a:prstGeom>
          <a:noFill/>
        </p:spPr>
        <p:txBody>
          <a:bodyPr wrap="square" lIns="0" tIns="0" rIns="0" bIns="0" rtlCol="0" anchor="ctr"/>
          <a:lstStyle/>
          <a:p>
            <a:pPr marL="0" indent="0">
              <a:buNone/>
            </a:pPr>
            <a:r>
              <a:rPr lang="en-US" sz="1400" dirty="0">
                <a:solidFill>
                  <a:schemeClr val="bg1"/>
                </a:solidFill>
              </a:rPr>
              <a:t>Plus: the Reporting Dashboard with four Business Intelligence tabs (next section).</a:t>
            </a:r>
            <a:endParaRPr lang="en-US" sz="140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06  |  FEATURES</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Access, Roles, and Accountability</a:t>
            </a:r>
            <a:endParaRPr lang="en-US" sz="2800" dirty="0"/>
          </a:p>
        </p:txBody>
      </p:sp>
      <p:sp>
        <p:nvSpPr>
          <p:cNvPr id="5" name="Shape 321"/>
          <p:cNvSpPr/>
          <p:nvPr/>
        </p:nvSpPr>
        <p:spPr>
          <a:xfrm>
            <a:off x="548640" y="1572768"/>
            <a:ext cx="274320" cy="274320"/>
          </a:xfrm>
          <a:prstGeom prst="ellipse">
            <a:avLst/>
          </a:prstGeom>
          <a:solidFill>
            <a:schemeClr val="accent2"/>
          </a:solidFill>
        </p:spPr>
      </p:sp>
      <p:pic>
        <p:nvPicPr>
          <p:cNvPr id="6" name="Icon 322" descr="preencoded.png"/>
          <p:cNvPicPr>
            <a:picLocks noChangeAspect="1"/>
          </p:cNvPicPr>
          <p:nvPr/>
        </p:nvPicPr>
        <p:blipFill>
          <a:blip r:embed="rId3"/>
          <a:stretch>
            <a:fillRect/>
          </a:stretch>
        </p:blipFill>
        <p:spPr>
          <a:xfrm>
            <a:off x="617220" y="1641348"/>
            <a:ext cx="137160" cy="137160"/>
          </a:xfrm>
          <a:prstGeom prst="rect">
            <a:avLst/>
          </a:prstGeom>
        </p:spPr>
      </p:pic>
      <p:sp>
        <p:nvSpPr>
          <p:cNvPr id="7" name="Text 323"/>
          <p:cNvSpPr txBox="1"/>
          <p:nvPr/>
        </p:nvSpPr>
        <p:spPr>
          <a:xfrm>
            <a:off x="960120" y="1554480"/>
            <a:ext cx="4114800" cy="495046"/>
          </a:xfrm>
          <a:prstGeom prst="rect">
            <a:avLst/>
          </a:prstGeom>
          <a:noFill/>
        </p:spPr>
        <p:txBody>
          <a:bodyPr wrap="square" lIns="0" tIns="0" rIns="0" bIns="0" rtlCol="0" anchor="t"/>
          <a:lstStyle/>
          <a:p>
            <a:pPr marL="0" indent="0">
              <a:buNone/>
            </a:pPr>
            <a:r>
              <a:rPr lang="en-US" sz="1450" dirty="0">
                <a:solidFill>
                  <a:schemeClr val="tx1"/>
                </a:solidFill>
              </a:rPr>
              <a:t>Sign-in with Google restricted to @mcst.edu.ph accounts.</a:t>
            </a:r>
            <a:endParaRPr lang="en-US" sz="1450" dirty="0"/>
          </a:p>
        </p:txBody>
      </p:sp>
      <p:sp>
        <p:nvSpPr>
          <p:cNvPr id="8" name="Shape 324"/>
          <p:cNvSpPr/>
          <p:nvPr/>
        </p:nvSpPr>
        <p:spPr>
          <a:xfrm>
            <a:off x="548640" y="2204974"/>
            <a:ext cx="274320" cy="274320"/>
          </a:xfrm>
          <a:prstGeom prst="ellipse">
            <a:avLst/>
          </a:prstGeom>
          <a:solidFill>
            <a:schemeClr val="accent2"/>
          </a:solidFill>
        </p:spPr>
      </p:sp>
      <p:pic>
        <p:nvPicPr>
          <p:cNvPr id="9" name="Icon 325" descr="preencoded.png"/>
          <p:cNvPicPr>
            <a:picLocks noChangeAspect="1"/>
          </p:cNvPicPr>
          <p:nvPr/>
        </p:nvPicPr>
        <p:blipFill>
          <a:blip r:embed="rId3"/>
          <a:stretch>
            <a:fillRect/>
          </a:stretch>
        </p:blipFill>
        <p:spPr>
          <a:xfrm>
            <a:off x="617220" y="2273554"/>
            <a:ext cx="137160" cy="137160"/>
          </a:xfrm>
          <a:prstGeom prst="rect">
            <a:avLst/>
          </a:prstGeom>
        </p:spPr>
      </p:pic>
      <p:sp>
        <p:nvSpPr>
          <p:cNvPr id="10" name="Text 326"/>
          <p:cNvSpPr txBox="1"/>
          <p:nvPr/>
        </p:nvSpPr>
        <p:spPr>
          <a:xfrm>
            <a:off x="960120" y="2186686"/>
            <a:ext cx="4114800" cy="495046"/>
          </a:xfrm>
          <a:prstGeom prst="rect">
            <a:avLst/>
          </a:prstGeom>
          <a:noFill/>
        </p:spPr>
        <p:txBody>
          <a:bodyPr wrap="square" lIns="0" tIns="0" rIns="0" bIns="0" rtlCol="0" anchor="t"/>
          <a:lstStyle/>
          <a:p>
            <a:pPr marL="0" indent="0">
              <a:buNone/>
            </a:pPr>
            <a:r>
              <a:rPr lang="en-US" sz="1450" dirty="0">
                <a:solidFill>
                  <a:schemeClr val="tx1"/>
                </a:solidFill>
              </a:rPr>
              <a:t>Students and faculty choose a role, give ID or department, then await approval.</a:t>
            </a:r>
            <a:endParaRPr lang="en-US" sz="1450" dirty="0"/>
          </a:p>
        </p:txBody>
      </p:sp>
      <p:sp>
        <p:nvSpPr>
          <p:cNvPr id="11" name="Shape 327"/>
          <p:cNvSpPr/>
          <p:nvPr/>
        </p:nvSpPr>
        <p:spPr>
          <a:xfrm>
            <a:off x="548640" y="2837180"/>
            <a:ext cx="274320" cy="274320"/>
          </a:xfrm>
          <a:prstGeom prst="ellipse">
            <a:avLst/>
          </a:prstGeom>
          <a:solidFill>
            <a:schemeClr val="accent2"/>
          </a:solidFill>
        </p:spPr>
      </p:sp>
      <p:pic>
        <p:nvPicPr>
          <p:cNvPr id="12" name="Icon 328" descr="preencoded.png"/>
          <p:cNvPicPr>
            <a:picLocks noChangeAspect="1"/>
          </p:cNvPicPr>
          <p:nvPr/>
        </p:nvPicPr>
        <p:blipFill>
          <a:blip r:embed="rId3"/>
          <a:stretch>
            <a:fillRect/>
          </a:stretch>
        </p:blipFill>
        <p:spPr>
          <a:xfrm>
            <a:off x="617220" y="2905760"/>
            <a:ext cx="137160" cy="137160"/>
          </a:xfrm>
          <a:prstGeom prst="rect">
            <a:avLst/>
          </a:prstGeom>
        </p:spPr>
      </p:pic>
      <p:sp>
        <p:nvSpPr>
          <p:cNvPr id="13" name="Text 329"/>
          <p:cNvSpPr txBox="1"/>
          <p:nvPr/>
        </p:nvSpPr>
        <p:spPr>
          <a:xfrm>
            <a:off x="960120" y="2818892"/>
            <a:ext cx="4114800" cy="495046"/>
          </a:xfrm>
          <a:prstGeom prst="rect">
            <a:avLst/>
          </a:prstGeom>
          <a:noFill/>
        </p:spPr>
        <p:txBody>
          <a:bodyPr wrap="square" lIns="0" tIns="0" rIns="0" bIns="0" rtlCol="0" anchor="t"/>
          <a:lstStyle/>
          <a:p>
            <a:pPr marL="0" indent="0">
              <a:buNone/>
            </a:pPr>
            <a:r>
              <a:rPr lang="en-US" sz="1450" dirty="0">
                <a:solidFill>
                  <a:schemeClr val="tx1"/>
                </a:solidFill>
              </a:rPr>
              <a:t>Four roles: Admin, Librarian, Faculty, Student; each sees only what the role permits.</a:t>
            </a:r>
            <a:endParaRPr lang="en-US" sz="1450" dirty="0"/>
          </a:p>
        </p:txBody>
      </p:sp>
      <p:sp>
        <p:nvSpPr>
          <p:cNvPr id="14" name="Shape 330"/>
          <p:cNvSpPr/>
          <p:nvPr/>
        </p:nvSpPr>
        <p:spPr>
          <a:xfrm>
            <a:off x="548640" y="3469386"/>
            <a:ext cx="274320" cy="274320"/>
          </a:xfrm>
          <a:prstGeom prst="ellipse">
            <a:avLst/>
          </a:prstGeom>
          <a:solidFill>
            <a:schemeClr val="accent2"/>
          </a:solidFill>
        </p:spPr>
      </p:sp>
      <p:pic>
        <p:nvPicPr>
          <p:cNvPr id="15" name="Icon 331" descr="preencoded.png"/>
          <p:cNvPicPr>
            <a:picLocks noChangeAspect="1"/>
          </p:cNvPicPr>
          <p:nvPr/>
        </p:nvPicPr>
        <p:blipFill>
          <a:blip r:embed="rId3"/>
          <a:stretch>
            <a:fillRect/>
          </a:stretch>
        </p:blipFill>
        <p:spPr>
          <a:xfrm>
            <a:off x="617220" y="3537966"/>
            <a:ext cx="137160" cy="137160"/>
          </a:xfrm>
          <a:prstGeom prst="rect">
            <a:avLst/>
          </a:prstGeom>
        </p:spPr>
      </p:pic>
      <p:sp>
        <p:nvSpPr>
          <p:cNvPr id="16" name="Text 332"/>
          <p:cNvSpPr txBox="1"/>
          <p:nvPr/>
        </p:nvSpPr>
        <p:spPr>
          <a:xfrm>
            <a:off x="960120" y="3451098"/>
            <a:ext cx="4114800" cy="270383"/>
          </a:xfrm>
          <a:prstGeom prst="rect">
            <a:avLst/>
          </a:prstGeom>
          <a:noFill/>
        </p:spPr>
        <p:txBody>
          <a:bodyPr wrap="square" lIns="0" tIns="0" rIns="0" bIns="0" rtlCol="0" anchor="t"/>
          <a:lstStyle/>
          <a:p>
            <a:pPr marL="0" indent="0">
              <a:buNone/>
            </a:pPr>
            <a:r>
              <a:rPr lang="en-US" sz="1450" dirty="0">
                <a:solidFill>
                  <a:schemeClr val="tx1"/>
                </a:solidFill>
              </a:rPr>
              <a:t>Audit trail records every write action.</a:t>
            </a:r>
            <a:endParaRPr lang="en-US" sz="1450" dirty="0"/>
          </a:p>
        </p:txBody>
      </p:sp>
      <p:sp>
        <p:nvSpPr>
          <p:cNvPr id="17" name="Shape 333"/>
          <p:cNvSpPr/>
          <p:nvPr/>
        </p:nvSpPr>
        <p:spPr>
          <a:xfrm>
            <a:off x="548640" y="5074920"/>
            <a:ext cx="4572000" cy="1188720"/>
          </a:xfrm>
          <a:prstGeom prst="roundRect">
            <a:avLst>
              <a:gd name="adj" fmla="val 7692"/>
            </a:avLst>
          </a:prstGeom>
          <a:solidFill>
            <a:schemeClr val="tx2"/>
          </a:solidFill>
        </p:spPr>
      </p:sp>
      <p:pic>
        <p:nvPicPr>
          <p:cNvPr id="18" name="Icon 334" descr="preencoded.png"/>
          <p:cNvPicPr>
            <a:picLocks noChangeAspect="1"/>
          </p:cNvPicPr>
          <p:nvPr/>
        </p:nvPicPr>
        <p:blipFill>
          <a:blip r:embed="rId4"/>
          <a:stretch>
            <a:fillRect/>
          </a:stretch>
        </p:blipFill>
        <p:spPr>
          <a:xfrm>
            <a:off x="777240" y="5440680"/>
            <a:ext cx="411480" cy="411480"/>
          </a:xfrm>
          <a:prstGeom prst="rect">
            <a:avLst/>
          </a:prstGeom>
        </p:spPr>
      </p:pic>
      <p:sp>
        <p:nvSpPr>
          <p:cNvPr id="19" name="Text 335"/>
          <p:cNvSpPr txBox="1"/>
          <p:nvPr/>
        </p:nvSpPr>
        <p:spPr>
          <a:xfrm>
            <a:off x="1417320" y="5193792"/>
            <a:ext cx="3566160" cy="228600"/>
          </a:xfrm>
          <a:prstGeom prst="rect">
            <a:avLst/>
          </a:prstGeom>
          <a:noFill/>
        </p:spPr>
        <p:txBody>
          <a:bodyPr wrap="square" lIns="0" tIns="0" rIns="0" bIns="0" rtlCol="0" anchor="t"/>
          <a:lstStyle/>
          <a:p>
            <a:pPr marL="0" indent="0">
              <a:buNone/>
            </a:pPr>
            <a:r>
              <a:rPr lang="en-US" sz="1100" b="1" kern="0" spc="400" dirty="0">
                <a:solidFill>
                  <a:schemeClr val="accent2"/>
                </a:solidFill>
              </a:rPr>
              <a:t>RESEARCH LINK</a:t>
            </a:r>
            <a:endParaRPr lang="en-US" sz="1100" dirty="0"/>
          </a:p>
        </p:txBody>
      </p:sp>
      <p:sp>
        <p:nvSpPr>
          <p:cNvPr id="20" name="Text 336"/>
          <p:cNvSpPr txBox="1"/>
          <p:nvPr/>
        </p:nvSpPr>
        <p:spPr>
          <a:xfrm>
            <a:off x="1417320" y="5458968"/>
            <a:ext cx="3566160" cy="777240"/>
          </a:xfrm>
          <a:prstGeom prst="rect">
            <a:avLst/>
          </a:prstGeom>
          <a:noFill/>
        </p:spPr>
        <p:txBody>
          <a:bodyPr wrap="square" lIns="0" tIns="0" rIns="0" bIns="0" rtlCol="0" anchor="t"/>
          <a:lstStyle/>
          <a:p>
            <a:pPr marL="0" indent="0">
              <a:buNone/>
            </a:pPr>
            <a:r>
              <a:rPr lang="en-US" sz="1350" dirty="0">
                <a:solidFill>
                  <a:schemeClr val="bg1"/>
                </a:solidFill>
              </a:rPr>
              <a:t>Addresses the weak access control and missing audit trail.</a:t>
            </a:r>
            <a:endParaRPr lang="en-US" sz="1350" dirty="0"/>
          </a:p>
        </p:txBody>
      </p:sp>
      <p:sp>
        <p:nvSpPr>
          <p:cNvPr id="21" name="Shape 337"/>
          <p:cNvSpPr/>
          <p:nvPr/>
        </p:nvSpPr>
        <p:spPr>
          <a:xfrm>
            <a:off x="5321808" y="1481328"/>
            <a:ext cx="3099816" cy="2101891"/>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22" name="Screenshot 338" descr="Institutional sign-in"/>
          <p:cNvPicPr>
            <a:picLocks noChangeAspect="1"/>
          </p:cNvPicPr>
          <p:nvPr/>
        </p:nvPicPr>
        <p:blipFill>
          <a:blip r:embed="rId5"/>
          <a:stretch>
            <a:fillRect/>
          </a:stretch>
        </p:blipFill>
        <p:spPr>
          <a:xfrm>
            <a:off x="5349240" y="1508760"/>
            <a:ext cx="3044952" cy="2047027"/>
          </a:xfrm>
          <a:prstGeom prst="rect">
            <a:avLst/>
          </a:prstGeom>
        </p:spPr>
      </p:pic>
      <p:sp>
        <p:nvSpPr>
          <p:cNvPr id="23" name="Text 339"/>
          <p:cNvSpPr txBox="1"/>
          <p:nvPr/>
        </p:nvSpPr>
        <p:spPr>
          <a:xfrm>
            <a:off x="5349240" y="3610651"/>
            <a:ext cx="3044952" cy="228600"/>
          </a:xfrm>
          <a:prstGeom prst="rect">
            <a:avLst/>
          </a:prstGeom>
          <a:noFill/>
        </p:spPr>
        <p:txBody>
          <a:bodyPr wrap="square" lIns="0" tIns="0" rIns="0" bIns="0" rtlCol="0" anchor="t"/>
          <a:lstStyle/>
          <a:p>
            <a:pPr marL="0" indent="0" algn="ctr">
              <a:buNone/>
            </a:pPr>
            <a:r>
              <a:rPr lang="en-US" sz="1150" b="1" dirty="0">
                <a:solidFill>
                  <a:schemeClr val="accent6"/>
                </a:solidFill>
              </a:rPr>
              <a:t>Institutional sign-in</a:t>
            </a:r>
            <a:endParaRPr lang="en-US" sz="1150" dirty="0"/>
          </a:p>
        </p:txBody>
      </p:sp>
      <p:sp>
        <p:nvSpPr>
          <p:cNvPr id="24" name="Shape 340"/>
          <p:cNvSpPr/>
          <p:nvPr/>
        </p:nvSpPr>
        <p:spPr>
          <a:xfrm>
            <a:off x="8567928" y="1481328"/>
            <a:ext cx="3099816" cy="2101891"/>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25" name="Screenshot 341" descr="Role selection"/>
          <p:cNvPicPr>
            <a:picLocks noChangeAspect="1"/>
          </p:cNvPicPr>
          <p:nvPr/>
        </p:nvPicPr>
        <p:blipFill>
          <a:blip r:embed="rId6"/>
          <a:stretch>
            <a:fillRect/>
          </a:stretch>
        </p:blipFill>
        <p:spPr>
          <a:xfrm>
            <a:off x="8595360" y="1508760"/>
            <a:ext cx="3044952" cy="2047027"/>
          </a:xfrm>
          <a:prstGeom prst="rect">
            <a:avLst/>
          </a:prstGeom>
        </p:spPr>
      </p:pic>
      <p:sp>
        <p:nvSpPr>
          <p:cNvPr id="26" name="Text 342"/>
          <p:cNvSpPr txBox="1"/>
          <p:nvPr/>
        </p:nvSpPr>
        <p:spPr>
          <a:xfrm>
            <a:off x="8595360" y="3610651"/>
            <a:ext cx="3044952" cy="228600"/>
          </a:xfrm>
          <a:prstGeom prst="rect">
            <a:avLst/>
          </a:prstGeom>
          <a:noFill/>
        </p:spPr>
        <p:txBody>
          <a:bodyPr wrap="square" lIns="0" tIns="0" rIns="0" bIns="0" rtlCol="0" anchor="t"/>
          <a:lstStyle/>
          <a:p>
            <a:pPr marL="0" indent="0" algn="ctr">
              <a:buNone/>
            </a:pPr>
            <a:r>
              <a:rPr lang="en-US" sz="1150" b="1" dirty="0">
                <a:solidFill>
                  <a:schemeClr val="accent6"/>
                </a:solidFill>
              </a:rPr>
              <a:t>Role selection</a:t>
            </a:r>
            <a:endParaRPr lang="en-US" sz="1150" dirty="0"/>
          </a:p>
        </p:txBody>
      </p:sp>
      <p:sp>
        <p:nvSpPr>
          <p:cNvPr id="27" name="Shape 343"/>
          <p:cNvSpPr/>
          <p:nvPr/>
        </p:nvSpPr>
        <p:spPr>
          <a:xfrm>
            <a:off x="5321808" y="3921547"/>
            <a:ext cx="3099816" cy="2101891"/>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28" name="Screenshot 344" descr="Audit trail"/>
          <p:cNvPicPr>
            <a:picLocks noChangeAspect="1"/>
          </p:cNvPicPr>
          <p:nvPr/>
        </p:nvPicPr>
        <p:blipFill>
          <a:blip r:embed="rId7"/>
          <a:stretch>
            <a:fillRect/>
          </a:stretch>
        </p:blipFill>
        <p:spPr>
          <a:xfrm>
            <a:off x="5349240" y="3948979"/>
            <a:ext cx="3044952" cy="2047027"/>
          </a:xfrm>
          <a:prstGeom prst="rect">
            <a:avLst/>
          </a:prstGeom>
        </p:spPr>
      </p:pic>
      <p:sp>
        <p:nvSpPr>
          <p:cNvPr id="29" name="Text 345"/>
          <p:cNvSpPr txBox="1"/>
          <p:nvPr/>
        </p:nvSpPr>
        <p:spPr>
          <a:xfrm>
            <a:off x="5349240" y="6050869"/>
            <a:ext cx="3044952" cy="228600"/>
          </a:xfrm>
          <a:prstGeom prst="rect">
            <a:avLst/>
          </a:prstGeom>
          <a:noFill/>
        </p:spPr>
        <p:txBody>
          <a:bodyPr wrap="square" lIns="0" tIns="0" rIns="0" bIns="0" rtlCol="0" anchor="t"/>
          <a:lstStyle/>
          <a:p>
            <a:pPr marL="0" indent="0" algn="ctr">
              <a:buNone/>
            </a:pPr>
            <a:r>
              <a:rPr lang="en-US" sz="1150" b="1" dirty="0">
                <a:solidFill>
                  <a:schemeClr val="accent6"/>
                </a:solidFill>
              </a:rPr>
              <a:t>Audit trail</a:t>
            </a:r>
            <a:endParaRPr lang="en-US" sz="1150" dirty="0"/>
          </a:p>
        </p:txBody>
      </p:sp>
      <p:sp>
        <p:nvSpPr>
          <p:cNvPr id="30" name="Shape 346"/>
          <p:cNvSpPr/>
          <p:nvPr/>
        </p:nvSpPr>
        <p:spPr>
          <a:xfrm>
            <a:off x="8595360" y="3948979"/>
            <a:ext cx="3044952" cy="2275627"/>
          </a:xfrm>
          <a:prstGeom prst="roundRect">
            <a:avLst>
              <a:gd name="adj" fmla="val 4018"/>
            </a:avLst>
          </a:prstGeom>
          <a:solidFill>
            <a:schemeClr val="tx2"/>
          </a:solidFill>
        </p:spPr>
      </p:sp>
      <p:sp>
        <p:nvSpPr>
          <p:cNvPr id="31" name="Text 347"/>
          <p:cNvSpPr txBox="1"/>
          <p:nvPr/>
        </p:nvSpPr>
        <p:spPr>
          <a:xfrm>
            <a:off x="8595360" y="4177579"/>
            <a:ext cx="3044952" cy="1005840"/>
          </a:xfrm>
          <a:prstGeom prst="rect">
            <a:avLst/>
          </a:prstGeom>
          <a:noFill/>
        </p:spPr>
        <p:txBody>
          <a:bodyPr wrap="square" lIns="0" tIns="0" rIns="0" bIns="0" rtlCol="0" anchor="ctr"/>
          <a:lstStyle/>
          <a:p>
            <a:pPr marL="0" indent="0" algn="ctr">
              <a:buNone/>
            </a:pPr>
            <a:r>
              <a:rPr lang="en-US" sz="7200" b="1" dirty="0">
                <a:solidFill>
                  <a:schemeClr val="accent2"/>
                </a:solidFill>
                <a:latin typeface="+mj-lt"/>
                <a:ea typeface="+mj-lt"/>
                <a:cs typeface="+mj-lt"/>
              </a:rPr>
              <a:t>4</a:t>
            </a:r>
            <a:endParaRPr lang="en-US" sz="7200" dirty="0"/>
          </a:p>
        </p:txBody>
      </p:sp>
      <p:sp>
        <p:nvSpPr>
          <p:cNvPr id="32" name="Text 348"/>
          <p:cNvSpPr txBox="1"/>
          <p:nvPr/>
        </p:nvSpPr>
        <p:spPr>
          <a:xfrm>
            <a:off x="8595360" y="5137699"/>
            <a:ext cx="3044952" cy="365760"/>
          </a:xfrm>
          <a:prstGeom prst="rect">
            <a:avLst/>
          </a:prstGeom>
          <a:noFill/>
        </p:spPr>
        <p:txBody>
          <a:bodyPr wrap="square" lIns="0" tIns="0" rIns="0" bIns="0" rtlCol="0" anchor="t"/>
          <a:lstStyle/>
          <a:p>
            <a:pPr marL="0" indent="0" algn="ctr">
              <a:buNone/>
            </a:pPr>
            <a:r>
              <a:rPr lang="en-US" sz="1700" b="1" dirty="0">
                <a:solidFill>
                  <a:schemeClr val="bg1"/>
                </a:solidFill>
                <a:latin typeface="+mj-lt"/>
                <a:ea typeface="+mj-lt"/>
                <a:cs typeface="+mj-lt"/>
              </a:rPr>
              <a:t>roles, one rule</a:t>
            </a:r>
            <a:endParaRPr lang="en-US" sz="1700" dirty="0"/>
          </a:p>
        </p:txBody>
      </p:sp>
      <p:sp>
        <p:nvSpPr>
          <p:cNvPr id="33" name="Text 349"/>
          <p:cNvSpPr txBox="1"/>
          <p:nvPr/>
        </p:nvSpPr>
        <p:spPr>
          <a:xfrm>
            <a:off x="8732520" y="5549179"/>
            <a:ext cx="2770632" cy="365760"/>
          </a:xfrm>
          <a:prstGeom prst="rect">
            <a:avLst/>
          </a:prstGeom>
          <a:noFill/>
        </p:spPr>
        <p:txBody>
          <a:bodyPr wrap="square" lIns="0" tIns="0" rIns="0" bIns="0" rtlCol="0" anchor="t"/>
          <a:lstStyle/>
          <a:p>
            <a:pPr marL="0" indent="0" algn="ctr">
              <a:buNone/>
            </a:pPr>
            <a:r>
              <a:rPr lang="en-US" sz="1300" dirty="0">
                <a:solidFill>
                  <a:schemeClr val="accent5"/>
                </a:solidFill>
              </a:rPr>
              <a:t>Admin  ·  Librarian  ·  Faculty  ·  Student</a:t>
            </a:r>
            <a:endParaRPr lang="en-US" sz="130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06  |  FEATURES</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Cataloging, Accessioning, and Public Catalog</a:t>
            </a:r>
            <a:endParaRPr lang="en-US" sz="2800" dirty="0"/>
          </a:p>
        </p:txBody>
      </p:sp>
      <p:sp>
        <p:nvSpPr>
          <p:cNvPr id="5" name="Shape 350"/>
          <p:cNvSpPr/>
          <p:nvPr/>
        </p:nvSpPr>
        <p:spPr>
          <a:xfrm>
            <a:off x="548640" y="1572768"/>
            <a:ext cx="274320" cy="274320"/>
          </a:xfrm>
          <a:prstGeom prst="ellipse">
            <a:avLst/>
          </a:prstGeom>
          <a:solidFill>
            <a:schemeClr val="accent2"/>
          </a:solidFill>
        </p:spPr>
      </p:sp>
      <p:pic>
        <p:nvPicPr>
          <p:cNvPr id="6" name="Icon 351" descr="preencoded.png"/>
          <p:cNvPicPr>
            <a:picLocks noChangeAspect="1"/>
          </p:cNvPicPr>
          <p:nvPr/>
        </p:nvPicPr>
        <p:blipFill>
          <a:blip r:embed="rId3"/>
          <a:stretch>
            <a:fillRect/>
          </a:stretch>
        </p:blipFill>
        <p:spPr>
          <a:xfrm>
            <a:off x="617220" y="1641348"/>
            <a:ext cx="137160" cy="137160"/>
          </a:xfrm>
          <a:prstGeom prst="rect">
            <a:avLst/>
          </a:prstGeom>
        </p:spPr>
      </p:pic>
      <p:sp>
        <p:nvSpPr>
          <p:cNvPr id="7" name="Text 352"/>
          <p:cNvSpPr txBox="1"/>
          <p:nvPr/>
        </p:nvSpPr>
        <p:spPr>
          <a:xfrm>
            <a:off x="960120" y="1554480"/>
            <a:ext cx="4114800" cy="495046"/>
          </a:xfrm>
          <a:prstGeom prst="rect">
            <a:avLst/>
          </a:prstGeom>
          <a:noFill/>
        </p:spPr>
        <p:txBody>
          <a:bodyPr wrap="square" lIns="0" tIns="0" rIns="0" bIns="0" rtlCol="0" anchor="t"/>
          <a:lstStyle/>
          <a:p>
            <a:pPr marL="0" indent="0">
              <a:buNone/>
            </a:pPr>
            <a:r>
              <a:rPr lang="en-US" sz="1450" dirty="0">
                <a:solidFill>
                  <a:schemeClr val="tx1"/>
                </a:solidFill>
              </a:rPr>
              <a:t>Add, edit, and archive records with full bibliographic details.</a:t>
            </a:r>
            <a:endParaRPr lang="en-US" sz="1450" dirty="0"/>
          </a:p>
        </p:txBody>
      </p:sp>
      <p:sp>
        <p:nvSpPr>
          <p:cNvPr id="8" name="Shape 353"/>
          <p:cNvSpPr/>
          <p:nvPr/>
        </p:nvSpPr>
        <p:spPr>
          <a:xfrm>
            <a:off x="548640" y="2204974"/>
            <a:ext cx="274320" cy="274320"/>
          </a:xfrm>
          <a:prstGeom prst="ellipse">
            <a:avLst/>
          </a:prstGeom>
          <a:solidFill>
            <a:schemeClr val="accent2"/>
          </a:solidFill>
        </p:spPr>
      </p:sp>
      <p:pic>
        <p:nvPicPr>
          <p:cNvPr id="9" name="Icon 354" descr="preencoded.png"/>
          <p:cNvPicPr>
            <a:picLocks noChangeAspect="1"/>
          </p:cNvPicPr>
          <p:nvPr/>
        </p:nvPicPr>
        <p:blipFill>
          <a:blip r:embed="rId3"/>
          <a:stretch>
            <a:fillRect/>
          </a:stretch>
        </p:blipFill>
        <p:spPr>
          <a:xfrm>
            <a:off x="617220" y="2273554"/>
            <a:ext cx="137160" cy="137160"/>
          </a:xfrm>
          <a:prstGeom prst="rect">
            <a:avLst/>
          </a:prstGeom>
        </p:spPr>
      </p:pic>
      <p:sp>
        <p:nvSpPr>
          <p:cNvPr id="10" name="Text 355"/>
          <p:cNvSpPr txBox="1"/>
          <p:nvPr/>
        </p:nvSpPr>
        <p:spPr>
          <a:xfrm>
            <a:off x="960120" y="2186686"/>
            <a:ext cx="4114800" cy="495046"/>
          </a:xfrm>
          <a:prstGeom prst="rect">
            <a:avLst/>
          </a:prstGeom>
          <a:noFill/>
        </p:spPr>
        <p:txBody>
          <a:bodyPr wrap="square" lIns="0" tIns="0" rIns="0" bIns="0" rtlCol="0" anchor="t"/>
          <a:lstStyle/>
          <a:p>
            <a:pPr marL="0" indent="0">
              <a:buNone/>
            </a:pPr>
            <a:r>
              <a:rPr lang="en-US" sz="1450" dirty="0">
                <a:solidFill>
                  <a:schemeClr val="tx1"/>
                </a:solidFill>
              </a:rPr>
              <a:t>Automatic accession control numbers and copy numbering.</a:t>
            </a:r>
            <a:endParaRPr lang="en-US" sz="1450" dirty="0"/>
          </a:p>
        </p:txBody>
      </p:sp>
      <p:sp>
        <p:nvSpPr>
          <p:cNvPr id="11" name="Shape 356"/>
          <p:cNvSpPr/>
          <p:nvPr/>
        </p:nvSpPr>
        <p:spPr>
          <a:xfrm>
            <a:off x="548640" y="2837180"/>
            <a:ext cx="274320" cy="274320"/>
          </a:xfrm>
          <a:prstGeom prst="ellipse">
            <a:avLst/>
          </a:prstGeom>
          <a:solidFill>
            <a:schemeClr val="accent2"/>
          </a:solidFill>
        </p:spPr>
      </p:sp>
      <p:pic>
        <p:nvPicPr>
          <p:cNvPr id="12" name="Icon 357" descr="preencoded.png"/>
          <p:cNvPicPr>
            <a:picLocks noChangeAspect="1"/>
          </p:cNvPicPr>
          <p:nvPr/>
        </p:nvPicPr>
        <p:blipFill>
          <a:blip r:embed="rId3"/>
          <a:stretch>
            <a:fillRect/>
          </a:stretch>
        </p:blipFill>
        <p:spPr>
          <a:xfrm>
            <a:off x="617220" y="2905760"/>
            <a:ext cx="137160" cy="137160"/>
          </a:xfrm>
          <a:prstGeom prst="rect">
            <a:avLst/>
          </a:prstGeom>
        </p:spPr>
      </p:pic>
      <p:sp>
        <p:nvSpPr>
          <p:cNvPr id="13" name="Text 358"/>
          <p:cNvSpPr txBox="1"/>
          <p:nvPr/>
        </p:nvSpPr>
        <p:spPr>
          <a:xfrm>
            <a:off x="960120" y="2818892"/>
            <a:ext cx="4114800" cy="495046"/>
          </a:xfrm>
          <a:prstGeom prst="rect">
            <a:avLst/>
          </a:prstGeom>
          <a:noFill/>
        </p:spPr>
        <p:txBody>
          <a:bodyPr wrap="square" lIns="0" tIns="0" rIns="0" bIns="0" rtlCol="0" anchor="t"/>
          <a:lstStyle/>
          <a:p>
            <a:pPr marL="0" indent="0">
              <a:buNone/>
            </a:pPr>
            <a:r>
              <a:rPr lang="en-US" sz="1450" dirty="0">
                <a:solidFill>
                  <a:schemeClr val="tx1"/>
                </a:solidFill>
              </a:rPr>
              <a:t>Bulk CSV import (up to 1,000 records) with per-row validation.</a:t>
            </a:r>
            <a:endParaRPr lang="en-US" sz="1450" dirty="0"/>
          </a:p>
        </p:txBody>
      </p:sp>
      <p:sp>
        <p:nvSpPr>
          <p:cNvPr id="14" name="Shape 359"/>
          <p:cNvSpPr/>
          <p:nvPr/>
        </p:nvSpPr>
        <p:spPr>
          <a:xfrm>
            <a:off x="548640" y="3469386"/>
            <a:ext cx="274320" cy="274320"/>
          </a:xfrm>
          <a:prstGeom prst="ellipse">
            <a:avLst/>
          </a:prstGeom>
          <a:solidFill>
            <a:schemeClr val="accent2"/>
          </a:solidFill>
        </p:spPr>
      </p:sp>
      <p:pic>
        <p:nvPicPr>
          <p:cNvPr id="15" name="Icon 360" descr="preencoded.png"/>
          <p:cNvPicPr>
            <a:picLocks noChangeAspect="1"/>
          </p:cNvPicPr>
          <p:nvPr/>
        </p:nvPicPr>
        <p:blipFill>
          <a:blip r:embed="rId3"/>
          <a:stretch>
            <a:fillRect/>
          </a:stretch>
        </p:blipFill>
        <p:spPr>
          <a:xfrm>
            <a:off x="617220" y="3537966"/>
            <a:ext cx="137160" cy="137160"/>
          </a:xfrm>
          <a:prstGeom prst="rect">
            <a:avLst/>
          </a:prstGeom>
        </p:spPr>
      </p:pic>
      <p:sp>
        <p:nvSpPr>
          <p:cNvPr id="16" name="Text 361"/>
          <p:cNvSpPr txBox="1"/>
          <p:nvPr/>
        </p:nvSpPr>
        <p:spPr>
          <a:xfrm>
            <a:off x="960120" y="3451098"/>
            <a:ext cx="4114800" cy="495046"/>
          </a:xfrm>
          <a:prstGeom prst="rect">
            <a:avLst/>
          </a:prstGeom>
          <a:noFill/>
        </p:spPr>
        <p:txBody>
          <a:bodyPr wrap="square" lIns="0" tIns="0" rIns="0" bIns="0" rtlCol="0" anchor="t"/>
          <a:lstStyle/>
          <a:p>
            <a:pPr marL="0" indent="0">
              <a:buNone/>
            </a:pPr>
            <a:r>
              <a:rPr lang="en-US" sz="1450" dirty="0">
                <a:solidFill>
                  <a:schemeClr val="tx1"/>
                </a:solidFill>
              </a:rPr>
              <a:t>Search by title, author, ISBN, or category; filter chips and availability badges.</a:t>
            </a:r>
            <a:endParaRPr lang="en-US" sz="1450" dirty="0"/>
          </a:p>
        </p:txBody>
      </p:sp>
      <p:sp>
        <p:nvSpPr>
          <p:cNvPr id="17" name="Shape 362"/>
          <p:cNvSpPr/>
          <p:nvPr/>
        </p:nvSpPr>
        <p:spPr>
          <a:xfrm>
            <a:off x="548640" y="4101592"/>
            <a:ext cx="274320" cy="274320"/>
          </a:xfrm>
          <a:prstGeom prst="ellipse">
            <a:avLst/>
          </a:prstGeom>
          <a:solidFill>
            <a:schemeClr val="accent2"/>
          </a:solidFill>
        </p:spPr>
      </p:sp>
      <p:pic>
        <p:nvPicPr>
          <p:cNvPr id="18" name="Icon 363" descr="preencoded.png"/>
          <p:cNvPicPr>
            <a:picLocks noChangeAspect="1"/>
          </p:cNvPicPr>
          <p:nvPr/>
        </p:nvPicPr>
        <p:blipFill>
          <a:blip r:embed="rId3"/>
          <a:stretch>
            <a:fillRect/>
          </a:stretch>
        </p:blipFill>
        <p:spPr>
          <a:xfrm>
            <a:off x="617220" y="4170172"/>
            <a:ext cx="137160" cy="137160"/>
          </a:xfrm>
          <a:prstGeom prst="rect">
            <a:avLst/>
          </a:prstGeom>
        </p:spPr>
      </p:pic>
      <p:sp>
        <p:nvSpPr>
          <p:cNvPr id="19" name="Text 364"/>
          <p:cNvSpPr txBox="1"/>
          <p:nvPr/>
        </p:nvSpPr>
        <p:spPr>
          <a:xfrm>
            <a:off x="960120" y="4083304"/>
            <a:ext cx="4114800" cy="495046"/>
          </a:xfrm>
          <a:prstGeom prst="rect">
            <a:avLst/>
          </a:prstGeom>
          <a:noFill/>
        </p:spPr>
        <p:txBody>
          <a:bodyPr wrap="square" lIns="0" tIns="0" rIns="0" bIns="0" rtlCol="0" anchor="t"/>
          <a:lstStyle/>
          <a:p>
            <a:pPr marL="0" indent="0">
              <a:buNone/>
            </a:pPr>
            <a:r>
              <a:rPr lang="en-US" sz="1450" dirty="0">
                <a:solidFill>
                  <a:schemeClr val="tx1"/>
                </a:solidFill>
              </a:rPr>
              <a:t>Archive-then-delete policy protects active records.</a:t>
            </a:r>
            <a:endParaRPr lang="en-US" sz="1450" dirty="0"/>
          </a:p>
        </p:txBody>
      </p:sp>
      <p:sp>
        <p:nvSpPr>
          <p:cNvPr id="20" name="Shape 365"/>
          <p:cNvSpPr/>
          <p:nvPr/>
        </p:nvSpPr>
        <p:spPr>
          <a:xfrm>
            <a:off x="548640" y="5074920"/>
            <a:ext cx="4572000" cy="1188720"/>
          </a:xfrm>
          <a:prstGeom prst="roundRect">
            <a:avLst>
              <a:gd name="adj" fmla="val 7692"/>
            </a:avLst>
          </a:prstGeom>
          <a:solidFill>
            <a:schemeClr val="tx2"/>
          </a:solidFill>
        </p:spPr>
      </p:sp>
      <p:pic>
        <p:nvPicPr>
          <p:cNvPr id="21" name="Icon 366" descr="preencoded.png"/>
          <p:cNvPicPr>
            <a:picLocks noChangeAspect="1"/>
          </p:cNvPicPr>
          <p:nvPr/>
        </p:nvPicPr>
        <p:blipFill>
          <a:blip r:embed="rId4"/>
          <a:stretch>
            <a:fillRect/>
          </a:stretch>
        </p:blipFill>
        <p:spPr>
          <a:xfrm>
            <a:off x="777240" y="5440680"/>
            <a:ext cx="411480" cy="411480"/>
          </a:xfrm>
          <a:prstGeom prst="rect">
            <a:avLst/>
          </a:prstGeom>
        </p:spPr>
      </p:pic>
      <p:sp>
        <p:nvSpPr>
          <p:cNvPr id="22" name="Text 367"/>
          <p:cNvSpPr txBox="1"/>
          <p:nvPr/>
        </p:nvSpPr>
        <p:spPr>
          <a:xfrm>
            <a:off x="1417320" y="5193792"/>
            <a:ext cx="3566160" cy="228600"/>
          </a:xfrm>
          <a:prstGeom prst="rect">
            <a:avLst/>
          </a:prstGeom>
          <a:noFill/>
        </p:spPr>
        <p:txBody>
          <a:bodyPr wrap="square" lIns="0" tIns="0" rIns="0" bIns="0" rtlCol="0" anchor="t"/>
          <a:lstStyle/>
          <a:p>
            <a:pPr marL="0" indent="0">
              <a:buNone/>
            </a:pPr>
            <a:r>
              <a:rPr lang="en-US" sz="1100" b="1" kern="0" spc="400" dirty="0">
                <a:solidFill>
                  <a:schemeClr val="accent2"/>
                </a:solidFill>
              </a:rPr>
              <a:t>RESEARCH LINK</a:t>
            </a:r>
            <a:endParaRPr lang="en-US" sz="1100" dirty="0"/>
          </a:p>
        </p:txBody>
      </p:sp>
      <p:sp>
        <p:nvSpPr>
          <p:cNvPr id="23" name="Text 368"/>
          <p:cNvSpPr txBox="1"/>
          <p:nvPr/>
        </p:nvSpPr>
        <p:spPr>
          <a:xfrm>
            <a:off x="1417320" y="5458968"/>
            <a:ext cx="3566160" cy="777240"/>
          </a:xfrm>
          <a:prstGeom prst="rect">
            <a:avLst/>
          </a:prstGeom>
          <a:noFill/>
        </p:spPr>
        <p:txBody>
          <a:bodyPr wrap="square" lIns="0" tIns="0" rIns="0" bIns="0" rtlCol="0" anchor="t"/>
          <a:lstStyle/>
          <a:p>
            <a:pPr marL="0" indent="0">
              <a:buNone/>
            </a:pPr>
            <a:r>
              <a:rPr lang="en-US" sz="1350" dirty="0">
                <a:solidFill>
                  <a:schemeClr val="bg1"/>
                </a:solidFill>
              </a:rPr>
              <a:t>Addresses the fragmented workflow: one integrated record, cataloged remotely.</a:t>
            </a:r>
            <a:endParaRPr lang="en-US" sz="1350" dirty="0"/>
          </a:p>
        </p:txBody>
      </p:sp>
      <p:sp>
        <p:nvSpPr>
          <p:cNvPr id="24" name="Shape 369"/>
          <p:cNvSpPr/>
          <p:nvPr/>
        </p:nvSpPr>
        <p:spPr>
          <a:xfrm>
            <a:off x="5321808" y="1481328"/>
            <a:ext cx="3099816" cy="2101891"/>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25" name="Screenshot 370" descr="Cataloging (remote)"/>
          <p:cNvPicPr>
            <a:picLocks noChangeAspect="1"/>
          </p:cNvPicPr>
          <p:nvPr/>
        </p:nvPicPr>
        <p:blipFill>
          <a:blip r:embed="rId5"/>
          <a:stretch>
            <a:fillRect/>
          </a:stretch>
        </p:blipFill>
        <p:spPr>
          <a:xfrm>
            <a:off x="5349240" y="1508760"/>
            <a:ext cx="3044952" cy="2047027"/>
          </a:xfrm>
          <a:prstGeom prst="rect">
            <a:avLst/>
          </a:prstGeom>
        </p:spPr>
      </p:pic>
      <p:sp>
        <p:nvSpPr>
          <p:cNvPr id="26" name="Text 371"/>
          <p:cNvSpPr txBox="1"/>
          <p:nvPr/>
        </p:nvSpPr>
        <p:spPr>
          <a:xfrm>
            <a:off x="5349240" y="3610651"/>
            <a:ext cx="3044952" cy="228600"/>
          </a:xfrm>
          <a:prstGeom prst="rect">
            <a:avLst/>
          </a:prstGeom>
          <a:noFill/>
        </p:spPr>
        <p:txBody>
          <a:bodyPr wrap="square" lIns="0" tIns="0" rIns="0" bIns="0" rtlCol="0" anchor="t"/>
          <a:lstStyle/>
          <a:p>
            <a:pPr marL="0" indent="0" algn="ctr">
              <a:buNone/>
            </a:pPr>
            <a:r>
              <a:rPr lang="en-US" sz="1150" b="1" dirty="0">
                <a:solidFill>
                  <a:schemeClr val="accent6"/>
                </a:solidFill>
              </a:rPr>
              <a:t>Cataloging (remote)</a:t>
            </a:r>
            <a:endParaRPr lang="en-US" sz="1150" dirty="0"/>
          </a:p>
        </p:txBody>
      </p:sp>
      <p:sp>
        <p:nvSpPr>
          <p:cNvPr id="27" name="Shape 372"/>
          <p:cNvSpPr/>
          <p:nvPr/>
        </p:nvSpPr>
        <p:spPr>
          <a:xfrm>
            <a:off x="8567928" y="1481328"/>
            <a:ext cx="3099816" cy="2101891"/>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28" name="Screenshot 373" descr="Catalog search"/>
          <p:cNvPicPr>
            <a:picLocks noChangeAspect="1"/>
          </p:cNvPicPr>
          <p:nvPr/>
        </p:nvPicPr>
        <p:blipFill>
          <a:blip r:embed="rId6"/>
          <a:stretch>
            <a:fillRect/>
          </a:stretch>
        </p:blipFill>
        <p:spPr>
          <a:xfrm>
            <a:off x="8595360" y="1508760"/>
            <a:ext cx="3044952" cy="2047027"/>
          </a:xfrm>
          <a:prstGeom prst="rect">
            <a:avLst/>
          </a:prstGeom>
        </p:spPr>
      </p:pic>
      <p:sp>
        <p:nvSpPr>
          <p:cNvPr id="29" name="Text 374"/>
          <p:cNvSpPr txBox="1"/>
          <p:nvPr/>
        </p:nvSpPr>
        <p:spPr>
          <a:xfrm>
            <a:off x="8595360" y="3610651"/>
            <a:ext cx="3044952" cy="228600"/>
          </a:xfrm>
          <a:prstGeom prst="rect">
            <a:avLst/>
          </a:prstGeom>
          <a:noFill/>
        </p:spPr>
        <p:txBody>
          <a:bodyPr wrap="square" lIns="0" tIns="0" rIns="0" bIns="0" rtlCol="0" anchor="t"/>
          <a:lstStyle/>
          <a:p>
            <a:pPr marL="0" indent="0" algn="ctr">
              <a:buNone/>
            </a:pPr>
            <a:r>
              <a:rPr lang="en-US" sz="1150" b="1" dirty="0">
                <a:solidFill>
                  <a:schemeClr val="accent6"/>
                </a:solidFill>
              </a:rPr>
              <a:t>Catalog search</a:t>
            </a:r>
            <a:endParaRPr lang="en-US" sz="1150" dirty="0"/>
          </a:p>
        </p:txBody>
      </p:sp>
      <p:sp>
        <p:nvSpPr>
          <p:cNvPr id="30" name="Shape 375"/>
          <p:cNvSpPr/>
          <p:nvPr/>
        </p:nvSpPr>
        <p:spPr>
          <a:xfrm>
            <a:off x="5321808" y="3921547"/>
            <a:ext cx="3099816" cy="2101891"/>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31" name="Screenshot 376" descr="Book details"/>
          <p:cNvPicPr>
            <a:picLocks noChangeAspect="1"/>
          </p:cNvPicPr>
          <p:nvPr/>
        </p:nvPicPr>
        <p:blipFill>
          <a:blip r:embed="rId7"/>
          <a:stretch>
            <a:fillRect/>
          </a:stretch>
        </p:blipFill>
        <p:spPr>
          <a:xfrm>
            <a:off x="5349240" y="3948979"/>
            <a:ext cx="3044952" cy="2047027"/>
          </a:xfrm>
          <a:prstGeom prst="rect">
            <a:avLst/>
          </a:prstGeom>
        </p:spPr>
      </p:pic>
      <p:sp>
        <p:nvSpPr>
          <p:cNvPr id="32" name="Text 377"/>
          <p:cNvSpPr txBox="1"/>
          <p:nvPr/>
        </p:nvSpPr>
        <p:spPr>
          <a:xfrm>
            <a:off x="5349240" y="6050869"/>
            <a:ext cx="3044952" cy="228600"/>
          </a:xfrm>
          <a:prstGeom prst="rect">
            <a:avLst/>
          </a:prstGeom>
          <a:noFill/>
        </p:spPr>
        <p:txBody>
          <a:bodyPr wrap="square" lIns="0" tIns="0" rIns="0" bIns="0" rtlCol="0" anchor="t"/>
          <a:lstStyle/>
          <a:p>
            <a:pPr marL="0" indent="0" algn="ctr">
              <a:buNone/>
            </a:pPr>
            <a:r>
              <a:rPr lang="en-US" sz="1150" b="1" dirty="0">
                <a:solidFill>
                  <a:schemeClr val="accent6"/>
                </a:solidFill>
              </a:rPr>
              <a:t>Book details</a:t>
            </a:r>
            <a:endParaRPr lang="en-US" sz="1150" dirty="0"/>
          </a:p>
        </p:txBody>
      </p:sp>
      <p:sp>
        <p:nvSpPr>
          <p:cNvPr id="33" name="Shape 378"/>
          <p:cNvSpPr/>
          <p:nvPr/>
        </p:nvSpPr>
        <p:spPr>
          <a:xfrm>
            <a:off x="8567928" y="3921547"/>
            <a:ext cx="3099816" cy="2101891"/>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34" name="Screenshot 379" descr="Filters and badges"/>
          <p:cNvPicPr>
            <a:picLocks noChangeAspect="1"/>
          </p:cNvPicPr>
          <p:nvPr/>
        </p:nvPicPr>
        <p:blipFill>
          <a:blip r:embed="rId8"/>
          <a:stretch>
            <a:fillRect/>
          </a:stretch>
        </p:blipFill>
        <p:spPr>
          <a:xfrm>
            <a:off x="8595360" y="3948979"/>
            <a:ext cx="3044952" cy="2047027"/>
          </a:xfrm>
          <a:prstGeom prst="rect">
            <a:avLst/>
          </a:prstGeom>
        </p:spPr>
      </p:pic>
      <p:sp>
        <p:nvSpPr>
          <p:cNvPr id="35" name="Text 380"/>
          <p:cNvSpPr txBox="1"/>
          <p:nvPr/>
        </p:nvSpPr>
        <p:spPr>
          <a:xfrm>
            <a:off x="8595360" y="6050869"/>
            <a:ext cx="3044952" cy="228600"/>
          </a:xfrm>
          <a:prstGeom prst="rect">
            <a:avLst/>
          </a:prstGeom>
          <a:noFill/>
        </p:spPr>
        <p:txBody>
          <a:bodyPr wrap="square" lIns="0" tIns="0" rIns="0" bIns="0" rtlCol="0" anchor="t"/>
          <a:lstStyle/>
          <a:p>
            <a:pPr marL="0" indent="0" algn="ctr">
              <a:buNone/>
            </a:pPr>
            <a:r>
              <a:rPr lang="en-US" sz="1150" b="1" dirty="0">
                <a:solidFill>
                  <a:schemeClr val="accent6"/>
                </a:solidFill>
              </a:rPr>
              <a:t>Filters and badges</a:t>
            </a:r>
            <a:endParaRPr lang="en-US" sz="115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06  |  FEATURES</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Circulation, Reservations, and Notifications</a:t>
            </a:r>
            <a:endParaRPr lang="en-US" sz="2800" dirty="0"/>
          </a:p>
        </p:txBody>
      </p:sp>
      <p:sp>
        <p:nvSpPr>
          <p:cNvPr id="5" name="Shape 381"/>
          <p:cNvSpPr/>
          <p:nvPr/>
        </p:nvSpPr>
        <p:spPr>
          <a:xfrm>
            <a:off x="548640" y="1572768"/>
            <a:ext cx="274320" cy="274320"/>
          </a:xfrm>
          <a:prstGeom prst="ellipse">
            <a:avLst/>
          </a:prstGeom>
          <a:solidFill>
            <a:schemeClr val="accent2"/>
          </a:solidFill>
        </p:spPr>
      </p:sp>
      <p:pic>
        <p:nvPicPr>
          <p:cNvPr id="6" name="Icon 382" descr="preencoded.png"/>
          <p:cNvPicPr>
            <a:picLocks noChangeAspect="1"/>
          </p:cNvPicPr>
          <p:nvPr/>
        </p:nvPicPr>
        <p:blipFill>
          <a:blip r:embed="rId3"/>
          <a:stretch>
            <a:fillRect/>
          </a:stretch>
        </p:blipFill>
        <p:spPr>
          <a:xfrm>
            <a:off x="617220" y="1641348"/>
            <a:ext cx="137160" cy="137160"/>
          </a:xfrm>
          <a:prstGeom prst="rect">
            <a:avLst/>
          </a:prstGeom>
        </p:spPr>
      </p:pic>
      <p:sp>
        <p:nvSpPr>
          <p:cNvPr id="7" name="Text 383"/>
          <p:cNvSpPr txBox="1"/>
          <p:nvPr/>
        </p:nvSpPr>
        <p:spPr>
          <a:xfrm>
            <a:off x="960120" y="1554480"/>
            <a:ext cx="4114800" cy="495046"/>
          </a:xfrm>
          <a:prstGeom prst="rect">
            <a:avLst/>
          </a:prstGeom>
          <a:noFill/>
        </p:spPr>
        <p:txBody>
          <a:bodyPr wrap="square" lIns="0" tIns="0" rIns="0" bIns="0" rtlCol="0" anchor="t"/>
          <a:lstStyle/>
          <a:p>
            <a:pPr marL="0" indent="0">
              <a:buNone/>
            </a:pPr>
            <a:r>
              <a:rPr lang="en-US" sz="1450" dirty="0">
                <a:solidFill>
                  <a:schemeClr val="tx1"/>
                </a:solidFill>
              </a:rPr>
              <a:t>Borrow and return in the browser, on or off campus; replaces the paper log.</a:t>
            </a:r>
            <a:endParaRPr lang="en-US" sz="1450" dirty="0"/>
          </a:p>
        </p:txBody>
      </p:sp>
      <p:sp>
        <p:nvSpPr>
          <p:cNvPr id="8" name="Shape 384"/>
          <p:cNvSpPr/>
          <p:nvPr/>
        </p:nvSpPr>
        <p:spPr>
          <a:xfrm>
            <a:off x="548640" y="2204974"/>
            <a:ext cx="274320" cy="274320"/>
          </a:xfrm>
          <a:prstGeom prst="ellipse">
            <a:avLst/>
          </a:prstGeom>
          <a:solidFill>
            <a:schemeClr val="accent2"/>
          </a:solidFill>
        </p:spPr>
      </p:sp>
      <p:pic>
        <p:nvPicPr>
          <p:cNvPr id="9" name="Icon 385" descr="preencoded.png"/>
          <p:cNvPicPr>
            <a:picLocks noChangeAspect="1"/>
          </p:cNvPicPr>
          <p:nvPr/>
        </p:nvPicPr>
        <p:blipFill>
          <a:blip r:embed="rId3"/>
          <a:stretch>
            <a:fillRect/>
          </a:stretch>
        </p:blipFill>
        <p:spPr>
          <a:xfrm>
            <a:off x="617220" y="2273554"/>
            <a:ext cx="137160" cy="137160"/>
          </a:xfrm>
          <a:prstGeom prst="rect">
            <a:avLst/>
          </a:prstGeom>
        </p:spPr>
      </p:pic>
      <p:sp>
        <p:nvSpPr>
          <p:cNvPr id="10" name="Text 386"/>
          <p:cNvSpPr txBox="1"/>
          <p:nvPr/>
        </p:nvSpPr>
        <p:spPr>
          <a:xfrm>
            <a:off x="960120" y="2186686"/>
            <a:ext cx="4114800" cy="495046"/>
          </a:xfrm>
          <a:prstGeom prst="rect">
            <a:avLst/>
          </a:prstGeom>
          <a:noFill/>
        </p:spPr>
        <p:txBody>
          <a:bodyPr wrap="square" lIns="0" tIns="0" rIns="0" bIns="0" rtlCol="0" anchor="t"/>
          <a:lstStyle/>
          <a:p>
            <a:pPr marL="0" indent="0">
              <a:buNone/>
            </a:pPr>
            <a:r>
              <a:rPr lang="en-US" sz="1450" dirty="0">
                <a:solidFill>
                  <a:schemeClr val="tx1"/>
                </a:solidFill>
              </a:rPr>
              <a:t>Due dates follow policy and role; fines computed automatically.</a:t>
            </a:r>
            <a:endParaRPr lang="en-US" sz="1450" dirty="0"/>
          </a:p>
        </p:txBody>
      </p:sp>
      <p:sp>
        <p:nvSpPr>
          <p:cNvPr id="11" name="Shape 387"/>
          <p:cNvSpPr/>
          <p:nvPr/>
        </p:nvSpPr>
        <p:spPr>
          <a:xfrm>
            <a:off x="548640" y="2837180"/>
            <a:ext cx="274320" cy="274320"/>
          </a:xfrm>
          <a:prstGeom prst="ellipse">
            <a:avLst/>
          </a:prstGeom>
          <a:solidFill>
            <a:schemeClr val="accent2"/>
          </a:solidFill>
        </p:spPr>
      </p:sp>
      <p:pic>
        <p:nvPicPr>
          <p:cNvPr id="12" name="Icon 388" descr="preencoded.png"/>
          <p:cNvPicPr>
            <a:picLocks noChangeAspect="1"/>
          </p:cNvPicPr>
          <p:nvPr/>
        </p:nvPicPr>
        <p:blipFill>
          <a:blip r:embed="rId3"/>
          <a:stretch>
            <a:fillRect/>
          </a:stretch>
        </p:blipFill>
        <p:spPr>
          <a:xfrm>
            <a:off x="617220" y="2905760"/>
            <a:ext cx="137160" cy="137160"/>
          </a:xfrm>
          <a:prstGeom prst="rect">
            <a:avLst/>
          </a:prstGeom>
        </p:spPr>
      </p:pic>
      <p:sp>
        <p:nvSpPr>
          <p:cNvPr id="13" name="Text 389"/>
          <p:cNvSpPr txBox="1"/>
          <p:nvPr/>
        </p:nvSpPr>
        <p:spPr>
          <a:xfrm>
            <a:off x="960120" y="2818892"/>
            <a:ext cx="4114800" cy="495046"/>
          </a:xfrm>
          <a:prstGeom prst="rect">
            <a:avLst/>
          </a:prstGeom>
          <a:noFill/>
        </p:spPr>
        <p:txBody>
          <a:bodyPr wrap="square" lIns="0" tIns="0" rIns="0" bIns="0" rtlCol="0" anchor="t"/>
          <a:lstStyle/>
          <a:p>
            <a:pPr marL="0" indent="0">
              <a:buNone/>
            </a:pPr>
            <a:r>
              <a:rPr lang="en-US" sz="1450" dirty="0">
                <a:solidFill>
                  <a:schemeClr val="tx1"/>
                </a:solidFill>
              </a:rPr>
              <a:t>FIFO reservation queue per title; 2-hour claim window.</a:t>
            </a:r>
            <a:endParaRPr lang="en-US" sz="1450" dirty="0"/>
          </a:p>
        </p:txBody>
      </p:sp>
      <p:sp>
        <p:nvSpPr>
          <p:cNvPr id="14" name="Shape 390"/>
          <p:cNvSpPr/>
          <p:nvPr/>
        </p:nvSpPr>
        <p:spPr>
          <a:xfrm>
            <a:off x="548640" y="3469386"/>
            <a:ext cx="274320" cy="274320"/>
          </a:xfrm>
          <a:prstGeom prst="ellipse">
            <a:avLst/>
          </a:prstGeom>
          <a:solidFill>
            <a:schemeClr val="accent2"/>
          </a:solidFill>
        </p:spPr>
      </p:sp>
      <p:pic>
        <p:nvPicPr>
          <p:cNvPr id="15" name="Icon 391" descr="preencoded.png"/>
          <p:cNvPicPr>
            <a:picLocks noChangeAspect="1"/>
          </p:cNvPicPr>
          <p:nvPr/>
        </p:nvPicPr>
        <p:blipFill>
          <a:blip r:embed="rId3"/>
          <a:stretch>
            <a:fillRect/>
          </a:stretch>
        </p:blipFill>
        <p:spPr>
          <a:xfrm>
            <a:off x="617220" y="3537966"/>
            <a:ext cx="137160" cy="137160"/>
          </a:xfrm>
          <a:prstGeom prst="rect">
            <a:avLst/>
          </a:prstGeom>
        </p:spPr>
      </p:pic>
      <p:sp>
        <p:nvSpPr>
          <p:cNvPr id="16" name="Text 392"/>
          <p:cNvSpPr txBox="1"/>
          <p:nvPr/>
        </p:nvSpPr>
        <p:spPr>
          <a:xfrm>
            <a:off x="960120" y="3451098"/>
            <a:ext cx="4114800" cy="495046"/>
          </a:xfrm>
          <a:prstGeom prst="rect">
            <a:avLst/>
          </a:prstGeom>
          <a:noFill/>
        </p:spPr>
        <p:txBody>
          <a:bodyPr wrap="square" lIns="0" tIns="0" rIns="0" bIns="0" rtlCol="0" anchor="t"/>
          <a:lstStyle/>
          <a:p>
            <a:pPr marL="0" indent="0">
              <a:buNone/>
            </a:pPr>
            <a:r>
              <a:rPr lang="en-US" sz="1450" dirty="0">
                <a:solidFill>
                  <a:schemeClr val="tx1"/>
                </a:solidFill>
              </a:rPr>
              <a:t>In-system alerts: reservation ready, overdue, request status.</a:t>
            </a:r>
            <a:endParaRPr lang="en-US" sz="1450" dirty="0"/>
          </a:p>
        </p:txBody>
      </p:sp>
      <p:sp>
        <p:nvSpPr>
          <p:cNvPr id="17" name="Shape 393"/>
          <p:cNvSpPr/>
          <p:nvPr/>
        </p:nvSpPr>
        <p:spPr>
          <a:xfrm>
            <a:off x="548640" y="5074920"/>
            <a:ext cx="4572000" cy="1188720"/>
          </a:xfrm>
          <a:prstGeom prst="roundRect">
            <a:avLst>
              <a:gd name="adj" fmla="val 7692"/>
            </a:avLst>
          </a:prstGeom>
          <a:solidFill>
            <a:schemeClr val="tx2"/>
          </a:solidFill>
        </p:spPr>
      </p:sp>
      <p:pic>
        <p:nvPicPr>
          <p:cNvPr id="18" name="Icon 394" descr="preencoded.png"/>
          <p:cNvPicPr>
            <a:picLocks noChangeAspect="1"/>
          </p:cNvPicPr>
          <p:nvPr/>
        </p:nvPicPr>
        <p:blipFill>
          <a:blip r:embed="rId4"/>
          <a:stretch>
            <a:fillRect/>
          </a:stretch>
        </p:blipFill>
        <p:spPr>
          <a:xfrm>
            <a:off x="777240" y="5440680"/>
            <a:ext cx="411480" cy="411480"/>
          </a:xfrm>
          <a:prstGeom prst="rect">
            <a:avLst/>
          </a:prstGeom>
        </p:spPr>
      </p:pic>
      <p:sp>
        <p:nvSpPr>
          <p:cNvPr id="19" name="Text 395"/>
          <p:cNvSpPr txBox="1"/>
          <p:nvPr/>
        </p:nvSpPr>
        <p:spPr>
          <a:xfrm>
            <a:off x="1417320" y="5193792"/>
            <a:ext cx="3566160" cy="228600"/>
          </a:xfrm>
          <a:prstGeom prst="rect">
            <a:avLst/>
          </a:prstGeom>
          <a:noFill/>
        </p:spPr>
        <p:txBody>
          <a:bodyPr wrap="square" lIns="0" tIns="0" rIns="0" bIns="0" rtlCol="0" anchor="t"/>
          <a:lstStyle/>
          <a:p>
            <a:pPr marL="0" indent="0">
              <a:buNone/>
            </a:pPr>
            <a:r>
              <a:rPr lang="en-US" sz="1100" b="1" kern="0" spc="400" dirty="0">
                <a:solidFill>
                  <a:schemeClr val="accent2"/>
                </a:solidFill>
              </a:rPr>
              <a:t>RESEARCH LINK</a:t>
            </a:r>
            <a:endParaRPr lang="en-US" sz="1100" dirty="0"/>
          </a:p>
        </p:txBody>
      </p:sp>
      <p:sp>
        <p:nvSpPr>
          <p:cNvPr id="20" name="Text 396"/>
          <p:cNvSpPr txBox="1"/>
          <p:nvPr/>
        </p:nvSpPr>
        <p:spPr>
          <a:xfrm>
            <a:off x="1417320" y="5458968"/>
            <a:ext cx="3566160" cy="777240"/>
          </a:xfrm>
          <a:prstGeom prst="rect">
            <a:avLst/>
          </a:prstGeom>
          <a:noFill/>
        </p:spPr>
        <p:txBody>
          <a:bodyPr wrap="square" lIns="0" tIns="0" rIns="0" bIns="0" rtlCol="0" anchor="t"/>
          <a:lstStyle/>
          <a:p>
            <a:pPr marL="0" indent="0">
              <a:buNone/>
            </a:pPr>
            <a:r>
              <a:rPr lang="en-US" sz="1350" dirty="0">
                <a:solidFill>
                  <a:schemeClr val="bg1"/>
                </a:solidFill>
              </a:rPr>
              <a:t>Addresses the paper log sheets: the system record is the real record.</a:t>
            </a:r>
            <a:endParaRPr lang="en-US" sz="1350" dirty="0"/>
          </a:p>
        </p:txBody>
      </p:sp>
      <p:sp>
        <p:nvSpPr>
          <p:cNvPr id="21" name="Shape 397"/>
          <p:cNvSpPr/>
          <p:nvPr/>
        </p:nvSpPr>
        <p:spPr>
          <a:xfrm>
            <a:off x="5321808" y="1481328"/>
            <a:ext cx="3099816" cy="2101891"/>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22" name="Screenshot 398" descr="Circulation (remote)"/>
          <p:cNvPicPr>
            <a:picLocks noChangeAspect="1"/>
          </p:cNvPicPr>
          <p:nvPr/>
        </p:nvPicPr>
        <p:blipFill>
          <a:blip r:embed="rId5"/>
          <a:stretch>
            <a:fillRect/>
          </a:stretch>
        </p:blipFill>
        <p:spPr>
          <a:xfrm>
            <a:off x="5349240" y="1508760"/>
            <a:ext cx="3044952" cy="2047027"/>
          </a:xfrm>
          <a:prstGeom prst="rect">
            <a:avLst/>
          </a:prstGeom>
        </p:spPr>
      </p:pic>
      <p:sp>
        <p:nvSpPr>
          <p:cNvPr id="23" name="Text 399"/>
          <p:cNvSpPr txBox="1"/>
          <p:nvPr/>
        </p:nvSpPr>
        <p:spPr>
          <a:xfrm>
            <a:off x="5349240" y="3610651"/>
            <a:ext cx="3044952" cy="228600"/>
          </a:xfrm>
          <a:prstGeom prst="rect">
            <a:avLst/>
          </a:prstGeom>
          <a:noFill/>
        </p:spPr>
        <p:txBody>
          <a:bodyPr wrap="square" lIns="0" tIns="0" rIns="0" bIns="0" rtlCol="0" anchor="t"/>
          <a:lstStyle/>
          <a:p>
            <a:pPr marL="0" indent="0" algn="ctr">
              <a:buNone/>
            </a:pPr>
            <a:r>
              <a:rPr lang="en-US" sz="1150" b="1" dirty="0">
                <a:solidFill>
                  <a:schemeClr val="accent6"/>
                </a:solidFill>
              </a:rPr>
              <a:t>Circulation (remote)</a:t>
            </a:r>
            <a:endParaRPr lang="en-US" sz="1150" dirty="0"/>
          </a:p>
        </p:txBody>
      </p:sp>
      <p:sp>
        <p:nvSpPr>
          <p:cNvPr id="24" name="Shape 400"/>
          <p:cNvSpPr/>
          <p:nvPr/>
        </p:nvSpPr>
        <p:spPr>
          <a:xfrm>
            <a:off x="8567928" y="1481328"/>
            <a:ext cx="3099816" cy="2101891"/>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25" name="Screenshot 401" descr="Reservation queue"/>
          <p:cNvPicPr>
            <a:picLocks noChangeAspect="1"/>
          </p:cNvPicPr>
          <p:nvPr/>
        </p:nvPicPr>
        <p:blipFill>
          <a:blip r:embed="rId6"/>
          <a:stretch>
            <a:fillRect/>
          </a:stretch>
        </p:blipFill>
        <p:spPr>
          <a:xfrm>
            <a:off x="8595360" y="1508760"/>
            <a:ext cx="3044952" cy="2047027"/>
          </a:xfrm>
          <a:prstGeom prst="rect">
            <a:avLst/>
          </a:prstGeom>
        </p:spPr>
      </p:pic>
      <p:sp>
        <p:nvSpPr>
          <p:cNvPr id="26" name="Text 402"/>
          <p:cNvSpPr txBox="1"/>
          <p:nvPr/>
        </p:nvSpPr>
        <p:spPr>
          <a:xfrm>
            <a:off x="8595360" y="3610651"/>
            <a:ext cx="3044952" cy="228600"/>
          </a:xfrm>
          <a:prstGeom prst="rect">
            <a:avLst/>
          </a:prstGeom>
          <a:noFill/>
        </p:spPr>
        <p:txBody>
          <a:bodyPr wrap="square" lIns="0" tIns="0" rIns="0" bIns="0" rtlCol="0" anchor="t"/>
          <a:lstStyle/>
          <a:p>
            <a:pPr marL="0" indent="0" algn="ctr">
              <a:buNone/>
            </a:pPr>
            <a:r>
              <a:rPr lang="en-US" sz="1150" b="1" dirty="0">
                <a:solidFill>
                  <a:schemeClr val="accent6"/>
                </a:solidFill>
              </a:rPr>
              <a:t>Reservation queue</a:t>
            </a:r>
            <a:endParaRPr lang="en-US" sz="1150" dirty="0"/>
          </a:p>
        </p:txBody>
      </p:sp>
      <p:sp>
        <p:nvSpPr>
          <p:cNvPr id="27" name="Shape 403"/>
          <p:cNvSpPr/>
          <p:nvPr/>
        </p:nvSpPr>
        <p:spPr>
          <a:xfrm>
            <a:off x="5321808" y="3921547"/>
            <a:ext cx="3099816" cy="2101891"/>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28" name="Screenshot 404" descr="Notifications"/>
          <p:cNvPicPr>
            <a:picLocks noChangeAspect="1"/>
          </p:cNvPicPr>
          <p:nvPr/>
        </p:nvPicPr>
        <p:blipFill>
          <a:blip r:embed="rId7"/>
          <a:stretch>
            <a:fillRect/>
          </a:stretch>
        </p:blipFill>
        <p:spPr>
          <a:xfrm>
            <a:off x="5349240" y="3948979"/>
            <a:ext cx="3044952" cy="2047027"/>
          </a:xfrm>
          <a:prstGeom prst="rect">
            <a:avLst/>
          </a:prstGeom>
        </p:spPr>
      </p:pic>
      <p:sp>
        <p:nvSpPr>
          <p:cNvPr id="29" name="Text 405"/>
          <p:cNvSpPr txBox="1"/>
          <p:nvPr/>
        </p:nvSpPr>
        <p:spPr>
          <a:xfrm>
            <a:off x="5349240" y="6050869"/>
            <a:ext cx="3044952" cy="228600"/>
          </a:xfrm>
          <a:prstGeom prst="rect">
            <a:avLst/>
          </a:prstGeom>
          <a:noFill/>
        </p:spPr>
        <p:txBody>
          <a:bodyPr wrap="square" lIns="0" tIns="0" rIns="0" bIns="0" rtlCol="0" anchor="t"/>
          <a:lstStyle/>
          <a:p>
            <a:pPr marL="0" indent="0" algn="ctr">
              <a:buNone/>
            </a:pPr>
            <a:r>
              <a:rPr lang="en-US" sz="1150" b="1" dirty="0">
                <a:solidFill>
                  <a:schemeClr val="accent6"/>
                </a:solidFill>
              </a:rPr>
              <a:t>Notifications</a:t>
            </a:r>
            <a:endParaRPr lang="en-US" sz="1150" dirty="0"/>
          </a:p>
        </p:txBody>
      </p:sp>
      <p:sp>
        <p:nvSpPr>
          <p:cNvPr id="30" name="Shape 406"/>
          <p:cNvSpPr/>
          <p:nvPr/>
        </p:nvSpPr>
        <p:spPr>
          <a:xfrm>
            <a:off x="8567928" y="3921547"/>
            <a:ext cx="3099816" cy="2101891"/>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31" name="Screenshot 407" descr="Notification badges"/>
          <p:cNvPicPr>
            <a:picLocks noChangeAspect="1"/>
          </p:cNvPicPr>
          <p:nvPr/>
        </p:nvPicPr>
        <p:blipFill>
          <a:blip r:embed="rId8"/>
          <a:stretch>
            <a:fillRect/>
          </a:stretch>
        </p:blipFill>
        <p:spPr>
          <a:xfrm>
            <a:off x="8595360" y="3948979"/>
            <a:ext cx="3044952" cy="2047027"/>
          </a:xfrm>
          <a:prstGeom prst="rect">
            <a:avLst/>
          </a:prstGeom>
        </p:spPr>
      </p:pic>
      <p:sp>
        <p:nvSpPr>
          <p:cNvPr id="32" name="Text 408"/>
          <p:cNvSpPr txBox="1"/>
          <p:nvPr/>
        </p:nvSpPr>
        <p:spPr>
          <a:xfrm>
            <a:off x="8595360" y="6050869"/>
            <a:ext cx="3044952" cy="228600"/>
          </a:xfrm>
          <a:prstGeom prst="rect">
            <a:avLst/>
          </a:prstGeom>
          <a:noFill/>
        </p:spPr>
        <p:txBody>
          <a:bodyPr wrap="square" lIns="0" tIns="0" rIns="0" bIns="0" rtlCol="0" anchor="t"/>
          <a:lstStyle/>
          <a:p>
            <a:pPr marL="0" indent="0" algn="ctr">
              <a:buNone/>
            </a:pPr>
            <a:r>
              <a:rPr lang="en-US" sz="1150" b="1" dirty="0">
                <a:solidFill>
                  <a:schemeClr val="accent6"/>
                </a:solidFill>
              </a:rPr>
              <a:t>Notification badges</a:t>
            </a:r>
            <a:endParaRPr lang="en-US" sz="115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06  |  FEATURES</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Requests, History, and Administration</a:t>
            </a:r>
            <a:endParaRPr lang="en-US" sz="2800" dirty="0"/>
          </a:p>
        </p:txBody>
      </p:sp>
      <p:sp>
        <p:nvSpPr>
          <p:cNvPr id="5" name="Shape 409"/>
          <p:cNvSpPr/>
          <p:nvPr/>
        </p:nvSpPr>
        <p:spPr>
          <a:xfrm>
            <a:off x="548640" y="1572768"/>
            <a:ext cx="274320" cy="274320"/>
          </a:xfrm>
          <a:prstGeom prst="ellipse">
            <a:avLst/>
          </a:prstGeom>
          <a:solidFill>
            <a:schemeClr val="accent2"/>
          </a:solidFill>
        </p:spPr>
      </p:sp>
      <p:pic>
        <p:nvPicPr>
          <p:cNvPr id="6" name="Icon 410" descr="preencoded.png"/>
          <p:cNvPicPr>
            <a:picLocks noChangeAspect="1"/>
          </p:cNvPicPr>
          <p:nvPr/>
        </p:nvPicPr>
        <p:blipFill>
          <a:blip r:embed="rId3"/>
          <a:stretch>
            <a:fillRect/>
          </a:stretch>
        </p:blipFill>
        <p:spPr>
          <a:xfrm>
            <a:off x="617220" y="1641348"/>
            <a:ext cx="137160" cy="137160"/>
          </a:xfrm>
          <a:prstGeom prst="rect">
            <a:avLst/>
          </a:prstGeom>
        </p:spPr>
      </p:pic>
      <p:sp>
        <p:nvSpPr>
          <p:cNvPr id="7" name="Text 411"/>
          <p:cNvSpPr txBox="1"/>
          <p:nvPr/>
        </p:nvSpPr>
        <p:spPr>
          <a:xfrm>
            <a:off x="960120" y="1554480"/>
            <a:ext cx="4114800" cy="719709"/>
          </a:xfrm>
          <a:prstGeom prst="rect">
            <a:avLst/>
          </a:prstGeom>
          <a:noFill/>
        </p:spPr>
        <p:txBody>
          <a:bodyPr wrap="square" lIns="0" tIns="0" rIns="0" bIns="0" rtlCol="0" anchor="t"/>
          <a:lstStyle/>
          <a:p>
            <a:pPr marL="0" indent="0">
              <a:buNone/>
            </a:pPr>
            <a:r>
              <a:rPr lang="en-US" sz="1450" dirty="0">
                <a:solidFill>
                  <a:schemeClr val="tx1"/>
                </a:solidFill>
              </a:rPr>
              <a:t>Request missing titles and track status live; profile shows borrowed, overdue, and ready counts.</a:t>
            </a:r>
            <a:endParaRPr lang="en-US" sz="1450" dirty="0"/>
          </a:p>
        </p:txBody>
      </p:sp>
      <p:sp>
        <p:nvSpPr>
          <p:cNvPr id="8" name="Shape 412"/>
          <p:cNvSpPr/>
          <p:nvPr/>
        </p:nvSpPr>
        <p:spPr>
          <a:xfrm>
            <a:off x="548640" y="2429637"/>
            <a:ext cx="274320" cy="274320"/>
          </a:xfrm>
          <a:prstGeom prst="ellipse">
            <a:avLst/>
          </a:prstGeom>
          <a:solidFill>
            <a:schemeClr val="accent2"/>
          </a:solidFill>
        </p:spPr>
      </p:sp>
      <p:pic>
        <p:nvPicPr>
          <p:cNvPr id="9" name="Icon 413" descr="preencoded.png"/>
          <p:cNvPicPr>
            <a:picLocks noChangeAspect="1"/>
          </p:cNvPicPr>
          <p:nvPr/>
        </p:nvPicPr>
        <p:blipFill>
          <a:blip r:embed="rId3"/>
          <a:stretch>
            <a:fillRect/>
          </a:stretch>
        </p:blipFill>
        <p:spPr>
          <a:xfrm>
            <a:off x="617220" y="2498217"/>
            <a:ext cx="137160" cy="137160"/>
          </a:xfrm>
          <a:prstGeom prst="rect">
            <a:avLst/>
          </a:prstGeom>
        </p:spPr>
      </p:pic>
      <p:sp>
        <p:nvSpPr>
          <p:cNvPr id="10" name="Text 414"/>
          <p:cNvSpPr txBox="1"/>
          <p:nvPr/>
        </p:nvSpPr>
        <p:spPr>
          <a:xfrm>
            <a:off x="960120" y="2411349"/>
            <a:ext cx="4114800" cy="495046"/>
          </a:xfrm>
          <a:prstGeom prst="rect">
            <a:avLst/>
          </a:prstGeom>
          <a:noFill/>
        </p:spPr>
        <p:txBody>
          <a:bodyPr wrap="square" lIns="0" tIns="0" rIns="0" bIns="0" rtlCol="0" anchor="t"/>
          <a:lstStyle/>
          <a:p>
            <a:pPr marL="0" indent="0">
              <a:buNone/>
            </a:pPr>
            <a:r>
              <a:rPr lang="en-US" sz="1450" dirty="0">
                <a:solidFill>
                  <a:schemeClr val="tx1"/>
                </a:solidFill>
              </a:rPr>
              <a:t>Borrowing history consolidates borrows, reservations, requests, and fines.</a:t>
            </a:r>
            <a:endParaRPr lang="en-US" sz="1450" dirty="0"/>
          </a:p>
        </p:txBody>
      </p:sp>
      <p:sp>
        <p:nvSpPr>
          <p:cNvPr id="11" name="Shape 415"/>
          <p:cNvSpPr/>
          <p:nvPr/>
        </p:nvSpPr>
        <p:spPr>
          <a:xfrm>
            <a:off x="548640" y="3061843"/>
            <a:ext cx="274320" cy="274320"/>
          </a:xfrm>
          <a:prstGeom prst="ellipse">
            <a:avLst/>
          </a:prstGeom>
          <a:solidFill>
            <a:schemeClr val="accent2"/>
          </a:solidFill>
        </p:spPr>
      </p:sp>
      <p:pic>
        <p:nvPicPr>
          <p:cNvPr id="12" name="Icon 416" descr="preencoded.png"/>
          <p:cNvPicPr>
            <a:picLocks noChangeAspect="1"/>
          </p:cNvPicPr>
          <p:nvPr/>
        </p:nvPicPr>
        <p:blipFill>
          <a:blip r:embed="rId3"/>
          <a:stretch>
            <a:fillRect/>
          </a:stretch>
        </p:blipFill>
        <p:spPr>
          <a:xfrm>
            <a:off x="617220" y="3130423"/>
            <a:ext cx="137160" cy="137160"/>
          </a:xfrm>
          <a:prstGeom prst="rect">
            <a:avLst/>
          </a:prstGeom>
        </p:spPr>
      </p:pic>
      <p:sp>
        <p:nvSpPr>
          <p:cNvPr id="13" name="Text 417"/>
          <p:cNvSpPr txBox="1"/>
          <p:nvPr/>
        </p:nvSpPr>
        <p:spPr>
          <a:xfrm>
            <a:off x="960120" y="3043555"/>
            <a:ext cx="4114800" cy="495046"/>
          </a:xfrm>
          <a:prstGeom prst="rect">
            <a:avLst/>
          </a:prstGeom>
          <a:noFill/>
        </p:spPr>
        <p:txBody>
          <a:bodyPr wrap="square" lIns="0" tIns="0" rIns="0" bIns="0" rtlCol="0" anchor="t"/>
          <a:lstStyle/>
          <a:p>
            <a:pPr marL="0" indent="0">
              <a:buNone/>
            </a:pPr>
            <a:r>
              <a:rPr lang="en-US" sz="1450" dirty="0">
                <a:solidFill>
                  <a:schemeClr val="tx1"/>
                </a:solidFill>
              </a:rPr>
              <a:t>User management: approve, disable, archive or restore, change role.</a:t>
            </a:r>
            <a:endParaRPr lang="en-US" sz="1450" dirty="0"/>
          </a:p>
        </p:txBody>
      </p:sp>
      <p:sp>
        <p:nvSpPr>
          <p:cNvPr id="14" name="Shape 418"/>
          <p:cNvSpPr/>
          <p:nvPr/>
        </p:nvSpPr>
        <p:spPr>
          <a:xfrm>
            <a:off x="548640" y="3694049"/>
            <a:ext cx="274320" cy="274320"/>
          </a:xfrm>
          <a:prstGeom prst="ellipse">
            <a:avLst/>
          </a:prstGeom>
          <a:solidFill>
            <a:schemeClr val="accent2"/>
          </a:solidFill>
        </p:spPr>
      </p:sp>
      <p:pic>
        <p:nvPicPr>
          <p:cNvPr id="15" name="Icon 419" descr="preencoded.png"/>
          <p:cNvPicPr>
            <a:picLocks noChangeAspect="1"/>
          </p:cNvPicPr>
          <p:nvPr/>
        </p:nvPicPr>
        <p:blipFill>
          <a:blip r:embed="rId3"/>
          <a:stretch>
            <a:fillRect/>
          </a:stretch>
        </p:blipFill>
        <p:spPr>
          <a:xfrm>
            <a:off x="617220" y="3762629"/>
            <a:ext cx="137160" cy="137160"/>
          </a:xfrm>
          <a:prstGeom prst="rect">
            <a:avLst/>
          </a:prstGeom>
        </p:spPr>
      </p:pic>
      <p:sp>
        <p:nvSpPr>
          <p:cNvPr id="16" name="Text 420"/>
          <p:cNvSpPr txBox="1"/>
          <p:nvPr/>
        </p:nvSpPr>
        <p:spPr>
          <a:xfrm>
            <a:off x="960120" y="3675761"/>
            <a:ext cx="4114800" cy="719709"/>
          </a:xfrm>
          <a:prstGeom prst="rect">
            <a:avLst/>
          </a:prstGeom>
          <a:noFill/>
        </p:spPr>
        <p:txBody>
          <a:bodyPr wrap="square" lIns="0" tIns="0" rIns="0" bIns="0" rtlCol="0" anchor="t"/>
          <a:lstStyle/>
          <a:p>
            <a:pPr marL="0" indent="0">
              <a:buNone/>
            </a:pPr>
            <a:r>
              <a:rPr lang="en-US" sz="1450" dirty="0">
                <a:solidFill>
                  <a:schemeClr val="tx1"/>
                </a:solidFill>
              </a:rPr>
              <a:t>Backup: timestamped SQL dumps plus managed point-in-time recovery; Data Privacy Act 2012-aligned controls.</a:t>
            </a:r>
            <a:endParaRPr lang="en-US" sz="1450" dirty="0"/>
          </a:p>
        </p:txBody>
      </p:sp>
      <p:sp>
        <p:nvSpPr>
          <p:cNvPr id="17" name="Shape 421"/>
          <p:cNvSpPr/>
          <p:nvPr/>
        </p:nvSpPr>
        <p:spPr>
          <a:xfrm>
            <a:off x="548640" y="5074920"/>
            <a:ext cx="4572000" cy="1188720"/>
          </a:xfrm>
          <a:prstGeom prst="roundRect">
            <a:avLst>
              <a:gd name="adj" fmla="val 7692"/>
            </a:avLst>
          </a:prstGeom>
          <a:solidFill>
            <a:schemeClr val="tx2"/>
          </a:solidFill>
        </p:spPr>
      </p:sp>
      <p:pic>
        <p:nvPicPr>
          <p:cNvPr id="18" name="Icon 422" descr="preencoded.png"/>
          <p:cNvPicPr>
            <a:picLocks noChangeAspect="1"/>
          </p:cNvPicPr>
          <p:nvPr/>
        </p:nvPicPr>
        <p:blipFill>
          <a:blip r:embed="rId4"/>
          <a:stretch>
            <a:fillRect/>
          </a:stretch>
        </p:blipFill>
        <p:spPr>
          <a:xfrm>
            <a:off x="777240" y="5440680"/>
            <a:ext cx="411480" cy="411480"/>
          </a:xfrm>
          <a:prstGeom prst="rect">
            <a:avLst/>
          </a:prstGeom>
        </p:spPr>
      </p:pic>
      <p:sp>
        <p:nvSpPr>
          <p:cNvPr id="19" name="Text 423"/>
          <p:cNvSpPr txBox="1"/>
          <p:nvPr/>
        </p:nvSpPr>
        <p:spPr>
          <a:xfrm>
            <a:off x="1417320" y="5193792"/>
            <a:ext cx="3566160" cy="228600"/>
          </a:xfrm>
          <a:prstGeom prst="rect">
            <a:avLst/>
          </a:prstGeom>
          <a:noFill/>
        </p:spPr>
        <p:txBody>
          <a:bodyPr wrap="square" lIns="0" tIns="0" rIns="0" bIns="0" rtlCol="0" anchor="t"/>
          <a:lstStyle/>
          <a:p>
            <a:pPr marL="0" indent="0">
              <a:buNone/>
            </a:pPr>
            <a:r>
              <a:rPr lang="en-US" sz="1100" b="1" kern="0" spc="400" dirty="0">
                <a:solidFill>
                  <a:schemeClr val="accent2"/>
                </a:solidFill>
              </a:rPr>
              <a:t>RESEARCH LINK</a:t>
            </a:r>
            <a:endParaRPr lang="en-US" sz="1100" dirty="0"/>
          </a:p>
        </p:txBody>
      </p:sp>
      <p:sp>
        <p:nvSpPr>
          <p:cNvPr id="20" name="Text 424"/>
          <p:cNvSpPr txBox="1"/>
          <p:nvPr/>
        </p:nvSpPr>
        <p:spPr>
          <a:xfrm>
            <a:off x="1417320" y="5458968"/>
            <a:ext cx="3566160" cy="777240"/>
          </a:xfrm>
          <a:prstGeom prst="rect">
            <a:avLst/>
          </a:prstGeom>
          <a:noFill/>
        </p:spPr>
        <p:txBody>
          <a:bodyPr wrap="square" lIns="0" tIns="0" rIns="0" bIns="0" rtlCol="0" anchor="t"/>
          <a:lstStyle/>
          <a:p>
            <a:pPr marL="0" indent="0">
              <a:buNone/>
            </a:pPr>
            <a:r>
              <a:rPr lang="en-US" sz="1350" dirty="0">
                <a:solidFill>
                  <a:schemeClr val="bg1"/>
                </a:solidFill>
              </a:rPr>
              <a:t>Supports self-service and governance.</a:t>
            </a:r>
            <a:endParaRPr lang="en-US" sz="1350" dirty="0"/>
          </a:p>
        </p:txBody>
      </p:sp>
      <p:sp>
        <p:nvSpPr>
          <p:cNvPr id="21" name="Shape 425"/>
          <p:cNvSpPr/>
          <p:nvPr/>
        </p:nvSpPr>
        <p:spPr>
          <a:xfrm>
            <a:off x="5321808" y="1481328"/>
            <a:ext cx="3099816" cy="2101891"/>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22" name="Screenshot 426" descr="Book request form"/>
          <p:cNvPicPr>
            <a:picLocks noChangeAspect="1"/>
          </p:cNvPicPr>
          <p:nvPr/>
        </p:nvPicPr>
        <p:blipFill>
          <a:blip r:embed="rId5"/>
          <a:stretch>
            <a:fillRect/>
          </a:stretch>
        </p:blipFill>
        <p:spPr>
          <a:xfrm>
            <a:off x="5349240" y="1508760"/>
            <a:ext cx="3044952" cy="2047027"/>
          </a:xfrm>
          <a:prstGeom prst="rect">
            <a:avLst/>
          </a:prstGeom>
        </p:spPr>
      </p:pic>
      <p:sp>
        <p:nvSpPr>
          <p:cNvPr id="23" name="Text 427"/>
          <p:cNvSpPr txBox="1"/>
          <p:nvPr/>
        </p:nvSpPr>
        <p:spPr>
          <a:xfrm>
            <a:off x="5349240" y="3610651"/>
            <a:ext cx="3044952" cy="228600"/>
          </a:xfrm>
          <a:prstGeom prst="rect">
            <a:avLst/>
          </a:prstGeom>
          <a:noFill/>
        </p:spPr>
        <p:txBody>
          <a:bodyPr wrap="square" lIns="0" tIns="0" rIns="0" bIns="0" rtlCol="0" anchor="t"/>
          <a:lstStyle/>
          <a:p>
            <a:pPr marL="0" indent="0" algn="ctr">
              <a:buNone/>
            </a:pPr>
            <a:r>
              <a:rPr lang="en-US" sz="1150" b="1" dirty="0">
                <a:solidFill>
                  <a:schemeClr val="accent6"/>
                </a:solidFill>
              </a:rPr>
              <a:t>Book request form</a:t>
            </a:r>
            <a:endParaRPr lang="en-US" sz="1150" dirty="0"/>
          </a:p>
        </p:txBody>
      </p:sp>
      <p:sp>
        <p:nvSpPr>
          <p:cNvPr id="24" name="Shape 428"/>
          <p:cNvSpPr/>
          <p:nvPr/>
        </p:nvSpPr>
        <p:spPr>
          <a:xfrm>
            <a:off x="8567928" y="1481328"/>
            <a:ext cx="3099816" cy="2101891"/>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25" name="Screenshot 429" descr="Borrowing history"/>
          <p:cNvPicPr>
            <a:picLocks noChangeAspect="1"/>
          </p:cNvPicPr>
          <p:nvPr/>
        </p:nvPicPr>
        <p:blipFill>
          <a:blip r:embed="rId6"/>
          <a:stretch>
            <a:fillRect/>
          </a:stretch>
        </p:blipFill>
        <p:spPr>
          <a:xfrm>
            <a:off x="8595360" y="1508760"/>
            <a:ext cx="3044952" cy="2047027"/>
          </a:xfrm>
          <a:prstGeom prst="rect">
            <a:avLst/>
          </a:prstGeom>
        </p:spPr>
      </p:pic>
      <p:sp>
        <p:nvSpPr>
          <p:cNvPr id="26" name="Text 430"/>
          <p:cNvSpPr txBox="1"/>
          <p:nvPr/>
        </p:nvSpPr>
        <p:spPr>
          <a:xfrm>
            <a:off x="8595360" y="3610651"/>
            <a:ext cx="3044952" cy="228600"/>
          </a:xfrm>
          <a:prstGeom prst="rect">
            <a:avLst/>
          </a:prstGeom>
          <a:noFill/>
        </p:spPr>
        <p:txBody>
          <a:bodyPr wrap="square" lIns="0" tIns="0" rIns="0" bIns="0" rtlCol="0" anchor="t"/>
          <a:lstStyle/>
          <a:p>
            <a:pPr marL="0" indent="0" algn="ctr">
              <a:buNone/>
            </a:pPr>
            <a:r>
              <a:rPr lang="en-US" sz="1150" b="1" dirty="0">
                <a:solidFill>
                  <a:schemeClr val="accent6"/>
                </a:solidFill>
              </a:rPr>
              <a:t>Borrowing history</a:t>
            </a:r>
            <a:endParaRPr lang="en-US" sz="1150" dirty="0"/>
          </a:p>
        </p:txBody>
      </p:sp>
      <p:sp>
        <p:nvSpPr>
          <p:cNvPr id="27" name="Shape 431"/>
          <p:cNvSpPr/>
          <p:nvPr/>
        </p:nvSpPr>
        <p:spPr>
          <a:xfrm>
            <a:off x="5321808" y="3921547"/>
            <a:ext cx="3099816" cy="2101891"/>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28" name="Screenshot 432" descr="User management"/>
          <p:cNvPicPr>
            <a:picLocks noChangeAspect="1"/>
          </p:cNvPicPr>
          <p:nvPr/>
        </p:nvPicPr>
        <p:blipFill>
          <a:blip r:embed="rId7"/>
          <a:stretch>
            <a:fillRect/>
          </a:stretch>
        </p:blipFill>
        <p:spPr>
          <a:xfrm>
            <a:off x="5349240" y="3948979"/>
            <a:ext cx="3044952" cy="2047027"/>
          </a:xfrm>
          <a:prstGeom prst="rect">
            <a:avLst/>
          </a:prstGeom>
        </p:spPr>
      </p:pic>
      <p:sp>
        <p:nvSpPr>
          <p:cNvPr id="29" name="Text 433"/>
          <p:cNvSpPr txBox="1"/>
          <p:nvPr/>
        </p:nvSpPr>
        <p:spPr>
          <a:xfrm>
            <a:off x="5349240" y="6050869"/>
            <a:ext cx="3044952" cy="228600"/>
          </a:xfrm>
          <a:prstGeom prst="rect">
            <a:avLst/>
          </a:prstGeom>
          <a:noFill/>
        </p:spPr>
        <p:txBody>
          <a:bodyPr wrap="square" lIns="0" tIns="0" rIns="0" bIns="0" rtlCol="0" anchor="t"/>
          <a:lstStyle/>
          <a:p>
            <a:pPr marL="0" indent="0" algn="ctr">
              <a:buNone/>
            </a:pPr>
            <a:r>
              <a:rPr lang="en-US" sz="1150" b="1" dirty="0">
                <a:solidFill>
                  <a:schemeClr val="accent6"/>
                </a:solidFill>
              </a:rPr>
              <a:t>User management</a:t>
            </a:r>
            <a:endParaRPr lang="en-US" sz="1150" dirty="0"/>
          </a:p>
        </p:txBody>
      </p:sp>
      <p:sp>
        <p:nvSpPr>
          <p:cNvPr id="30" name="Shape 434"/>
          <p:cNvSpPr/>
          <p:nvPr/>
        </p:nvSpPr>
        <p:spPr>
          <a:xfrm>
            <a:off x="8567928" y="3921547"/>
            <a:ext cx="3099816" cy="2101891"/>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31" name="Screenshot 435" descr="Backup module"/>
          <p:cNvPicPr>
            <a:picLocks noChangeAspect="1"/>
          </p:cNvPicPr>
          <p:nvPr/>
        </p:nvPicPr>
        <p:blipFill>
          <a:blip r:embed="rId8"/>
          <a:stretch>
            <a:fillRect/>
          </a:stretch>
        </p:blipFill>
        <p:spPr>
          <a:xfrm>
            <a:off x="8595360" y="3948979"/>
            <a:ext cx="3044952" cy="2047027"/>
          </a:xfrm>
          <a:prstGeom prst="rect">
            <a:avLst/>
          </a:prstGeom>
        </p:spPr>
      </p:pic>
      <p:sp>
        <p:nvSpPr>
          <p:cNvPr id="32" name="Text 436"/>
          <p:cNvSpPr txBox="1"/>
          <p:nvPr/>
        </p:nvSpPr>
        <p:spPr>
          <a:xfrm>
            <a:off x="8595360" y="6050869"/>
            <a:ext cx="3044952" cy="228600"/>
          </a:xfrm>
          <a:prstGeom prst="rect">
            <a:avLst/>
          </a:prstGeom>
          <a:noFill/>
        </p:spPr>
        <p:txBody>
          <a:bodyPr wrap="square" lIns="0" tIns="0" rIns="0" bIns="0" rtlCol="0" anchor="t"/>
          <a:lstStyle/>
          <a:p>
            <a:pPr marL="0" indent="0" algn="ctr">
              <a:buNone/>
            </a:pPr>
            <a:r>
              <a:rPr lang="en-US" sz="1150" b="1" dirty="0">
                <a:solidFill>
                  <a:schemeClr val="accent6"/>
                </a:solidFill>
              </a:rPr>
              <a:t>Backup module</a:t>
            </a:r>
            <a:endParaRPr lang="en-US" sz="115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07  |  BUSINESS INTELLIGENCE</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The Reporting Dashboard: Four Analytics Tabs</a:t>
            </a:r>
            <a:endParaRPr lang="en-US" sz="2800" dirty="0"/>
          </a:p>
        </p:txBody>
      </p:sp>
      <p:sp>
        <p:nvSpPr>
          <p:cNvPr id="5" name="Shape 437"/>
          <p:cNvSpPr/>
          <p:nvPr/>
        </p:nvSpPr>
        <p:spPr>
          <a:xfrm>
            <a:off x="521208" y="1481328"/>
            <a:ext cx="6089904" cy="4112034"/>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6" name="Screenshot 438" descr="Reporting Dashboard overview"/>
          <p:cNvPicPr>
            <a:picLocks noChangeAspect="1"/>
          </p:cNvPicPr>
          <p:nvPr/>
        </p:nvPicPr>
        <p:blipFill>
          <a:blip r:embed="rId3"/>
          <a:stretch>
            <a:fillRect/>
          </a:stretch>
        </p:blipFill>
        <p:spPr>
          <a:xfrm>
            <a:off x="548640" y="1508760"/>
            <a:ext cx="6035040" cy="4057170"/>
          </a:xfrm>
          <a:prstGeom prst="rect">
            <a:avLst/>
          </a:prstGeom>
        </p:spPr>
      </p:pic>
      <p:sp>
        <p:nvSpPr>
          <p:cNvPr id="7" name="Text 439"/>
          <p:cNvSpPr txBox="1"/>
          <p:nvPr/>
        </p:nvSpPr>
        <p:spPr>
          <a:xfrm>
            <a:off x="548640" y="5657370"/>
            <a:ext cx="6035040" cy="256032"/>
          </a:xfrm>
          <a:prstGeom prst="rect">
            <a:avLst/>
          </a:prstGeom>
          <a:noFill/>
        </p:spPr>
        <p:txBody>
          <a:bodyPr wrap="square" lIns="0" tIns="0" rIns="0" bIns="0" rtlCol="0" anchor="t"/>
          <a:lstStyle/>
          <a:p>
            <a:pPr marL="0" indent="0">
              <a:buNone/>
            </a:pPr>
            <a:r>
              <a:rPr lang="en-US" sz="1200" i="1" dirty="0">
                <a:solidFill>
                  <a:schemeClr val="accent6"/>
                </a:solidFill>
              </a:rPr>
              <a:t>Figure 3. Reporting Dashboard overview</a:t>
            </a:r>
            <a:endParaRPr lang="en-US" sz="1200" dirty="0"/>
          </a:p>
        </p:txBody>
      </p:sp>
      <p:sp>
        <p:nvSpPr>
          <p:cNvPr id="8" name="Shape 440"/>
          <p:cNvSpPr/>
          <p:nvPr/>
        </p:nvSpPr>
        <p:spPr>
          <a:xfrm>
            <a:off x="6812280" y="1508760"/>
            <a:ext cx="4828032" cy="896112"/>
          </a:xfrm>
          <a:prstGeom prst="roundRect">
            <a:avLst>
              <a:gd name="adj" fmla="val 10204"/>
            </a:avLst>
          </a:prstGeom>
          <a:solidFill>
            <a:schemeClr val="bg2"/>
          </a:solidFill>
        </p:spPr>
      </p:sp>
      <p:sp>
        <p:nvSpPr>
          <p:cNvPr id="9" name="Shape 441"/>
          <p:cNvSpPr/>
          <p:nvPr/>
        </p:nvSpPr>
        <p:spPr>
          <a:xfrm>
            <a:off x="6995160" y="1764792"/>
            <a:ext cx="384048" cy="384048"/>
          </a:xfrm>
          <a:prstGeom prst="ellipse">
            <a:avLst/>
          </a:prstGeom>
          <a:solidFill>
            <a:schemeClr val="accent1"/>
          </a:solidFill>
          <a:ln w="19050">
            <a:solidFill>
              <a:schemeClr val="bg1"/>
            </a:solidFill>
            <a:prstDash val="solid"/>
          </a:ln>
        </p:spPr>
      </p:sp>
      <p:sp>
        <p:nvSpPr>
          <p:cNvPr id="10" name="Text 442"/>
          <p:cNvSpPr txBox="1"/>
          <p:nvPr/>
        </p:nvSpPr>
        <p:spPr>
          <a:xfrm>
            <a:off x="6995160" y="1764792"/>
            <a:ext cx="384048" cy="384048"/>
          </a:xfrm>
          <a:prstGeom prst="rect">
            <a:avLst/>
          </a:prstGeom>
          <a:noFill/>
        </p:spPr>
        <p:txBody>
          <a:bodyPr wrap="square" lIns="0" tIns="0" rIns="0" bIns="0" rtlCol="0" anchor="ctr"/>
          <a:lstStyle/>
          <a:p>
            <a:pPr marL="0" indent="0" algn="ctr">
              <a:buNone/>
            </a:pPr>
            <a:r>
              <a:rPr lang="en-US" sz="1400" b="1" dirty="0">
                <a:solidFill>
                  <a:schemeClr val="bg1"/>
                </a:solidFill>
                <a:latin typeface="+mj-lt"/>
                <a:ea typeface="+mj-lt"/>
                <a:cs typeface="+mj-lt"/>
              </a:rPr>
              <a:t>1</a:t>
            </a:r>
            <a:endParaRPr lang="en-US" sz="1400" dirty="0"/>
          </a:p>
        </p:txBody>
      </p:sp>
      <p:sp>
        <p:nvSpPr>
          <p:cNvPr id="11" name="Text 443"/>
          <p:cNvSpPr txBox="1"/>
          <p:nvPr/>
        </p:nvSpPr>
        <p:spPr>
          <a:xfrm>
            <a:off x="7589520" y="1600200"/>
            <a:ext cx="3931920" cy="329184"/>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Tab 1  Circulation Tracking</a:t>
            </a:r>
            <a:endParaRPr lang="en-US" sz="1600" dirty="0"/>
          </a:p>
        </p:txBody>
      </p:sp>
      <p:sp>
        <p:nvSpPr>
          <p:cNvPr id="12" name="Text 444"/>
          <p:cNvSpPr txBox="1"/>
          <p:nvPr/>
        </p:nvSpPr>
        <p:spPr>
          <a:xfrm>
            <a:off x="7589520" y="1965960"/>
            <a:ext cx="3931920" cy="384048"/>
          </a:xfrm>
          <a:prstGeom prst="rect">
            <a:avLst/>
          </a:prstGeom>
          <a:noFill/>
        </p:spPr>
        <p:txBody>
          <a:bodyPr wrap="square" lIns="0" tIns="0" rIns="0" bIns="0" rtlCol="0" anchor="t"/>
          <a:lstStyle/>
          <a:p>
            <a:pPr marL="0" indent="0">
              <a:buNone/>
            </a:pPr>
            <a:r>
              <a:rPr lang="en-US" sz="1300" i="1" dirty="0">
                <a:solidFill>
                  <a:schemeClr val="accent6"/>
                </a:solidFill>
              </a:rPr>
              <a:t>Where does every book and copy stand now?</a:t>
            </a:r>
            <a:endParaRPr lang="en-US" sz="1300" dirty="0"/>
          </a:p>
        </p:txBody>
      </p:sp>
      <p:sp>
        <p:nvSpPr>
          <p:cNvPr id="13" name="Shape 445"/>
          <p:cNvSpPr/>
          <p:nvPr/>
        </p:nvSpPr>
        <p:spPr>
          <a:xfrm>
            <a:off x="6812280" y="2496312"/>
            <a:ext cx="4828032" cy="896112"/>
          </a:xfrm>
          <a:prstGeom prst="roundRect">
            <a:avLst>
              <a:gd name="adj" fmla="val 10204"/>
            </a:avLst>
          </a:prstGeom>
          <a:solidFill>
            <a:schemeClr val="bg2"/>
          </a:solidFill>
        </p:spPr>
      </p:sp>
      <p:sp>
        <p:nvSpPr>
          <p:cNvPr id="14" name="Shape 446"/>
          <p:cNvSpPr/>
          <p:nvPr/>
        </p:nvSpPr>
        <p:spPr>
          <a:xfrm>
            <a:off x="6995160" y="2752344"/>
            <a:ext cx="384048" cy="384048"/>
          </a:xfrm>
          <a:prstGeom prst="ellipse">
            <a:avLst/>
          </a:prstGeom>
          <a:solidFill>
            <a:schemeClr val="accent2"/>
          </a:solidFill>
          <a:ln w="19050">
            <a:solidFill>
              <a:schemeClr val="bg1"/>
            </a:solidFill>
            <a:prstDash val="solid"/>
          </a:ln>
        </p:spPr>
      </p:sp>
      <p:sp>
        <p:nvSpPr>
          <p:cNvPr id="15" name="Text 447"/>
          <p:cNvSpPr txBox="1"/>
          <p:nvPr/>
        </p:nvSpPr>
        <p:spPr>
          <a:xfrm>
            <a:off x="6995160" y="2752344"/>
            <a:ext cx="384048" cy="384048"/>
          </a:xfrm>
          <a:prstGeom prst="rect">
            <a:avLst/>
          </a:prstGeom>
          <a:noFill/>
        </p:spPr>
        <p:txBody>
          <a:bodyPr wrap="square" lIns="0" tIns="0" rIns="0" bIns="0" rtlCol="0" anchor="ctr"/>
          <a:lstStyle/>
          <a:p>
            <a:pPr marL="0" indent="0" algn="ctr">
              <a:buNone/>
            </a:pPr>
            <a:r>
              <a:rPr lang="en-US" sz="1400" b="1" dirty="0">
                <a:solidFill>
                  <a:schemeClr val="bg1"/>
                </a:solidFill>
                <a:latin typeface="+mj-lt"/>
                <a:ea typeface="+mj-lt"/>
                <a:cs typeface="+mj-lt"/>
              </a:rPr>
              <a:t>2</a:t>
            </a:r>
            <a:endParaRPr lang="en-US" sz="1400" dirty="0"/>
          </a:p>
        </p:txBody>
      </p:sp>
      <p:sp>
        <p:nvSpPr>
          <p:cNvPr id="16" name="Text 448"/>
          <p:cNvSpPr txBox="1"/>
          <p:nvPr/>
        </p:nvSpPr>
        <p:spPr>
          <a:xfrm>
            <a:off x="7589520" y="2587752"/>
            <a:ext cx="3931920" cy="329184"/>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Tab 2  Library Analytics</a:t>
            </a:r>
            <a:endParaRPr lang="en-US" sz="1600" dirty="0"/>
          </a:p>
        </p:txBody>
      </p:sp>
      <p:sp>
        <p:nvSpPr>
          <p:cNvPr id="17" name="Text 449"/>
          <p:cNvSpPr txBox="1"/>
          <p:nvPr/>
        </p:nvSpPr>
        <p:spPr>
          <a:xfrm>
            <a:off x="7589520" y="2953512"/>
            <a:ext cx="3931920" cy="384048"/>
          </a:xfrm>
          <a:prstGeom prst="rect">
            <a:avLst/>
          </a:prstGeom>
          <a:noFill/>
        </p:spPr>
        <p:txBody>
          <a:bodyPr wrap="square" lIns="0" tIns="0" rIns="0" bIns="0" rtlCol="0" anchor="t"/>
          <a:lstStyle/>
          <a:p>
            <a:pPr marL="0" indent="0">
              <a:buNone/>
            </a:pPr>
            <a:r>
              <a:rPr lang="en-US" sz="1300" i="1" dirty="0">
                <a:solidFill>
                  <a:schemeClr val="accent6"/>
                </a:solidFill>
              </a:rPr>
              <a:t>What patterns are happening, and what may happen next?</a:t>
            </a:r>
            <a:endParaRPr lang="en-US" sz="1300" dirty="0"/>
          </a:p>
        </p:txBody>
      </p:sp>
      <p:sp>
        <p:nvSpPr>
          <p:cNvPr id="18" name="Shape 450"/>
          <p:cNvSpPr/>
          <p:nvPr/>
        </p:nvSpPr>
        <p:spPr>
          <a:xfrm>
            <a:off x="6812280" y="3483864"/>
            <a:ext cx="4828032" cy="896112"/>
          </a:xfrm>
          <a:prstGeom prst="roundRect">
            <a:avLst>
              <a:gd name="adj" fmla="val 10204"/>
            </a:avLst>
          </a:prstGeom>
          <a:solidFill>
            <a:schemeClr val="bg2"/>
          </a:solidFill>
        </p:spPr>
      </p:sp>
      <p:sp>
        <p:nvSpPr>
          <p:cNvPr id="19" name="Shape 451"/>
          <p:cNvSpPr/>
          <p:nvPr/>
        </p:nvSpPr>
        <p:spPr>
          <a:xfrm>
            <a:off x="6995160" y="3739896"/>
            <a:ext cx="384048" cy="384048"/>
          </a:xfrm>
          <a:prstGeom prst="ellipse">
            <a:avLst/>
          </a:prstGeom>
          <a:solidFill>
            <a:schemeClr val="accent3"/>
          </a:solidFill>
          <a:ln w="19050">
            <a:solidFill>
              <a:schemeClr val="bg1"/>
            </a:solidFill>
            <a:prstDash val="solid"/>
          </a:ln>
        </p:spPr>
      </p:sp>
      <p:sp>
        <p:nvSpPr>
          <p:cNvPr id="20" name="Text 452"/>
          <p:cNvSpPr txBox="1"/>
          <p:nvPr/>
        </p:nvSpPr>
        <p:spPr>
          <a:xfrm>
            <a:off x="6995160" y="3739896"/>
            <a:ext cx="384048" cy="384048"/>
          </a:xfrm>
          <a:prstGeom prst="rect">
            <a:avLst/>
          </a:prstGeom>
          <a:noFill/>
        </p:spPr>
        <p:txBody>
          <a:bodyPr wrap="square" lIns="0" tIns="0" rIns="0" bIns="0" rtlCol="0" anchor="ctr"/>
          <a:lstStyle/>
          <a:p>
            <a:pPr marL="0" indent="0" algn="ctr">
              <a:buNone/>
            </a:pPr>
            <a:r>
              <a:rPr lang="en-US" sz="1400" b="1" dirty="0">
                <a:solidFill>
                  <a:schemeClr val="bg1"/>
                </a:solidFill>
                <a:latin typeface="+mj-lt"/>
                <a:ea typeface="+mj-lt"/>
                <a:cs typeface="+mj-lt"/>
              </a:rPr>
              <a:t>3</a:t>
            </a:r>
            <a:endParaRPr lang="en-US" sz="1400" dirty="0"/>
          </a:p>
        </p:txBody>
      </p:sp>
      <p:sp>
        <p:nvSpPr>
          <p:cNvPr id="21" name="Text 453"/>
          <p:cNvSpPr txBox="1"/>
          <p:nvPr/>
        </p:nvSpPr>
        <p:spPr>
          <a:xfrm>
            <a:off x="7589520" y="3575304"/>
            <a:ext cx="3931920" cy="329184"/>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Tab 3  Department Analytics</a:t>
            </a:r>
            <a:endParaRPr lang="en-US" sz="1600" dirty="0"/>
          </a:p>
        </p:txBody>
      </p:sp>
      <p:sp>
        <p:nvSpPr>
          <p:cNvPr id="22" name="Text 454"/>
          <p:cNvSpPr txBox="1"/>
          <p:nvPr/>
        </p:nvSpPr>
        <p:spPr>
          <a:xfrm>
            <a:off x="7589520" y="3941064"/>
            <a:ext cx="3931920" cy="384048"/>
          </a:xfrm>
          <a:prstGeom prst="rect">
            <a:avLst/>
          </a:prstGeom>
          <a:noFill/>
        </p:spPr>
        <p:txBody>
          <a:bodyPr wrap="square" lIns="0" tIns="0" rIns="0" bIns="0" rtlCol="0" anchor="t"/>
          <a:lstStyle/>
          <a:p>
            <a:pPr marL="0" indent="0">
              <a:buNone/>
            </a:pPr>
            <a:r>
              <a:rPr lang="en-US" sz="1300" i="1" dirty="0">
                <a:solidFill>
                  <a:schemeClr val="accent6"/>
                </a:solidFill>
              </a:rPr>
              <a:t>How do programs compare in library usage?</a:t>
            </a:r>
            <a:endParaRPr lang="en-US" sz="1300" dirty="0"/>
          </a:p>
        </p:txBody>
      </p:sp>
      <p:sp>
        <p:nvSpPr>
          <p:cNvPr id="23" name="Shape 455"/>
          <p:cNvSpPr/>
          <p:nvPr/>
        </p:nvSpPr>
        <p:spPr>
          <a:xfrm>
            <a:off x="6812280" y="4471416"/>
            <a:ext cx="4828032" cy="896112"/>
          </a:xfrm>
          <a:prstGeom prst="roundRect">
            <a:avLst>
              <a:gd name="adj" fmla="val 10204"/>
            </a:avLst>
          </a:prstGeom>
          <a:solidFill>
            <a:schemeClr val="bg2"/>
          </a:solidFill>
        </p:spPr>
      </p:sp>
      <p:sp>
        <p:nvSpPr>
          <p:cNvPr id="24" name="Shape 456"/>
          <p:cNvSpPr/>
          <p:nvPr/>
        </p:nvSpPr>
        <p:spPr>
          <a:xfrm>
            <a:off x="6995160" y="4727448"/>
            <a:ext cx="384048" cy="384048"/>
          </a:xfrm>
          <a:prstGeom prst="ellipse">
            <a:avLst/>
          </a:prstGeom>
          <a:solidFill>
            <a:schemeClr val="tx2"/>
          </a:solidFill>
          <a:ln w="19050">
            <a:solidFill>
              <a:schemeClr val="bg1"/>
            </a:solidFill>
            <a:prstDash val="solid"/>
          </a:ln>
        </p:spPr>
      </p:sp>
      <p:sp>
        <p:nvSpPr>
          <p:cNvPr id="25" name="Text 457"/>
          <p:cNvSpPr txBox="1"/>
          <p:nvPr/>
        </p:nvSpPr>
        <p:spPr>
          <a:xfrm>
            <a:off x="6995160" y="4727448"/>
            <a:ext cx="384048" cy="384048"/>
          </a:xfrm>
          <a:prstGeom prst="rect">
            <a:avLst/>
          </a:prstGeom>
          <a:noFill/>
        </p:spPr>
        <p:txBody>
          <a:bodyPr wrap="square" lIns="0" tIns="0" rIns="0" bIns="0" rtlCol="0" anchor="ctr"/>
          <a:lstStyle/>
          <a:p>
            <a:pPr marL="0" indent="0" algn="ctr">
              <a:buNone/>
            </a:pPr>
            <a:r>
              <a:rPr lang="en-US" sz="1400" b="1" dirty="0">
                <a:solidFill>
                  <a:schemeClr val="bg1"/>
                </a:solidFill>
                <a:latin typeface="+mj-lt"/>
                <a:ea typeface="+mj-lt"/>
                <a:cs typeface="+mj-lt"/>
              </a:rPr>
              <a:t>4</a:t>
            </a:r>
            <a:endParaRPr lang="en-US" sz="1400" dirty="0"/>
          </a:p>
        </p:txBody>
      </p:sp>
      <p:sp>
        <p:nvSpPr>
          <p:cNvPr id="26" name="Text 458"/>
          <p:cNvSpPr txBox="1"/>
          <p:nvPr/>
        </p:nvSpPr>
        <p:spPr>
          <a:xfrm>
            <a:off x="7589520" y="4562856"/>
            <a:ext cx="3931920" cy="329184"/>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Tab 4  Resource Analytics</a:t>
            </a:r>
            <a:endParaRPr lang="en-US" sz="1600" dirty="0"/>
          </a:p>
        </p:txBody>
      </p:sp>
      <p:sp>
        <p:nvSpPr>
          <p:cNvPr id="27" name="Text 459"/>
          <p:cNvSpPr txBox="1"/>
          <p:nvPr/>
        </p:nvSpPr>
        <p:spPr>
          <a:xfrm>
            <a:off x="7589520" y="4928616"/>
            <a:ext cx="3931920" cy="384048"/>
          </a:xfrm>
          <a:prstGeom prst="rect">
            <a:avLst/>
          </a:prstGeom>
          <a:noFill/>
        </p:spPr>
        <p:txBody>
          <a:bodyPr wrap="square" lIns="0" tIns="0" rIns="0" bIns="0" rtlCol="0" anchor="t"/>
          <a:lstStyle/>
          <a:p>
            <a:pPr marL="0" indent="0">
              <a:buNone/>
            </a:pPr>
            <a:r>
              <a:rPr lang="en-US" sz="1300" i="1" dirty="0">
                <a:solidFill>
                  <a:schemeClr val="accent6"/>
                </a:solidFill>
              </a:rPr>
              <a:t>What is the traffic story of one specific book?</a:t>
            </a:r>
            <a:endParaRPr lang="en-US" sz="1300" dirty="0"/>
          </a:p>
        </p:txBody>
      </p:sp>
      <p:sp>
        <p:nvSpPr>
          <p:cNvPr id="28" name="Shape 460"/>
          <p:cNvSpPr/>
          <p:nvPr/>
        </p:nvSpPr>
        <p:spPr>
          <a:xfrm>
            <a:off x="6812280" y="5486400"/>
            <a:ext cx="4828032" cy="777240"/>
          </a:xfrm>
          <a:prstGeom prst="roundRect">
            <a:avLst>
              <a:gd name="adj" fmla="val 11765"/>
            </a:avLst>
          </a:prstGeom>
          <a:solidFill>
            <a:schemeClr val="tx2"/>
          </a:solidFill>
        </p:spPr>
      </p:sp>
      <p:pic>
        <p:nvPicPr>
          <p:cNvPr id="29" name="Icon 461" descr="preencoded.png"/>
          <p:cNvPicPr>
            <a:picLocks noChangeAspect="1"/>
          </p:cNvPicPr>
          <p:nvPr/>
        </p:nvPicPr>
        <p:blipFill>
          <a:blip r:embed="rId4"/>
          <a:stretch>
            <a:fillRect/>
          </a:stretch>
        </p:blipFill>
        <p:spPr>
          <a:xfrm>
            <a:off x="7040880" y="5669280"/>
            <a:ext cx="411480" cy="411480"/>
          </a:xfrm>
          <a:prstGeom prst="rect">
            <a:avLst/>
          </a:prstGeom>
        </p:spPr>
      </p:pic>
      <p:sp>
        <p:nvSpPr>
          <p:cNvPr id="30" name="Text 462"/>
          <p:cNvSpPr txBox="1"/>
          <p:nvPr/>
        </p:nvSpPr>
        <p:spPr>
          <a:xfrm>
            <a:off x="7635240" y="5486400"/>
            <a:ext cx="3886200" cy="777240"/>
          </a:xfrm>
          <a:prstGeom prst="rect">
            <a:avLst/>
          </a:prstGeom>
          <a:noFill/>
        </p:spPr>
        <p:txBody>
          <a:bodyPr wrap="square" lIns="0" tIns="0" rIns="0" bIns="0" rtlCol="0" anchor="ctr"/>
          <a:lstStyle/>
          <a:p>
            <a:pPr marL="0" indent="0">
              <a:buNone/>
            </a:pPr>
            <a:r>
              <a:rPr lang="en-US" sz="1250" dirty="0">
                <a:solidFill>
                  <a:schemeClr val="bg1"/>
                </a:solidFill>
              </a:rPr>
              <a:t>Descriptive analytics with rule-based insights; CSV export and saved snapshots support the budget-defense trail.</a:t>
            </a:r>
            <a:endParaRPr lang="en-US" sz="125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07  |  BUSINESS INTELLIGENCE</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BI Tab 1: Circulation Tracking</a:t>
            </a:r>
            <a:endParaRPr lang="en-US" sz="2800" dirty="0"/>
          </a:p>
        </p:txBody>
      </p:sp>
      <p:sp>
        <p:nvSpPr>
          <p:cNvPr id="5" name="Shape 463"/>
          <p:cNvSpPr/>
          <p:nvPr/>
        </p:nvSpPr>
        <p:spPr>
          <a:xfrm>
            <a:off x="521208" y="1481328"/>
            <a:ext cx="6272784" cy="4218234"/>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6" name="Screenshot 464" descr="Tab 1: Circulation Tracking screenshot"/>
          <p:cNvPicPr>
            <a:picLocks noChangeAspect="1"/>
          </p:cNvPicPr>
          <p:nvPr/>
        </p:nvPicPr>
        <p:blipFill>
          <a:blip r:embed="rId3"/>
          <a:stretch>
            <a:fillRect/>
          </a:stretch>
        </p:blipFill>
        <p:spPr>
          <a:xfrm>
            <a:off x="548640" y="1508760"/>
            <a:ext cx="6217920" cy="4163370"/>
          </a:xfrm>
          <a:prstGeom prst="rect">
            <a:avLst/>
          </a:prstGeom>
        </p:spPr>
      </p:pic>
      <p:sp>
        <p:nvSpPr>
          <p:cNvPr id="7" name="Text 465"/>
          <p:cNvSpPr txBox="1"/>
          <p:nvPr/>
        </p:nvSpPr>
        <p:spPr>
          <a:xfrm>
            <a:off x="548640" y="5781858"/>
            <a:ext cx="6217920" cy="256032"/>
          </a:xfrm>
          <a:prstGeom prst="rect">
            <a:avLst/>
          </a:prstGeom>
          <a:noFill/>
        </p:spPr>
        <p:txBody>
          <a:bodyPr wrap="square" lIns="0" tIns="0" rIns="0" bIns="0" rtlCol="0" anchor="t"/>
          <a:lstStyle/>
          <a:p>
            <a:pPr marL="0" indent="0">
              <a:buNone/>
            </a:pPr>
            <a:r>
              <a:rPr lang="en-US" sz="1200" i="1" dirty="0">
                <a:solidFill>
                  <a:schemeClr val="accent6"/>
                </a:solidFill>
              </a:rPr>
              <a:t>Figure 4. Circulation Tracking tab</a:t>
            </a:r>
            <a:endParaRPr lang="en-US" sz="1200" dirty="0"/>
          </a:p>
        </p:txBody>
      </p:sp>
      <p:sp>
        <p:nvSpPr>
          <p:cNvPr id="8" name="Shape 466"/>
          <p:cNvSpPr/>
          <p:nvPr/>
        </p:nvSpPr>
        <p:spPr>
          <a:xfrm>
            <a:off x="6995160" y="1508760"/>
            <a:ext cx="4645152" cy="1371600"/>
          </a:xfrm>
          <a:prstGeom prst="roundRect">
            <a:avLst>
              <a:gd name="adj" fmla="val 6667"/>
            </a:avLst>
          </a:prstGeom>
          <a:solidFill>
            <a:schemeClr val="bg2"/>
          </a:solidFill>
        </p:spPr>
      </p:sp>
      <p:sp>
        <p:nvSpPr>
          <p:cNvPr id="9" name="Text 467"/>
          <p:cNvSpPr txBox="1"/>
          <p:nvPr/>
        </p:nvSpPr>
        <p:spPr>
          <a:xfrm>
            <a:off x="7269480" y="1664208"/>
            <a:ext cx="3657600" cy="201168"/>
          </a:xfrm>
          <a:prstGeom prst="rect">
            <a:avLst/>
          </a:prstGeom>
          <a:noFill/>
        </p:spPr>
        <p:txBody>
          <a:bodyPr wrap="square" lIns="0" tIns="0" rIns="0" bIns="0" rtlCol="0" anchor="t"/>
          <a:lstStyle/>
          <a:p>
            <a:pPr marL="0" indent="0">
              <a:buNone/>
            </a:pPr>
            <a:r>
              <a:rPr lang="en-US" sz="1100" b="1" kern="0" spc="400" dirty="0">
                <a:solidFill>
                  <a:schemeClr val="accent2"/>
                </a:solidFill>
              </a:rPr>
              <a:t>GUIDING QUESTION</a:t>
            </a:r>
            <a:endParaRPr lang="en-US" sz="1100" dirty="0"/>
          </a:p>
        </p:txBody>
      </p:sp>
      <p:sp>
        <p:nvSpPr>
          <p:cNvPr id="10" name="Text 468"/>
          <p:cNvSpPr txBox="1"/>
          <p:nvPr/>
        </p:nvSpPr>
        <p:spPr>
          <a:xfrm>
            <a:off x="7269480" y="1920240"/>
            <a:ext cx="4096512" cy="868680"/>
          </a:xfrm>
          <a:prstGeom prst="rect">
            <a:avLst/>
          </a:prstGeom>
          <a:noFill/>
        </p:spPr>
        <p:txBody>
          <a:bodyPr wrap="square" lIns="0" tIns="0" rIns="0" bIns="0" rtlCol="0" anchor="t"/>
          <a:lstStyle/>
          <a:p>
            <a:pPr marL="0" indent="0">
              <a:buNone/>
            </a:pPr>
            <a:r>
              <a:rPr lang="en-US" sz="1900" b="1" dirty="0">
                <a:solidFill>
                  <a:schemeClr val="tx2"/>
                </a:solidFill>
                <a:latin typeface="+mj-lt"/>
                <a:ea typeface="+mj-lt"/>
                <a:cs typeface="+mj-lt"/>
              </a:rPr>
              <a:t>Where does every book and copy stand right now?</a:t>
            </a:r>
            <a:endParaRPr lang="en-US" sz="1900" dirty="0"/>
          </a:p>
        </p:txBody>
      </p:sp>
      <p:sp>
        <p:nvSpPr>
          <p:cNvPr id="11" name="Shape 469"/>
          <p:cNvSpPr/>
          <p:nvPr/>
        </p:nvSpPr>
        <p:spPr>
          <a:xfrm>
            <a:off x="6995160" y="3017520"/>
            <a:ext cx="4645152" cy="1874520"/>
          </a:xfrm>
          <a:prstGeom prst="roundRect">
            <a:avLst>
              <a:gd name="adj" fmla="val 4878"/>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sp>
        <p:nvSpPr>
          <p:cNvPr id="12" name="Shape 470"/>
          <p:cNvSpPr/>
          <p:nvPr/>
        </p:nvSpPr>
        <p:spPr>
          <a:xfrm>
            <a:off x="7269480" y="3218688"/>
            <a:ext cx="274320" cy="274320"/>
          </a:xfrm>
          <a:prstGeom prst="ellipse">
            <a:avLst/>
          </a:prstGeom>
          <a:solidFill>
            <a:schemeClr val="accent3"/>
          </a:solidFill>
        </p:spPr>
      </p:sp>
      <p:pic>
        <p:nvPicPr>
          <p:cNvPr id="13" name="Icon 471" descr="preencoded.png"/>
          <p:cNvPicPr>
            <a:picLocks noChangeAspect="1"/>
          </p:cNvPicPr>
          <p:nvPr/>
        </p:nvPicPr>
        <p:blipFill>
          <a:blip r:embed="rId4"/>
          <a:stretch>
            <a:fillRect/>
          </a:stretch>
        </p:blipFill>
        <p:spPr>
          <a:xfrm>
            <a:off x="7338060" y="3287268"/>
            <a:ext cx="137160" cy="137160"/>
          </a:xfrm>
          <a:prstGeom prst="rect">
            <a:avLst/>
          </a:prstGeom>
        </p:spPr>
      </p:pic>
      <p:sp>
        <p:nvSpPr>
          <p:cNvPr id="14" name="Text 472"/>
          <p:cNvSpPr txBox="1"/>
          <p:nvPr/>
        </p:nvSpPr>
        <p:spPr>
          <a:xfrm>
            <a:off x="7680960" y="3200400"/>
            <a:ext cx="3730752" cy="254889"/>
          </a:xfrm>
          <a:prstGeom prst="rect">
            <a:avLst/>
          </a:prstGeom>
          <a:noFill/>
        </p:spPr>
        <p:txBody>
          <a:bodyPr wrap="square" lIns="0" tIns="0" rIns="0" bIns="0" rtlCol="0" anchor="t"/>
          <a:lstStyle/>
          <a:p>
            <a:pPr marL="0" indent="0">
              <a:buNone/>
            </a:pPr>
            <a:r>
              <a:rPr lang="en-US" sz="1350" dirty="0">
                <a:solidFill>
                  <a:schemeClr val="tx1"/>
                </a:solidFill>
              </a:rPr>
              <a:t>KPI cards on current stock and activity.</a:t>
            </a:r>
            <a:endParaRPr lang="en-US" sz="1350" dirty="0"/>
          </a:p>
        </p:txBody>
      </p:sp>
      <p:sp>
        <p:nvSpPr>
          <p:cNvPr id="15" name="Shape 473"/>
          <p:cNvSpPr/>
          <p:nvPr/>
        </p:nvSpPr>
        <p:spPr>
          <a:xfrm>
            <a:off x="7269480" y="3657600"/>
            <a:ext cx="274320" cy="274320"/>
          </a:xfrm>
          <a:prstGeom prst="ellipse">
            <a:avLst/>
          </a:prstGeom>
          <a:solidFill>
            <a:schemeClr val="accent3"/>
          </a:solidFill>
        </p:spPr>
      </p:sp>
      <p:pic>
        <p:nvPicPr>
          <p:cNvPr id="16" name="Icon 474" descr="preencoded.png"/>
          <p:cNvPicPr>
            <a:picLocks noChangeAspect="1"/>
          </p:cNvPicPr>
          <p:nvPr/>
        </p:nvPicPr>
        <p:blipFill>
          <a:blip r:embed="rId4"/>
          <a:stretch>
            <a:fillRect/>
          </a:stretch>
        </p:blipFill>
        <p:spPr>
          <a:xfrm>
            <a:off x="7338060" y="3726180"/>
            <a:ext cx="137160" cy="137160"/>
          </a:xfrm>
          <a:prstGeom prst="rect">
            <a:avLst/>
          </a:prstGeom>
        </p:spPr>
      </p:pic>
      <p:sp>
        <p:nvSpPr>
          <p:cNvPr id="17" name="Text 475"/>
          <p:cNvSpPr txBox="1"/>
          <p:nvPr/>
        </p:nvSpPr>
        <p:spPr>
          <a:xfrm>
            <a:off x="7680960" y="3639312"/>
            <a:ext cx="3730752" cy="254889"/>
          </a:xfrm>
          <a:prstGeom prst="rect">
            <a:avLst/>
          </a:prstGeom>
          <a:noFill/>
        </p:spPr>
        <p:txBody>
          <a:bodyPr wrap="square" lIns="0" tIns="0" rIns="0" bIns="0" rtlCol="0" anchor="t"/>
          <a:lstStyle/>
          <a:p>
            <a:pPr marL="0" indent="0">
              <a:buNone/>
            </a:pPr>
            <a:r>
              <a:rPr lang="en-US" sz="1350" dirty="0">
                <a:solidFill>
                  <a:schemeClr val="tx1"/>
                </a:solidFill>
              </a:rPr>
              <a:t>Donut charts by category and by status.</a:t>
            </a:r>
            <a:endParaRPr lang="en-US" sz="1350" dirty="0"/>
          </a:p>
        </p:txBody>
      </p:sp>
      <p:sp>
        <p:nvSpPr>
          <p:cNvPr id="18" name="Shape 476"/>
          <p:cNvSpPr/>
          <p:nvPr/>
        </p:nvSpPr>
        <p:spPr>
          <a:xfrm>
            <a:off x="7269480" y="4096512"/>
            <a:ext cx="274320" cy="274320"/>
          </a:xfrm>
          <a:prstGeom prst="ellipse">
            <a:avLst/>
          </a:prstGeom>
          <a:solidFill>
            <a:schemeClr val="accent3"/>
          </a:solidFill>
        </p:spPr>
      </p:sp>
      <p:pic>
        <p:nvPicPr>
          <p:cNvPr id="19" name="Icon 477" descr="preencoded.png"/>
          <p:cNvPicPr>
            <a:picLocks noChangeAspect="1"/>
          </p:cNvPicPr>
          <p:nvPr/>
        </p:nvPicPr>
        <p:blipFill>
          <a:blip r:embed="rId4"/>
          <a:stretch>
            <a:fillRect/>
          </a:stretch>
        </p:blipFill>
        <p:spPr>
          <a:xfrm>
            <a:off x="7338060" y="4165092"/>
            <a:ext cx="137160" cy="137160"/>
          </a:xfrm>
          <a:prstGeom prst="rect">
            <a:avLst/>
          </a:prstGeom>
        </p:spPr>
      </p:pic>
      <p:sp>
        <p:nvSpPr>
          <p:cNvPr id="20" name="Text 478"/>
          <p:cNvSpPr txBox="1"/>
          <p:nvPr/>
        </p:nvSpPr>
        <p:spPr>
          <a:xfrm>
            <a:off x="7680960" y="4078224"/>
            <a:ext cx="3730752" cy="254889"/>
          </a:xfrm>
          <a:prstGeom prst="rect">
            <a:avLst/>
          </a:prstGeom>
          <a:noFill/>
        </p:spPr>
        <p:txBody>
          <a:bodyPr wrap="square" lIns="0" tIns="0" rIns="0" bIns="0" rtlCol="0" anchor="t"/>
          <a:lstStyle/>
          <a:p>
            <a:pPr marL="0" indent="0">
              <a:buNone/>
            </a:pPr>
            <a:r>
              <a:rPr lang="en-US" sz="1350" dirty="0">
                <a:solidFill>
                  <a:schemeClr val="tx1"/>
                </a:solidFill>
              </a:rPr>
              <a:t>Live table of recent copy movements.</a:t>
            </a:r>
            <a:endParaRPr lang="en-US" sz="1350" dirty="0"/>
          </a:p>
        </p:txBody>
      </p:sp>
      <p:sp>
        <p:nvSpPr>
          <p:cNvPr id="21" name="Shape 479"/>
          <p:cNvSpPr/>
          <p:nvPr/>
        </p:nvSpPr>
        <p:spPr>
          <a:xfrm>
            <a:off x="6995160" y="5029200"/>
            <a:ext cx="4645152" cy="1234440"/>
          </a:xfrm>
          <a:prstGeom prst="roundRect">
            <a:avLst>
              <a:gd name="adj" fmla="val 7407"/>
            </a:avLst>
          </a:prstGeom>
          <a:solidFill>
            <a:schemeClr val="tx2"/>
          </a:solidFill>
        </p:spPr>
      </p:sp>
      <p:sp>
        <p:nvSpPr>
          <p:cNvPr id="22" name="Text 480"/>
          <p:cNvSpPr txBox="1"/>
          <p:nvPr/>
        </p:nvSpPr>
        <p:spPr>
          <a:xfrm>
            <a:off x="7269480" y="5193792"/>
            <a:ext cx="3657600" cy="201168"/>
          </a:xfrm>
          <a:prstGeom prst="rect">
            <a:avLst/>
          </a:prstGeom>
          <a:noFill/>
        </p:spPr>
        <p:txBody>
          <a:bodyPr wrap="square" lIns="0" tIns="0" rIns="0" bIns="0" rtlCol="0" anchor="t"/>
          <a:lstStyle/>
          <a:p>
            <a:pPr marL="0" indent="0">
              <a:buNone/>
            </a:pPr>
            <a:r>
              <a:rPr lang="en-US" sz="1100" b="1" kern="0" spc="400" dirty="0">
                <a:solidFill>
                  <a:schemeClr val="accent2"/>
                </a:solidFill>
              </a:rPr>
              <a:t>DECISION SUPPORTED</a:t>
            </a:r>
            <a:endParaRPr lang="en-US" sz="1100" dirty="0"/>
          </a:p>
        </p:txBody>
      </p:sp>
      <p:sp>
        <p:nvSpPr>
          <p:cNvPr id="23" name="Text 481"/>
          <p:cNvSpPr txBox="1"/>
          <p:nvPr/>
        </p:nvSpPr>
        <p:spPr>
          <a:xfrm>
            <a:off x="7269480" y="5468112"/>
            <a:ext cx="4096512" cy="731520"/>
          </a:xfrm>
          <a:prstGeom prst="rect">
            <a:avLst/>
          </a:prstGeom>
          <a:noFill/>
        </p:spPr>
        <p:txBody>
          <a:bodyPr wrap="square" lIns="0" tIns="0" rIns="0" bIns="0" rtlCol="0" anchor="t"/>
          <a:lstStyle/>
          <a:p>
            <a:pPr marL="0" indent="0">
              <a:buNone/>
            </a:pPr>
            <a:r>
              <a:rPr lang="en-US" sz="1550" b="1" dirty="0">
                <a:solidFill>
                  <a:schemeClr val="bg1"/>
                </a:solidFill>
                <a:latin typeface="+mj-lt"/>
                <a:ea typeface="+mj-lt"/>
                <a:cs typeface="+mj-lt"/>
              </a:rPr>
              <a:t>Daily situational view; replaces manual inventory tallies.</a:t>
            </a:r>
            <a:endParaRPr lang="en-US" sz="1550" dirty="0"/>
          </a:p>
        </p:txBody>
      </p:sp>
      <p:sp>
        <p:nvSpPr>
          <p:cNvPr id="25"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07  |  BUSINESS INTELLIGENCE</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BI Tab 2: Library Analytics</a:t>
            </a:r>
            <a:endParaRPr lang="en-US" sz="2800" dirty="0"/>
          </a:p>
        </p:txBody>
      </p:sp>
      <p:sp>
        <p:nvSpPr>
          <p:cNvPr id="5" name="Shape 482"/>
          <p:cNvSpPr/>
          <p:nvPr/>
        </p:nvSpPr>
        <p:spPr>
          <a:xfrm>
            <a:off x="521208" y="1481328"/>
            <a:ext cx="6272784" cy="4287684"/>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6" name="Screenshot 483" descr="Tab 2: Library Analytics screenshot"/>
          <p:cNvPicPr>
            <a:picLocks noChangeAspect="1"/>
          </p:cNvPicPr>
          <p:nvPr/>
        </p:nvPicPr>
        <p:blipFill>
          <a:blip r:embed="rId3"/>
          <a:stretch>
            <a:fillRect/>
          </a:stretch>
        </p:blipFill>
        <p:spPr>
          <a:xfrm>
            <a:off x="548640" y="1508760"/>
            <a:ext cx="6217920" cy="4232820"/>
          </a:xfrm>
          <a:prstGeom prst="rect">
            <a:avLst/>
          </a:prstGeom>
        </p:spPr>
      </p:pic>
      <p:sp>
        <p:nvSpPr>
          <p:cNvPr id="7" name="Text 484"/>
          <p:cNvSpPr txBox="1"/>
          <p:nvPr/>
        </p:nvSpPr>
        <p:spPr>
          <a:xfrm>
            <a:off x="548640" y="5851308"/>
            <a:ext cx="6217920" cy="256032"/>
          </a:xfrm>
          <a:prstGeom prst="rect">
            <a:avLst/>
          </a:prstGeom>
          <a:noFill/>
        </p:spPr>
        <p:txBody>
          <a:bodyPr wrap="square" lIns="0" tIns="0" rIns="0" bIns="0" rtlCol="0" anchor="t"/>
          <a:lstStyle/>
          <a:p>
            <a:pPr marL="0" indent="0">
              <a:buNone/>
            </a:pPr>
            <a:r>
              <a:rPr lang="en-US" sz="1200" i="1" dirty="0">
                <a:solidFill>
                  <a:schemeClr val="accent6"/>
                </a:solidFill>
              </a:rPr>
              <a:t>Figure 5. Library Analytics tab</a:t>
            </a:r>
            <a:endParaRPr lang="en-US" sz="1200" dirty="0"/>
          </a:p>
        </p:txBody>
      </p:sp>
      <p:sp>
        <p:nvSpPr>
          <p:cNvPr id="8" name="Shape 485"/>
          <p:cNvSpPr/>
          <p:nvPr/>
        </p:nvSpPr>
        <p:spPr>
          <a:xfrm>
            <a:off x="6995160" y="1508760"/>
            <a:ext cx="4645152" cy="1371600"/>
          </a:xfrm>
          <a:prstGeom prst="roundRect">
            <a:avLst>
              <a:gd name="adj" fmla="val 6667"/>
            </a:avLst>
          </a:prstGeom>
          <a:solidFill>
            <a:schemeClr val="bg2"/>
          </a:solidFill>
        </p:spPr>
      </p:sp>
      <p:sp>
        <p:nvSpPr>
          <p:cNvPr id="9" name="Text 486"/>
          <p:cNvSpPr txBox="1"/>
          <p:nvPr/>
        </p:nvSpPr>
        <p:spPr>
          <a:xfrm>
            <a:off x="7269480" y="1664208"/>
            <a:ext cx="3657600" cy="201168"/>
          </a:xfrm>
          <a:prstGeom prst="rect">
            <a:avLst/>
          </a:prstGeom>
          <a:noFill/>
        </p:spPr>
        <p:txBody>
          <a:bodyPr wrap="square" lIns="0" tIns="0" rIns="0" bIns="0" rtlCol="0" anchor="t"/>
          <a:lstStyle/>
          <a:p>
            <a:pPr marL="0" indent="0">
              <a:buNone/>
            </a:pPr>
            <a:r>
              <a:rPr lang="en-US" sz="1100" b="1" kern="0" spc="400" dirty="0">
                <a:solidFill>
                  <a:schemeClr val="accent2"/>
                </a:solidFill>
              </a:rPr>
              <a:t>GUIDING QUESTION</a:t>
            </a:r>
            <a:endParaRPr lang="en-US" sz="1100" dirty="0"/>
          </a:p>
        </p:txBody>
      </p:sp>
      <p:sp>
        <p:nvSpPr>
          <p:cNvPr id="10" name="Text 487"/>
          <p:cNvSpPr txBox="1"/>
          <p:nvPr/>
        </p:nvSpPr>
        <p:spPr>
          <a:xfrm>
            <a:off x="7269480" y="1920240"/>
            <a:ext cx="4096512" cy="868680"/>
          </a:xfrm>
          <a:prstGeom prst="rect">
            <a:avLst/>
          </a:prstGeom>
          <a:noFill/>
        </p:spPr>
        <p:txBody>
          <a:bodyPr wrap="square" lIns="0" tIns="0" rIns="0" bIns="0" rtlCol="0" anchor="t"/>
          <a:lstStyle/>
          <a:p>
            <a:pPr marL="0" indent="0">
              <a:buNone/>
            </a:pPr>
            <a:r>
              <a:rPr lang="en-US" sz="1900" b="1" dirty="0">
                <a:solidFill>
                  <a:schemeClr val="tx2"/>
                </a:solidFill>
                <a:latin typeface="+mj-lt"/>
                <a:ea typeface="+mj-lt"/>
                <a:cs typeface="+mj-lt"/>
              </a:rPr>
              <a:t>What patterns are happening, and what may happen next?</a:t>
            </a:r>
            <a:endParaRPr lang="en-US" sz="1900" dirty="0"/>
          </a:p>
        </p:txBody>
      </p:sp>
      <p:sp>
        <p:nvSpPr>
          <p:cNvPr id="11" name="Shape 488"/>
          <p:cNvSpPr/>
          <p:nvPr/>
        </p:nvSpPr>
        <p:spPr>
          <a:xfrm>
            <a:off x="6995160" y="3017520"/>
            <a:ext cx="4645152" cy="1874520"/>
          </a:xfrm>
          <a:prstGeom prst="roundRect">
            <a:avLst>
              <a:gd name="adj" fmla="val 4878"/>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sp>
        <p:nvSpPr>
          <p:cNvPr id="12" name="Shape 489"/>
          <p:cNvSpPr/>
          <p:nvPr/>
        </p:nvSpPr>
        <p:spPr>
          <a:xfrm>
            <a:off x="7269480" y="3218688"/>
            <a:ext cx="274320" cy="274320"/>
          </a:xfrm>
          <a:prstGeom prst="ellipse">
            <a:avLst/>
          </a:prstGeom>
          <a:solidFill>
            <a:schemeClr val="accent3"/>
          </a:solidFill>
        </p:spPr>
      </p:sp>
      <p:pic>
        <p:nvPicPr>
          <p:cNvPr id="13" name="Icon 490" descr="preencoded.png"/>
          <p:cNvPicPr>
            <a:picLocks noChangeAspect="1"/>
          </p:cNvPicPr>
          <p:nvPr/>
        </p:nvPicPr>
        <p:blipFill>
          <a:blip r:embed="rId4"/>
          <a:stretch>
            <a:fillRect/>
          </a:stretch>
        </p:blipFill>
        <p:spPr>
          <a:xfrm>
            <a:off x="7338060" y="3287268"/>
            <a:ext cx="137160" cy="137160"/>
          </a:xfrm>
          <a:prstGeom prst="rect">
            <a:avLst/>
          </a:prstGeom>
        </p:spPr>
      </p:pic>
      <p:sp>
        <p:nvSpPr>
          <p:cNvPr id="14" name="Text 491"/>
          <p:cNvSpPr txBox="1"/>
          <p:nvPr/>
        </p:nvSpPr>
        <p:spPr>
          <a:xfrm>
            <a:off x="7680960" y="3200400"/>
            <a:ext cx="3730752" cy="464058"/>
          </a:xfrm>
          <a:prstGeom prst="rect">
            <a:avLst/>
          </a:prstGeom>
          <a:noFill/>
        </p:spPr>
        <p:txBody>
          <a:bodyPr wrap="square" lIns="0" tIns="0" rIns="0" bIns="0" rtlCol="0" anchor="t"/>
          <a:lstStyle/>
          <a:p>
            <a:pPr marL="0" indent="0">
              <a:buNone/>
            </a:pPr>
            <a:r>
              <a:rPr lang="en-US" sz="1350" dirty="0">
                <a:solidFill>
                  <a:schemeClr val="tx1"/>
                </a:solidFill>
              </a:rPr>
              <a:t>Borrowing trend with a 30-day moving-average forecast.</a:t>
            </a:r>
            <a:endParaRPr lang="en-US" sz="1350" dirty="0"/>
          </a:p>
        </p:txBody>
      </p:sp>
      <p:sp>
        <p:nvSpPr>
          <p:cNvPr id="15" name="Shape 492"/>
          <p:cNvSpPr/>
          <p:nvPr/>
        </p:nvSpPr>
        <p:spPr>
          <a:xfrm>
            <a:off x="7269480" y="3765042"/>
            <a:ext cx="274320" cy="274320"/>
          </a:xfrm>
          <a:prstGeom prst="ellipse">
            <a:avLst/>
          </a:prstGeom>
          <a:solidFill>
            <a:schemeClr val="accent3"/>
          </a:solidFill>
        </p:spPr>
      </p:sp>
      <p:pic>
        <p:nvPicPr>
          <p:cNvPr id="16" name="Icon 493" descr="preencoded.png"/>
          <p:cNvPicPr>
            <a:picLocks noChangeAspect="1"/>
          </p:cNvPicPr>
          <p:nvPr/>
        </p:nvPicPr>
        <p:blipFill>
          <a:blip r:embed="rId4"/>
          <a:stretch>
            <a:fillRect/>
          </a:stretch>
        </p:blipFill>
        <p:spPr>
          <a:xfrm>
            <a:off x="7338060" y="3833622"/>
            <a:ext cx="137160" cy="137160"/>
          </a:xfrm>
          <a:prstGeom prst="rect">
            <a:avLst/>
          </a:prstGeom>
        </p:spPr>
      </p:pic>
      <p:sp>
        <p:nvSpPr>
          <p:cNvPr id="17" name="Text 494"/>
          <p:cNvSpPr txBox="1"/>
          <p:nvPr/>
        </p:nvSpPr>
        <p:spPr>
          <a:xfrm>
            <a:off x="7680960" y="3746754"/>
            <a:ext cx="3730752" cy="464058"/>
          </a:xfrm>
          <a:prstGeom prst="rect">
            <a:avLst/>
          </a:prstGeom>
          <a:noFill/>
        </p:spPr>
        <p:txBody>
          <a:bodyPr wrap="square" lIns="0" tIns="0" rIns="0" bIns="0" rtlCol="0" anchor="t"/>
          <a:lstStyle/>
          <a:p>
            <a:pPr marL="0" indent="0">
              <a:buNone/>
            </a:pPr>
            <a:r>
              <a:rPr lang="en-US" sz="1350" dirty="0">
                <a:solidFill>
                  <a:schemeClr val="tx1"/>
                </a:solidFill>
              </a:rPr>
              <a:t>Top titles, categories, fines, and requests.</a:t>
            </a:r>
            <a:endParaRPr lang="en-US" sz="1350" dirty="0"/>
          </a:p>
        </p:txBody>
      </p:sp>
      <p:sp>
        <p:nvSpPr>
          <p:cNvPr id="18" name="Shape 495"/>
          <p:cNvSpPr/>
          <p:nvPr/>
        </p:nvSpPr>
        <p:spPr>
          <a:xfrm>
            <a:off x="7269480" y="4311396"/>
            <a:ext cx="274320" cy="274320"/>
          </a:xfrm>
          <a:prstGeom prst="ellipse">
            <a:avLst/>
          </a:prstGeom>
          <a:solidFill>
            <a:schemeClr val="accent3"/>
          </a:solidFill>
        </p:spPr>
      </p:sp>
      <p:pic>
        <p:nvPicPr>
          <p:cNvPr id="19" name="Icon 496" descr="preencoded.png"/>
          <p:cNvPicPr>
            <a:picLocks noChangeAspect="1"/>
          </p:cNvPicPr>
          <p:nvPr/>
        </p:nvPicPr>
        <p:blipFill>
          <a:blip r:embed="rId4"/>
          <a:stretch>
            <a:fillRect/>
          </a:stretch>
        </p:blipFill>
        <p:spPr>
          <a:xfrm>
            <a:off x="7338060" y="4379976"/>
            <a:ext cx="137160" cy="137160"/>
          </a:xfrm>
          <a:prstGeom prst="rect">
            <a:avLst/>
          </a:prstGeom>
        </p:spPr>
      </p:pic>
      <p:sp>
        <p:nvSpPr>
          <p:cNvPr id="20" name="Text 497"/>
          <p:cNvSpPr txBox="1"/>
          <p:nvPr/>
        </p:nvSpPr>
        <p:spPr>
          <a:xfrm>
            <a:off x="7680960" y="4293108"/>
            <a:ext cx="3730752" cy="464058"/>
          </a:xfrm>
          <a:prstGeom prst="rect">
            <a:avLst/>
          </a:prstGeom>
          <a:noFill/>
        </p:spPr>
        <p:txBody>
          <a:bodyPr wrap="square" lIns="0" tIns="0" rIns="0" bIns="0" rtlCol="0" anchor="t"/>
          <a:lstStyle/>
          <a:p>
            <a:pPr marL="0" indent="0">
              <a:buNone/>
            </a:pPr>
            <a:r>
              <a:rPr lang="en-US" sz="1350" dirty="0">
                <a:solidFill>
                  <a:schemeClr val="tx1"/>
                </a:solidFill>
              </a:rPr>
              <a:t>Per-program breakdowns; rule-based insights flag demand spikes.</a:t>
            </a:r>
            <a:endParaRPr lang="en-US" sz="1350" dirty="0"/>
          </a:p>
        </p:txBody>
      </p:sp>
      <p:sp>
        <p:nvSpPr>
          <p:cNvPr id="21" name="Shape 498"/>
          <p:cNvSpPr/>
          <p:nvPr/>
        </p:nvSpPr>
        <p:spPr>
          <a:xfrm>
            <a:off x="6995160" y="5029200"/>
            <a:ext cx="4645152" cy="1234440"/>
          </a:xfrm>
          <a:prstGeom prst="roundRect">
            <a:avLst>
              <a:gd name="adj" fmla="val 7407"/>
            </a:avLst>
          </a:prstGeom>
          <a:solidFill>
            <a:schemeClr val="tx2"/>
          </a:solidFill>
        </p:spPr>
      </p:sp>
      <p:sp>
        <p:nvSpPr>
          <p:cNvPr id="22" name="Text 499"/>
          <p:cNvSpPr txBox="1"/>
          <p:nvPr/>
        </p:nvSpPr>
        <p:spPr>
          <a:xfrm>
            <a:off x="7269480" y="5193792"/>
            <a:ext cx="3657600" cy="201168"/>
          </a:xfrm>
          <a:prstGeom prst="rect">
            <a:avLst/>
          </a:prstGeom>
          <a:noFill/>
        </p:spPr>
        <p:txBody>
          <a:bodyPr wrap="square" lIns="0" tIns="0" rIns="0" bIns="0" rtlCol="0" anchor="t"/>
          <a:lstStyle/>
          <a:p>
            <a:pPr marL="0" indent="0">
              <a:buNone/>
            </a:pPr>
            <a:r>
              <a:rPr lang="en-US" sz="1100" b="1" kern="0" spc="400" dirty="0">
                <a:solidFill>
                  <a:schemeClr val="accent2"/>
                </a:solidFill>
              </a:rPr>
              <a:t>DECISION SUPPORTED</a:t>
            </a:r>
            <a:endParaRPr lang="en-US" sz="1100" dirty="0"/>
          </a:p>
        </p:txBody>
      </p:sp>
      <p:sp>
        <p:nvSpPr>
          <p:cNvPr id="23" name="Text 500"/>
          <p:cNvSpPr txBox="1"/>
          <p:nvPr/>
        </p:nvSpPr>
        <p:spPr>
          <a:xfrm>
            <a:off x="7269480" y="5468112"/>
            <a:ext cx="4096512" cy="731520"/>
          </a:xfrm>
          <a:prstGeom prst="rect">
            <a:avLst/>
          </a:prstGeom>
          <a:noFill/>
        </p:spPr>
        <p:txBody>
          <a:bodyPr wrap="square" lIns="0" tIns="0" rIns="0" bIns="0" rtlCol="0" anchor="t"/>
          <a:lstStyle/>
          <a:p>
            <a:pPr marL="0" indent="0">
              <a:buNone/>
            </a:pPr>
            <a:r>
              <a:rPr lang="en-US" sz="1550" b="1" dirty="0">
                <a:solidFill>
                  <a:schemeClr val="bg1"/>
                </a:solidFill>
                <a:latin typeface="+mj-lt"/>
                <a:ea typeface="+mj-lt"/>
                <a:cs typeface="+mj-lt"/>
              </a:rPr>
              <a:t>Early demand signals; final decisions remain with the librarian.</a:t>
            </a:r>
            <a:endParaRPr lang="en-US" sz="1550" dirty="0"/>
          </a:p>
        </p:txBody>
      </p:sp>
      <p:sp>
        <p:nvSpPr>
          <p:cNvPr id="25"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07  |  BUSINESS INTELLIGENCE</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BI Tab 3: Department Analytics</a:t>
            </a:r>
            <a:endParaRPr lang="en-US" sz="2800" dirty="0"/>
          </a:p>
        </p:txBody>
      </p:sp>
      <p:sp>
        <p:nvSpPr>
          <p:cNvPr id="5" name="Shape 501"/>
          <p:cNvSpPr/>
          <p:nvPr/>
        </p:nvSpPr>
        <p:spPr>
          <a:xfrm>
            <a:off x="521208" y="1481328"/>
            <a:ext cx="6272784" cy="4455130"/>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6" name="Screenshot 502" descr="Tab 3: Department Analytics screenshot"/>
          <p:cNvPicPr>
            <a:picLocks noChangeAspect="1"/>
          </p:cNvPicPr>
          <p:nvPr/>
        </p:nvPicPr>
        <p:blipFill>
          <a:blip r:embed="rId3"/>
          <a:stretch>
            <a:fillRect/>
          </a:stretch>
        </p:blipFill>
        <p:spPr>
          <a:xfrm>
            <a:off x="548640" y="1508760"/>
            <a:ext cx="6217920" cy="4400266"/>
          </a:xfrm>
          <a:prstGeom prst="rect">
            <a:avLst/>
          </a:prstGeom>
        </p:spPr>
      </p:pic>
      <p:sp>
        <p:nvSpPr>
          <p:cNvPr id="7" name="Text 503"/>
          <p:cNvSpPr txBox="1"/>
          <p:nvPr/>
        </p:nvSpPr>
        <p:spPr>
          <a:xfrm>
            <a:off x="548640" y="6018754"/>
            <a:ext cx="6217920" cy="256032"/>
          </a:xfrm>
          <a:prstGeom prst="rect">
            <a:avLst/>
          </a:prstGeom>
          <a:noFill/>
        </p:spPr>
        <p:txBody>
          <a:bodyPr wrap="square" lIns="0" tIns="0" rIns="0" bIns="0" rtlCol="0" anchor="t"/>
          <a:lstStyle/>
          <a:p>
            <a:pPr marL="0" indent="0">
              <a:buNone/>
            </a:pPr>
            <a:r>
              <a:rPr lang="en-US" sz="1200" i="1" dirty="0">
                <a:solidFill>
                  <a:schemeClr val="accent6"/>
                </a:solidFill>
              </a:rPr>
              <a:t>Figure 6. Department Analytics tab</a:t>
            </a:r>
            <a:endParaRPr lang="en-US" sz="1200" dirty="0"/>
          </a:p>
        </p:txBody>
      </p:sp>
      <p:sp>
        <p:nvSpPr>
          <p:cNvPr id="8" name="Shape 504"/>
          <p:cNvSpPr/>
          <p:nvPr/>
        </p:nvSpPr>
        <p:spPr>
          <a:xfrm>
            <a:off x="6995160" y="1508760"/>
            <a:ext cx="4645152" cy="1371600"/>
          </a:xfrm>
          <a:prstGeom prst="roundRect">
            <a:avLst>
              <a:gd name="adj" fmla="val 6667"/>
            </a:avLst>
          </a:prstGeom>
          <a:solidFill>
            <a:schemeClr val="bg2"/>
          </a:solidFill>
        </p:spPr>
      </p:sp>
      <p:sp>
        <p:nvSpPr>
          <p:cNvPr id="9" name="Text 505"/>
          <p:cNvSpPr txBox="1"/>
          <p:nvPr/>
        </p:nvSpPr>
        <p:spPr>
          <a:xfrm>
            <a:off x="7269480" y="1664208"/>
            <a:ext cx="3657600" cy="201168"/>
          </a:xfrm>
          <a:prstGeom prst="rect">
            <a:avLst/>
          </a:prstGeom>
          <a:noFill/>
        </p:spPr>
        <p:txBody>
          <a:bodyPr wrap="square" lIns="0" tIns="0" rIns="0" bIns="0" rtlCol="0" anchor="t"/>
          <a:lstStyle/>
          <a:p>
            <a:pPr marL="0" indent="0">
              <a:buNone/>
            </a:pPr>
            <a:r>
              <a:rPr lang="en-US" sz="1100" b="1" kern="0" spc="400" dirty="0">
                <a:solidFill>
                  <a:schemeClr val="accent2"/>
                </a:solidFill>
              </a:rPr>
              <a:t>GUIDING QUESTION</a:t>
            </a:r>
            <a:endParaRPr lang="en-US" sz="1100" dirty="0"/>
          </a:p>
        </p:txBody>
      </p:sp>
      <p:sp>
        <p:nvSpPr>
          <p:cNvPr id="10" name="Text 506"/>
          <p:cNvSpPr txBox="1"/>
          <p:nvPr/>
        </p:nvSpPr>
        <p:spPr>
          <a:xfrm>
            <a:off x="7269480" y="1920240"/>
            <a:ext cx="4096512" cy="868680"/>
          </a:xfrm>
          <a:prstGeom prst="rect">
            <a:avLst/>
          </a:prstGeom>
          <a:noFill/>
        </p:spPr>
        <p:txBody>
          <a:bodyPr wrap="square" lIns="0" tIns="0" rIns="0" bIns="0" rtlCol="0" anchor="t"/>
          <a:lstStyle/>
          <a:p>
            <a:pPr marL="0" indent="0">
              <a:buNone/>
            </a:pPr>
            <a:r>
              <a:rPr lang="en-US" sz="1900" b="1" dirty="0">
                <a:solidFill>
                  <a:schemeClr val="tx2"/>
                </a:solidFill>
                <a:latin typeface="+mj-lt"/>
                <a:ea typeface="+mj-lt"/>
                <a:cs typeface="+mj-lt"/>
              </a:rPr>
              <a:t>How do programs compare in library usage?</a:t>
            </a:r>
            <a:endParaRPr lang="en-US" sz="1900" dirty="0"/>
          </a:p>
        </p:txBody>
      </p:sp>
      <p:sp>
        <p:nvSpPr>
          <p:cNvPr id="11" name="Shape 507"/>
          <p:cNvSpPr/>
          <p:nvPr/>
        </p:nvSpPr>
        <p:spPr>
          <a:xfrm>
            <a:off x="6995160" y="3017520"/>
            <a:ext cx="4645152" cy="1874520"/>
          </a:xfrm>
          <a:prstGeom prst="roundRect">
            <a:avLst>
              <a:gd name="adj" fmla="val 4878"/>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sp>
        <p:nvSpPr>
          <p:cNvPr id="12" name="Shape 508"/>
          <p:cNvSpPr/>
          <p:nvPr/>
        </p:nvSpPr>
        <p:spPr>
          <a:xfrm>
            <a:off x="7269480" y="3218688"/>
            <a:ext cx="274320" cy="274320"/>
          </a:xfrm>
          <a:prstGeom prst="ellipse">
            <a:avLst/>
          </a:prstGeom>
          <a:solidFill>
            <a:schemeClr val="accent3"/>
          </a:solidFill>
        </p:spPr>
      </p:sp>
      <p:pic>
        <p:nvPicPr>
          <p:cNvPr id="13" name="Icon 509" descr="preencoded.png"/>
          <p:cNvPicPr>
            <a:picLocks noChangeAspect="1"/>
          </p:cNvPicPr>
          <p:nvPr/>
        </p:nvPicPr>
        <p:blipFill>
          <a:blip r:embed="rId4"/>
          <a:stretch>
            <a:fillRect/>
          </a:stretch>
        </p:blipFill>
        <p:spPr>
          <a:xfrm>
            <a:off x="7338060" y="3287268"/>
            <a:ext cx="137160" cy="137160"/>
          </a:xfrm>
          <a:prstGeom prst="rect">
            <a:avLst/>
          </a:prstGeom>
        </p:spPr>
      </p:pic>
      <p:sp>
        <p:nvSpPr>
          <p:cNvPr id="14" name="Text 510"/>
          <p:cNvSpPr txBox="1"/>
          <p:nvPr/>
        </p:nvSpPr>
        <p:spPr>
          <a:xfrm>
            <a:off x="7680960" y="3200400"/>
            <a:ext cx="3730752" cy="464058"/>
          </a:xfrm>
          <a:prstGeom prst="rect">
            <a:avLst/>
          </a:prstGeom>
          <a:noFill/>
        </p:spPr>
        <p:txBody>
          <a:bodyPr wrap="square" lIns="0" tIns="0" rIns="0" bIns="0" rtlCol="0" anchor="t"/>
          <a:lstStyle/>
          <a:p>
            <a:pPr marL="0" indent="0">
              <a:buNone/>
            </a:pPr>
            <a:r>
              <a:rPr lang="en-US" sz="1350" dirty="0">
                <a:solidFill>
                  <a:schemeClr val="tx1"/>
                </a:solidFill>
              </a:rPr>
              <a:t>Borrowings, borrowers, and overdues by program.</a:t>
            </a:r>
            <a:endParaRPr lang="en-US" sz="1350" dirty="0"/>
          </a:p>
        </p:txBody>
      </p:sp>
      <p:sp>
        <p:nvSpPr>
          <p:cNvPr id="15" name="Shape 511"/>
          <p:cNvSpPr/>
          <p:nvPr/>
        </p:nvSpPr>
        <p:spPr>
          <a:xfrm>
            <a:off x="7269480" y="3765042"/>
            <a:ext cx="274320" cy="274320"/>
          </a:xfrm>
          <a:prstGeom prst="ellipse">
            <a:avLst/>
          </a:prstGeom>
          <a:solidFill>
            <a:schemeClr val="accent3"/>
          </a:solidFill>
        </p:spPr>
      </p:sp>
      <p:pic>
        <p:nvPicPr>
          <p:cNvPr id="16" name="Icon 512" descr="preencoded.png"/>
          <p:cNvPicPr>
            <a:picLocks noChangeAspect="1"/>
          </p:cNvPicPr>
          <p:nvPr/>
        </p:nvPicPr>
        <p:blipFill>
          <a:blip r:embed="rId4"/>
          <a:stretch>
            <a:fillRect/>
          </a:stretch>
        </p:blipFill>
        <p:spPr>
          <a:xfrm>
            <a:off x="7338060" y="3833622"/>
            <a:ext cx="137160" cy="137160"/>
          </a:xfrm>
          <a:prstGeom prst="rect">
            <a:avLst/>
          </a:prstGeom>
        </p:spPr>
      </p:pic>
      <p:sp>
        <p:nvSpPr>
          <p:cNvPr id="17" name="Text 513"/>
          <p:cNvSpPr txBox="1"/>
          <p:nvPr/>
        </p:nvSpPr>
        <p:spPr>
          <a:xfrm>
            <a:off x="7680960" y="3746754"/>
            <a:ext cx="3730752" cy="464058"/>
          </a:xfrm>
          <a:prstGeom prst="rect">
            <a:avLst/>
          </a:prstGeom>
          <a:noFill/>
        </p:spPr>
        <p:txBody>
          <a:bodyPr wrap="square" lIns="0" tIns="0" rIns="0" bIns="0" rtlCol="0" anchor="t"/>
          <a:lstStyle/>
          <a:p>
            <a:pPr marL="0" indent="0">
              <a:buNone/>
            </a:pPr>
            <a:r>
              <a:rPr lang="en-US" sz="1350" dirty="0">
                <a:solidFill>
                  <a:schemeClr val="tx1"/>
                </a:solidFill>
              </a:rPr>
              <a:t>Direct evidence for program chairs and deans.</a:t>
            </a:r>
            <a:endParaRPr lang="en-US" sz="1350" dirty="0"/>
          </a:p>
        </p:txBody>
      </p:sp>
      <p:sp>
        <p:nvSpPr>
          <p:cNvPr id="18" name="Shape 514"/>
          <p:cNvSpPr/>
          <p:nvPr/>
        </p:nvSpPr>
        <p:spPr>
          <a:xfrm>
            <a:off x="7269480" y="4311396"/>
            <a:ext cx="274320" cy="274320"/>
          </a:xfrm>
          <a:prstGeom prst="ellipse">
            <a:avLst/>
          </a:prstGeom>
          <a:solidFill>
            <a:schemeClr val="accent3"/>
          </a:solidFill>
        </p:spPr>
      </p:sp>
      <p:pic>
        <p:nvPicPr>
          <p:cNvPr id="19" name="Icon 515" descr="preencoded.png"/>
          <p:cNvPicPr>
            <a:picLocks noChangeAspect="1"/>
          </p:cNvPicPr>
          <p:nvPr/>
        </p:nvPicPr>
        <p:blipFill>
          <a:blip r:embed="rId4"/>
          <a:stretch>
            <a:fillRect/>
          </a:stretch>
        </p:blipFill>
        <p:spPr>
          <a:xfrm>
            <a:off x="7338060" y="4379976"/>
            <a:ext cx="137160" cy="137160"/>
          </a:xfrm>
          <a:prstGeom prst="rect">
            <a:avLst/>
          </a:prstGeom>
        </p:spPr>
      </p:pic>
      <p:sp>
        <p:nvSpPr>
          <p:cNvPr id="20" name="Text 516"/>
          <p:cNvSpPr txBox="1"/>
          <p:nvPr/>
        </p:nvSpPr>
        <p:spPr>
          <a:xfrm>
            <a:off x="7680960" y="4293108"/>
            <a:ext cx="3730752" cy="254889"/>
          </a:xfrm>
          <a:prstGeom prst="rect">
            <a:avLst/>
          </a:prstGeom>
          <a:noFill/>
        </p:spPr>
        <p:txBody>
          <a:bodyPr wrap="square" lIns="0" tIns="0" rIns="0" bIns="0" rtlCol="0" anchor="t"/>
          <a:lstStyle/>
          <a:p>
            <a:pPr marL="0" indent="0">
              <a:buNone/>
            </a:pPr>
            <a:r>
              <a:rPr lang="en-US" sz="1350" dirty="0">
                <a:solidFill>
                  <a:schemeClr val="tx1"/>
                </a:solidFill>
              </a:rPr>
              <a:t>Aligns collection with curricula.</a:t>
            </a:r>
            <a:endParaRPr lang="en-US" sz="1350" dirty="0"/>
          </a:p>
        </p:txBody>
      </p:sp>
      <p:sp>
        <p:nvSpPr>
          <p:cNvPr id="21" name="Shape 517"/>
          <p:cNvSpPr/>
          <p:nvPr/>
        </p:nvSpPr>
        <p:spPr>
          <a:xfrm>
            <a:off x="6995160" y="5029200"/>
            <a:ext cx="4645152" cy="1234440"/>
          </a:xfrm>
          <a:prstGeom prst="roundRect">
            <a:avLst>
              <a:gd name="adj" fmla="val 7407"/>
            </a:avLst>
          </a:prstGeom>
          <a:solidFill>
            <a:schemeClr val="tx2"/>
          </a:solidFill>
        </p:spPr>
      </p:sp>
      <p:sp>
        <p:nvSpPr>
          <p:cNvPr id="22" name="Text 518"/>
          <p:cNvSpPr txBox="1"/>
          <p:nvPr/>
        </p:nvSpPr>
        <p:spPr>
          <a:xfrm>
            <a:off x="7269480" y="5193792"/>
            <a:ext cx="3657600" cy="201168"/>
          </a:xfrm>
          <a:prstGeom prst="rect">
            <a:avLst/>
          </a:prstGeom>
          <a:noFill/>
        </p:spPr>
        <p:txBody>
          <a:bodyPr wrap="square" lIns="0" tIns="0" rIns="0" bIns="0" rtlCol="0" anchor="t"/>
          <a:lstStyle/>
          <a:p>
            <a:pPr marL="0" indent="0">
              <a:buNone/>
            </a:pPr>
            <a:r>
              <a:rPr lang="en-US" sz="1100" b="1" kern="0" spc="400" dirty="0">
                <a:solidFill>
                  <a:schemeClr val="accent2"/>
                </a:solidFill>
              </a:rPr>
              <a:t>DECISION SUPPORTED</a:t>
            </a:r>
            <a:endParaRPr lang="en-US" sz="1100" dirty="0"/>
          </a:p>
        </p:txBody>
      </p:sp>
      <p:sp>
        <p:nvSpPr>
          <p:cNvPr id="23" name="Text 519"/>
          <p:cNvSpPr txBox="1"/>
          <p:nvPr/>
        </p:nvSpPr>
        <p:spPr>
          <a:xfrm>
            <a:off x="7269480" y="5468112"/>
            <a:ext cx="4096512" cy="731520"/>
          </a:xfrm>
          <a:prstGeom prst="rect">
            <a:avLst/>
          </a:prstGeom>
          <a:noFill/>
        </p:spPr>
        <p:txBody>
          <a:bodyPr wrap="square" lIns="0" tIns="0" rIns="0" bIns="0" rtlCol="0" anchor="t"/>
          <a:lstStyle/>
          <a:p>
            <a:pPr marL="0" indent="0">
              <a:buNone/>
            </a:pPr>
            <a:r>
              <a:rPr lang="en-US" sz="1550" b="1" dirty="0">
                <a:solidFill>
                  <a:schemeClr val="bg1"/>
                </a:solidFill>
                <a:latin typeface="+mj-lt"/>
                <a:ea typeface="+mj-lt"/>
                <a:cs typeface="+mj-lt"/>
              </a:rPr>
              <a:t>Transparent, evidence-based budget allocation between departments.</a:t>
            </a:r>
            <a:endParaRPr lang="en-US" sz="1550" dirty="0"/>
          </a:p>
        </p:txBody>
      </p:sp>
      <p:sp>
        <p:nvSpPr>
          <p:cNvPr id="25"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07  |  BUSINESS INTELLIGENCE</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BI Tab 4: Resource Analytics</a:t>
            </a:r>
            <a:endParaRPr lang="en-US" sz="2800" dirty="0"/>
          </a:p>
        </p:txBody>
      </p:sp>
      <p:sp>
        <p:nvSpPr>
          <p:cNvPr id="5" name="Shape 520"/>
          <p:cNvSpPr/>
          <p:nvPr/>
        </p:nvSpPr>
        <p:spPr>
          <a:xfrm>
            <a:off x="521208" y="1481328"/>
            <a:ext cx="6272784" cy="4467128"/>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6" name="Screenshot 521" descr="Tab 4: Resource Analytics screenshot"/>
          <p:cNvPicPr>
            <a:picLocks noChangeAspect="1"/>
          </p:cNvPicPr>
          <p:nvPr/>
        </p:nvPicPr>
        <p:blipFill>
          <a:blip r:embed="rId3"/>
          <a:stretch>
            <a:fillRect/>
          </a:stretch>
        </p:blipFill>
        <p:spPr>
          <a:xfrm>
            <a:off x="548640" y="1508760"/>
            <a:ext cx="6217920" cy="4412264"/>
          </a:xfrm>
          <a:prstGeom prst="rect">
            <a:avLst/>
          </a:prstGeom>
        </p:spPr>
      </p:pic>
      <p:sp>
        <p:nvSpPr>
          <p:cNvPr id="7" name="Text 522"/>
          <p:cNvSpPr txBox="1"/>
          <p:nvPr/>
        </p:nvSpPr>
        <p:spPr>
          <a:xfrm>
            <a:off x="548640" y="6030752"/>
            <a:ext cx="6217920" cy="256032"/>
          </a:xfrm>
          <a:prstGeom prst="rect">
            <a:avLst/>
          </a:prstGeom>
          <a:noFill/>
        </p:spPr>
        <p:txBody>
          <a:bodyPr wrap="square" lIns="0" tIns="0" rIns="0" bIns="0" rtlCol="0" anchor="t"/>
          <a:lstStyle/>
          <a:p>
            <a:pPr marL="0" indent="0">
              <a:buNone/>
            </a:pPr>
            <a:r>
              <a:rPr lang="en-US" sz="1200" i="1" dirty="0">
                <a:solidFill>
                  <a:schemeClr val="accent6"/>
                </a:solidFill>
              </a:rPr>
              <a:t>Figure 7. Resource Analytics tab</a:t>
            </a:r>
            <a:endParaRPr lang="en-US" sz="1200" dirty="0"/>
          </a:p>
        </p:txBody>
      </p:sp>
      <p:sp>
        <p:nvSpPr>
          <p:cNvPr id="8" name="Shape 523"/>
          <p:cNvSpPr/>
          <p:nvPr/>
        </p:nvSpPr>
        <p:spPr>
          <a:xfrm>
            <a:off x="6995160" y="1508760"/>
            <a:ext cx="4645152" cy="1371600"/>
          </a:xfrm>
          <a:prstGeom prst="roundRect">
            <a:avLst>
              <a:gd name="adj" fmla="val 6667"/>
            </a:avLst>
          </a:prstGeom>
          <a:solidFill>
            <a:schemeClr val="bg2"/>
          </a:solidFill>
        </p:spPr>
      </p:sp>
      <p:sp>
        <p:nvSpPr>
          <p:cNvPr id="9" name="Text 524"/>
          <p:cNvSpPr txBox="1"/>
          <p:nvPr/>
        </p:nvSpPr>
        <p:spPr>
          <a:xfrm>
            <a:off x="7269480" y="1664208"/>
            <a:ext cx="3657600" cy="201168"/>
          </a:xfrm>
          <a:prstGeom prst="rect">
            <a:avLst/>
          </a:prstGeom>
          <a:noFill/>
        </p:spPr>
        <p:txBody>
          <a:bodyPr wrap="square" lIns="0" tIns="0" rIns="0" bIns="0" rtlCol="0" anchor="t"/>
          <a:lstStyle/>
          <a:p>
            <a:pPr marL="0" indent="0">
              <a:buNone/>
            </a:pPr>
            <a:r>
              <a:rPr lang="en-US" sz="1100" b="1" kern="0" spc="400" dirty="0">
                <a:solidFill>
                  <a:schemeClr val="accent2"/>
                </a:solidFill>
              </a:rPr>
              <a:t>GUIDING QUESTION</a:t>
            </a:r>
            <a:endParaRPr lang="en-US" sz="1100" dirty="0"/>
          </a:p>
        </p:txBody>
      </p:sp>
      <p:sp>
        <p:nvSpPr>
          <p:cNvPr id="10" name="Text 525"/>
          <p:cNvSpPr txBox="1"/>
          <p:nvPr/>
        </p:nvSpPr>
        <p:spPr>
          <a:xfrm>
            <a:off x="7269480" y="1920240"/>
            <a:ext cx="4096512" cy="868680"/>
          </a:xfrm>
          <a:prstGeom prst="rect">
            <a:avLst/>
          </a:prstGeom>
          <a:noFill/>
        </p:spPr>
        <p:txBody>
          <a:bodyPr wrap="square" lIns="0" tIns="0" rIns="0" bIns="0" rtlCol="0" anchor="t"/>
          <a:lstStyle/>
          <a:p>
            <a:pPr marL="0" indent="0">
              <a:buNone/>
            </a:pPr>
            <a:r>
              <a:rPr lang="en-US" sz="1900" b="1" dirty="0">
                <a:solidFill>
                  <a:schemeClr val="tx2"/>
                </a:solidFill>
                <a:latin typeface="+mj-lt"/>
                <a:ea typeface="+mj-lt"/>
                <a:cs typeface="+mj-lt"/>
              </a:rPr>
              <a:t>What is the traffic story of one specific book?</a:t>
            </a:r>
            <a:endParaRPr lang="en-US" sz="1900" dirty="0"/>
          </a:p>
        </p:txBody>
      </p:sp>
      <p:sp>
        <p:nvSpPr>
          <p:cNvPr id="11" name="Shape 526"/>
          <p:cNvSpPr/>
          <p:nvPr/>
        </p:nvSpPr>
        <p:spPr>
          <a:xfrm>
            <a:off x="6995160" y="3017520"/>
            <a:ext cx="4645152" cy="1874520"/>
          </a:xfrm>
          <a:prstGeom prst="roundRect">
            <a:avLst>
              <a:gd name="adj" fmla="val 4878"/>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sp>
        <p:nvSpPr>
          <p:cNvPr id="12" name="Shape 527"/>
          <p:cNvSpPr/>
          <p:nvPr/>
        </p:nvSpPr>
        <p:spPr>
          <a:xfrm>
            <a:off x="7269480" y="3218688"/>
            <a:ext cx="274320" cy="274320"/>
          </a:xfrm>
          <a:prstGeom prst="ellipse">
            <a:avLst/>
          </a:prstGeom>
          <a:solidFill>
            <a:schemeClr val="accent3"/>
          </a:solidFill>
        </p:spPr>
      </p:sp>
      <p:pic>
        <p:nvPicPr>
          <p:cNvPr id="13" name="Icon 528" descr="preencoded.png"/>
          <p:cNvPicPr>
            <a:picLocks noChangeAspect="1"/>
          </p:cNvPicPr>
          <p:nvPr/>
        </p:nvPicPr>
        <p:blipFill>
          <a:blip r:embed="rId4"/>
          <a:stretch>
            <a:fillRect/>
          </a:stretch>
        </p:blipFill>
        <p:spPr>
          <a:xfrm>
            <a:off x="7338060" y="3287268"/>
            <a:ext cx="137160" cy="137160"/>
          </a:xfrm>
          <a:prstGeom prst="rect">
            <a:avLst/>
          </a:prstGeom>
        </p:spPr>
      </p:pic>
      <p:sp>
        <p:nvSpPr>
          <p:cNvPr id="14" name="Text 529"/>
          <p:cNvSpPr txBox="1"/>
          <p:nvPr/>
        </p:nvSpPr>
        <p:spPr>
          <a:xfrm>
            <a:off x="7680960" y="3200400"/>
            <a:ext cx="3730752" cy="464058"/>
          </a:xfrm>
          <a:prstGeom prst="rect">
            <a:avLst/>
          </a:prstGeom>
          <a:noFill/>
        </p:spPr>
        <p:txBody>
          <a:bodyPr wrap="square" lIns="0" tIns="0" rIns="0" bIns="0" rtlCol="0" anchor="t"/>
          <a:lstStyle/>
          <a:p>
            <a:pPr marL="0" indent="0">
              <a:buNone/>
            </a:pPr>
            <a:r>
              <a:rPr lang="en-US" sz="1350" dirty="0">
                <a:solidFill>
                  <a:schemeClr val="tx1"/>
                </a:solidFill>
              </a:rPr>
              <a:t>Borrow counts, trend, borrowers, and copies per title.</a:t>
            </a:r>
            <a:endParaRPr lang="en-US" sz="1350" dirty="0"/>
          </a:p>
        </p:txBody>
      </p:sp>
      <p:sp>
        <p:nvSpPr>
          <p:cNvPr id="15" name="Shape 530"/>
          <p:cNvSpPr/>
          <p:nvPr/>
        </p:nvSpPr>
        <p:spPr>
          <a:xfrm>
            <a:off x="7269480" y="3765042"/>
            <a:ext cx="274320" cy="274320"/>
          </a:xfrm>
          <a:prstGeom prst="ellipse">
            <a:avLst/>
          </a:prstGeom>
          <a:solidFill>
            <a:schemeClr val="accent3"/>
          </a:solidFill>
        </p:spPr>
      </p:sp>
      <p:pic>
        <p:nvPicPr>
          <p:cNvPr id="16" name="Icon 531" descr="preencoded.png"/>
          <p:cNvPicPr>
            <a:picLocks noChangeAspect="1"/>
          </p:cNvPicPr>
          <p:nvPr/>
        </p:nvPicPr>
        <p:blipFill>
          <a:blip r:embed="rId4"/>
          <a:stretch>
            <a:fillRect/>
          </a:stretch>
        </p:blipFill>
        <p:spPr>
          <a:xfrm>
            <a:off x="7338060" y="3833622"/>
            <a:ext cx="137160" cy="137160"/>
          </a:xfrm>
          <a:prstGeom prst="rect">
            <a:avLst/>
          </a:prstGeom>
        </p:spPr>
      </p:pic>
      <p:sp>
        <p:nvSpPr>
          <p:cNvPr id="17" name="Text 532"/>
          <p:cNvSpPr txBox="1"/>
          <p:nvPr/>
        </p:nvSpPr>
        <p:spPr>
          <a:xfrm>
            <a:off x="7680960" y="3746754"/>
            <a:ext cx="3730752" cy="254889"/>
          </a:xfrm>
          <a:prstGeom prst="rect">
            <a:avLst/>
          </a:prstGeom>
          <a:noFill/>
        </p:spPr>
        <p:txBody>
          <a:bodyPr wrap="square" lIns="0" tIns="0" rIns="0" bIns="0" rtlCol="0" anchor="t"/>
          <a:lstStyle/>
          <a:p>
            <a:pPr marL="0" indent="0">
              <a:buNone/>
            </a:pPr>
            <a:r>
              <a:rPr lang="en-US" sz="1350" dirty="0">
                <a:solidFill>
                  <a:schemeClr val="tx1"/>
                </a:solidFill>
              </a:rPr>
              <a:t>E-book activity included.</a:t>
            </a:r>
            <a:endParaRPr lang="en-US" sz="1350" dirty="0"/>
          </a:p>
        </p:txBody>
      </p:sp>
      <p:sp>
        <p:nvSpPr>
          <p:cNvPr id="18" name="Shape 533"/>
          <p:cNvSpPr/>
          <p:nvPr/>
        </p:nvSpPr>
        <p:spPr>
          <a:xfrm>
            <a:off x="7269480" y="4203954"/>
            <a:ext cx="274320" cy="274320"/>
          </a:xfrm>
          <a:prstGeom prst="ellipse">
            <a:avLst/>
          </a:prstGeom>
          <a:solidFill>
            <a:schemeClr val="accent3"/>
          </a:solidFill>
        </p:spPr>
      </p:sp>
      <p:pic>
        <p:nvPicPr>
          <p:cNvPr id="19" name="Icon 534" descr="preencoded.png"/>
          <p:cNvPicPr>
            <a:picLocks noChangeAspect="1"/>
          </p:cNvPicPr>
          <p:nvPr/>
        </p:nvPicPr>
        <p:blipFill>
          <a:blip r:embed="rId4"/>
          <a:stretch>
            <a:fillRect/>
          </a:stretch>
        </p:blipFill>
        <p:spPr>
          <a:xfrm>
            <a:off x="7338060" y="4272534"/>
            <a:ext cx="137160" cy="137160"/>
          </a:xfrm>
          <a:prstGeom prst="rect">
            <a:avLst/>
          </a:prstGeom>
        </p:spPr>
      </p:pic>
      <p:sp>
        <p:nvSpPr>
          <p:cNvPr id="20" name="Text 535"/>
          <p:cNvSpPr txBox="1"/>
          <p:nvPr/>
        </p:nvSpPr>
        <p:spPr>
          <a:xfrm>
            <a:off x="7680960" y="4185666"/>
            <a:ext cx="3730752" cy="464058"/>
          </a:xfrm>
          <a:prstGeom prst="rect">
            <a:avLst/>
          </a:prstGeom>
          <a:noFill/>
        </p:spPr>
        <p:txBody>
          <a:bodyPr wrap="square" lIns="0" tIns="0" rIns="0" bIns="0" rtlCol="0" anchor="t"/>
          <a:lstStyle/>
          <a:p>
            <a:pPr marL="0" indent="0">
              <a:buNone/>
            </a:pPr>
            <a:r>
              <a:rPr lang="en-US" sz="1350" dirty="0">
                <a:solidFill>
                  <a:schemeClr val="tx1"/>
                </a:solidFill>
              </a:rPr>
              <a:t>Shows which edition is hot and which copies sit idle.</a:t>
            </a:r>
            <a:endParaRPr lang="en-US" sz="1350" dirty="0"/>
          </a:p>
        </p:txBody>
      </p:sp>
      <p:sp>
        <p:nvSpPr>
          <p:cNvPr id="21" name="Shape 536"/>
          <p:cNvSpPr/>
          <p:nvPr/>
        </p:nvSpPr>
        <p:spPr>
          <a:xfrm>
            <a:off x="6995160" y="5029200"/>
            <a:ext cx="4645152" cy="1234440"/>
          </a:xfrm>
          <a:prstGeom prst="roundRect">
            <a:avLst>
              <a:gd name="adj" fmla="val 7407"/>
            </a:avLst>
          </a:prstGeom>
          <a:solidFill>
            <a:schemeClr val="tx2"/>
          </a:solidFill>
        </p:spPr>
      </p:sp>
      <p:sp>
        <p:nvSpPr>
          <p:cNvPr id="22" name="Text 537"/>
          <p:cNvSpPr txBox="1"/>
          <p:nvPr/>
        </p:nvSpPr>
        <p:spPr>
          <a:xfrm>
            <a:off x="7269480" y="5193792"/>
            <a:ext cx="3657600" cy="201168"/>
          </a:xfrm>
          <a:prstGeom prst="rect">
            <a:avLst/>
          </a:prstGeom>
          <a:noFill/>
        </p:spPr>
        <p:txBody>
          <a:bodyPr wrap="square" lIns="0" tIns="0" rIns="0" bIns="0" rtlCol="0" anchor="t"/>
          <a:lstStyle/>
          <a:p>
            <a:pPr marL="0" indent="0">
              <a:buNone/>
            </a:pPr>
            <a:r>
              <a:rPr lang="en-US" sz="1100" b="1" kern="0" spc="400" dirty="0">
                <a:solidFill>
                  <a:schemeClr val="accent2"/>
                </a:solidFill>
              </a:rPr>
              <a:t>DECISION SUPPORTED</a:t>
            </a:r>
            <a:endParaRPr lang="en-US" sz="1100" dirty="0"/>
          </a:p>
        </p:txBody>
      </p:sp>
      <p:sp>
        <p:nvSpPr>
          <p:cNvPr id="23" name="Text 538"/>
          <p:cNvSpPr txBox="1"/>
          <p:nvPr/>
        </p:nvSpPr>
        <p:spPr>
          <a:xfrm>
            <a:off x="7269480" y="5468112"/>
            <a:ext cx="4096512" cy="731520"/>
          </a:xfrm>
          <a:prstGeom prst="rect">
            <a:avLst/>
          </a:prstGeom>
          <a:noFill/>
        </p:spPr>
        <p:txBody>
          <a:bodyPr wrap="square" lIns="0" tIns="0" rIns="0" bIns="0" rtlCol="0" anchor="t"/>
          <a:lstStyle/>
          <a:p>
            <a:pPr marL="0" indent="0">
              <a:buNone/>
            </a:pPr>
            <a:r>
              <a:rPr lang="en-US" sz="1550" b="1" dirty="0">
                <a:solidFill>
                  <a:schemeClr val="bg1"/>
                </a:solidFill>
                <a:latin typeface="+mj-lt"/>
                <a:ea typeface="+mj-lt"/>
                <a:cs typeface="+mj-lt"/>
              </a:rPr>
              <a:t>Copy-count decisions: where to add copies, where to stop re-buying.</a:t>
            </a:r>
            <a:endParaRPr lang="en-US" sz="1550" dirty="0"/>
          </a:p>
        </p:txBody>
      </p:sp>
      <p:sp>
        <p:nvSpPr>
          <p:cNvPr id="25"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08  |  TESTING</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Testing and Evaluation Methodology</a:t>
            </a:r>
            <a:endParaRPr lang="en-US" sz="2800" dirty="0"/>
          </a:p>
        </p:txBody>
      </p:sp>
      <p:sp>
        <p:nvSpPr>
          <p:cNvPr id="5" name="Shape 539"/>
          <p:cNvSpPr/>
          <p:nvPr/>
        </p:nvSpPr>
        <p:spPr>
          <a:xfrm>
            <a:off x="548640" y="1463040"/>
            <a:ext cx="2011680" cy="2423160"/>
          </a:xfrm>
          <a:prstGeom prst="roundRect">
            <a:avLst>
              <a:gd name="adj" fmla="val 4545"/>
            </a:avLst>
          </a:prstGeom>
          <a:solidFill>
            <a:schemeClr val="bg2"/>
          </a:solidFill>
        </p:spPr>
      </p:sp>
      <p:sp>
        <p:nvSpPr>
          <p:cNvPr id="6" name="Shape 540"/>
          <p:cNvSpPr/>
          <p:nvPr/>
        </p:nvSpPr>
        <p:spPr>
          <a:xfrm>
            <a:off x="731520" y="1627632"/>
            <a:ext cx="566928" cy="566928"/>
          </a:xfrm>
          <a:prstGeom prst="ellipse">
            <a:avLst/>
          </a:prstGeom>
          <a:solidFill>
            <a:schemeClr val="accent1"/>
          </a:solidFill>
        </p:spPr>
      </p:sp>
      <p:pic>
        <p:nvPicPr>
          <p:cNvPr id="7" name="Icon 541" descr="preencoded.png"/>
          <p:cNvPicPr>
            <a:picLocks noChangeAspect="1"/>
          </p:cNvPicPr>
          <p:nvPr/>
        </p:nvPicPr>
        <p:blipFill>
          <a:blip r:embed="rId3"/>
          <a:stretch>
            <a:fillRect/>
          </a:stretch>
        </p:blipFill>
        <p:spPr>
          <a:xfrm>
            <a:off x="868680" y="1764792"/>
            <a:ext cx="292608" cy="292608"/>
          </a:xfrm>
          <a:prstGeom prst="rect">
            <a:avLst/>
          </a:prstGeom>
        </p:spPr>
      </p:pic>
      <p:sp>
        <p:nvSpPr>
          <p:cNvPr id="8" name="Text 542"/>
          <p:cNvSpPr txBox="1"/>
          <p:nvPr/>
        </p:nvSpPr>
        <p:spPr>
          <a:xfrm>
            <a:off x="1920240" y="1627632"/>
            <a:ext cx="457200" cy="566928"/>
          </a:xfrm>
          <a:prstGeom prst="rect">
            <a:avLst/>
          </a:prstGeom>
          <a:noFill/>
        </p:spPr>
        <p:txBody>
          <a:bodyPr wrap="square" lIns="0" tIns="0" rIns="0" bIns="0" rtlCol="0" anchor="ctr"/>
          <a:lstStyle/>
          <a:p>
            <a:pPr marL="0" indent="0" algn="r">
              <a:buNone/>
            </a:pPr>
            <a:r>
              <a:rPr lang="en-US" sz="2800" b="1" dirty="0">
                <a:solidFill>
                  <a:schemeClr val="accent5"/>
                </a:solidFill>
                <a:latin typeface="+mj-lt"/>
                <a:ea typeface="+mj-lt"/>
                <a:cs typeface="+mj-lt"/>
              </a:rPr>
              <a:t>1</a:t>
            </a:r>
            <a:endParaRPr lang="en-US" sz="2800" dirty="0"/>
          </a:p>
        </p:txBody>
      </p:sp>
      <p:sp>
        <p:nvSpPr>
          <p:cNvPr id="9" name="Text 543"/>
          <p:cNvSpPr txBox="1"/>
          <p:nvPr/>
        </p:nvSpPr>
        <p:spPr>
          <a:xfrm>
            <a:off x="731520" y="2331720"/>
            <a:ext cx="1645920" cy="320040"/>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Unit Testing</a:t>
            </a:r>
            <a:endParaRPr lang="en-US" sz="1600" dirty="0"/>
          </a:p>
        </p:txBody>
      </p:sp>
      <p:sp>
        <p:nvSpPr>
          <p:cNvPr id="10" name="Text 544"/>
          <p:cNvSpPr txBox="1"/>
          <p:nvPr/>
        </p:nvSpPr>
        <p:spPr>
          <a:xfrm>
            <a:off x="731520" y="2697480"/>
            <a:ext cx="1645920" cy="1143000"/>
          </a:xfrm>
          <a:prstGeom prst="rect">
            <a:avLst/>
          </a:prstGeom>
          <a:noFill/>
        </p:spPr>
        <p:txBody>
          <a:bodyPr wrap="square" lIns="0" tIns="0" rIns="0" bIns="0" rtlCol="0" anchor="t"/>
          <a:lstStyle/>
          <a:p>
            <a:pPr marL="0" indent="0">
              <a:buNone/>
            </a:pPr>
            <a:r>
              <a:rPr lang="en-US" sz="1250" dirty="0">
                <a:solidFill>
                  <a:schemeClr val="tx1"/>
                </a:solidFill>
              </a:rPr>
              <a:t>Module logic, database reads and writes, and route behavior checked individually.</a:t>
            </a:r>
            <a:endParaRPr lang="en-US" sz="1250" dirty="0"/>
          </a:p>
        </p:txBody>
      </p:sp>
      <p:pic>
        <p:nvPicPr>
          <p:cNvPr id="11" name="Icon 545" descr="preencoded.png"/>
          <p:cNvPicPr>
            <a:picLocks noChangeAspect="1"/>
          </p:cNvPicPr>
          <p:nvPr/>
        </p:nvPicPr>
        <p:blipFill>
          <a:blip r:embed="rId4"/>
          <a:stretch>
            <a:fillRect/>
          </a:stretch>
        </p:blipFill>
        <p:spPr>
          <a:xfrm>
            <a:off x="2589238" y="1828800"/>
            <a:ext cx="201168" cy="201168"/>
          </a:xfrm>
          <a:prstGeom prst="rect">
            <a:avLst/>
          </a:prstGeom>
        </p:spPr>
      </p:pic>
      <p:sp>
        <p:nvSpPr>
          <p:cNvPr id="12" name="Shape 546"/>
          <p:cNvSpPr/>
          <p:nvPr/>
        </p:nvSpPr>
        <p:spPr>
          <a:xfrm>
            <a:off x="2819324" y="1463040"/>
            <a:ext cx="2011680" cy="2423160"/>
          </a:xfrm>
          <a:prstGeom prst="roundRect">
            <a:avLst>
              <a:gd name="adj" fmla="val 4545"/>
            </a:avLst>
          </a:prstGeom>
          <a:solidFill>
            <a:schemeClr val="bg2"/>
          </a:solidFill>
        </p:spPr>
      </p:sp>
      <p:sp>
        <p:nvSpPr>
          <p:cNvPr id="13" name="Shape 547"/>
          <p:cNvSpPr/>
          <p:nvPr/>
        </p:nvSpPr>
        <p:spPr>
          <a:xfrm>
            <a:off x="3002204" y="1627632"/>
            <a:ext cx="566928" cy="566928"/>
          </a:xfrm>
          <a:prstGeom prst="ellipse">
            <a:avLst/>
          </a:prstGeom>
          <a:solidFill>
            <a:schemeClr val="accent2"/>
          </a:solidFill>
        </p:spPr>
      </p:sp>
      <p:pic>
        <p:nvPicPr>
          <p:cNvPr id="14" name="Icon 548" descr="preencoded.png"/>
          <p:cNvPicPr>
            <a:picLocks noChangeAspect="1"/>
          </p:cNvPicPr>
          <p:nvPr/>
        </p:nvPicPr>
        <p:blipFill>
          <a:blip r:embed="rId5"/>
          <a:stretch>
            <a:fillRect/>
          </a:stretch>
        </p:blipFill>
        <p:spPr>
          <a:xfrm>
            <a:off x="3139364" y="1764792"/>
            <a:ext cx="292608" cy="292608"/>
          </a:xfrm>
          <a:prstGeom prst="rect">
            <a:avLst/>
          </a:prstGeom>
        </p:spPr>
      </p:pic>
      <p:sp>
        <p:nvSpPr>
          <p:cNvPr id="15" name="Text 549"/>
          <p:cNvSpPr txBox="1"/>
          <p:nvPr/>
        </p:nvSpPr>
        <p:spPr>
          <a:xfrm>
            <a:off x="4190924" y="1627632"/>
            <a:ext cx="457200" cy="566928"/>
          </a:xfrm>
          <a:prstGeom prst="rect">
            <a:avLst/>
          </a:prstGeom>
          <a:noFill/>
        </p:spPr>
        <p:txBody>
          <a:bodyPr wrap="square" lIns="0" tIns="0" rIns="0" bIns="0" rtlCol="0" anchor="ctr"/>
          <a:lstStyle/>
          <a:p>
            <a:pPr marL="0" indent="0" algn="r">
              <a:buNone/>
            </a:pPr>
            <a:r>
              <a:rPr lang="en-US" sz="2800" b="1" dirty="0">
                <a:solidFill>
                  <a:schemeClr val="accent5"/>
                </a:solidFill>
                <a:latin typeface="+mj-lt"/>
                <a:ea typeface="+mj-lt"/>
                <a:cs typeface="+mj-lt"/>
              </a:rPr>
              <a:t>2</a:t>
            </a:r>
            <a:endParaRPr lang="en-US" sz="2800" dirty="0"/>
          </a:p>
        </p:txBody>
      </p:sp>
      <p:sp>
        <p:nvSpPr>
          <p:cNvPr id="16" name="Text 550"/>
          <p:cNvSpPr txBox="1"/>
          <p:nvPr/>
        </p:nvSpPr>
        <p:spPr>
          <a:xfrm>
            <a:off x="3002204" y="2331720"/>
            <a:ext cx="1645920" cy="320040"/>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Alpha</a:t>
            </a:r>
            <a:endParaRPr lang="en-US" sz="1600" dirty="0"/>
          </a:p>
        </p:txBody>
      </p:sp>
      <p:sp>
        <p:nvSpPr>
          <p:cNvPr id="17" name="Text 551"/>
          <p:cNvSpPr txBox="1"/>
          <p:nvPr/>
        </p:nvSpPr>
        <p:spPr>
          <a:xfrm>
            <a:off x="3002204" y="2697480"/>
            <a:ext cx="1645920" cy="1143000"/>
          </a:xfrm>
          <a:prstGeom prst="rect">
            <a:avLst/>
          </a:prstGeom>
          <a:noFill/>
        </p:spPr>
        <p:txBody>
          <a:bodyPr wrap="square" lIns="0" tIns="0" rIns="0" bIns="0" rtlCol="0" anchor="t"/>
          <a:lstStyle/>
          <a:p>
            <a:pPr marL="0" indent="0">
              <a:buNone/>
            </a:pPr>
            <a:r>
              <a:rPr lang="en-US" sz="1250" dirty="0">
                <a:solidFill>
                  <a:schemeClr val="tx1"/>
                </a:solidFill>
              </a:rPr>
              <a:t>Internal testing by the development team; functional defects and edge cases resolved.</a:t>
            </a:r>
            <a:endParaRPr lang="en-US" sz="1250" dirty="0"/>
          </a:p>
        </p:txBody>
      </p:sp>
      <p:pic>
        <p:nvPicPr>
          <p:cNvPr id="18" name="Icon 552" descr="preencoded.png"/>
          <p:cNvPicPr>
            <a:picLocks noChangeAspect="1"/>
          </p:cNvPicPr>
          <p:nvPr/>
        </p:nvPicPr>
        <p:blipFill>
          <a:blip r:embed="rId4"/>
          <a:stretch>
            <a:fillRect/>
          </a:stretch>
        </p:blipFill>
        <p:spPr>
          <a:xfrm>
            <a:off x="4859922" y="1828800"/>
            <a:ext cx="201168" cy="201168"/>
          </a:xfrm>
          <a:prstGeom prst="rect">
            <a:avLst/>
          </a:prstGeom>
        </p:spPr>
      </p:pic>
      <p:sp>
        <p:nvSpPr>
          <p:cNvPr id="19" name="Shape 553"/>
          <p:cNvSpPr/>
          <p:nvPr/>
        </p:nvSpPr>
        <p:spPr>
          <a:xfrm>
            <a:off x="5090008" y="1463040"/>
            <a:ext cx="2011680" cy="2423160"/>
          </a:xfrm>
          <a:prstGeom prst="roundRect">
            <a:avLst>
              <a:gd name="adj" fmla="val 4545"/>
            </a:avLst>
          </a:prstGeom>
          <a:solidFill>
            <a:schemeClr val="bg2"/>
          </a:solidFill>
        </p:spPr>
      </p:sp>
      <p:sp>
        <p:nvSpPr>
          <p:cNvPr id="20" name="Shape 554"/>
          <p:cNvSpPr/>
          <p:nvPr/>
        </p:nvSpPr>
        <p:spPr>
          <a:xfrm>
            <a:off x="5272888" y="1627632"/>
            <a:ext cx="566928" cy="566928"/>
          </a:xfrm>
          <a:prstGeom prst="ellipse">
            <a:avLst/>
          </a:prstGeom>
          <a:solidFill>
            <a:schemeClr val="accent3"/>
          </a:solidFill>
        </p:spPr>
      </p:sp>
      <p:pic>
        <p:nvPicPr>
          <p:cNvPr id="21" name="Icon 555" descr="preencoded.png"/>
          <p:cNvPicPr>
            <a:picLocks noChangeAspect="1"/>
          </p:cNvPicPr>
          <p:nvPr/>
        </p:nvPicPr>
        <p:blipFill>
          <a:blip r:embed="rId6"/>
          <a:stretch>
            <a:fillRect/>
          </a:stretch>
        </p:blipFill>
        <p:spPr>
          <a:xfrm>
            <a:off x="5410048" y="1764792"/>
            <a:ext cx="292608" cy="292608"/>
          </a:xfrm>
          <a:prstGeom prst="rect">
            <a:avLst/>
          </a:prstGeom>
        </p:spPr>
      </p:pic>
      <p:sp>
        <p:nvSpPr>
          <p:cNvPr id="22" name="Text 556"/>
          <p:cNvSpPr txBox="1"/>
          <p:nvPr/>
        </p:nvSpPr>
        <p:spPr>
          <a:xfrm>
            <a:off x="6461608" y="1627632"/>
            <a:ext cx="457200" cy="566928"/>
          </a:xfrm>
          <a:prstGeom prst="rect">
            <a:avLst/>
          </a:prstGeom>
          <a:noFill/>
        </p:spPr>
        <p:txBody>
          <a:bodyPr wrap="square" lIns="0" tIns="0" rIns="0" bIns="0" rtlCol="0" anchor="ctr"/>
          <a:lstStyle/>
          <a:p>
            <a:pPr marL="0" indent="0" algn="r">
              <a:buNone/>
            </a:pPr>
            <a:r>
              <a:rPr lang="en-US" sz="2800" b="1" dirty="0">
                <a:solidFill>
                  <a:schemeClr val="accent5"/>
                </a:solidFill>
                <a:latin typeface="+mj-lt"/>
                <a:ea typeface="+mj-lt"/>
                <a:cs typeface="+mj-lt"/>
              </a:rPr>
              <a:t>3</a:t>
            </a:r>
            <a:endParaRPr lang="en-US" sz="2800" dirty="0"/>
          </a:p>
        </p:txBody>
      </p:sp>
      <p:sp>
        <p:nvSpPr>
          <p:cNvPr id="23" name="Text 557"/>
          <p:cNvSpPr txBox="1"/>
          <p:nvPr/>
        </p:nvSpPr>
        <p:spPr>
          <a:xfrm>
            <a:off x="5272888" y="2331720"/>
            <a:ext cx="1645920" cy="320040"/>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Beta</a:t>
            </a:r>
            <a:endParaRPr lang="en-US" sz="1600" dirty="0"/>
          </a:p>
        </p:txBody>
      </p:sp>
      <p:sp>
        <p:nvSpPr>
          <p:cNvPr id="24" name="Text 558"/>
          <p:cNvSpPr txBox="1"/>
          <p:nvPr/>
        </p:nvSpPr>
        <p:spPr>
          <a:xfrm>
            <a:off x="5272888" y="2697480"/>
            <a:ext cx="1645920" cy="1143000"/>
          </a:xfrm>
          <a:prstGeom prst="rect">
            <a:avLst/>
          </a:prstGeom>
          <a:noFill/>
        </p:spPr>
        <p:txBody>
          <a:bodyPr wrap="square" lIns="0" tIns="0" rIns="0" bIns="0" rtlCol="0" anchor="t"/>
          <a:lstStyle/>
          <a:p>
            <a:pPr marL="0" indent="0">
              <a:buNone/>
            </a:pPr>
            <a:r>
              <a:rPr lang="en-US" sz="1250" dirty="0">
                <a:solidFill>
                  <a:schemeClr val="tx1"/>
                </a:solidFill>
              </a:rPr>
              <a:t>Limited release to the librarian and selected faculty under real use; workflow gaps fixed.</a:t>
            </a:r>
            <a:endParaRPr lang="en-US" sz="1250" dirty="0"/>
          </a:p>
        </p:txBody>
      </p:sp>
      <p:pic>
        <p:nvPicPr>
          <p:cNvPr id="25" name="Icon 559" descr="preencoded.png"/>
          <p:cNvPicPr>
            <a:picLocks noChangeAspect="1"/>
          </p:cNvPicPr>
          <p:nvPr/>
        </p:nvPicPr>
        <p:blipFill>
          <a:blip r:embed="rId4"/>
          <a:stretch>
            <a:fillRect/>
          </a:stretch>
        </p:blipFill>
        <p:spPr>
          <a:xfrm>
            <a:off x="7130606" y="1828800"/>
            <a:ext cx="201168" cy="201168"/>
          </a:xfrm>
          <a:prstGeom prst="rect">
            <a:avLst/>
          </a:prstGeom>
        </p:spPr>
      </p:pic>
      <p:sp>
        <p:nvSpPr>
          <p:cNvPr id="26" name="Shape 560"/>
          <p:cNvSpPr/>
          <p:nvPr/>
        </p:nvSpPr>
        <p:spPr>
          <a:xfrm>
            <a:off x="7360691" y="1463040"/>
            <a:ext cx="2011680" cy="2423160"/>
          </a:xfrm>
          <a:prstGeom prst="roundRect">
            <a:avLst>
              <a:gd name="adj" fmla="val 4545"/>
            </a:avLst>
          </a:prstGeom>
          <a:solidFill>
            <a:schemeClr val="bg2"/>
          </a:solidFill>
        </p:spPr>
      </p:sp>
      <p:sp>
        <p:nvSpPr>
          <p:cNvPr id="27" name="Shape 561"/>
          <p:cNvSpPr/>
          <p:nvPr/>
        </p:nvSpPr>
        <p:spPr>
          <a:xfrm>
            <a:off x="7543571" y="1627632"/>
            <a:ext cx="566928" cy="566928"/>
          </a:xfrm>
          <a:prstGeom prst="ellipse">
            <a:avLst/>
          </a:prstGeom>
          <a:solidFill>
            <a:schemeClr val="tx2"/>
          </a:solidFill>
        </p:spPr>
      </p:sp>
      <p:pic>
        <p:nvPicPr>
          <p:cNvPr id="28" name="Icon 562" descr="preencoded.png"/>
          <p:cNvPicPr>
            <a:picLocks noChangeAspect="1"/>
          </p:cNvPicPr>
          <p:nvPr/>
        </p:nvPicPr>
        <p:blipFill>
          <a:blip r:embed="rId7"/>
          <a:stretch>
            <a:fillRect/>
          </a:stretch>
        </p:blipFill>
        <p:spPr>
          <a:xfrm>
            <a:off x="7680731" y="1764792"/>
            <a:ext cx="292608" cy="292608"/>
          </a:xfrm>
          <a:prstGeom prst="rect">
            <a:avLst/>
          </a:prstGeom>
        </p:spPr>
      </p:pic>
      <p:sp>
        <p:nvSpPr>
          <p:cNvPr id="29" name="Text 563"/>
          <p:cNvSpPr txBox="1"/>
          <p:nvPr/>
        </p:nvSpPr>
        <p:spPr>
          <a:xfrm>
            <a:off x="8732291" y="1627632"/>
            <a:ext cx="457200" cy="566928"/>
          </a:xfrm>
          <a:prstGeom prst="rect">
            <a:avLst/>
          </a:prstGeom>
          <a:noFill/>
        </p:spPr>
        <p:txBody>
          <a:bodyPr wrap="square" lIns="0" tIns="0" rIns="0" bIns="0" rtlCol="0" anchor="ctr"/>
          <a:lstStyle/>
          <a:p>
            <a:pPr marL="0" indent="0" algn="r">
              <a:buNone/>
            </a:pPr>
            <a:r>
              <a:rPr lang="en-US" sz="2800" b="1" dirty="0">
                <a:solidFill>
                  <a:schemeClr val="accent5"/>
                </a:solidFill>
                <a:latin typeface="+mj-lt"/>
                <a:ea typeface="+mj-lt"/>
                <a:cs typeface="+mj-lt"/>
              </a:rPr>
              <a:t>4</a:t>
            </a:r>
            <a:endParaRPr lang="en-US" sz="2800" dirty="0"/>
          </a:p>
        </p:txBody>
      </p:sp>
      <p:sp>
        <p:nvSpPr>
          <p:cNvPr id="30" name="Text 564"/>
          <p:cNvSpPr txBox="1"/>
          <p:nvPr/>
        </p:nvSpPr>
        <p:spPr>
          <a:xfrm>
            <a:off x="7543571" y="2331720"/>
            <a:ext cx="1645920" cy="320040"/>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ISO/IEC 25010</a:t>
            </a:r>
            <a:endParaRPr lang="en-US" sz="1600" dirty="0"/>
          </a:p>
        </p:txBody>
      </p:sp>
      <p:sp>
        <p:nvSpPr>
          <p:cNvPr id="31" name="Text 565"/>
          <p:cNvSpPr txBox="1"/>
          <p:nvPr/>
        </p:nvSpPr>
        <p:spPr>
          <a:xfrm>
            <a:off x="7543571" y="2697480"/>
            <a:ext cx="1645920" cy="1143000"/>
          </a:xfrm>
          <a:prstGeom prst="rect">
            <a:avLst/>
          </a:prstGeom>
          <a:noFill/>
        </p:spPr>
        <p:txBody>
          <a:bodyPr wrap="square" lIns="0" tIns="0" rIns="0" bIns="0" rtlCol="0" anchor="t"/>
          <a:lstStyle/>
          <a:p>
            <a:pPr marL="0" indent="0">
              <a:buNone/>
            </a:pPr>
            <a:r>
              <a:rPr lang="en-US" sz="1250" dirty="0">
                <a:solidFill>
                  <a:schemeClr val="tx1"/>
                </a:solidFill>
              </a:rPr>
              <a:t>Quality evaluation by 4 IT experts and the librarian (n = 5) across 8 characteristics.</a:t>
            </a:r>
            <a:endParaRPr lang="en-US" sz="1250" dirty="0"/>
          </a:p>
        </p:txBody>
      </p:sp>
      <p:pic>
        <p:nvPicPr>
          <p:cNvPr id="32" name="Icon 566" descr="preencoded.png"/>
          <p:cNvPicPr>
            <a:picLocks noChangeAspect="1"/>
          </p:cNvPicPr>
          <p:nvPr/>
        </p:nvPicPr>
        <p:blipFill>
          <a:blip r:embed="rId4"/>
          <a:stretch>
            <a:fillRect/>
          </a:stretch>
        </p:blipFill>
        <p:spPr>
          <a:xfrm>
            <a:off x="9401289" y="1828800"/>
            <a:ext cx="201168" cy="201168"/>
          </a:xfrm>
          <a:prstGeom prst="rect">
            <a:avLst/>
          </a:prstGeom>
        </p:spPr>
      </p:pic>
      <p:sp>
        <p:nvSpPr>
          <p:cNvPr id="33" name="Shape 567"/>
          <p:cNvSpPr/>
          <p:nvPr/>
        </p:nvSpPr>
        <p:spPr>
          <a:xfrm>
            <a:off x="9631375" y="1463040"/>
            <a:ext cx="2011680" cy="2423160"/>
          </a:xfrm>
          <a:prstGeom prst="roundRect">
            <a:avLst>
              <a:gd name="adj" fmla="val 4545"/>
            </a:avLst>
          </a:prstGeom>
          <a:solidFill>
            <a:schemeClr val="bg2"/>
          </a:solidFill>
        </p:spPr>
      </p:sp>
      <p:sp>
        <p:nvSpPr>
          <p:cNvPr id="34" name="Shape 568"/>
          <p:cNvSpPr/>
          <p:nvPr/>
        </p:nvSpPr>
        <p:spPr>
          <a:xfrm>
            <a:off x="9814255" y="1627632"/>
            <a:ext cx="566928" cy="566928"/>
          </a:xfrm>
          <a:prstGeom prst="ellipse">
            <a:avLst/>
          </a:prstGeom>
          <a:solidFill>
            <a:schemeClr val="accent1"/>
          </a:solidFill>
        </p:spPr>
      </p:sp>
      <p:pic>
        <p:nvPicPr>
          <p:cNvPr id="35" name="Icon 569" descr="preencoded.png"/>
          <p:cNvPicPr>
            <a:picLocks noChangeAspect="1"/>
          </p:cNvPicPr>
          <p:nvPr/>
        </p:nvPicPr>
        <p:blipFill>
          <a:blip r:embed="rId8"/>
          <a:stretch>
            <a:fillRect/>
          </a:stretch>
        </p:blipFill>
        <p:spPr>
          <a:xfrm>
            <a:off x="9951415" y="1764792"/>
            <a:ext cx="292608" cy="292608"/>
          </a:xfrm>
          <a:prstGeom prst="rect">
            <a:avLst/>
          </a:prstGeom>
        </p:spPr>
      </p:pic>
      <p:sp>
        <p:nvSpPr>
          <p:cNvPr id="36" name="Text 570"/>
          <p:cNvSpPr txBox="1"/>
          <p:nvPr/>
        </p:nvSpPr>
        <p:spPr>
          <a:xfrm>
            <a:off x="11002975" y="1627632"/>
            <a:ext cx="457200" cy="566928"/>
          </a:xfrm>
          <a:prstGeom prst="rect">
            <a:avLst/>
          </a:prstGeom>
          <a:noFill/>
        </p:spPr>
        <p:txBody>
          <a:bodyPr wrap="square" lIns="0" tIns="0" rIns="0" bIns="0" rtlCol="0" anchor="ctr"/>
          <a:lstStyle/>
          <a:p>
            <a:pPr marL="0" indent="0" algn="r">
              <a:buNone/>
            </a:pPr>
            <a:r>
              <a:rPr lang="en-US" sz="2800" b="1" dirty="0">
                <a:solidFill>
                  <a:schemeClr val="accent5"/>
                </a:solidFill>
                <a:latin typeface="+mj-lt"/>
                <a:ea typeface="+mj-lt"/>
                <a:cs typeface="+mj-lt"/>
              </a:rPr>
              <a:t>5</a:t>
            </a:r>
            <a:endParaRPr lang="en-US" sz="2800" dirty="0"/>
          </a:p>
        </p:txBody>
      </p:sp>
      <p:sp>
        <p:nvSpPr>
          <p:cNvPr id="37" name="Text 571"/>
          <p:cNvSpPr txBox="1"/>
          <p:nvPr/>
        </p:nvSpPr>
        <p:spPr>
          <a:xfrm>
            <a:off x="9814255" y="2331720"/>
            <a:ext cx="1645920" cy="320040"/>
          </a:xfrm>
          <a:prstGeom prst="rect">
            <a:avLst/>
          </a:prstGeom>
          <a:noFill/>
        </p:spPr>
        <p:txBody>
          <a:bodyPr wrap="square" lIns="0" tIns="0" rIns="0" bIns="0" rtlCol="0" anchor="t"/>
          <a:lstStyle/>
          <a:p>
            <a:pPr marL="0" indent="0">
              <a:buNone/>
            </a:pPr>
            <a:r>
              <a:rPr lang="en-US" sz="1600" b="1" dirty="0">
                <a:solidFill>
                  <a:schemeClr val="tx2"/>
                </a:solidFill>
                <a:latin typeface="+mj-lt"/>
                <a:ea typeface="+mj-lt"/>
                <a:cs typeface="+mj-lt"/>
              </a:rPr>
              <a:t>UAT</a:t>
            </a:r>
            <a:endParaRPr lang="en-US" sz="1600" dirty="0"/>
          </a:p>
        </p:txBody>
      </p:sp>
      <p:sp>
        <p:nvSpPr>
          <p:cNvPr id="38" name="Text 572"/>
          <p:cNvSpPr txBox="1"/>
          <p:nvPr/>
        </p:nvSpPr>
        <p:spPr>
          <a:xfrm>
            <a:off x="9814255" y="2697480"/>
            <a:ext cx="1645920" cy="1143000"/>
          </a:xfrm>
          <a:prstGeom prst="rect">
            <a:avLst/>
          </a:prstGeom>
          <a:noFill/>
        </p:spPr>
        <p:txBody>
          <a:bodyPr wrap="square" lIns="0" tIns="0" rIns="0" bIns="0" rtlCol="0" anchor="t"/>
          <a:lstStyle/>
          <a:p>
            <a:pPr marL="0" indent="0">
              <a:buNone/>
            </a:pPr>
            <a:r>
              <a:rPr lang="en-US" sz="1250" dirty="0">
                <a:solidFill>
                  <a:schemeClr val="tx1"/>
                </a:solidFill>
              </a:rPr>
              <a:t>User Acceptance Testing with 87 users: 71 students, 15 faculty, 1 librarian.</a:t>
            </a:r>
            <a:endParaRPr lang="en-US" sz="1250" dirty="0"/>
          </a:p>
        </p:txBody>
      </p:sp>
      <p:sp>
        <p:nvSpPr>
          <p:cNvPr id="39" name="Shape 573"/>
          <p:cNvSpPr/>
          <p:nvPr/>
        </p:nvSpPr>
        <p:spPr>
          <a:xfrm>
            <a:off x="521208" y="4087368"/>
            <a:ext cx="5907024" cy="1997910"/>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40" name="Screenshot 574" descr="Response-time checks run with Python timing functions"/>
          <p:cNvPicPr>
            <a:picLocks noChangeAspect="1"/>
          </p:cNvPicPr>
          <p:nvPr/>
        </p:nvPicPr>
        <p:blipFill>
          <a:blip r:embed="rId9"/>
          <a:stretch>
            <a:fillRect/>
          </a:stretch>
        </p:blipFill>
        <p:spPr>
          <a:xfrm>
            <a:off x="548640" y="4114800"/>
            <a:ext cx="5852160" cy="1943046"/>
          </a:xfrm>
          <a:prstGeom prst="rect">
            <a:avLst/>
          </a:prstGeom>
        </p:spPr>
      </p:pic>
      <p:sp>
        <p:nvSpPr>
          <p:cNvPr id="41" name="Text 575"/>
          <p:cNvSpPr txBox="1"/>
          <p:nvPr/>
        </p:nvSpPr>
        <p:spPr>
          <a:xfrm>
            <a:off x="548640" y="6149286"/>
            <a:ext cx="5852160" cy="256032"/>
          </a:xfrm>
          <a:prstGeom prst="rect">
            <a:avLst/>
          </a:prstGeom>
          <a:noFill/>
        </p:spPr>
        <p:txBody>
          <a:bodyPr wrap="square" lIns="0" tIns="0" rIns="0" bIns="0" rtlCol="0" anchor="t"/>
          <a:lstStyle/>
          <a:p>
            <a:pPr marL="0" indent="0">
              <a:buNone/>
            </a:pPr>
            <a:r>
              <a:rPr lang="en-US" sz="1150" i="1" dirty="0">
                <a:solidFill>
                  <a:schemeClr val="accent6"/>
                </a:solidFill>
              </a:rPr>
              <a:t>Figure 8. The actual unit testing of the system.</a:t>
            </a:r>
            <a:endParaRPr lang="en-US" sz="1150" dirty="0"/>
          </a:p>
        </p:txBody>
      </p:sp>
      <p:sp>
        <p:nvSpPr>
          <p:cNvPr id="42" name="Shape 576"/>
          <p:cNvSpPr/>
          <p:nvPr/>
        </p:nvSpPr>
        <p:spPr>
          <a:xfrm>
            <a:off x="6583680" y="4069080"/>
            <a:ext cx="5056632" cy="2194560"/>
          </a:xfrm>
          <a:prstGeom prst="roundRect">
            <a:avLst>
              <a:gd name="adj" fmla="val 4167"/>
            </a:avLst>
          </a:prstGeom>
          <a:solidFill>
            <a:schemeClr val="bg2"/>
          </a:solidFill>
          <a:ln w="19050">
            <a:solidFill>
              <a:schemeClr val="accent2"/>
            </a:solidFill>
            <a:prstDash val="dash"/>
          </a:ln>
        </p:spPr>
      </p:sp>
      <p:pic>
        <p:nvPicPr>
          <p:cNvPr id="43" name="Icon 577" descr="preencoded.png"/>
          <p:cNvPicPr>
            <a:picLocks noChangeAspect="1"/>
          </p:cNvPicPr>
          <p:nvPr/>
        </p:nvPicPr>
        <p:blipFill>
          <a:blip r:embed="rId10"/>
          <a:stretch>
            <a:fillRect/>
          </a:stretch>
        </p:blipFill>
        <p:spPr>
          <a:xfrm>
            <a:off x="6858000" y="4343400"/>
            <a:ext cx="457200" cy="457200"/>
          </a:xfrm>
          <a:prstGeom prst="rect">
            <a:avLst/>
          </a:prstGeom>
        </p:spPr>
      </p:pic>
      <p:sp>
        <p:nvSpPr>
          <p:cNvPr id="44" name="Text 578"/>
          <p:cNvSpPr txBox="1"/>
          <p:nvPr/>
        </p:nvSpPr>
        <p:spPr>
          <a:xfrm>
            <a:off x="7498080" y="4343400"/>
            <a:ext cx="3959352" cy="228600"/>
          </a:xfrm>
          <a:prstGeom prst="rect">
            <a:avLst/>
          </a:prstGeom>
          <a:noFill/>
        </p:spPr>
        <p:txBody>
          <a:bodyPr wrap="square" lIns="0" tIns="0" rIns="0" bIns="0" rtlCol="0" anchor="t"/>
          <a:lstStyle/>
          <a:p>
            <a:pPr marL="0" indent="0">
              <a:buNone/>
            </a:pPr>
            <a:r>
              <a:rPr lang="en-US" sz="1100" b="1" kern="0" spc="400" dirty="0">
                <a:solidFill>
                  <a:schemeClr val="accent2"/>
                </a:solidFill>
              </a:rPr>
              <a:t>IMAGE PLACEHOLDER</a:t>
            </a:r>
            <a:endParaRPr lang="en-US" sz="1100" dirty="0"/>
          </a:p>
        </p:txBody>
      </p:sp>
      <p:sp>
        <p:nvSpPr>
          <p:cNvPr id="45" name="Text 579"/>
          <p:cNvSpPr txBox="1"/>
          <p:nvPr/>
        </p:nvSpPr>
        <p:spPr>
          <a:xfrm>
            <a:off x="7498080" y="4581144"/>
            <a:ext cx="3959352" cy="274320"/>
          </a:xfrm>
          <a:prstGeom prst="rect">
            <a:avLst/>
          </a:prstGeom>
          <a:noFill/>
        </p:spPr>
        <p:txBody>
          <a:bodyPr wrap="square" lIns="0" tIns="0" rIns="0" bIns="0" rtlCol="0" anchor="t"/>
          <a:lstStyle/>
          <a:p>
            <a:pPr marL="0" indent="0">
              <a:buNone/>
            </a:pPr>
            <a:r>
              <a:rPr lang="en-US" sz="1400" b="1" dirty="0">
                <a:solidFill>
                  <a:schemeClr val="tx2"/>
                </a:solidFill>
                <a:latin typeface="+mj-lt"/>
                <a:ea typeface="+mj-lt"/>
                <a:cs typeface="+mj-lt"/>
              </a:rPr>
              <a:t>Photo: UAT / evaluation session</a:t>
            </a:r>
            <a:endParaRPr lang="en-US" sz="1400" dirty="0"/>
          </a:p>
        </p:txBody>
      </p:sp>
      <p:sp>
        <p:nvSpPr>
          <p:cNvPr id="46" name="Text 580"/>
          <p:cNvSpPr txBox="1"/>
          <p:nvPr/>
        </p:nvSpPr>
        <p:spPr>
          <a:xfrm>
            <a:off x="6858000" y="5029200"/>
            <a:ext cx="4507992" cy="731520"/>
          </a:xfrm>
          <a:prstGeom prst="rect">
            <a:avLst/>
          </a:prstGeom>
          <a:noFill/>
        </p:spPr>
        <p:txBody>
          <a:bodyPr wrap="square" lIns="0" tIns="0" rIns="0" bIns="0" rtlCol="0" anchor="t"/>
          <a:lstStyle/>
          <a:p>
            <a:pPr marL="0" indent="0">
              <a:buNone/>
            </a:pPr>
            <a:r>
              <a:rPr lang="en-US" sz="1200" dirty="0">
                <a:solidFill>
                  <a:schemeClr val="accent6"/>
                </a:solidFill>
              </a:rPr>
              <a:t>Insert a photo of respondents or experts evaluating the system (faces blurred or with consent).</a:t>
            </a:r>
            <a:endParaRPr lang="en-US" sz="1200" dirty="0"/>
          </a:p>
        </p:txBody>
      </p:sp>
      <p:sp>
        <p:nvSpPr>
          <p:cNvPr id="47" name="Text 581"/>
          <p:cNvSpPr txBox="1"/>
          <p:nvPr/>
        </p:nvSpPr>
        <p:spPr>
          <a:xfrm>
            <a:off x="6858000" y="5760720"/>
            <a:ext cx="4507992" cy="365760"/>
          </a:xfrm>
          <a:prstGeom prst="rect">
            <a:avLst/>
          </a:prstGeom>
          <a:noFill/>
        </p:spPr>
        <p:txBody>
          <a:bodyPr wrap="square" lIns="0" tIns="0" rIns="0" bIns="0" rtlCol="0" anchor="b"/>
          <a:lstStyle/>
          <a:p>
            <a:pPr marL="0" indent="0">
              <a:buNone/>
            </a:pPr>
            <a:r>
              <a:rPr lang="en-US" sz="1100" i="1" dirty="0">
                <a:solidFill>
                  <a:schemeClr val="tx1"/>
                </a:solidFill>
              </a:rPr>
              <a:t>Figure 9. User Acceptance Testing session.</a:t>
            </a:r>
            <a:endParaRPr lang="en-US" sz="110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09  |  RESULTS</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Results Overview: Module-Level Findings</a:t>
            </a:r>
            <a:endParaRPr lang="en-US" sz="2800" dirty="0"/>
          </a:p>
        </p:txBody>
      </p:sp>
      <p:sp>
        <p:nvSpPr>
          <p:cNvPr id="5" name="Shape 582"/>
          <p:cNvSpPr/>
          <p:nvPr/>
        </p:nvSpPr>
        <p:spPr>
          <a:xfrm>
            <a:off x="548640" y="1463040"/>
            <a:ext cx="2615184" cy="1691640"/>
          </a:xfrm>
          <a:prstGeom prst="roundRect">
            <a:avLst>
              <a:gd name="adj" fmla="val 5405"/>
            </a:avLst>
          </a:prstGeom>
          <a:solidFill>
            <a:schemeClr val="bg2"/>
          </a:solidFill>
        </p:spPr>
      </p:sp>
      <p:sp>
        <p:nvSpPr>
          <p:cNvPr id="6" name="Text 583"/>
          <p:cNvSpPr txBox="1"/>
          <p:nvPr/>
        </p:nvSpPr>
        <p:spPr>
          <a:xfrm>
            <a:off x="777240" y="1554480"/>
            <a:ext cx="2157984" cy="777240"/>
          </a:xfrm>
          <a:prstGeom prst="rect">
            <a:avLst/>
          </a:prstGeom>
          <a:noFill/>
        </p:spPr>
        <p:txBody>
          <a:bodyPr wrap="square" lIns="0" tIns="0" rIns="0" bIns="0" rtlCol="0" anchor="ctr"/>
          <a:lstStyle/>
          <a:p>
            <a:pPr marL="0" indent="0">
              <a:buNone/>
            </a:pPr>
            <a:r>
              <a:rPr lang="en-US" sz="4200" b="1" dirty="0">
                <a:solidFill>
                  <a:srgbClr val="9B1C24"/>
                </a:solidFill>
                <a:latin typeface="+mj-lt"/>
                <a:ea typeface="+mj-lt"/>
                <a:cs typeface="+mj-lt"/>
              </a:rPr>
              <a:t>5 / 5</a:t>
            </a:r>
            <a:endParaRPr lang="en-US" sz="4200" dirty="0"/>
          </a:p>
        </p:txBody>
      </p:sp>
      <p:sp>
        <p:nvSpPr>
          <p:cNvPr id="7" name="Text 584"/>
          <p:cNvSpPr txBox="1"/>
          <p:nvPr/>
        </p:nvSpPr>
        <p:spPr>
          <a:xfrm>
            <a:off x="777240" y="2377440"/>
            <a:ext cx="2157984" cy="731520"/>
          </a:xfrm>
          <a:prstGeom prst="rect">
            <a:avLst/>
          </a:prstGeom>
          <a:noFill/>
        </p:spPr>
        <p:txBody>
          <a:bodyPr wrap="square" lIns="0" tIns="0" rIns="0" bIns="0" rtlCol="0" anchor="t"/>
          <a:lstStyle/>
          <a:p>
            <a:pPr marL="0" indent="0">
              <a:buNone/>
            </a:pPr>
            <a:r>
              <a:rPr lang="en-US" sz="1250" dirty="0">
                <a:solidFill>
                  <a:schemeClr val="tx1"/>
                </a:solidFill>
              </a:rPr>
              <a:t>Off-campus tasks passed (login, cataloging, circulation, reports, search)</a:t>
            </a:r>
            <a:endParaRPr lang="en-US" sz="1250" dirty="0"/>
          </a:p>
        </p:txBody>
      </p:sp>
      <p:sp>
        <p:nvSpPr>
          <p:cNvPr id="8" name="Shape 585"/>
          <p:cNvSpPr/>
          <p:nvPr/>
        </p:nvSpPr>
        <p:spPr>
          <a:xfrm>
            <a:off x="3374136" y="1463040"/>
            <a:ext cx="2615184" cy="1691640"/>
          </a:xfrm>
          <a:prstGeom prst="roundRect">
            <a:avLst>
              <a:gd name="adj" fmla="val 5405"/>
            </a:avLst>
          </a:prstGeom>
          <a:solidFill>
            <a:schemeClr val="bg2"/>
          </a:solidFill>
        </p:spPr>
      </p:sp>
      <p:sp>
        <p:nvSpPr>
          <p:cNvPr id="9" name="Text 586"/>
          <p:cNvSpPr txBox="1"/>
          <p:nvPr/>
        </p:nvSpPr>
        <p:spPr>
          <a:xfrm>
            <a:off x="3602736" y="1554480"/>
            <a:ext cx="2157984" cy="777240"/>
          </a:xfrm>
          <a:prstGeom prst="rect">
            <a:avLst/>
          </a:prstGeom>
          <a:noFill/>
        </p:spPr>
        <p:txBody>
          <a:bodyPr wrap="square" lIns="0" tIns="0" rIns="0" bIns="0" rtlCol="0" anchor="ctr"/>
          <a:lstStyle/>
          <a:p>
            <a:pPr marL="0" indent="0">
              <a:buNone/>
            </a:pPr>
            <a:r>
              <a:rPr lang="en-US" sz="4200" b="1" dirty="0">
                <a:solidFill>
                  <a:srgbClr val="B8923A"/>
                </a:solidFill>
                <a:latin typeface="+mj-lt"/>
                <a:ea typeface="+mj-lt"/>
                <a:cs typeface="+mj-lt"/>
              </a:rPr>
              <a:t>4 / 4</a:t>
            </a:r>
            <a:endParaRPr lang="en-US" sz="4200" dirty="0"/>
          </a:p>
        </p:txBody>
      </p:sp>
      <p:sp>
        <p:nvSpPr>
          <p:cNvPr id="10" name="Text 587"/>
          <p:cNvSpPr txBox="1"/>
          <p:nvPr/>
        </p:nvSpPr>
        <p:spPr>
          <a:xfrm>
            <a:off x="3602736" y="2377440"/>
            <a:ext cx="2157984" cy="731520"/>
          </a:xfrm>
          <a:prstGeom prst="rect">
            <a:avLst/>
          </a:prstGeom>
          <a:noFill/>
        </p:spPr>
        <p:txBody>
          <a:bodyPr wrap="square" lIns="0" tIns="0" rIns="0" bIns="0" rtlCol="0" anchor="t"/>
          <a:lstStyle/>
          <a:p>
            <a:pPr marL="0" indent="0">
              <a:buNone/>
            </a:pPr>
            <a:r>
              <a:rPr lang="en-US" sz="1250" dirty="0">
                <a:solidFill>
                  <a:schemeClr val="tx1"/>
                </a:solidFill>
              </a:rPr>
              <a:t>End-to-end integration cases passed</a:t>
            </a:r>
            <a:endParaRPr lang="en-US" sz="1250" dirty="0"/>
          </a:p>
        </p:txBody>
      </p:sp>
      <p:sp>
        <p:nvSpPr>
          <p:cNvPr id="11" name="Shape 588"/>
          <p:cNvSpPr/>
          <p:nvPr/>
        </p:nvSpPr>
        <p:spPr>
          <a:xfrm>
            <a:off x="6199632" y="1463040"/>
            <a:ext cx="2615184" cy="1691640"/>
          </a:xfrm>
          <a:prstGeom prst="roundRect">
            <a:avLst>
              <a:gd name="adj" fmla="val 5405"/>
            </a:avLst>
          </a:prstGeom>
          <a:solidFill>
            <a:schemeClr val="bg2"/>
          </a:solidFill>
        </p:spPr>
      </p:sp>
      <p:sp>
        <p:nvSpPr>
          <p:cNvPr id="12" name="Text 589"/>
          <p:cNvSpPr txBox="1"/>
          <p:nvPr/>
        </p:nvSpPr>
        <p:spPr>
          <a:xfrm>
            <a:off x="6428232" y="1554480"/>
            <a:ext cx="2157984" cy="777240"/>
          </a:xfrm>
          <a:prstGeom prst="rect">
            <a:avLst/>
          </a:prstGeom>
          <a:noFill/>
        </p:spPr>
        <p:txBody>
          <a:bodyPr wrap="square" lIns="0" tIns="0" rIns="0" bIns="0" rtlCol="0" anchor="ctr"/>
          <a:lstStyle/>
          <a:p>
            <a:pPr marL="0" indent="0">
              <a:buNone/>
            </a:pPr>
            <a:r>
              <a:rPr lang="en-US" sz="4200" b="1" dirty="0">
                <a:solidFill>
                  <a:srgbClr val="2B6F6A"/>
                </a:solidFill>
                <a:latin typeface="+mj-lt"/>
                <a:ea typeface="+mj-lt"/>
                <a:cs typeface="+mj-lt"/>
              </a:rPr>
              <a:t>5 / 5</a:t>
            </a:r>
            <a:endParaRPr lang="en-US" sz="4200" dirty="0"/>
          </a:p>
        </p:txBody>
      </p:sp>
      <p:sp>
        <p:nvSpPr>
          <p:cNvPr id="13" name="Text 590"/>
          <p:cNvSpPr txBox="1"/>
          <p:nvPr/>
        </p:nvSpPr>
        <p:spPr>
          <a:xfrm>
            <a:off x="6428232" y="2377440"/>
            <a:ext cx="2157984" cy="731520"/>
          </a:xfrm>
          <a:prstGeom prst="rect">
            <a:avLst/>
          </a:prstGeom>
          <a:noFill/>
        </p:spPr>
        <p:txBody>
          <a:bodyPr wrap="square" lIns="0" tIns="0" rIns="0" bIns="0" rtlCol="0" anchor="t"/>
          <a:lstStyle/>
          <a:p>
            <a:pPr marL="0" indent="0">
              <a:buNone/>
            </a:pPr>
            <a:r>
              <a:rPr lang="en-US" sz="1250" dirty="0">
                <a:solidFill>
                  <a:schemeClr val="tx1"/>
                </a:solidFill>
              </a:rPr>
              <a:t>Analytics KPIs matched manual computation</a:t>
            </a:r>
            <a:endParaRPr lang="en-US" sz="1250" dirty="0"/>
          </a:p>
        </p:txBody>
      </p:sp>
      <p:sp>
        <p:nvSpPr>
          <p:cNvPr id="14" name="Shape 591"/>
          <p:cNvSpPr/>
          <p:nvPr/>
        </p:nvSpPr>
        <p:spPr>
          <a:xfrm>
            <a:off x="9025128" y="1463040"/>
            <a:ext cx="2615184" cy="1691640"/>
          </a:xfrm>
          <a:prstGeom prst="roundRect">
            <a:avLst>
              <a:gd name="adj" fmla="val 5405"/>
            </a:avLst>
          </a:prstGeom>
          <a:solidFill>
            <a:schemeClr val="bg2"/>
          </a:solidFill>
        </p:spPr>
      </p:sp>
      <p:sp>
        <p:nvSpPr>
          <p:cNvPr id="15" name="Text 592"/>
          <p:cNvSpPr txBox="1"/>
          <p:nvPr/>
        </p:nvSpPr>
        <p:spPr>
          <a:xfrm>
            <a:off x="9253728" y="1554480"/>
            <a:ext cx="2157984" cy="777240"/>
          </a:xfrm>
          <a:prstGeom prst="rect">
            <a:avLst/>
          </a:prstGeom>
          <a:noFill/>
        </p:spPr>
        <p:txBody>
          <a:bodyPr wrap="square" lIns="0" tIns="0" rIns="0" bIns="0" rtlCol="0" anchor="ctr"/>
          <a:lstStyle/>
          <a:p>
            <a:pPr marL="0" indent="0">
              <a:buNone/>
            </a:pPr>
            <a:r>
              <a:rPr lang="en-US" sz="4200" b="1" dirty="0">
                <a:solidFill>
                  <a:srgbClr val="14213D"/>
                </a:solidFill>
                <a:latin typeface="+mj-lt"/>
                <a:ea typeface="+mj-lt"/>
                <a:cs typeface="+mj-lt"/>
              </a:rPr>
              <a:t>7 / 7</a:t>
            </a:r>
            <a:endParaRPr lang="en-US" sz="4200" dirty="0"/>
          </a:p>
        </p:txBody>
      </p:sp>
      <p:sp>
        <p:nvSpPr>
          <p:cNvPr id="16" name="Text 593"/>
          <p:cNvSpPr txBox="1"/>
          <p:nvPr/>
        </p:nvSpPr>
        <p:spPr>
          <a:xfrm>
            <a:off x="9253728" y="2377440"/>
            <a:ext cx="2157984" cy="731520"/>
          </a:xfrm>
          <a:prstGeom prst="rect">
            <a:avLst/>
          </a:prstGeom>
          <a:noFill/>
        </p:spPr>
        <p:txBody>
          <a:bodyPr wrap="square" lIns="0" tIns="0" rIns="0" bIns="0" rtlCol="0" anchor="t"/>
          <a:lstStyle/>
          <a:p>
            <a:pPr marL="0" indent="0">
              <a:buNone/>
            </a:pPr>
            <a:r>
              <a:rPr lang="en-US" sz="1250" dirty="0">
                <a:solidFill>
                  <a:schemeClr val="tx1"/>
                </a:solidFill>
              </a:rPr>
              <a:t>Security tests passed; audit verified</a:t>
            </a:r>
            <a:endParaRPr lang="en-US" sz="1250" dirty="0"/>
          </a:p>
        </p:txBody>
      </p:sp>
      <p:sp>
        <p:nvSpPr>
          <p:cNvPr id="17" name="Shape 594"/>
          <p:cNvSpPr/>
          <p:nvPr/>
        </p:nvSpPr>
        <p:spPr>
          <a:xfrm>
            <a:off x="521208" y="3355848"/>
            <a:ext cx="3986784" cy="2696396"/>
          </a:xfrm>
          <a:prstGeom prst="rect">
            <a:avLst/>
          </a:prstGeom>
          <a:solidFill>
            <a:schemeClr val="bg1"/>
          </a:solidFill>
          <a:ln w="12700">
            <a:solidFill>
              <a:schemeClr val="accent5"/>
            </a:solidFill>
            <a:prstDash val="solid"/>
          </a:ln>
          <a:effectLst>
            <a:outerShdw blurRad="76200" dist="25400" dir="5400000" algn="bl" rotWithShape="0">
              <a:srgbClr val="000000">
                <a:alpha val="10000"/>
              </a:srgbClr>
            </a:outerShdw>
          </a:effectLst>
        </p:spPr>
      </p:sp>
      <p:pic>
        <p:nvPicPr>
          <p:cNvPr id="18" name="Screenshot 595" descr="Book details, off-campus test evidence"/>
          <p:cNvPicPr>
            <a:picLocks noChangeAspect="1"/>
          </p:cNvPicPr>
          <p:nvPr/>
        </p:nvPicPr>
        <p:blipFill>
          <a:blip r:embed="rId3"/>
          <a:stretch>
            <a:fillRect/>
          </a:stretch>
        </p:blipFill>
        <p:spPr>
          <a:xfrm>
            <a:off x="548640" y="3383280"/>
            <a:ext cx="3931920" cy="2641532"/>
          </a:xfrm>
          <a:prstGeom prst="rect">
            <a:avLst/>
          </a:prstGeom>
        </p:spPr>
      </p:pic>
      <p:sp>
        <p:nvSpPr>
          <p:cNvPr id="19" name="Text 596"/>
          <p:cNvSpPr txBox="1"/>
          <p:nvPr/>
        </p:nvSpPr>
        <p:spPr>
          <a:xfrm>
            <a:off x="548640" y="6134540"/>
            <a:ext cx="3931920" cy="256032"/>
          </a:xfrm>
          <a:prstGeom prst="rect">
            <a:avLst/>
          </a:prstGeom>
          <a:noFill/>
        </p:spPr>
        <p:txBody>
          <a:bodyPr wrap="square" lIns="0" tIns="0" rIns="0" bIns="0" rtlCol="0" anchor="t"/>
          <a:lstStyle/>
          <a:p>
            <a:pPr marL="0" indent="0">
              <a:buNone/>
            </a:pPr>
            <a:r>
              <a:rPr lang="en-US" sz="1200" i="1" dirty="0">
                <a:solidFill>
                  <a:schemeClr val="accent6"/>
                </a:solidFill>
              </a:rPr>
              <a:t>Evidence: book details, off-campus test</a:t>
            </a:r>
            <a:endParaRPr lang="en-US" sz="1200" dirty="0"/>
          </a:p>
        </p:txBody>
      </p:sp>
      <p:sp>
        <p:nvSpPr>
          <p:cNvPr id="20" name="Shape 597"/>
          <p:cNvSpPr/>
          <p:nvPr/>
        </p:nvSpPr>
        <p:spPr>
          <a:xfrm>
            <a:off x="4709160" y="3383280"/>
            <a:ext cx="6931152" cy="621792"/>
          </a:xfrm>
          <a:prstGeom prst="roundRect">
            <a:avLst>
              <a:gd name="adj" fmla="val 14706"/>
            </a:avLst>
          </a:prstGeom>
          <a:solidFill>
            <a:schemeClr val="bg2"/>
          </a:solidFill>
        </p:spPr>
      </p:sp>
      <p:sp>
        <p:nvSpPr>
          <p:cNvPr id="21" name="Shape 598"/>
          <p:cNvSpPr/>
          <p:nvPr/>
        </p:nvSpPr>
        <p:spPr>
          <a:xfrm>
            <a:off x="4846320" y="3474720"/>
            <a:ext cx="438912" cy="438912"/>
          </a:xfrm>
          <a:prstGeom prst="ellipse">
            <a:avLst/>
          </a:prstGeom>
          <a:solidFill>
            <a:srgbClr val="2B6F6A"/>
          </a:solidFill>
        </p:spPr>
      </p:sp>
      <p:pic>
        <p:nvPicPr>
          <p:cNvPr id="22" name="Icon 599" descr="preencoded.png"/>
          <p:cNvPicPr>
            <a:picLocks noChangeAspect="1"/>
          </p:cNvPicPr>
          <p:nvPr/>
        </p:nvPicPr>
        <p:blipFill>
          <a:blip r:embed="rId4"/>
          <a:stretch>
            <a:fillRect/>
          </a:stretch>
        </p:blipFill>
        <p:spPr>
          <a:xfrm>
            <a:off x="4956048" y="3584448"/>
            <a:ext cx="219456" cy="219456"/>
          </a:xfrm>
          <a:prstGeom prst="rect">
            <a:avLst/>
          </a:prstGeom>
        </p:spPr>
      </p:pic>
      <p:sp>
        <p:nvSpPr>
          <p:cNvPr id="23" name="Text 600"/>
          <p:cNvSpPr txBox="1"/>
          <p:nvPr/>
        </p:nvSpPr>
        <p:spPr>
          <a:xfrm>
            <a:off x="5486400" y="3383280"/>
            <a:ext cx="6035040" cy="621792"/>
          </a:xfrm>
          <a:prstGeom prst="rect">
            <a:avLst/>
          </a:prstGeom>
          <a:noFill/>
        </p:spPr>
        <p:txBody>
          <a:bodyPr wrap="square" lIns="0" tIns="0" rIns="0" bIns="0" rtlCol="0" anchor="ctr"/>
          <a:lstStyle/>
          <a:p>
            <a:pPr marL="0" indent="0">
              <a:buNone/>
            </a:pPr>
            <a:r>
              <a:rPr lang="en-US" sz="1400" b="1" dirty="0">
                <a:solidFill>
                  <a:schemeClr val="tx2"/>
                </a:solidFill>
              </a:rPr>
              <a:t>Usability: </a:t>
            </a:r>
            <a:r>
              <a:rPr lang="en-US" sz="1400" dirty="0">
                <a:solidFill>
                  <a:schemeClr val="tx1"/>
                </a:solidFill>
              </a:rPr>
              <a:t>UAT 3.38 and ISO 3.92, workable without manual logs.</a:t>
            </a:r>
            <a:endParaRPr lang="en-US" sz="1400" dirty="0"/>
          </a:p>
        </p:txBody>
      </p:sp>
      <p:sp>
        <p:nvSpPr>
          <p:cNvPr id="24" name="Shape 601"/>
          <p:cNvSpPr/>
          <p:nvPr/>
        </p:nvSpPr>
        <p:spPr>
          <a:xfrm>
            <a:off x="4709160" y="4096512"/>
            <a:ext cx="6931152" cy="621792"/>
          </a:xfrm>
          <a:prstGeom prst="roundRect">
            <a:avLst>
              <a:gd name="adj" fmla="val 14706"/>
            </a:avLst>
          </a:prstGeom>
          <a:solidFill>
            <a:schemeClr val="bg2"/>
          </a:solidFill>
        </p:spPr>
      </p:sp>
      <p:sp>
        <p:nvSpPr>
          <p:cNvPr id="25" name="Shape 602"/>
          <p:cNvSpPr/>
          <p:nvPr/>
        </p:nvSpPr>
        <p:spPr>
          <a:xfrm>
            <a:off x="4846320" y="4187952"/>
            <a:ext cx="438912" cy="438912"/>
          </a:xfrm>
          <a:prstGeom prst="ellipse">
            <a:avLst/>
          </a:prstGeom>
          <a:solidFill>
            <a:srgbClr val="9B1C24"/>
          </a:solidFill>
        </p:spPr>
      </p:sp>
      <p:pic>
        <p:nvPicPr>
          <p:cNvPr id="26" name="Icon 603" descr="preencoded.png"/>
          <p:cNvPicPr>
            <a:picLocks noChangeAspect="1"/>
          </p:cNvPicPr>
          <p:nvPr/>
        </p:nvPicPr>
        <p:blipFill>
          <a:blip r:embed="rId5"/>
          <a:stretch>
            <a:fillRect/>
          </a:stretch>
        </p:blipFill>
        <p:spPr>
          <a:xfrm>
            <a:off x="4956048" y="4297680"/>
            <a:ext cx="219456" cy="219456"/>
          </a:xfrm>
          <a:prstGeom prst="rect">
            <a:avLst/>
          </a:prstGeom>
        </p:spPr>
      </p:pic>
      <p:sp>
        <p:nvSpPr>
          <p:cNvPr id="27" name="Text 604"/>
          <p:cNvSpPr txBox="1"/>
          <p:nvPr/>
        </p:nvSpPr>
        <p:spPr>
          <a:xfrm>
            <a:off x="5486400" y="4096512"/>
            <a:ext cx="6035040" cy="621792"/>
          </a:xfrm>
          <a:prstGeom prst="rect">
            <a:avLst/>
          </a:prstGeom>
          <a:noFill/>
        </p:spPr>
        <p:txBody>
          <a:bodyPr wrap="square" lIns="0" tIns="0" rIns="0" bIns="0" rtlCol="0" anchor="ctr"/>
          <a:lstStyle/>
          <a:p>
            <a:pPr marL="0" indent="0">
              <a:buNone/>
            </a:pPr>
            <a:r>
              <a:rPr lang="en-US" sz="1400" b="1" dirty="0">
                <a:solidFill>
                  <a:schemeClr val="tx2"/>
                </a:solidFill>
              </a:rPr>
              <a:t>Security: </a:t>
            </a:r>
            <a:r>
              <a:rPr lang="en-US" sz="1400" dirty="0">
                <a:solidFill>
                  <a:schemeClr val="tx1"/>
                </a:solidFill>
              </a:rPr>
              <a:t>UAT 3.31 and ISO 3.88.</a:t>
            </a:r>
            <a:endParaRPr lang="en-US" sz="1400" dirty="0"/>
          </a:p>
        </p:txBody>
      </p:sp>
      <p:sp>
        <p:nvSpPr>
          <p:cNvPr id="28" name="Shape 605"/>
          <p:cNvSpPr/>
          <p:nvPr/>
        </p:nvSpPr>
        <p:spPr>
          <a:xfrm>
            <a:off x="4709160" y="4809744"/>
            <a:ext cx="6931152" cy="786384"/>
          </a:xfrm>
          <a:prstGeom prst="roundRect">
            <a:avLst>
              <a:gd name="adj" fmla="val 11628"/>
            </a:avLst>
          </a:prstGeom>
          <a:solidFill>
            <a:schemeClr val="bg2"/>
          </a:solidFill>
        </p:spPr>
      </p:sp>
      <p:sp>
        <p:nvSpPr>
          <p:cNvPr id="29" name="Shape 606"/>
          <p:cNvSpPr/>
          <p:nvPr/>
        </p:nvSpPr>
        <p:spPr>
          <a:xfrm>
            <a:off x="4846320" y="4983480"/>
            <a:ext cx="438912" cy="438912"/>
          </a:xfrm>
          <a:prstGeom prst="ellipse">
            <a:avLst/>
          </a:prstGeom>
          <a:solidFill>
            <a:srgbClr val="B8923A"/>
          </a:solidFill>
        </p:spPr>
      </p:sp>
      <p:pic>
        <p:nvPicPr>
          <p:cNvPr id="30" name="Icon 607" descr="preencoded.png"/>
          <p:cNvPicPr>
            <a:picLocks noChangeAspect="1"/>
          </p:cNvPicPr>
          <p:nvPr/>
        </p:nvPicPr>
        <p:blipFill>
          <a:blip r:embed="rId6"/>
          <a:stretch>
            <a:fillRect/>
          </a:stretch>
        </p:blipFill>
        <p:spPr>
          <a:xfrm>
            <a:off x="4956048" y="5093208"/>
            <a:ext cx="219456" cy="219456"/>
          </a:xfrm>
          <a:prstGeom prst="rect">
            <a:avLst/>
          </a:prstGeom>
        </p:spPr>
      </p:pic>
      <p:sp>
        <p:nvSpPr>
          <p:cNvPr id="31" name="Text 608"/>
          <p:cNvSpPr txBox="1"/>
          <p:nvPr/>
        </p:nvSpPr>
        <p:spPr>
          <a:xfrm>
            <a:off x="5486400" y="4809744"/>
            <a:ext cx="6035040" cy="786384"/>
          </a:xfrm>
          <a:prstGeom prst="rect">
            <a:avLst/>
          </a:prstGeom>
          <a:noFill/>
        </p:spPr>
        <p:txBody>
          <a:bodyPr wrap="square" lIns="0" tIns="0" rIns="0" bIns="0" rtlCol="0" anchor="ctr"/>
          <a:lstStyle/>
          <a:p>
            <a:pPr marL="0" indent="0">
              <a:buNone/>
            </a:pPr>
            <a:r>
              <a:rPr lang="en-US" sz="1400" b="1" dirty="0">
                <a:solidFill>
                  <a:schemeClr val="tx2"/>
                </a:solidFill>
              </a:rPr>
              <a:t>Performance: </a:t>
            </a:r>
            <a:r>
              <a:rPr lang="en-US" sz="1400" dirty="0">
                <a:solidFill>
                  <a:schemeClr val="tx1"/>
                </a:solidFill>
              </a:rPr>
              <a:t>search, borrow/return, and report generation within acceptable response time.</a:t>
            </a:r>
            <a:endParaRPr lang="en-US" sz="1400" dirty="0"/>
          </a:p>
        </p:txBody>
      </p:sp>
      <p:sp>
        <p:nvSpPr>
          <p:cNvPr id="32" name="Shape 609"/>
          <p:cNvSpPr/>
          <p:nvPr/>
        </p:nvSpPr>
        <p:spPr>
          <a:xfrm>
            <a:off x="4709160" y="5687568"/>
            <a:ext cx="6931152" cy="566928"/>
          </a:xfrm>
          <a:prstGeom prst="roundRect">
            <a:avLst>
              <a:gd name="adj" fmla="val 16129"/>
            </a:avLst>
          </a:prstGeom>
          <a:solidFill>
            <a:schemeClr val="tx2"/>
          </a:solidFill>
        </p:spPr>
      </p:sp>
      <p:pic>
        <p:nvPicPr>
          <p:cNvPr id="33" name="Icon 610" descr="preencoded.png"/>
          <p:cNvPicPr>
            <a:picLocks noChangeAspect="1"/>
          </p:cNvPicPr>
          <p:nvPr/>
        </p:nvPicPr>
        <p:blipFill>
          <a:blip r:embed="rId7"/>
          <a:stretch>
            <a:fillRect/>
          </a:stretch>
        </p:blipFill>
        <p:spPr>
          <a:xfrm>
            <a:off x="4937760" y="5769864"/>
            <a:ext cx="402336" cy="402336"/>
          </a:xfrm>
          <a:prstGeom prst="rect">
            <a:avLst/>
          </a:prstGeom>
        </p:spPr>
      </p:pic>
      <p:sp>
        <p:nvSpPr>
          <p:cNvPr id="34" name="Text 611"/>
          <p:cNvSpPr txBox="1"/>
          <p:nvPr/>
        </p:nvSpPr>
        <p:spPr>
          <a:xfrm>
            <a:off x="5486400" y="5687568"/>
            <a:ext cx="6035040" cy="566928"/>
          </a:xfrm>
          <a:prstGeom prst="rect">
            <a:avLst/>
          </a:prstGeom>
          <a:noFill/>
        </p:spPr>
        <p:txBody>
          <a:bodyPr wrap="square" lIns="0" tIns="0" rIns="0" bIns="0" rtlCol="0" anchor="ctr"/>
          <a:lstStyle/>
          <a:p>
            <a:pPr marL="0" indent="0">
              <a:buNone/>
            </a:pPr>
            <a:r>
              <a:rPr lang="en-US" sz="1600" b="1" dirty="0">
                <a:solidFill>
                  <a:schemeClr val="bg1"/>
                </a:solidFill>
                <a:latin typeface="+mj-lt"/>
                <a:ea typeface="+mj-lt"/>
                <a:cs typeface="+mj-lt"/>
              </a:rPr>
              <a:t>Every section mean falls within “Highly Acceptable” (3.26 to 4.00).</a:t>
            </a:r>
            <a:endParaRPr lang="en-US" sz="160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09  |  RESULTS</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ISO/IEC 25010:2011 Evaluation Results</a:t>
            </a:r>
            <a:endParaRPr lang="en-US" sz="2800" dirty="0"/>
          </a:p>
        </p:txBody>
      </p:sp>
      <p:graphicFrame>
        <p:nvGraphicFramePr>
          <p:cNvPr id="5" name="Chart 0"/>
          <p:cNvGraphicFramePr/>
          <p:nvPr/>
        </p:nvGraphicFramePr>
        <p:xfrm>
          <a:off x="548640" y="1417320"/>
          <a:ext cx="722376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612"/>
          <p:cNvSpPr/>
          <p:nvPr/>
        </p:nvSpPr>
        <p:spPr>
          <a:xfrm>
            <a:off x="640080" y="6053328"/>
            <a:ext cx="146304" cy="146304"/>
          </a:xfrm>
          <a:prstGeom prst="ellipse">
            <a:avLst/>
          </a:prstGeom>
          <a:solidFill>
            <a:schemeClr val="accent3"/>
          </a:solidFill>
        </p:spPr>
      </p:sp>
      <p:sp>
        <p:nvSpPr>
          <p:cNvPr id="7" name="Text 613"/>
          <p:cNvSpPr txBox="1"/>
          <p:nvPr/>
        </p:nvSpPr>
        <p:spPr>
          <a:xfrm>
            <a:off x="850392" y="6016752"/>
            <a:ext cx="914400" cy="228600"/>
          </a:xfrm>
          <a:prstGeom prst="rect">
            <a:avLst/>
          </a:prstGeom>
          <a:noFill/>
        </p:spPr>
        <p:txBody>
          <a:bodyPr wrap="square" lIns="0" tIns="0" rIns="0" bIns="0" rtlCol="0" anchor="t"/>
          <a:lstStyle/>
          <a:p>
            <a:pPr marL="0" indent="0">
              <a:buNone/>
            </a:pPr>
            <a:r>
              <a:rPr lang="en-US" sz="1200" dirty="0">
                <a:solidFill>
                  <a:schemeClr val="accent6"/>
                </a:solidFill>
              </a:rPr>
              <a:t>Highest</a:t>
            </a:r>
            <a:endParaRPr lang="en-US" sz="1200" dirty="0"/>
          </a:p>
        </p:txBody>
      </p:sp>
      <p:sp>
        <p:nvSpPr>
          <p:cNvPr id="8" name="Shape 614"/>
          <p:cNvSpPr/>
          <p:nvPr/>
        </p:nvSpPr>
        <p:spPr>
          <a:xfrm>
            <a:off x="1783080" y="6053328"/>
            <a:ext cx="146304" cy="146304"/>
          </a:xfrm>
          <a:prstGeom prst="ellipse">
            <a:avLst/>
          </a:prstGeom>
          <a:solidFill>
            <a:schemeClr val="accent1"/>
          </a:solidFill>
        </p:spPr>
      </p:sp>
      <p:sp>
        <p:nvSpPr>
          <p:cNvPr id="9" name="Text 615"/>
          <p:cNvSpPr txBox="1"/>
          <p:nvPr/>
        </p:nvSpPr>
        <p:spPr>
          <a:xfrm>
            <a:off x="1993392" y="6016752"/>
            <a:ext cx="914400" cy="228600"/>
          </a:xfrm>
          <a:prstGeom prst="rect">
            <a:avLst/>
          </a:prstGeom>
          <a:noFill/>
        </p:spPr>
        <p:txBody>
          <a:bodyPr wrap="square" lIns="0" tIns="0" rIns="0" bIns="0" rtlCol="0" anchor="t"/>
          <a:lstStyle/>
          <a:p>
            <a:pPr marL="0" indent="0">
              <a:buNone/>
            </a:pPr>
            <a:r>
              <a:rPr lang="en-US" sz="1200" dirty="0">
                <a:solidFill>
                  <a:schemeClr val="accent6"/>
                </a:solidFill>
              </a:rPr>
              <a:t>Lowest</a:t>
            </a:r>
            <a:endParaRPr lang="en-US" sz="1200" dirty="0"/>
          </a:p>
        </p:txBody>
      </p:sp>
      <p:sp>
        <p:nvSpPr>
          <p:cNvPr id="10" name="Shape 616"/>
          <p:cNvSpPr/>
          <p:nvPr/>
        </p:nvSpPr>
        <p:spPr>
          <a:xfrm>
            <a:off x="2880360" y="6053328"/>
            <a:ext cx="146304" cy="146304"/>
          </a:xfrm>
          <a:prstGeom prst="ellipse">
            <a:avLst/>
          </a:prstGeom>
          <a:solidFill>
            <a:schemeClr val="tx2"/>
          </a:solidFill>
        </p:spPr>
      </p:sp>
      <p:sp>
        <p:nvSpPr>
          <p:cNvPr id="11" name="Text 617"/>
          <p:cNvSpPr txBox="1"/>
          <p:nvPr/>
        </p:nvSpPr>
        <p:spPr>
          <a:xfrm>
            <a:off x="3090672" y="6016752"/>
            <a:ext cx="914400" cy="228600"/>
          </a:xfrm>
          <a:prstGeom prst="rect">
            <a:avLst/>
          </a:prstGeom>
          <a:noFill/>
        </p:spPr>
        <p:txBody>
          <a:bodyPr wrap="square" lIns="0" tIns="0" rIns="0" bIns="0" rtlCol="0" anchor="t"/>
          <a:lstStyle/>
          <a:p>
            <a:pPr marL="0" indent="0">
              <a:buNone/>
            </a:pPr>
            <a:r>
              <a:rPr lang="en-US" sz="1200" dirty="0">
                <a:solidFill>
                  <a:schemeClr val="accent6"/>
                </a:solidFill>
              </a:rPr>
              <a:t>Other</a:t>
            </a:r>
            <a:endParaRPr lang="en-US" sz="1200" dirty="0"/>
          </a:p>
        </p:txBody>
      </p:sp>
      <p:sp>
        <p:nvSpPr>
          <p:cNvPr id="12" name="Shape 618"/>
          <p:cNvSpPr/>
          <p:nvPr/>
        </p:nvSpPr>
        <p:spPr>
          <a:xfrm>
            <a:off x="8046720" y="1508760"/>
            <a:ext cx="3593592" cy="1783080"/>
          </a:xfrm>
          <a:prstGeom prst="roundRect">
            <a:avLst>
              <a:gd name="adj" fmla="val 5128"/>
            </a:avLst>
          </a:prstGeom>
          <a:solidFill>
            <a:schemeClr val="tx2"/>
          </a:solidFill>
        </p:spPr>
      </p:sp>
      <p:sp>
        <p:nvSpPr>
          <p:cNvPr id="13" name="Text 619"/>
          <p:cNvSpPr txBox="1"/>
          <p:nvPr/>
        </p:nvSpPr>
        <p:spPr>
          <a:xfrm>
            <a:off x="8046720" y="1600200"/>
            <a:ext cx="3593592" cy="960120"/>
          </a:xfrm>
          <a:prstGeom prst="rect">
            <a:avLst/>
          </a:prstGeom>
          <a:noFill/>
        </p:spPr>
        <p:txBody>
          <a:bodyPr wrap="square" lIns="0" tIns="0" rIns="0" bIns="0" rtlCol="0" anchor="ctr"/>
          <a:lstStyle/>
          <a:p>
            <a:pPr marL="0" indent="0" algn="ctr">
              <a:buNone/>
            </a:pPr>
            <a:r>
              <a:rPr lang="en-US" sz="5800" b="1" dirty="0">
                <a:solidFill>
                  <a:schemeClr val="accent2"/>
                </a:solidFill>
                <a:latin typeface="+mj-lt"/>
                <a:ea typeface="+mj-lt"/>
                <a:cs typeface="+mj-lt"/>
              </a:rPr>
              <a:t>3.81</a:t>
            </a:r>
            <a:endParaRPr lang="en-US" sz="5800" dirty="0"/>
          </a:p>
        </p:txBody>
      </p:sp>
      <p:sp>
        <p:nvSpPr>
          <p:cNvPr id="14" name="Text 620"/>
          <p:cNvSpPr txBox="1"/>
          <p:nvPr/>
        </p:nvSpPr>
        <p:spPr>
          <a:xfrm>
            <a:off x="8275320" y="2606040"/>
            <a:ext cx="3136392" cy="594360"/>
          </a:xfrm>
          <a:prstGeom prst="rect">
            <a:avLst/>
          </a:prstGeom>
          <a:noFill/>
        </p:spPr>
        <p:txBody>
          <a:bodyPr wrap="square" lIns="0" tIns="0" rIns="0" bIns="0" rtlCol="0" anchor="t"/>
          <a:lstStyle/>
          <a:p>
            <a:pPr marL="0" indent="0" algn="ctr">
              <a:buNone/>
            </a:pPr>
            <a:r>
              <a:rPr lang="en-US" sz="1400" dirty="0">
                <a:solidFill>
                  <a:schemeClr val="bg1"/>
                </a:solidFill>
              </a:rPr>
              <a:t>Grand mean: Highly Acceptable (n = 5)</a:t>
            </a:r>
            <a:endParaRPr lang="en-US" sz="1400" dirty="0"/>
          </a:p>
        </p:txBody>
      </p:sp>
      <p:sp>
        <p:nvSpPr>
          <p:cNvPr id="15" name="Shape 621"/>
          <p:cNvSpPr/>
          <p:nvPr/>
        </p:nvSpPr>
        <p:spPr>
          <a:xfrm>
            <a:off x="8046720" y="3474720"/>
            <a:ext cx="3593592" cy="822960"/>
          </a:xfrm>
          <a:prstGeom prst="roundRect">
            <a:avLst>
              <a:gd name="adj" fmla="val 11111"/>
            </a:avLst>
          </a:prstGeom>
          <a:solidFill>
            <a:schemeClr val="bg2"/>
          </a:solidFill>
        </p:spPr>
      </p:sp>
      <p:sp>
        <p:nvSpPr>
          <p:cNvPr id="16" name="Shape 622"/>
          <p:cNvSpPr/>
          <p:nvPr/>
        </p:nvSpPr>
        <p:spPr>
          <a:xfrm>
            <a:off x="8183880" y="3685032"/>
            <a:ext cx="402336" cy="402336"/>
          </a:xfrm>
          <a:prstGeom prst="ellipse">
            <a:avLst/>
          </a:prstGeom>
          <a:solidFill>
            <a:schemeClr val="accent3"/>
          </a:solidFill>
        </p:spPr>
      </p:sp>
      <p:pic>
        <p:nvPicPr>
          <p:cNvPr id="17" name="Icon 623" descr="preencoded.png"/>
          <p:cNvPicPr>
            <a:picLocks noChangeAspect="1"/>
          </p:cNvPicPr>
          <p:nvPr/>
        </p:nvPicPr>
        <p:blipFill>
          <a:blip r:embed="rId4"/>
          <a:stretch>
            <a:fillRect/>
          </a:stretch>
        </p:blipFill>
        <p:spPr>
          <a:xfrm>
            <a:off x="8284464" y="3785616"/>
            <a:ext cx="201168" cy="201168"/>
          </a:xfrm>
          <a:prstGeom prst="rect">
            <a:avLst/>
          </a:prstGeom>
        </p:spPr>
      </p:pic>
      <p:sp>
        <p:nvSpPr>
          <p:cNvPr id="18" name="Text 624"/>
          <p:cNvSpPr txBox="1"/>
          <p:nvPr/>
        </p:nvSpPr>
        <p:spPr>
          <a:xfrm>
            <a:off x="8732520" y="3474720"/>
            <a:ext cx="2788920" cy="822960"/>
          </a:xfrm>
          <a:prstGeom prst="rect">
            <a:avLst/>
          </a:prstGeom>
          <a:noFill/>
        </p:spPr>
        <p:txBody>
          <a:bodyPr wrap="square" lIns="0" tIns="0" rIns="0" bIns="0" rtlCol="0" anchor="ctr"/>
          <a:lstStyle/>
          <a:p>
            <a:pPr marL="0" indent="0">
              <a:buNone/>
            </a:pPr>
            <a:r>
              <a:rPr lang="en-US" sz="1250" dirty="0">
                <a:solidFill>
                  <a:schemeClr val="tx1"/>
                </a:solidFill>
              </a:rPr>
              <a:t>Highest: Functional Suitability, Compatibility, Usability (3.92 each).</a:t>
            </a:r>
            <a:endParaRPr lang="en-US" sz="1250" dirty="0"/>
          </a:p>
        </p:txBody>
      </p:sp>
      <p:sp>
        <p:nvSpPr>
          <p:cNvPr id="19" name="Shape 625"/>
          <p:cNvSpPr/>
          <p:nvPr/>
        </p:nvSpPr>
        <p:spPr>
          <a:xfrm>
            <a:off x="8046720" y="4407408"/>
            <a:ext cx="3593592" cy="960120"/>
          </a:xfrm>
          <a:prstGeom prst="roundRect">
            <a:avLst>
              <a:gd name="adj" fmla="val 9524"/>
            </a:avLst>
          </a:prstGeom>
          <a:solidFill>
            <a:schemeClr val="bg2"/>
          </a:solidFill>
        </p:spPr>
      </p:sp>
      <p:sp>
        <p:nvSpPr>
          <p:cNvPr id="20" name="Shape 626"/>
          <p:cNvSpPr/>
          <p:nvPr/>
        </p:nvSpPr>
        <p:spPr>
          <a:xfrm>
            <a:off x="8183880" y="4686300"/>
            <a:ext cx="402336" cy="402336"/>
          </a:xfrm>
          <a:prstGeom prst="ellipse">
            <a:avLst/>
          </a:prstGeom>
          <a:solidFill>
            <a:schemeClr val="accent1"/>
          </a:solidFill>
        </p:spPr>
      </p:sp>
      <p:pic>
        <p:nvPicPr>
          <p:cNvPr id="21" name="Icon 627" descr="preencoded.png"/>
          <p:cNvPicPr>
            <a:picLocks noChangeAspect="1"/>
          </p:cNvPicPr>
          <p:nvPr/>
        </p:nvPicPr>
        <p:blipFill>
          <a:blip r:embed="rId5"/>
          <a:stretch>
            <a:fillRect/>
          </a:stretch>
        </p:blipFill>
        <p:spPr>
          <a:xfrm>
            <a:off x="8284464" y="4786884"/>
            <a:ext cx="201168" cy="201168"/>
          </a:xfrm>
          <a:prstGeom prst="rect">
            <a:avLst/>
          </a:prstGeom>
        </p:spPr>
      </p:pic>
      <p:sp>
        <p:nvSpPr>
          <p:cNvPr id="22" name="Text 628"/>
          <p:cNvSpPr txBox="1"/>
          <p:nvPr/>
        </p:nvSpPr>
        <p:spPr>
          <a:xfrm>
            <a:off x="8732520" y="4407408"/>
            <a:ext cx="2788920" cy="960120"/>
          </a:xfrm>
          <a:prstGeom prst="rect">
            <a:avLst/>
          </a:prstGeom>
          <a:noFill/>
        </p:spPr>
        <p:txBody>
          <a:bodyPr wrap="square" lIns="0" tIns="0" rIns="0" bIns="0" rtlCol="0" anchor="ctr"/>
          <a:lstStyle/>
          <a:p>
            <a:pPr marL="0" indent="0">
              <a:buNone/>
            </a:pPr>
            <a:r>
              <a:rPr lang="en-US" sz="1250" dirty="0">
                <a:solidFill>
                  <a:schemeClr val="tx1"/>
                </a:solidFill>
              </a:rPr>
              <a:t>Lowest: Reliability (3.60); stability and error recovery are future priorities, not failures.</a:t>
            </a:r>
            <a:endParaRPr lang="en-US" sz="1250" dirty="0"/>
          </a:p>
        </p:txBody>
      </p:sp>
      <p:sp>
        <p:nvSpPr>
          <p:cNvPr id="23" name="Shape 629"/>
          <p:cNvSpPr/>
          <p:nvPr/>
        </p:nvSpPr>
        <p:spPr>
          <a:xfrm>
            <a:off x="8046720" y="5477256"/>
            <a:ext cx="3593592" cy="548640"/>
          </a:xfrm>
          <a:prstGeom prst="roundRect">
            <a:avLst>
              <a:gd name="adj" fmla="val 16667"/>
            </a:avLst>
          </a:prstGeom>
          <a:solidFill>
            <a:schemeClr val="bg2"/>
          </a:solidFill>
        </p:spPr>
      </p:sp>
      <p:sp>
        <p:nvSpPr>
          <p:cNvPr id="24" name="Shape 630"/>
          <p:cNvSpPr/>
          <p:nvPr/>
        </p:nvSpPr>
        <p:spPr>
          <a:xfrm>
            <a:off x="8183880" y="5550408"/>
            <a:ext cx="402336" cy="402336"/>
          </a:xfrm>
          <a:prstGeom prst="ellipse">
            <a:avLst/>
          </a:prstGeom>
          <a:solidFill>
            <a:schemeClr val="tx2"/>
          </a:solidFill>
        </p:spPr>
      </p:sp>
      <p:pic>
        <p:nvPicPr>
          <p:cNvPr id="25" name="Icon 631" descr="preencoded.png"/>
          <p:cNvPicPr>
            <a:picLocks noChangeAspect="1"/>
          </p:cNvPicPr>
          <p:nvPr/>
        </p:nvPicPr>
        <p:blipFill>
          <a:blip r:embed="rId6"/>
          <a:stretch>
            <a:fillRect/>
          </a:stretch>
        </p:blipFill>
        <p:spPr>
          <a:xfrm>
            <a:off x="8284464" y="5650992"/>
            <a:ext cx="201168" cy="201168"/>
          </a:xfrm>
          <a:prstGeom prst="rect">
            <a:avLst/>
          </a:prstGeom>
        </p:spPr>
      </p:pic>
      <p:sp>
        <p:nvSpPr>
          <p:cNvPr id="26" name="Text 632"/>
          <p:cNvSpPr txBox="1"/>
          <p:nvPr/>
        </p:nvSpPr>
        <p:spPr>
          <a:xfrm>
            <a:off x="8732520" y="5477256"/>
            <a:ext cx="2788920" cy="548640"/>
          </a:xfrm>
          <a:prstGeom prst="rect">
            <a:avLst/>
          </a:prstGeom>
          <a:noFill/>
        </p:spPr>
        <p:txBody>
          <a:bodyPr wrap="square" lIns="0" tIns="0" rIns="0" bIns="0" rtlCol="0" anchor="ctr"/>
          <a:lstStyle/>
          <a:p>
            <a:pPr marL="0" indent="0">
              <a:buNone/>
            </a:pPr>
            <a:r>
              <a:rPr lang="en-US" sz="1250" dirty="0">
                <a:solidFill>
                  <a:schemeClr val="tx1"/>
                </a:solidFill>
              </a:rPr>
              <a:t>Scale: 3.26 to 4.00 = Highly Acceptable.</a:t>
            </a:r>
            <a:endParaRPr lang="en-US" sz="125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09  |  RESULTS</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User Acceptance Testing: Summary of Findings</a:t>
            </a:r>
            <a:endParaRPr lang="en-US" sz="2800" dirty="0"/>
          </a:p>
        </p:txBody>
      </p:sp>
      <p:graphicFrame>
        <p:nvGraphicFramePr>
          <p:cNvPr id="5" name="Chart 0"/>
          <p:cNvGraphicFramePr/>
          <p:nvPr/>
        </p:nvGraphicFramePr>
        <p:xfrm>
          <a:off x="548640" y="1417320"/>
          <a:ext cx="722376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633"/>
          <p:cNvSpPr/>
          <p:nvPr/>
        </p:nvSpPr>
        <p:spPr>
          <a:xfrm>
            <a:off x="640080" y="6053328"/>
            <a:ext cx="146304" cy="146304"/>
          </a:xfrm>
          <a:prstGeom prst="ellipse">
            <a:avLst/>
          </a:prstGeom>
          <a:solidFill>
            <a:schemeClr val="accent3"/>
          </a:solidFill>
        </p:spPr>
      </p:sp>
      <p:sp>
        <p:nvSpPr>
          <p:cNvPr id="7" name="Text 634"/>
          <p:cNvSpPr txBox="1"/>
          <p:nvPr/>
        </p:nvSpPr>
        <p:spPr>
          <a:xfrm>
            <a:off x="850392" y="6016752"/>
            <a:ext cx="914400" cy="228600"/>
          </a:xfrm>
          <a:prstGeom prst="rect">
            <a:avLst/>
          </a:prstGeom>
          <a:noFill/>
        </p:spPr>
        <p:txBody>
          <a:bodyPr wrap="square" lIns="0" tIns="0" rIns="0" bIns="0" rtlCol="0" anchor="t"/>
          <a:lstStyle/>
          <a:p>
            <a:pPr marL="0" indent="0">
              <a:buNone/>
            </a:pPr>
            <a:r>
              <a:rPr lang="en-US" sz="1200" dirty="0">
                <a:solidFill>
                  <a:schemeClr val="accent6"/>
                </a:solidFill>
              </a:rPr>
              <a:t>Highest</a:t>
            </a:r>
            <a:endParaRPr lang="en-US" sz="1200" dirty="0"/>
          </a:p>
        </p:txBody>
      </p:sp>
      <p:sp>
        <p:nvSpPr>
          <p:cNvPr id="8" name="Shape 635"/>
          <p:cNvSpPr/>
          <p:nvPr/>
        </p:nvSpPr>
        <p:spPr>
          <a:xfrm>
            <a:off x="1783080" y="6053328"/>
            <a:ext cx="146304" cy="146304"/>
          </a:xfrm>
          <a:prstGeom prst="ellipse">
            <a:avLst/>
          </a:prstGeom>
          <a:solidFill>
            <a:schemeClr val="accent1"/>
          </a:solidFill>
        </p:spPr>
      </p:sp>
      <p:sp>
        <p:nvSpPr>
          <p:cNvPr id="9" name="Text 636"/>
          <p:cNvSpPr txBox="1"/>
          <p:nvPr/>
        </p:nvSpPr>
        <p:spPr>
          <a:xfrm>
            <a:off x="1993392" y="6016752"/>
            <a:ext cx="914400" cy="228600"/>
          </a:xfrm>
          <a:prstGeom prst="rect">
            <a:avLst/>
          </a:prstGeom>
          <a:noFill/>
        </p:spPr>
        <p:txBody>
          <a:bodyPr wrap="square" lIns="0" tIns="0" rIns="0" bIns="0" rtlCol="0" anchor="t"/>
          <a:lstStyle/>
          <a:p>
            <a:pPr marL="0" indent="0">
              <a:buNone/>
            </a:pPr>
            <a:r>
              <a:rPr lang="en-US" sz="1200" dirty="0">
                <a:solidFill>
                  <a:schemeClr val="accent6"/>
                </a:solidFill>
              </a:rPr>
              <a:t>Lowest</a:t>
            </a:r>
            <a:endParaRPr lang="en-US" sz="1200" dirty="0"/>
          </a:p>
        </p:txBody>
      </p:sp>
      <p:sp>
        <p:nvSpPr>
          <p:cNvPr id="10" name="Shape 637"/>
          <p:cNvSpPr/>
          <p:nvPr/>
        </p:nvSpPr>
        <p:spPr>
          <a:xfrm>
            <a:off x="2880360" y="6053328"/>
            <a:ext cx="146304" cy="146304"/>
          </a:xfrm>
          <a:prstGeom prst="ellipse">
            <a:avLst/>
          </a:prstGeom>
          <a:solidFill>
            <a:schemeClr val="tx2"/>
          </a:solidFill>
        </p:spPr>
      </p:sp>
      <p:sp>
        <p:nvSpPr>
          <p:cNvPr id="11" name="Text 638"/>
          <p:cNvSpPr txBox="1"/>
          <p:nvPr/>
        </p:nvSpPr>
        <p:spPr>
          <a:xfrm>
            <a:off x="3090672" y="6016752"/>
            <a:ext cx="914400" cy="228600"/>
          </a:xfrm>
          <a:prstGeom prst="rect">
            <a:avLst/>
          </a:prstGeom>
          <a:noFill/>
        </p:spPr>
        <p:txBody>
          <a:bodyPr wrap="square" lIns="0" tIns="0" rIns="0" bIns="0" rtlCol="0" anchor="t"/>
          <a:lstStyle/>
          <a:p>
            <a:pPr marL="0" indent="0">
              <a:buNone/>
            </a:pPr>
            <a:r>
              <a:rPr lang="en-US" sz="1200" dirty="0">
                <a:solidFill>
                  <a:schemeClr val="accent6"/>
                </a:solidFill>
              </a:rPr>
              <a:t>Other</a:t>
            </a:r>
            <a:endParaRPr lang="en-US" sz="1200" dirty="0"/>
          </a:p>
        </p:txBody>
      </p:sp>
      <p:sp>
        <p:nvSpPr>
          <p:cNvPr id="12" name="Shape 639"/>
          <p:cNvSpPr/>
          <p:nvPr/>
        </p:nvSpPr>
        <p:spPr>
          <a:xfrm>
            <a:off x="8046720" y="1508760"/>
            <a:ext cx="3593592" cy="1783080"/>
          </a:xfrm>
          <a:prstGeom prst="roundRect">
            <a:avLst>
              <a:gd name="adj" fmla="val 5128"/>
            </a:avLst>
          </a:prstGeom>
          <a:solidFill>
            <a:schemeClr val="tx2"/>
          </a:solidFill>
        </p:spPr>
      </p:sp>
      <p:sp>
        <p:nvSpPr>
          <p:cNvPr id="13" name="Text 640"/>
          <p:cNvSpPr txBox="1"/>
          <p:nvPr/>
        </p:nvSpPr>
        <p:spPr>
          <a:xfrm>
            <a:off x="8046720" y="1600200"/>
            <a:ext cx="3593592" cy="960120"/>
          </a:xfrm>
          <a:prstGeom prst="rect">
            <a:avLst/>
          </a:prstGeom>
          <a:noFill/>
        </p:spPr>
        <p:txBody>
          <a:bodyPr wrap="square" lIns="0" tIns="0" rIns="0" bIns="0" rtlCol="0" anchor="ctr"/>
          <a:lstStyle/>
          <a:p>
            <a:pPr marL="0" indent="0" algn="ctr">
              <a:buNone/>
            </a:pPr>
            <a:r>
              <a:rPr lang="en-US" sz="5800" b="1" dirty="0">
                <a:solidFill>
                  <a:schemeClr val="accent2"/>
                </a:solidFill>
                <a:latin typeface="+mj-lt"/>
                <a:ea typeface="+mj-lt"/>
                <a:cs typeface="+mj-lt"/>
              </a:rPr>
              <a:t>3.36</a:t>
            </a:r>
            <a:endParaRPr lang="en-US" sz="5800" dirty="0"/>
          </a:p>
        </p:txBody>
      </p:sp>
      <p:sp>
        <p:nvSpPr>
          <p:cNvPr id="14" name="Text 641"/>
          <p:cNvSpPr txBox="1"/>
          <p:nvPr/>
        </p:nvSpPr>
        <p:spPr>
          <a:xfrm>
            <a:off x="8275320" y="2606040"/>
            <a:ext cx="3136392" cy="594360"/>
          </a:xfrm>
          <a:prstGeom prst="rect">
            <a:avLst/>
          </a:prstGeom>
          <a:noFill/>
        </p:spPr>
        <p:txBody>
          <a:bodyPr wrap="square" lIns="0" tIns="0" rIns="0" bIns="0" rtlCol="0" anchor="t"/>
          <a:lstStyle/>
          <a:p>
            <a:pPr marL="0" indent="0" algn="ctr">
              <a:buNone/>
            </a:pPr>
            <a:r>
              <a:rPr lang="en-US" sz="1400" dirty="0">
                <a:solidFill>
                  <a:schemeClr val="bg1"/>
                </a:solidFill>
              </a:rPr>
              <a:t>Grand mean: Highly Acceptable (n = 87)</a:t>
            </a:r>
            <a:endParaRPr lang="en-US" sz="1400" dirty="0"/>
          </a:p>
        </p:txBody>
      </p:sp>
      <p:sp>
        <p:nvSpPr>
          <p:cNvPr id="15" name="Shape 642"/>
          <p:cNvSpPr/>
          <p:nvPr/>
        </p:nvSpPr>
        <p:spPr>
          <a:xfrm>
            <a:off x="8046720" y="3474720"/>
            <a:ext cx="3593592" cy="640080"/>
          </a:xfrm>
          <a:prstGeom prst="roundRect">
            <a:avLst>
              <a:gd name="adj" fmla="val 14286"/>
            </a:avLst>
          </a:prstGeom>
          <a:solidFill>
            <a:schemeClr val="bg2"/>
          </a:solidFill>
        </p:spPr>
      </p:sp>
      <p:sp>
        <p:nvSpPr>
          <p:cNvPr id="16" name="Shape 643"/>
          <p:cNvSpPr/>
          <p:nvPr/>
        </p:nvSpPr>
        <p:spPr>
          <a:xfrm>
            <a:off x="8183880" y="3593592"/>
            <a:ext cx="402336" cy="402336"/>
          </a:xfrm>
          <a:prstGeom prst="ellipse">
            <a:avLst/>
          </a:prstGeom>
          <a:solidFill>
            <a:schemeClr val="tx2"/>
          </a:solidFill>
        </p:spPr>
      </p:sp>
      <p:pic>
        <p:nvPicPr>
          <p:cNvPr id="17" name="Icon 644" descr="preencoded.png"/>
          <p:cNvPicPr>
            <a:picLocks noChangeAspect="1"/>
          </p:cNvPicPr>
          <p:nvPr/>
        </p:nvPicPr>
        <p:blipFill>
          <a:blip r:embed="rId4"/>
          <a:stretch>
            <a:fillRect/>
          </a:stretch>
        </p:blipFill>
        <p:spPr>
          <a:xfrm>
            <a:off x="8284464" y="3694176"/>
            <a:ext cx="201168" cy="201168"/>
          </a:xfrm>
          <a:prstGeom prst="rect">
            <a:avLst/>
          </a:prstGeom>
        </p:spPr>
      </p:pic>
      <p:sp>
        <p:nvSpPr>
          <p:cNvPr id="18" name="Text 645"/>
          <p:cNvSpPr txBox="1"/>
          <p:nvPr/>
        </p:nvSpPr>
        <p:spPr>
          <a:xfrm>
            <a:off x="8732520" y="3474720"/>
            <a:ext cx="2788920" cy="640080"/>
          </a:xfrm>
          <a:prstGeom prst="rect">
            <a:avLst/>
          </a:prstGeom>
          <a:noFill/>
        </p:spPr>
        <p:txBody>
          <a:bodyPr wrap="square" lIns="0" tIns="0" rIns="0" bIns="0" rtlCol="0" anchor="ctr"/>
          <a:lstStyle/>
          <a:p>
            <a:pPr marL="0" indent="0">
              <a:buNone/>
            </a:pPr>
            <a:r>
              <a:rPr lang="en-US" sz="1250" dirty="0">
                <a:solidFill>
                  <a:schemeClr val="tx1"/>
                </a:solidFill>
              </a:rPr>
              <a:t>Respondents: 71 students, 15 faculty, 1 librarian.</a:t>
            </a:r>
            <a:endParaRPr lang="en-US" sz="1250" dirty="0"/>
          </a:p>
        </p:txBody>
      </p:sp>
      <p:sp>
        <p:nvSpPr>
          <p:cNvPr id="19" name="Shape 646"/>
          <p:cNvSpPr/>
          <p:nvPr/>
        </p:nvSpPr>
        <p:spPr>
          <a:xfrm>
            <a:off x="8046720" y="4224528"/>
            <a:ext cx="3593592" cy="1051560"/>
          </a:xfrm>
          <a:prstGeom prst="roundRect">
            <a:avLst>
              <a:gd name="adj" fmla="val 8696"/>
            </a:avLst>
          </a:prstGeom>
          <a:solidFill>
            <a:schemeClr val="bg2"/>
          </a:solidFill>
        </p:spPr>
      </p:sp>
      <p:sp>
        <p:nvSpPr>
          <p:cNvPr id="20" name="Shape 647"/>
          <p:cNvSpPr/>
          <p:nvPr/>
        </p:nvSpPr>
        <p:spPr>
          <a:xfrm>
            <a:off x="8183880" y="4549140"/>
            <a:ext cx="402336" cy="402336"/>
          </a:xfrm>
          <a:prstGeom prst="ellipse">
            <a:avLst/>
          </a:prstGeom>
          <a:solidFill>
            <a:schemeClr val="accent3"/>
          </a:solidFill>
        </p:spPr>
      </p:sp>
      <p:pic>
        <p:nvPicPr>
          <p:cNvPr id="21" name="Icon 648" descr="preencoded.png"/>
          <p:cNvPicPr>
            <a:picLocks noChangeAspect="1"/>
          </p:cNvPicPr>
          <p:nvPr/>
        </p:nvPicPr>
        <p:blipFill>
          <a:blip r:embed="rId5"/>
          <a:stretch>
            <a:fillRect/>
          </a:stretch>
        </p:blipFill>
        <p:spPr>
          <a:xfrm>
            <a:off x="8284464" y="4649724"/>
            <a:ext cx="201168" cy="201168"/>
          </a:xfrm>
          <a:prstGeom prst="rect">
            <a:avLst/>
          </a:prstGeom>
        </p:spPr>
      </p:pic>
      <p:sp>
        <p:nvSpPr>
          <p:cNvPr id="22" name="Text 649"/>
          <p:cNvSpPr txBox="1"/>
          <p:nvPr/>
        </p:nvSpPr>
        <p:spPr>
          <a:xfrm>
            <a:off x="8732520" y="4224528"/>
            <a:ext cx="2788920" cy="1051560"/>
          </a:xfrm>
          <a:prstGeom prst="rect">
            <a:avLst/>
          </a:prstGeom>
          <a:noFill/>
        </p:spPr>
        <p:txBody>
          <a:bodyPr wrap="square" lIns="0" tIns="0" rIns="0" bIns="0" rtlCol="0" anchor="ctr"/>
          <a:lstStyle/>
          <a:p>
            <a:pPr marL="0" indent="0">
              <a:buNone/>
            </a:pPr>
            <a:r>
              <a:rPr lang="en-US" sz="1250" dirty="0">
                <a:solidFill>
                  <a:schemeClr val="tx1"/>
                </a:solidFill>
              </a:rPr>
              <a:t>Overall acceptability 3.43: performs reliably (3.41), improves efficiency (3.43), beneficial for planning (3.46).</a:t>
            </a:r>
            <a:endParaRPr lang="en-US" sz="1250" dirty="0"/>
          </a:p>
        </p:txBody>
      </p:sp>
      <p:sp>
        <p:nvSpPr>
          <p:cNvPr id="23" name="Shape 650"/>
          <p:cNvSpPr/>
          <p:nvPr/>
        </p:nvSpPr>
        <p:spPr>
          <a:xfrm>
            <a:off x="8046720" y="5385816"/>
            <a:ext cx="3593592" cy="640080"/>
          </a:xfrm>
          <a:prstGeom prst="roundRect">
            <a:avLst>
              <a:gd name="adj" fmla="val 14286"/>
            </a:avLst>
          </a:prstGeom>
          <a:solidFill>
            <a:schemeClr val="bg2"/>
          </a:solidFill>
        </p:spPr>
      </p:sp>
      <p:sp>
        <p:nvSpPr>
          <p:cNvPr id="24" name="Shape 651"/>
          <p:cNvSpPr/>
          <p:nvPr/>
        </p:nvSpPr>
        <p:spPr>
          <a:xfrm>
            <a:off x="8183880" y="5504688"/>
            <a:ext cx="402336" cy="402336"/>
          </a:xfrm>
          <a:prstGeom prst="ellipse">
            <a:avLst/>
          </a:prstGeom>
          <a:solidFill>
            <a:schemeClr val="accent2"/>
          </a:solidFill>
        </p:spPr>
      </p:sp>
      <p:pic>
        <p:nvPicPr>
          <p:cNvPr id="25" name="Icon 652" descr="preencoded.png"/>
          <p:cNvPicPr>
            <a:picLocks noChangeAspect="1"/>
          </p:cNvPicPr>
          <p:nvPr/>
        </p:nvPicPr>
        <p:blipFill>
          <a:blip r:embed="rId6"/>
          <a:stretch>
            <a:fillRect/>
          </a:stretch>
        </p:blipFill>
        <p:spPr>
          <a:xfrm>
            <a:off x="8284464" y="5605272"/>
            <a:ext cx="201168" cy="201168"/>
          </a:xfrm>
          <a:prstGeom prst="rect">
            <a:avLst/>
          </a:prstGeom>
        </p:spPr>
      </p:pic>
      <p:sp>
        <p:nvSpPr>
          <p:cNvPr id="26" name="Text 653"/>
          <p:cNvSpPr txBox="1"/>
          <p:nvPr/>
        </p:nvSpPr>
        <p:spPr>
          <a:xfrm>
            <a:off x="8732520" y="5385816"/>
            <a:ext cx="2788920" cy="640080"/>
          </a:xfrm>
          <a:prstGeom prst="rect">
            <a:avLst/>
          </a:prstGeom>
          <a:noFill/>
        </p:spPr>
        <p:txBody>
          <a:bodyPr wrap="square" lIns="0" tIns="0" rIns="0" bIns="0" rtlCol="0" anchor="ctr"/>
          <a:lstStyle/>
          <a:p>
            <a:pPr marL="0" indent="0">
              <a:buNone/>
            </a:pPr>
            <a:r>
              <a:rPr lang="en-US" sz="1250" dirty="0">
                <a:solidFill>
                  <a:schemeClr val="tx1"/>
                </a:solidFill>
              </a:rPr>
              <a:t>All section means fall within 3.26 to 4.00.</a:t>
            </a:r>
            <a:endParaRPr lang="en-US" sz="125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10  |  RECOMMENDATIONS</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Recommendations</a:t>
            </a:r>
            <a:endParaRPr lang="en-US" sz="2800" dirty="0"/>
          </a:p>
        </p:txBody>
      </p:sp>
      <p:sp>
        <p:nvSpPr>
          <p:cNvPr id="5" name="Shape 654"/>
          <p:cNvSpPr/>
          <p:nvPr/>
        </p:nvSpPr>
        <p:spPr>
          <a:xfrm>
            <a:off x="548640" y="1463040"/>
            <a:ext cx="3566160" cy="4023360"/>
          </a:xfrm>
          <a:prstGeom prst="roundRect">
            <a:avLst>
              <a:gd name="adj" fmla="val 2564"/>
            </a:avLst>
          </a:prstGeom>
          <a:solidFill>
            <a:schemeClr val="bg2"/>
          </a:solidFill>
        </p:spPr>
      </p:sp>
      <p:sp>
        <p:nvSpPr>
          <p:cNvPr id="6" name="Shape 655"/>
          <p:cNvSpPr/>
          <p:nvPr/>
        </p:nvSpPr>
        <p:spPr>
          <a:xfrm>
            <a:off x="548640" y="1463040"/>
            <a:ext cx="3566160" cy="731520"/>
          </a:xfrm>
          <a:prstGeom prst="roundRect">
            <a:avLst>
              <a:gd name="adj" fmla="val 12500"/>
            </a:avLst>
          </a:prstGeom>
          <a:solidFill>
            <a:schemeClr val="accent1"/>
          </a:solidFill>
        </p:spPr>
      </p:sp>
      <p:sp>
        <p:nvSpPr>
          <p:cNvPr id="7" name="Shape 656"/>
          <p:cNvSpPr/>
          <p:nvPr/>
        </p:nvSpPr>
        <p:spPr>
          <a:xfrm>
            <a:off x="548640" y="1828800"/>
            <a:ext cx="3566160" cy="365760"/>
          </a:xfrm>
          <a:prstGeom prst="rect">
            <a:avLst/>
          </a:prstGeom>
          <a:solidFill>
            <a:schemeClr val="accent1"/>
          </a:solidFill>
        </p:spPr>
      </p:sp>
      <p:sp>
        <p:nvSpPr>
          <p:cNvPr id="8" name="Shape 657"/>
          <p:cNvSpPr/>
          <p:nvPr/>
        </p:nvSpPr>
        <p:spPr>
          <a:xfrm>
            <a:off x="749808" y="1645920"/>
            <a:ext cx="384048" cy="384048"/>
          </a:xfrm>
          <a:prstGeom prst="ellipse">
            <a:avLst/>
          </a:prstGeom>
          <a:solidFill>
            <a:schemeClr val="bg1"/>
          </a:solidFill>
          <a:ln w="19050">
            <a:solidFill>
              <a:schemeClr val="bg1"/>
            </a:solidFill>
            <a:prstDash val="solid"/>
          </a:ln>
        </p:spPr>
      </p:sp>
      <p:sp>
        <p:nvSpPr>
          <p:cNvPr id="9" name="Text 658"/>
          <p:cNvSpPr txBox="1"/>
          <p:nvPr/>
        </p:nvSpPr>
        <p:spPr>
          <a:xfrm>
            <a:off x="749808" y="1645920"/>
            <a:ext cx="384048" cy="384048"/>
          </a:xfrm>
          <a:prstGeom prst="rect">
            <a:avLst/>
          </a:prstGeom>
          <a:noFill/>
        </p:spPr>
        <p:txBody>
          <a:bodyPr wrap="square" lIns="0" tIns="0" rIns="0" bIns="0" rtlCol="0" anchor="ctr"/>
          <a:lstStyle/>
          <a:p>
            <a:pPr marL="0" indent="0" algn="ctr">
              <a:buNone/>
            </a:pPr>
            <a:r>
              <a:rPr lang="en-US" sz="1400" b="1" dirty="0">
                <a:solidFill>
                  <a:schemeClr val="bg1"/>
                </a:solidFill>
                <a:latin typeface="+mj-lt"/>
                <a:ea typeface="+mj-lt"/>
                <a:cs typeface="+mj-lt"/>
              </a:rPr>
              <a:t>1</a:t>
            </a:r>
            <a:endParaRPr lang="en-US" sz="1400" dirty="0"/>
          </a:p>
        </p:txBody>
      </p:sp>
      <p:sp>
        <p:nvSpPr>
          <p:cNvPr id="10" name="Text 659"/>
          <p:cNvSpPr txBox="1"/>
          <p:nvPr/>
        </p:nvSpPr>
        <p:spPr>
          <a:xfrm>
            <a:off x="749808" y="1645920"/>
            <a:ext cx="384048" cy="384048"/>
          </a:xfrm>
          <a:prstGeom prst="rect">
            <a:avLst/>
          </a:prstGeom>
          <a:noFill/>
        </p:spPr>
        <p:txBody>
          <a:bodyPr wrap="square" lIns="0" tIns="0" rIns="0" bIns="0" rtlCol="0" anchor="ctr"/>
          <a:lstStyle/>
          <a:p>
            <a:pPr marL="0" indent="0" algn="ctr">
              <a:buNone/>
            </a:pPr>
            <a:r>
              <a:rPr lang="en-US" sz="1500" b="1" dirty="0">
                <a:solidFill>
                  <a:schemeClr val="accent1"/>
                </a:solidFill>
                <a:latin typeface="+mj-lt"/>
                <a:ea typeface="+mj-lt"/>
                <a:cs typeface="+mj-lt"/>
              </a:rPr>
              <a:t>1</a:t>
            </a:r>
            <a:endParaRPr lang="en-US" sz="1500" dirty="0"/>
          </a:p>
        </p:txBody>
      </p:sp>
      <p:sp>
        <p:nvSpPr>
          <p:cNvPr id="11" name="Text 660"/>
          <p:cNvSpPr txBox="1"/>
          <p:nvPr/>
        </p:nvSpPr>
        <p:spPr>
          <a:xfrm>
            <a:off x="1280160" y="1463040"/>
            <a:ext cx="2651760" cy="731520"/>
          </a:xfrm>
          <a:prstGeom prst="rect">
            <a:avLst/>
          </a:prstGeom>
          <a:noFill/>
        </p:spPr>
        <p:txBody>
          <a:bodyPr wrap="square" lIns="0" tIns="0" rIns="0" bIns="0" rtlCol="0" anchor="ctr"/>
          <a:lstStyle/>
          <a:p>
            <a:pPr marL="0" indent="0">
              <a:buNone/>
            </a:pPr>
            <a:r>
              <a:rPr lang="en-US" sz="1900" b="1" dirty="0">
                <a:solidFill>
                  <a:schemeClr val="bg1"/>
                </a:solidFill>
                <a:latin typeface="+mj-lt"/>
                <a:ea typeface="+mj-lt"/>
                <a:cs typeface="+mj-lt"/>
              </a:rPr>
              <a:t>Full Implementation</a:t>
            </a:r>
            <a:endParaRPr lang="en-US" sz="1900" dirty="0"/>
          </a:p>
        </p:txBody>
      </p:sp>
      <p:sp>
        <p:nvSpPr>
          <p:cNvPr id="12" name="Text 661"/>
          <p:cNvSpPr txBox="1"/>
          <p:nvPr/>
        </p:nvSpPr>
        <p:spPr>
          <a:xfrm>
            <a:off x="777240" y="2423160"/>
            <a:ext cx="3108960" cy="2926080"/>
          </a:xfrm>
          <a:prstGeom prst="rect">
            <a:avLst/>
          </a:prstGeom>
          <a:noFill/>
        </p:spPr>
        <p:txBody>
          <a:bodyPr wrap="square" lIns="0" tIns="0" rIns="0" bIns="0" rtlCol="0" anchor="t"/>
          <a:lstStyle/>
          <a:p>
            <a:pPr marL="177800" indent="-177800">
              <a:spcAft>
                <a:spcPts val="1000"/>
              </a:spcAft>
              <a:buSzPct val="100000"/>
              <a:buChar char="•"/>
            </a:pPr>
            <a:r>
              <a:rPr lang="en-US" sz="1450" dirty="0">
                <a:solidFill>
                  <a:schemeClr val="tx1"/>
                </a:solidFill>
              </a:rPr>
              <a:t>Deploy on institutionally managed hosting as usage grows beyond the tested load.</a:t>
            </a:r>
            <a:endParaRPr lang="en-US" sz="1450" dirty="0"/>
          </a:p>
          <a:p>
            <a:pPr marL="177800" indent="-177800">
              <a:spcAft>
                <a:spcPts val="1000"/>
              </a:spcAft>
              <a:buSzPct val="100000"/>
              <a:buChar char="•"/>
            </a:pPr>
            <a:r>
              <a:rPr lang="en-US" sz="1450" dirty="0">
                <a:solidFill>
                  <a:schemeClr val="tx1"/>
                </a:solidFill>
              </a:rPr>
              <a:t>Strengthen stability and error recovery (ISO Reliability 3.60, the lowest score).</a:t>
            </a:r>
            <a:endParaRPr lang="en-US" sz="1450" dirty="0"/>
          </a:p>
          <a:p>
            <a:pPr marL="177800" indent="-177800">
              <a:spcAft>
                <a:spcPts val="1000"/>
              </a:spcAft>
              <a:buSzPct val="100000"/>
              <a:buChar char="•"/>
            </a:pPr>
            <a:r>
              <a:rPr lang="en-US" sz="1450" dirty="0">
                <a:solidFill>
                  <a:schemeClr val="tx1"/>
                </a:solidFill>
              </a:rPr>
              <a:t>Add a permissions model beyond roles, and a full disaster-recovery plan.</a:t>
            </a:r>
            <a:endParaRPr lang="en-US" sz="1450" dirty="0"/>
          </a:p>
          <a:p>
            <a:pPr marL="177800" indent="-177800">
              <a:spcAft>
                <a:spcPts val="1000"/>
              </a:spcAft>
              <a:buSzPct val="100000"/>
              <a:buChar char="•"/>
            </a:pPr>
            <a:r>
              <a:rPr lang="en-US" sz="1450" dirty="0">
                <a:solidFill>
                  <a:schemeClr val="tx1"/>
                </a:solidFill>
              </a:rPr>
              <a:t>Integrate with KOHA for continuity with existing records.</a:t>
            </a:r>
            <a:endParaRPr lang="en-US" sz="1450" dirty="0"/>
          </a:p>
        </p:txBody>
      </p:sp>
      <p:sp>
        <p:nvSpPr>
          <p:cNvPr id="13" name="Shape 662"/>
          <p:cNvSpPr/>
          <p:nvPr/>
        </p:nvSpPr>
        <p:spPr>
          <a:xfrm>
            <a:off x="4312768" y="1463040"/>
            <a:ext cx="3566160" cy="4023360"/>
          </a:xfrm>
          <a:prstGeom prst="roundRect">
            <a:avLst>
              <a:gd name="adj" fmla="val 2564"/>
            </a:avLst>
          </a:prstGeom>
          <a:solidFill>
            <a:schemeClr val="bg2"/>
          </a:solidFill>
        </p:spPr>
      </p:sp>
      <p:sp>
        <p:nvSpPr>
          <p:cNvPr id="14" name="Shape 663"/>
          <p:cNvSpPr/>
          <p:nvPr/>
        </p:nvSpPr>
        <p:spPr>
          <a:xfrm>
            <a:off x="4312768" y="1463040"/>
            <a:ext cx="3566160" cy="731520"/>
          </a:xfrm>
          <a:prstGeom prst="roundRect">
            <a:avLst>
              <a:gd name="adj" fmla="val 12500"/>
            </a:avLst>
          </a:prstGeom>
          <a:solidFill>
            <a:schemeClr val="accent2"/>
          </a:solidFill>
        </p:spPr>
      </p:sp>
      <p:sp>
        <p:nvSpPr>
          <p:cNvPr id="15" name="Shape 664"/>
          <p:cNvSpPr/>
          <p:nvPr/>
        </p:nvSpPr>
        <p:spPr>
          <a:xfrm>
            <a:off x="4312768" y="1828800"/>
            <a:ext cx="3566160" cy="365760"/>
          </a:xfrm>
          <a:prstGeom prst="rect">
            <a:avLst/>
          </a:prstGeom>
          <a:solidFill>
            <a:schemeClr val="accent2"/>
          </a:solidFill>
        </p:spPr>
      </p:sp>
      <p:sp>
        <p:nvSpPr>
          <p:cNvPr id="16" name="Shape 665"/>
          <p:cNvSpPr/>
          <p:nvPr/>
        </p:nvSpPr>
        <p:spPr>
          <a:xfrm>
            <a:off x="4513936" y="1645920"/>
            <a:ext cx="384048" cy="384048"/>
          </a:xfrm>
          <a:prstGeom prst="ellipse">
            <a:avLst/>
          </a:prstGeom>
          <a:solidFill>
            <a:schemeClr val="bg1"/>
          </a:solidFill>
          <a:ln w="19050">
            <a:solidFill>
              <a:schemeClr val="bg1"/>
            </a:solidFill>
            <a:prstDash val="solid"/>
          </a:ln>
        </p:spPr>
      </p:sp>
      <p:sp>
        <p:nvSpPr>
          <p:cNvPr id="17" name="Text 666"/>
          <p:cNvSpPr txBox="1"/>
          <p:nvPr/>
        </p:nvSpPr>
        <p:spPr>
          <a:xfrm>
            <a:off x="4513936" y="1645920"/>
            <a:ext cx="384048" cy="384048"/>
          </a:xfrm>
          <a:prstGeom prst="rect">
            <a:avLst/>
          </a:prstGeom>
          <a:noFill/>
        </p:spPr>
        <p:txBody>
          <a:bodyPr wrap="square" lIns="0" tIns="0" rIns="0" bIns="0" rtlCol="0" anchor="ctr"/>
          <a:lstStyle/>
          <a:p>
            <a:pPr marL="0" indent="0" algn="ctr">
              <a:buNone/>
            </a:pPr>
            <a:r>
              <a:rPr lang="en-US" sz="1400" b="1" dirty="0">
                <a:solidFill>
                  <a:schemeClr val="bg1"/>
                </a:solidFill>
                <a:latin typeface="+mj-lt"/>
                <a:ea typeface="+mj-lt"/>
                <a:cs typeface="+mj-lt"/>
              </a:rPr>
              <a:t>2</a:t>
            </a:r>
            <a:endParaRPr lang="en-US" sz="1400" dirty="0"/>
          </a:p>
        </p:txBody>
      </p:sp>
      <p:sp>
        <p:nvSpPr>
          <p:cNvPr id="18" name="Text 667"/>
          <p:cNvSpPr txBox="1"/>
          <p:nvPr/>
        </p:nvSpPr>
        <p:spPr>
          <a:xfrm>
            <a:off x="4513936" y="1645920"/>
            <a:ext cx="384048" cy="384048"/>
          </a:xfrm>
          <a:prstGeom prst="rect">
            <a:avLst/>
          </a:prstGeom>
          <a:noFill/>
        </p:spPr>
        <p:txBody>
          <a:bodyPr wrap="square" lIns="0" tIns="0" rIns="0" bIns="0" rtlCol="0" anchor="ctr"/>
          <a:lstStyle/>
          <a:p>
            <a:pPr marL="0" indent="0" algn="ctr">
              <a:buNone/>
            </a:pPr>
            <a:r>
              <a:rPr lang="en-US" sz="1500" b="1" dirty="0">
                <a:solidFill>
                  <a:schemeClr val="accent2"/>
                </a:solidFill>
                <a:latin typeface="+mj-lt"/>
                <a:ea typeface="+mj-lt"/>
                <a:cs typeface="+mj-lt"/>
              </a:rPr>
              <a:t>2</a:t>
            </a:r>
            <a:endParaRPr lang="en-US" sz="1500" dirty="0"/>
          </a:p>
        </p:txBody>
      </p:sp>
      <p:sp>
        <p:nvSpPr>
          <p:cNvPr id="19" name="Text 668"/>
          <p:cNvSpPr txBox="1"/>
          <p:nvPr/>
        </p:nvSpPr>
        <p:spPr>
          <a:xfrm>
            <a:off x="5044288" y="1463040"/>
            <a:ext cx="2651760" cy="731520"/>
          </a:xfrm>
          <a:prstGeom prst="rect">
            <a:avLst/>
          </a:prstGeom>
          <a:noFill/>
        </p:spPr>
        <p:txBody>
          <a:bodyPr wrap="square" lIns="0" tIns="0" rIns="0" bIns="0" rtlCol="0" anchor="ctr"/>
          <a:lstStyle/>
          <a:p>
            <a:pPr marL="0" indent="0">
              <a:buNone/>
            </a:pPr>
            <a:r>
              <a:rPr lang="en-US" sz="1900" b="1" dirty="0">
                <a:solidFill>
                  <a:schemeClr val="bg1"/>
                </a:solidFill>
                <a:latin typeface="+mj-lt"/>
                <a:ea typeface="+mj-lt"/>
                <a:cs typeface="+mj-lt"/>
              </a:rPr>
              <a:t>Adoption</a:t>
            </a:r>
            <a:endParaRPr lang="en-US" sz="1900" dirty="0"/>
          </a:p>
        </p:txBody>
      </p:sp>
      <p:sp>
        <p:nvSpPr>
          <p:cNvPr id="20" name="Text 669"/>
          <p:cNvSpPr txBox="1"/>
          <p:nvPr/>
        </p:nvSpPr>
        <p:spPr>
          <a:xfrm>
            <a:off x="4541368" y="2423160"/>
            <a:ext cx="3108960" cy="2926080"/>
          </a:xfrm>
          <a:prstGeom prst="rect">
            <a:avLst/>
          </a:prstGeom>
          <a:noFill/>
        </p:spPr>
        <p:txBody>
          <a:bodyPr wrap="square" lIns="0" tIns="0" rIns="0" bIns="0" rtlCol="0" anchor="t"/>
          <a:lstStyle/>
          <a:p>
            <a:pPr marL="177800" indent="-177800">
              <a:spcAft>
                <a:spcPts val="1000"/>
              </a:spcAft>
              <a:buSzPct val="100000"/>
              <a:buChar char="•"/>
            </a:pPr>
            <a:r>
              <a:rPr lang="en-US" sz="1450" dirty="0">
                <a:solidFill>
                  <a:schemeClr val="tx1"/>
                </a:solidFill>
              </a:rPr>
              <a:t>Phase out paper log sheets so the system record becomes the only record.</a:t>
            </a:r>
            <a:endParaRPr lang="en-US" sz="1450" dirty="0"/>
          </a:p>
          <a:p>
            <a:pPr marL="177800" indent="-177800">
              <a:spcAft>
                <a:spcPts val="1000"/>
              </a:spcAft>
              <a:buSzPct val="100000"/>
              <a:buChar char="•"/>
            </a:pPr>
            <a:r>
              <a:rPr lang="en-US" sz="1450" dirty="0">
                <a:solidFill>
                  <a:schemeClr val="tx1"/>
                </a:solidFill>
              </a:rPr>
              <a:t>Name librarian and faculty champions to lead the rollout.</a:t>
            </a:r>
            <a:endParaRPr lang="en-US" sz="1450" dirty="0"/>
          </a:p>
          <a:p>
            <a:pPr marL="177800" indent="-177800">
              <a:spcAft>
                <a:spcPts val="1000"/>
              </a:spcAft>
              <a:buSzPct val="100000"/>
              <a:buChar char="•"/>
            </a:pPr>
            <a:r>
              <a:rPr lang="en-US" sz="1450" dirty="0">
                <a:solidFill>
                  <a:schemeClr val="tx1"/>
                </a:solidFill>
              </a:rPr>
              <a:t>Use the Reporting Dashboard in acquisition and budget meetings.</a:t>
            </a:r>
            <a:endParaRPr lang="en-US" sz="1450" dirty="0"/>
          </a:p>
          <a:p>
            <a:pPr marL="177800" indent="-177800">
              <a:spcAft>
                <a:spcPts val="1000"/>
              </a:spcAft>
              <a:buSzPct val="100000"/>
              <a:buChar char="•"/>
            </a:pPr>
            <a:r>
              <a:rPr lang="en-US" sz="1450" dirty="0">
                <a:solidFill>
                  <a:schemeClr val="tx1"/>
                </a:solidFill>
              </a:rPr>
              <a:t>Refine trend visualization and report customization from user feedback.</a:t>
            </a:r>
            <a:endParaRPr lang="en-US" sz="1450" dirty="0"/>
          </a:p>
        </p:txBody>
      </p:sp>
      <p:sp>
        <p:nvSpPr>
          <p:cNvPr id="21" name="Shape 670"/>
          <p:cNvSpPr/>
          <p:nvPr/>
        </p:nvSpPr>
        <p:spPr>
          <a:xfrm>
            <a:off x="8076895" y="1463040"/>
            <a:ext cx="3566160" cy="4023360"/>
          </a:xfrm>
          <a:prstGeom prst="roundRect">
            <a:avLst>
              <a:gd name="adj" fmla="val 2564"/>
            </a:avLst>
          </a:prstGeom>
          <a:solidFill>
            <a:schemeClr val="bg2"/>
          </a:solidFill>
        </p:spPr>
      </p:sp>
      <p:sp>
        <p:nvSpPr>
          <p:cNvPr id="22" name="Shape 671"/>
          <p:cNvSpPr/>
          <p:nvPr/>
        </p:nvSpPr>
        <p:spPr>
          <a:xfrm>
            <a:off x="8076895" y="1463040"/>
            <a:ext cx="3566160" cy="731520"/>
          </a:xfrm>
          <a:prstGeom prst="roundRect">
            <a:avLst>
              <a:gd name="adj" fmla="val 12500"/>
            </a:avLst>
          </a:prstGeom>
          <a:solidFill>
            <a:schemeClr val="accent3"/>
          </a:solidFill>
        </p:spPr>
      </p:sp>
      <p:sp>
        <p:nvSpPr>
          <p:cNvPr id="23" name="Shape 672"/>
          <p:cNvSpPr/>
          <p:nvPr/>
        </p:nvSpPr>
        <p:spPr>
          <a:xfrm>
            <a:off x="8076895" y="1828800"/>
            <a:ext cx="3566160" cy="365760"/>
          </a:xfrm>
          <a:prstGeom prst="rect">
            <a:avLst/>
          </a:prstGeom>
          <a:solidFill>
            <a:schemeClr val="accent3"/>
          </a:solidFill>
        </p:spPr>
      </p:sp>
      <p:sp>
        <p:nvSpPr>
          <p:cNvPr id="24" name="Shape 673"/>
          <p:cNvSpPr/>
          <p:nvPr/>
        </p:nvSpPr>
        <p:spPr>
          <a:xfrm>
            <a:off x="8278063" y="1645920"/>
            <a:ext cx="384048" cy="384048"/>
          </a:xfrm>
          <a:prstGeom prst="ellipse">
            <a:avLst/>
          </a:prstGeom>
          <a:solidFill>
            <a:schemeClr val="bg1"/>
          </a:solidFill>
          <a:ln w="19050">
            <a:solidFill>
              <a:schemeClr val="bg1"/>
            </a:solidFill>
            <a:prstDash val="solid"/>
          </a:ln>
        </p:spPr>
      </p:sp>
      <p:sp>
        <p:nvSpPr>
          <p:cNvPr id="25" name="Text 674"/>
          <p:cNvSpPr txBox="1"/>
          <p:nvPr/>
        </p:nvSpPr>
        <p:spPr>
          <a:xfrm>
            <a:off x="8278063" y="1645920"/>
            <a:ext cx="384048" cy="384048"/>
          </a:xfrm>
          <a:prstGeom prst="rect">
            <a:avLst/>
          </a:prstGeom>
          <a:noFill/>
        </p:spPr>
        <p:txBody>
          <a:bodyPr wrap="square" lIns="0" tIns="0" rIns="0" bIns="0" rtlCol="0" anchor="ctr"/>
          <a:lstStyle/>
          <a:p>
            <a:pPr marL="0" indent="0" algn="ctr">
              <a:buNone/>
            </a:pPr>
            <a:r>
              <a:rPr lang="en-US" sz="1400" b="1" dirty="0">
                <a:solidFill>
                  <a:schemeClr val="bg1"/>
                </a:solidFill>
                <a:latin typeface="+mj-lt"/>
                <a:ea typeface="+mj-lt"/>
                <a:cs typeface="+mj-lt"/>
              </a:rPr>
              <a:t>3</a:t>
            </a:r>
            <a:endParaRPr lang="en-US" sz="1400" dirty="0"/>
          </a:p>
        </p:txBody>
      </p:sp>
      <p:sp>
        <p:nvSpPr>
          <p:cNvPr id="26" name="Text 675"/>
          <p:cNvSpPr txBox="1"/>
          <p:nvPr/>
        </p:nvSpPr>
        <p:spPr>
          <a:xfrm>
            <a:off x="8278063" y="1645920"/>
            <a:ext cx="384048" cy="384048"/>
          </a:xfrm>
          <a:prstGeom prst="rect">
            <a:avLst/>
          </a:prstGeom>
          <a:noFill/>
        </p:spPr>
        <p:txBody>
          <a:bodyPr wrap="square" lIns="0" tIns="0" rIns="0" bIns="0" rtlCol="0" anchor="ctr"/>
          <a:lstStyle/>
          <a:p>
            <a:pPr marL="0" indent="0" algn="ctr">
              <a:buNone/>
            </a:pPr>
            <a:r>
              <a:rPr lang="en-US" sz="1500" b="1" dirty="0">
                <a:solidFill>
                  <a:schemeClr val="accent3"/>
                </a:solidFill>
                <a:latin typeface="+mj-lt"/>
                <a:ea typeface="+mj-lt"/>
                <a:cs typeface="+mj-lt"/>
              </a:rPr>
              <a:t>3</a:t>
            </a:r>
            <a:endParaRPr lang="en-US" sz="1500" dirty="0"/>
          </a:p>
        </p:txBody>
      </p:sp>
      <p:sp>
        <p:nvSpPr>
          <p:cNvPr id="27" name="Text 676"/>
          <p:cNvSpPr txBox="1"/>
          <p:nvPr/>
        </p:nvSpPr>
        <p:spPr>
          <a:xfrm>
            <a:off x="8808415" y="1463040"/>
            <a:ext cx="2651760" cy="731520"/>
          </a:xfrm>
          <a:prstGeom prst="rect">
            <a:avLst/>
          </a:prstGeom>
          <a:noFill/>
        </p:spPr>
        <p:txBody>
          <a:bodyPr wrap="square" lIns="0" tIns="0" rIns="0" bIns="0" rtlCol="0" anchor="ctr"/>
          <a:lstStyle/>
          <a:p>
            <a:pPr marL="0" indent="0">
              <a:buNone/>
            </a:pPr>
            <a:r>
              <a:rPr lang="en-US" sz="1900" b="1" dirty="0">
                <a:solidFill>
                  <a:schemeClr val="bg1"/>
                </a:solidFill>
                <a:latin typeface="+mj-lt"/>
                <a:ea typeface="+mj-lt"/>
                <a:cs typeface="+mj-lt"/>
              </a:rPr>
              <a:t>User Training</a:t>
            </a:r>
            <a:endParaRPr lang="en-US" sz="1900" dirty="0"/>
          </a:p>
        </p:txBody>
      </p:sp>
      <p:sp>
        <p:nvSpPr>
          <p:cNvPr id="28" name="Text 677"/>
          <p:cNvSpPr txBox="1"/>
          <p:nvPr/>
        </p:nvSpPr>
        <p:spPr>
          <a:xfrm>
            <a:off x="8305495" y="2423160"/>
            <a:ext cx="3108960" cy="2926080"/>
          </a:xfrm>
          <a:prstGeom prst="rect">
            <a:avLst/>
          </a:prstGeom>
          <a:noFill/>
        </p:spPr>
        <p:txBody>
          <a:bodyPr wrap="square" lIns="0" tIns="0" rIns="0" bIns="0" rtlCol="0" anchor="t"/>
          <a:lstStyle/>
          <a:p>
            <a:pPr marL="177800" indent="-177800">
              <a:spcAft>
                <a:spcPts val="1000"/>
              </a:spcAft>
              <a:buSzPct val="100000"/>
              <a:buChar char="•"/>
            </a:pPr>
            <a:r>
              <a:rPr lang="en-US" sz="1450" dirty="0">
                <a:solidFill>
                  <a:schemeClr val="tx1"/>
                </a:solidFill>
              </a:rPr>
              <a:t>Orientation sessions for students and faculty.</a:t>
            </a:r>
            <a:endParaRPr lang="en-US" sz="1450" dirty="0"/>
          </a:p>
          <a:p>
            <a:pPr marL="177800" indent="-177800">
              <a:spcAft>
                <a:spcPts val="1000"/>
              </a:spcAft>
              <a:buSzPct val="100000"/>
              <a:buChar char="•"/>
            </a:pPr>
            <a:r>
              <a:rPr lang="en-US" sz="1450" dirty="0">
                <a:solidFill>
                  <a:schemeClr val="tx1"/>
                </a:solidFill>
              </a:rPr>
              <a:t>User guides for each role: Admin, Librarian, Faculty, Student.</a:t>
            </a:r>
            <a:endParaRPr lang="en-US" sz="1450" dirty="0"/>
          </a:p>
          <a:p>
            <a:pPr marL="177800" indent="-177800">
              <a:spcAft>
                <a:spcPts val="1000"/>
              </a:spcAft>
              <a:buSzPct val="100000"/>
              <a:buChar char="•"/>
            </a:pPr>
            <a:r>
              <a:rPr lang="en-US" sz="1450" dirty="0">
                <a:solidFill>
                  <a:schemeClr val="tx1"/>
                </a:solidFill>
              </a:rPr>
              <a:t>Staff training on role management, audit trail, and backup procedures.</a:t>
            </a:r>
            <a:endParaRPr lang="en-US" sz="1450" dirty="0"/>
          </a:p>
          <a:p>
            <a:pPr marL="177800" indent="-177800">
              <a:spcAft>
                <a:spcPts val="1000"/>
              </a:spcAft>
              <a:buSzPct val="100000"/>
              <a:buChar char="•"/>
            </a:pPr>
            <a:r>
              <a:rPr lang="en-US" sz="1450" dirty="0">
                <a:solidFill>
                  <a:schemeClr val="tx1"/>
                </a:solidFill>
              </a:rPr>
              <a:t>Refresher sessions as features are added.</a:t>
            </a:r>
            <a:endParaRPr lang="en-US" sz="1450" dirty="0"/>
          </a:p>
        </p:txBody>
      </p:sp>
      <p:sp>
        <p:nvSpPr>
          <p:cNvPr id="29" name="Shape 678"/>
          <p:cNvSpPr/>
          <p:nvPr/>
        </p:nvSpPr>
        <p:spPr>
          <a:xfrm>
            <a:off x="548640" y="5623560"/>
            <a:ext cx="11094415" cy="658368"/>
          </a:xfrm>
          <a:prstGeom prst="roundRect">
            <a:avLst>
              <a:gd name="adj" fmla="val 13889"/>
            </a:avLst>
          </a:prstGeom>
          <a:solidFill>
            <a:schemeClr val="tx2"/>
          </a:solidFill>
        </p:spPr>
      </p:sp>
      <p:pic>
        <p:nvPicPr>
          <p:cNvPr id="30" name="Icon 679" descr="preencoded.png"/>
          <p:cNvPicPr>
            <a:picLocks noChangeAspect="1"/>
          </p:cNvPicPr>
          <p:nvPr/>
        </p:nvPicPr>
        <p:blipFill>
          <a:blip r:embed="rId3"/>
          <a:stretch>
            <a:fillRect/>
          </a:stretch>
        </p:blipFill>
        <p:spPr>
          <a:xfrm>
            <a:off x="777240" y="5724144"/>
            <a:ext cx="438912" cy="438912"/>
          </a:xfrm>
          <a:prstGeom prst="rect">
            <a:avLst/>
          </a:prstGeom>
        </p:spPr>
      </p:pic>
      <p:sp>
        <p:nvSpPr>
          <p:cNvPr id="31" name="Text 680"/>
          <p:cNvSpPr txBox="1"/>
          <p:nvPr/>
        </p:nvSpPr>
        <p:spPr>
          <a:xfrm>
            <a:off x="1417320" y="5623560"/>
            <a:ext cx="9997135" cy="658368"/>
          </a:xfrm>
          <a:prstGeom prst="rect">
            <a:avLst/>
          </a:prstGeom>
          <a:noFill/>
        </p:spPr>
        <p:txBody>
          <a:bodyPr wrap="square" lIns="0" tIns="0" rIns="0" bIns="0" rtlCol="0" anchor="ctr"/>
          <a:lstStyle/>
          <a:p>
            <a:pPr marL="0" indent="0">
              <a:buNone/>
            </a:pPr>
            <a:r>
              <a:rPr lang="en-US" sz="1100" b="1" kern="0" spc="300" dirty="0">
                <a:solidFill>
                  <a:schemeClr val="accent2"/>
                </a:solidFill>
              </a:rPr>
              <a:t>FUTURE RESEARCH   </a:t>
            </a:r>
            <a:r>
              <a:rPr lang="en-US" sz="1400" dirty="0">
                <a:solidFill>
                  <a:schemeClr val="bg1"/>
                </a:solidFill>
              </a:rPr>
              <a:t>Larger samples, longer deployment, scalability beyond tested limits, and predictive forecasting.</a:t>
            </a:r>
            <a:endParaRPr lang="en-US" sz="140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10  |  RECOMMENDATIONS</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With Our System, Everyone Gains</a:t>
            </a:r>
            <a:endParaRPr lang="en-US" sz="2800" dirty="0"/>
          </a:p>
        </p:txBody>
      </p:sp>
      <p:sp>
        <p:nvSpPr>
          <p:cNvPr id="5" name="Shape 681"/>
          <p:cNvSpPr/>
          <p:nvPr/>
        </p:nvSpPr>
        <p:spPr>
          <a:xfrm>
            <a:off x="548640" y="1463040"/>
            <a:ext cx="3566160" cy="3108960"/>
          </a:xfrm>
          <a:prstGeom prst="roundRect">
            <a:avLst>
              <a:gd name="adj" fmla="val 2941"/>
            </a:avLst>
          </a:prstGeom>
          <a:solidFill>
            <a:schemeClr val="bg2"/>
          </a:solidFill>
        </p:spPr>
      </p:sp>
      <p:sp>
        <p:nvSpPr>
          <p:cNvPr id="6" name="Shape 682"/>
          <p:cNvSpPr/>
          <p:nvPr/>
        </p:nvSpPr>
        <p:spPr>
          <a:xfrm>
            <a:off x="548640" y="1463040"/>
            <a:ext cx="3566160" cy="777240"/>
          </a:xfrm>
          <a:prstGeom prst="roundRect">
            <a:avLst>
              <a:gd name="adj" fmla="val 11765"/>
            </a:avLst>
          </a:prstGeom>
          <a:solidFill>
            <a:schemeClr val="accent1"/>
          </a:solidFill>
        </p:spPr>
      </p:sp>
      <p:sp>
        <p:nvSpPr>
          <p:cNvPr id="7" name="Shape 683"/>
          <p:cNvSpPr/>
          <p:nvPr/>
        </p:nvSpPr>
        <p:spPr>
          <a:xfrm>
            <a:off x="548640" y="1874520"/>
            <a:ext cx="3566160" cy="365760"/>
          </a:xfrm>
          <a:prstGeom prst="rect">
            <a:avLst/>
          </a:prstGeom>
          <a:solidFill>
            <a:schemeClr val="accent1"/>
          </a:solidFill>
        </p:spPr>
      </p:sp>
      <p:sp>
        <p:nvSpPr>
          <p:cNvPr id="8" name="Shape 684"/>
          <p:cNvSpPr/>
          <p:nvPr/>
        </p:nvSpPr>
        <p:spPr>
          <a:xfrm>
            <a:off x="749808" y="1572768"/>
            <a:ext cx="566928" cy="566928"/>
          </a:xfrm>
          <a:prstGeom prst="ellipse">
            <a:avLst/>
          </a:prstGeom>
          <a:solidFill>
            <a:schemeClr val="bg1"/>
          </a:solidFill>
        </p:spPr>
      </p:sp>
      <p:pic>
        <p:nvPicPr>
          <p:cNvPr id="9" name="Icon 685" descr="preencoded.png"/>
          <p:cNvPicPr>
            <a:picLocks noChangeAspect="1"/>
          </p:cNvPicPr>
          <p:nvPr/>
        </p:nvPicPr>
        <p:blipFill>
          <a:blip r:embed="rId3"/>
          <a:stretch>
            <a:fillRect/>
          </a:stretch>
        </p:blipFill>
        <p:spPr>
          <a:xfrm>
            <a:off x="886968" y="1709928"/>
            <a:ext cx="292608" cy="292608"/>
          </a:xfrm>
          <a:prstGeom prst="rect">
            <a:avLst/>
          </a:prstGeom>
        </p:spPr>
      </p:pic>
      <p:sp>
        <p:nvSpPr>
          <p:cNvPr id="10" name="Text 686"/>
          <p:cNvSpPr txBox="1"/>
          <p:nvPr/>
        </p:nvSpPr>
        <p:spPr>
          <a:xfrm>
            <a:off x="1463040" y="1463040"/>
            <a:ext cx="2468880" cy="777240"/>
          </a:xfrm>
          <a:prstGeom prst="rect">
            <a:avLst/>
          </a:prstGeom>
          <a:noFill/>
        </p:spPr>
        <p:txBody>
          <a:bodyPr wrap="square" lIns="0" tIns="0" rIns="0" bIns="0" rtlCol="0" anchor="ctr"/>
          <a:lstStyle/>
          <a:p>
            <a:pPr marL="0" indent="0">
              <a:buNone/>
            </a:pPr>
            <a:r>
              <a:rPr lang="en-US" sz="2100" b="1" dirty="0">
                <a:solidFill>
                  <a:schemeClr val="bg1"/>
                </a:solidFill>
                <a:latin typeface="+mj-lt"/>
                <a:ea typeface="+mj-lt"/>
                <a:cs typeface="+mj-lt"/>
              </a:rPr>
              <a:t>Librarians can</a:t>
            </a:r>
            <a:endParaRPr lang="en-US" sz="2100" dirty="0"/>
          </a:p>
        </p:txBody>
      </p:sp>
      <p:sp>
        <p:nvSpPr>
          <p:cNvPr id="11" name="Text 687"/>
          <p:cNvSpPr txBox="1"/>
          <p:nvPr/>
        </p:nvSpPr>
        <p:spPr>
          <a:xfrm>
            <a:off x="777240" y="2468880"/>
            <a:ext cx="3108960" cy="2011680"/>
          </a:xfrm>
          <a:prstGeom prst="rect">
            <a:avLst/>
          </a:prstGeom>
          <a:noFill/>
        </p:spPr>
        <p:txBody>
          <a:bodyPr wrap="square" lIns="0" tIns="0" rIns="0" bIns="0" rtlCol="0" anchor="t"/>
          <a:lstStyle/>
          <a:p>
            <a:pPr marL="177800" indent="-177800">
              <a:spcAft>
                <a:spcPts val="1000"/>
              </a:spcAft>
              <a:buSzPct val="100000"/>
              <a:buChar char="•"/>
            </a:pPr>
            <a:r>
              <a:rPr lang="en-US" sz="1450" dirty="0">
                <a:solidFill>
                  <a:schemeClr val="tx1"/>
                </a:solidFill>
              </a:rPr>
              <a:t>Process borrowing and returns in the system, with no paper log.</a:t>
            </a:r>
            <a:endParaRPr lang="en-US" sz="1450" dirty="0"/>
          </a:p>
          <a:p>
            <a:pPr marL="177800" indent="-177800">
              <a:spcAft>
                <a:spcPts val="1000"/>
              </a:spcAft>
              <a:buSzPct val="100000"/>
              <a:buChar char="•"/>
            </a:pPr>
            <a:r>
              <a:rPr lang="en-US" sz="1450" dirty="0">
                <a:solidFill>
                  <a:schemeClr val="tx1"/>
                </a:solidFill>
              </a:rPr>
              <a:t>Catalog from anywhere and bulk-import up to 1,000 records.</a:t>
            </a:r>
            <a:endParaRPr lang="en-US" sz="1450" dirty="0"/>
          </a:p>
          <a:p>
            <a:pPr marL="177800" indent="-177800">
              <a:spcAft>
                <a:spcPts val="1000"/>
              </a:spcAft>
              <a:buSzPct val="100000"/>
              <a:buChar char="•"/>
            </a:pPr>
            <a:r>
              <a:rPr lang="en-US" sz="1450" dirty="0">
                <a:solidFill>
                  <a:schemeClr val="tx1"/>
                </a:solidFill>
              </a:rPr>
              <a:t>See stock, demand, and program usage in four BI tabs.</a:t>
            </a:r>
            <a:endParaRPr lang="en-US" sz="1450" dirty="0"/>
          </a:p>
        </p:txBody>
      </p:sp>
      <p:sp>
        <p:nvSpPr>
          <p:cNvPr id="12" name="Shape 688"/>
          <p:cNvSpPr/>
          <p:nvPr/>
        </p:nvSpPr>
        <p:spPr>
          <a:xfrm>
            <a:off x="4312768" y="1463040"/>
            <a:ext cx="3566160" cy="3108960"/>
          </a:xfrm>
          <a:prstGeom prst="roundRect">
            <a:avLst>
              <a:gd name="adj" fmla="val 2941"/>
            </a:avLst>
          </a:prstGeom>
          <a:solidFill>
            <a:schemeClr val="bg2"/>
          </a:solidFill>
        </p:spPr>
      </p:sp>
      <p:sp>
        <p:nvSpPr>
          <p:cNvPr id="13" name="Shape 689"/>
          <p:cNvSpPr/>
          <p:nvPr/>
        </p:nvSpPr>
        <p:spPr>
          <a:xfrm>
            <a:off x="4312768" y="1463040"/>
            <a:ext cx="3566160" cy="777240"/>
          </a:xfrm>
          <a:prstGeom prst="roundRect">
            <a:avLst>
              <a:gd name="adj" fmla="val 11765"/>
            </a:avLst>
          </a:prstGeom>
          <a:solidFill>
            <a:schemeClr val="accent2"/>
          </a:solidFill>
        </p:spPr>
      </p:sp>
      <p:sp>
        <p:nvSpPr>
          <p:cNvPr id="14" name="Shape 690"/>
          <p:cNvSpPr/>
          <p:nvPr/>
        </p:nvSpPr>
        <p:spPr>
          <a:xfrm>
            <a:off x="4312768" y="1874520"/>
            <a:ext cx="3566160" cy="365760"/>
          </a:xfrm>
          <a:prstGeom prst="rect">
            <a:avLst/>
          </a:prstGeom>
          <a:solidFill>
            <a:schemeClr val="accent2"/>
          </a:solidFill>
        </p:spPr>
      </p:sp>
      <p:sp>
        <p:nvSpPr>
          <p:cNvPr id="15" name="Shape 691"/>
          <p:cNvSpPr/>
          <p:nvPr/>
        </p:nvSpPr>
        <p:spPr>
          <a:xfrm>
            <a:off x="4513936" y="1572768"/>
            <a:ext cx="566928" cy="566928"/>
          </a:xfrm>
          <a:prstGeom prst="ellipse">
            <a:avLst/>
          </a:prstGeom>
          <a:solidFill>
            <a:schemeClr val="bg1"/>
          </a:solidFill>
        </p:spPr>
      </p:sp>
      <p:pic>
        <p:nvPicPr>
          <p:cNvPr id="16" name="Icon 692" descr="preencoded.png"/>
          <p:cNvPicPr>
            <a:picLocks noChangeAspect="1"/>
          </p:cNvPicPr>
          <p:nvPr/>
        </p:nvPicPr>
        <p:blipFill>
          <a:blip r:embed="rId4"/>
          <a:stretch>
            <a:fillRect/>
          </a:stretch>
        </p:blipFill>
        <p:spPr>
          <a:xfrm>
            <a:off x="4651096" y="1709928"/>
            <a:ext cx="292608" cy="292608"/>
          </a:xfrm>
          <a:prstGeom prst="rect">
            <a:avLst/>
          </a:prstGeom>
        </p:spPr>
      </p:pic>
      <p:sp>
        <p:nvSpPr>
          <p:cNvPr id="17" name="Text 693"/>
          <p:cNvSpPr txBox="1"/>
          <p:nvPr/>
        </p:nvSpPr>
        <p:spPr>
          <a:xfrm>
            <a:off x="5227168" y="1463040"/>
            <a:ext cx="2468880" cy="777240"/>
          </a:xfrm>
          <a:prstGeom prst="rect">
            <a:avLst/>
          </a:prstGeom>
          <a:noFill/>
        </p:spPr>
        <p:txBody>
          <a:bodyPr wrap="square" lIns="0" tIns="0" rIns="0" bIns="0" rtlCol="0" anchor="ctr"/>
          <a:lstStyle/>
          <a:p>
            <a:pPr marL="0" indent="0">
              <a:buNone/>
            </a:pPr>
            <a:r>
              <a:rPr lang="en-US" sz="2100" b="1" dirty="0">
                <a:solidFill>
                  <a:schemeClr val="bg1"/>
                </a:solidFill>
                <a:latin typeface="+mj-lt"/>
                <a:ea typeface="+mj-lt"/>
                <a:cs typeface="+mj-lt"/>
              </a:rPr>
              <a:t>Faculty can</a:t>
            </a:r>
            <a:endParaRPr lang="en-US" sz="2100" dirty="0"/>
          </a:p>
        </p:txBody>
      </p:sp>
      <p:sp>
        <p:nvSpPr>
          <p:cNvPr id="18" name="Text 694"/>
          <p:cNvSpPr txBox="1"/>
          <p:nvPr/>
        </p:nvSpPr>
        <p:spPr>
          <a:xfrm>
            <a:off x="4541368" y="2468880"/>
            <a:ext cx="3108960" cy="2011680"/>
          </a:xfrm>
          <a:prstGeom prst="rect">
            <a:avLst/>
          </a:prstGeom>
          <a:noFill/>
        </p:spPr>
        <p:txBody>
          <a:bodyPr wrap="square" lIns="0" tIns="0" rIns="0" bIns="0" rtlCol="0" anchor="t"/>
          <a:lstStyle/>
          <a:p>
            <a:pPr marL="177800" indent="-177800">
              <a:spcAft>
                <a:spcPts val="1000"/>
              </a:spcAft>
              <a:buSzPct val="100000"/>
              <a:buChar char="•"/>
            </a:pPr>
            <a:r>
              <a:rPr lang="en-US" sz="1450" dirty="0">
                <a:solidFill>
                  <a:schemeClr val="tx1"/>
                </a:solidFill>
              </a:rPr>
              <a:t>Search the catalog and request new titles from anywhere.</a:t>
            </a:r>
            <a:endParaRPr lang="en-US" sz="1450" dirty="0"/>
          </a:p>
          <a:p>
            <a:pPr marL="177800" indent="-177800">
              <a:spcAft>
                <a:spcPts val="1000"/>
              </a:spcAft>
              <a:buSzPct val="100000"/>
              <a:buChar char="•"/>
            </a:pPr>
            <a:r>
              <a:rPr lang="en-US" sz="1450" dirty="0">
                <a:solidFill>
                  <a:schemeClr val="tx1"/>
                </a:solidFill>
              </a:rPr>
              <a:t>Track request status and borrowing history in one place.</a:t>
            </a:r>
            <a:endParaRPr lang="en-US" sz="1450" dirty="0"/>
          </a:p>
          <a:p>
            <a:pPr marL="177800" indent="-177800">
              <a:spcAft>
                <a:spcPts val="1000"/>
              </a:spcAft>
              <a:buSzPct val="100000"/>
              <a:buChar char="•"/>
            </a:pPr>
            <a:r>
              <a:rPr lang="en-US" sz="1450" dirty="0">
                <a:solidFill>
                  <a:schemeClr val="tx1"/>
                </a:solidFill>
              </a:rPr>
              <a:t>Reserve unavailable titles through a fair queue.</a:t>
            </a:r>
            <a:endParaRPr lang="en-US" sz="1450" dirty="0"/>
          </a:p>
        </p:txBody>
      </p:sp>
      <p:sp>
        <p:nvSpPr>
          <p:cNvPr id="19" name="Shape 695"/>
          <p:cNvSpPr/>
          <p:nvPr/>
        </p:nvSpPr>
        <p:spPr>
          <a:xfrm>
            <a:off x="8076895" y="1463040"/>
            <a:ext cx="3566160" cy="3108960"/>
          </a:xfrm>
          <a:prstGeom prst="roundRect">
            <a:avLst>
              <a:gd name="adj" fmla="val 2941"/>
            </a:avLst>
          </a:prstGeom>
          <a:solidFill>
            <a:schemeClr val="bg2"/>
          </a:solidFill>
        </p:spPr>
      </p:sp>
      <p:sp>
        <p:nvSpPr>
          <p:cNvPr id="20" name="Shape 696"/>
          <p:cNvSpPr/>
          <p:nvPr/>
        </p:nvSpPr>
        <p:spPr>
          <a:xfrm>
            <a:off x="8076895" y="1463040"/>
            <a:ext cx="3566160" cy="777240"/>
          </a:xfrm>
          <a:prstGeom prst="roundRect">
            <a:avLst>
              <a:gd name="adj" fmla="val 11765"/>
            </a:avLst>
          </a:prstGeom>
          <a:solidFill>
            <a:schemeClr val="accent3"/>
          </a:solidFill>
        </p:spPr>
      </p:sp>
      <p:sp>
        <p:nvSpPr>
          <p:cNvPr id="21" name="Shape 697"/>
          <p:cNvSpPr/>
          <p:nvPr/>
        </p:nvSpPr>
        <p:spPr>
          <a:xfrm>
            <a:off x="8076895" y="1874520"/>
            <a:ext cx="3566160" cy="365760"/>
          </a:xfrm>
          <a:prstGeom prst="rect">
            <a:avLst/>
          </a:prstGeom>
          <a:solidFill>
            <a:schemeClr val="accent3"/>
          </a:solidFill>
        </p:spPr>
      </p:sp>
      <p:sp>
        <p:nvSpPr>
          <p:cNvPr id="22" name="Shape 698"/>
          <p:cNvSpPr/>
          <p:nvPr/>
        </p:nvSpPr>
        <p:spPr>
          <a:xfrm>
            <a:off x="8278063" y="1572768"/>
            <a:ext cx="566928" cy="566928"/>
          </a:xfrm>
          <a:prstGeom prst="ellipse">
            <a:avLst/>
          </a:prstGeom>
          <a:solidFill>
            <a:schemeClr val="bg1"/>
          </a:solidFill>
        </p:spPr>
      </p:sp>
      <p:pic>
        <p:nvPicPr>
          <p:cNvPr id="23" name="Icon 699" descr="preencoded.png"/>
          <p:cNvPicPr>
            <a:picLocks noChangeAspect="1"/>
          </p:cNvPicPr>
          <p:nvPr/>
        </p:nvPicPr>
        <p:blipFill>
          <a:blip r:embed="rId5"/>
          <a:stretch>
            <a:fillRect/>
          </a:stretch>
        </p:blipFill>
        <p:spPr>
          <a:xfrm>
            <a:off x="8415223" y="1709928"/>
            <a:ext cx="292608" cy="292608"/>
          </a:xfrm>
          <a:prstGeom prst="rect">
            <a:avLst/>
          </a:prstGeom>
        </p:spPr>
      </p:pic>
      <p:sp>
        <p:nvSpPr>
          <p:cNvPr id="24" name="Text 700"/>
          <p:cNvSpPr txBox="1"/>
          <p:nvPr/>
        </p:nvSpPr>
        <p:spPr>
          <a:xfrm>
            <a:off x="8991295" y="1463040"/>
            <a:ext cx="2468880" cy="777240"/>
          </a:xfrm>
          <a:prstGeom prst="rect">
            <a:avLst/>
          </a:prstGeom>
          <a:noFill/>
        </p:spPr>
        <p:txBody>
          <a:bodyPr wrap="square" lIns="0" tIns="0" rIns="0" bIns="0" rtlCol="0" anchor="ctr"/>
          <a:lstStyle/>
          <a:p>
            <a:pPr marL="0" indent="0">
              <a:buNone/>
            </a:pPr>
            <a:r>
              <a:rPr lang="en-US" sz="2100" b="1" dirty="0">
                <a:solidFill>
                  <a:schemeClr val="bg1"/>
                </a:solidFill>
                <a:latin typeface="+mj-lt"/>
                <a:ea typeface="+mj-lt"/>
                <a:cs typeface="+mj-lt"/>
              </a:rPr>
              <a:t>Students can</a:t>
            </a:r>
            <a:endParaRPr lang="en-US" sz="2100" dirty="0"/>
          </a:p>
        </p:txBody>
      </p:sp>
      <p:sp>
        <p:nvSpPr>
          <p:cNvPr id="25" name="Text 701"/>
          <p:cNvSpPr txBox="1"/>
          <p:nvPr/>
        </p:nvSpPr>
        <p:spPr>
          <a:xfrm>
            <a:off x="8305495" y="2468880"/>
            <a:ext cx="3108960" cy="2011680"/>
          </a:xfrm>
          <a:prstGeom prst="rect">
            <a:avLst/>
          </a:prstGeom>
          <a:noFill/>
        </p:spPr>
        <p:txBody>
          <a:bodyPr wrap="square" lIns="0" tIns="0" rIns="0" bIns="0" rtlCol="0" anchor="t"/>
          <a:lstStyle/>
          <a:p>
            <a:pPr marL="177800" indent="-177800">
              <a:spcAft>
                <a:spcPts val="1000"/>
              </a:spcAft>
              <a:buSzPct val="100000"/>
              <a:buChar char="•"/>
            </a:pPr>
            <a:r>
              <a:rPr lang="en-US" sz="1450" dirty="0">
                <a:solidFill>
                  <a:schemeClr val="tx1"/>
                </a:solidFill>
              </a:rPr>
              <a:t>Search with live availability and filters.</a:t>
            </a:r>
            <a:endParaRPr lang="en-US" sz="1450" dirty="0"/>
          </a:p>
          <a:p>
            <a:pPr marL="177800" indent="-177800">
              <a:spcAft>
                <a:spcPts val="1000"/>
              </a:spcAft>
              <a:buSzPct val="100000"/>
              <a:buChar char="•"/>
            </a:pPr>
            <a:r>
              <a:rPr lang="en-US" sz="1450" dirty="0">
                <a:solidFill>
                  <a:schemeClr val="tx1"/>
                </a:solidFill>
              </a:rPr>
              <a:t>Get notified when a reserved book is ready.</a:t>
            </a:r>
            <a:endParaRPr lang="en-US" sz="1450" dirty="0"/>
          </a:p>
          <a:p>
            <a:pPr marL="177800" indent="-177800">
              <a:spcAft>
                <a:spcPts val="1000"/>
              </a:spcAft>
              <a:buSzPct val="100000"/>
              <a:buChar char="•"/>
            </a:pPr>
            <a:r>
              <a:rPr lang="en-US" sz="1450" dirty="0">
                <a:solidFill>
                  <a:schemeClr val="tx1"/>
                </a:solidFill>
              </a:rPr>
              <a:t>Track borrows, fines, and requests in one profile.</a:t>
            </a:r>
            <a:endParaRPr lang="en-US" sz="1450" dirty="0"/>
          </a:p>
        </p:txBody>
      </p:sp>
      <p:sp>
        <p:nvSpPr>
          <p:cNvPr id="26" name="Shape 702"/>
          <p:cNvSpPr/>
          <p:nvPr/>
        </p:nvSpPr>
        <p:spPr>
          <a:xfrm>
            <a:off x="548640" y="4754880"/>
            <a:ext cx="11094415" cy="1508760"/>
          </a:xfrm>
          <a:prstGeom prst="roundRect">
            <a:avLst>
              <a:gd name="adj" fmla="val 6061"/>
            </a:avLst>
          </a:prstGeom>
          <a:solidFill>
            <a:schemeClr val="tx2"/>
          </a:solidFill>
        </p:spPr>
      </p:sp>
      <p:sp>
        <p:nvSpPr>
          <p:cNvPr id="27" name="Text 703"/>
          <p:cNvSpPr txBox="1"/>
          <p:nvPr/>
        </p:nvSpPr>
        <p:spPr>
          <a:xfrm>
            <a:off x="868680" y="4892040"/>
            <a:ext cx="4572000" cy="228600"/>
          </a:xfrm>
          <a:prstGeom prst="rect">
            <a:avLst/>
          </a:prstGeom>
          <a:noFill/>
        </p:spPr>
        <p:txBody>
          <a:bodyPr wrap="square" lIns="0" tIns="0" rIns="0" bIns="0" rtlCol="0" anchor="t"/>
          <a:lstStyle/>
          <a:p>
            <a:pPr marL="0" indent="0">
              <a:buNone/>
            </a:pPr>
            <a:r>
              <a:rPr lang="en-US" sz="1100" b="1" kern="0" spc="500" dirty="0">
                <a:solidFill>
                  <a:schemeClr val="accent2"/>
                </a:solidFill>
              </a:rPr>
              <a:t>SDG ALIGNMENT</a:t>
            </a:r>
            <a:endParaRPr lang="en-US" sz="1100" dirty="0"/>
          </a:p>
        </p:txBody>
      </p:sp>
      <p:sp>
        <p:nvSpPr>
          <p:cNvPr id="28" name="Shape 704"/>
          <p:cNvSpPr/>
          <p:nvPr/>
        </p:nvSpPr>
        <p:spPr>
          <a:xfrm>
            <a:off x="868680" y="5257800"/>
            <a:ext cx="868680" cy="347472"/>
          </a:xfrm>
          <a:prstGeom prst="roundRect">
            <a:avLst>
              <a:gd name="adj" fmla="val 21053"/>
            </a:avLst>
          </a:prstGeom>
          <a:solidFill>
            <a:schemeClr val="accent1"/>
          </a:solidFill>
        </p:spPr>
      </p:sp>
      <p:sp>
        <p:nvSpPr>
          <p:cNvPr id="29" name="Text 705"/>
          <p:cNvSpPr txBox="1"/>
          <p:nvPr/>
        </p:nvSpPr>
        <p:spPr>
          <a:xfrm>
            <a:off x="868680" y="5257800"/>
            <a:ext cx="868680" cy="347472"/>
          </a:xfrm>
          <a:prstGeom prst="rect">
            <a:avLst/>
          </a:prstGeom>
          <a:noFill/>
        </p:spPr>
        <p:txBody>
          <a:bodyPr wrap="square" lIns="0" tIns="0" rIns="0" bIns="0" rtlCol="0" anchor="ctr"/>
          <a:lstStyle/>
          <a:p>
            <a:pPr marL="0" indent="0" algn="ctr">
              <a:buNone/>
            </a:pPr>
            <a:r>
              <a:rPr lang="en-US" sz="1300" b="1" dirty="0">
                <a:solidFill>
                  <a:schemeClr val="bg1"/>
                </a:solidFill>
                <a:latin typeface="+mj-lt"/>
                <a:ea typeface="+mj-lt"/>
                <a:cs typeface="+mj-lt"/>
              </a:rPr>
              <a:t>SDG 4</a:t>
            </a:r>
            <a:endParaRPr lang="en-US" sz="1300" dirty="0"/>
          </a:p>
        </p:txBody>
      </p:sp>
      <p:sp>
        <p:nvSpPr>
          <p:cNvPr id="30" name="Text 706"/>
          <p:cNvSpPr txBox="1"/>
          <p:nvPr/>
        </p:nvSpPr>
        <p:spPr>
          <a:xfrm>
            <a:off x="1874520" y="5230368"/>
            <a:ext cx="4206240" cy="384048"/>
          </a:xfrm>
          <a:prstGeom prst="rect">
            <a:avLst/>
          </a:prstGeom>
          <a:noFill/>
        </p:spPr>
        <p:txBody>
          <a:bodyPr wrap="square" lIns="0" tIns="0" rIns="0" bIns="0" rtlCol="0" anchor="ctr"/>
          <a:lstStyle/>
          <a:p>
            <a:pPr marL="0" indent="0">
              <a:buNone/>
            </a:pPr>
            <a:r>
              <a:rPr lang="en-US" sz="1600" b="1" dirty="0">
                <a:solidFill>
                  <a:schemeClr val="bg1"/>
                </a:solidFill>
                <a:latin typeface="+mj-lt"/>
                <a:ea typeface="+mj-lt"/>
                <a:cs typeface="+mj-lt"/>
              </a:rPr>
              <a:t>Quality Education</a:t>
            </a:r>
            <a:endParaRPr lang="en-US" sz="1600" dirty="0"/>
          </a:p>
        </p:txBody>
      </p:sp>
      <p:sp>
        <p:nvSpPr>
          <p:cNvPr id="31" name="Text 707"/>
          <p:cNvSpPr txBox="1"/>
          <p:nvPr/>
        </p:nvSpPr>
        <p:spPr>
          <a:xfrm>
            <a:off x="868680" y="5715000"/>
            <a:ext cx="4937760" cy="502920"/>
          </a:xfrm>
          <a:prstGeom prst="rect">
            <a:avLst/>
          </a:prstGeom>
          <a:noFill/>
        </p:spPr>
        <p:txBody>
          <a:bodyPr wrap="square" lIns="0" tIns="0" rIns="0" bIns="0" rtlCol="0" anchor="t"/>
          <a:lstStyle/>
          <a:p>
            <a:pPr marL="0" indent="0">
              <a:buNone/>
            </a:pPr>
            <a:r>
              <a:rPr lang="en-US" sz="1250" dirty="0">
                <a:solidFill>
                  <a:schemeClr val="accent5"/>
                </a:solidFill>
              </a:rPr>
              <a:t>Structured, accessible learning materials for students and faculty through a digital library.</a:t>
            </a:r>
            <a:endParaRPr lang="en-US" sz="1250" dirty="0"/>
          </a:p>
        </p:txBody>
      </p:sp>
      <p:sp>
        <p:nvSpPr>
          <p:cNvPr id="32" name="Shape 708"/>
          <p:cNvSpPr/>
          <p:nvPr/>
        </p:nvSpPr>
        <p:spPr>
          <a:xfrm>
            <a:off x="6309360" y="5257800"/>
            <a:ext cx="868680" cy="347472"/>
          </a:xfrm>
          <a:prstGeom prst="roundRect">
            <a:avLst>
              <a:gd name="adj" fmla="val 21053"/>
            </a:avLst>
          </a:prstGeom>
          <a:solidFill>
            <a:schemeClr val="accent2"/>
          </a:solidFill>
        </p:spPr>
      </p:sp>
      <p:sp>
        <p:nvSpPr>
          <p:cNvPr id="33" name="Text 709"/>
          <p:cNvSpPr txBox="1"/>
          <p:nvPr/>
        </p:nvSpPr>
        <p:spPr>
          <a:xfrm>
            <a:off x="6309360" y="5257800"/>
            <a:ext cx="868680" cy="347472"/>
          </a:xfrm>
          <a:prstGeom prst="rect">
            <a:avLst/>
          </a:prstGeom>
          <a:noFill/>
        </p:spPr>
        <p:txBody>
          <a:bodyPr wrap="square" lIns="0" tIns="0" rIns="0" bIns="0" rtlCol="0" anchor="ctr"/>
          <a:lstStyle/>
          <a:p>
            <a:pPr marL="0" indent="0" algn="ctr">
              <a:buNone/>
            </a:pPr>
            <a:r>
              <a:rPr lang="en-US" sz="1300" b="1" dirty="0">
                <a:solidFill>
                  <a:schemeClr val="bg1"/>
                </a:solidFill>
                <a:latin typeface="+mj-lt"/>
                <a:ea typeface="+mj-lt"/>
                <a:cs typeface="+mj-lt"/>
              </a:rPr>
              <a:t>SDG 9</a:t>
            </a:r>
            <a:endParaRPr lang="en-US" sz="1300" dirty="0"/>
          </a:p>
        </p:txBody>
      </p:sp>
      <p:sp>
        <p:nvSpPr>
          <p:cNvPr id="34" name="Text 710"/>
          <p:cNvSpPr txBox="1"/>
          <p:nvPr/>
        </p:nvSpPr>
        <p:spPr>
          <a:xfrm>
            <a:off x="7315200" y="5230368"/>
            <a:ext cx="4206240" cy="384048"/>
          </a:xfrm>
          <a:prstGeom prst="rect">
            <a:avLst/>
          </a:prstGeom>
          <a:noFill/>
        </p:spPr>
        <p:txBody>
          <a:bodyPr wrap="square" lIns="0" tIns="0" rIns="0" bIns="0" rtlCol="0" anchor="ctr"/>
          <a:lstStyle/>
          <a:p>
            <a:pPr marL="0" indent="0">
              <a:buNone/>
            </a:pPr>
            <a:r>
              <a:rPr lang="en-US" sz="1600" b="1" dirty="0">
                <a:solidFill>
                  <a:schemeClr val="bg1"/>
                </a:solidFill>
                <a:latin typeface="+mj-lt"/>
                <a:ea typeface="+mj-lt"/>
                <a:cs typeface="+mj-lt"/>
              </a:rPr>
              <a:t>Industry, Innovation and Infrastructure</a:t>
            </a:r>
            <a:endParaRPr lang="en-US" sz="1600" dirty="0"/>
          </a:p>
        </p:txBody>
      </p:sp>
      <p:sp>
        <p:nvSpPr>
          <p:cNvPr id="35" name="Text 711"/>
          <p:cNvSpPr txBox="1"/>
          <p:nvPr/>
        </p:nvSpPr>
        <p:spPr>
          <a:xfrm>
            <a:off x="6309360" y="5715000"/>
            <a:ext cx="4937760" cy="502920"/>
          </a:xfrm>
          <a:prstGeom prst="rect">
            <a:avLst/>
          </a:prstGeom>
          <a:noFill/>
        </p:spPr>
        <p:txBody>
          <a:bodyPr wrap="square" lIns="0" tIns="0" rIns="0" bIns="0" rtlCol="0" anchor="t"/>
          <a:lstStyle/>
          <a:p>
            <a:pPr marL="0" indent="0">
              <a:buNone/>
            </a:pPr>
            <a:r>
              <a:rPr lang="en-US" sz="1250" dirty="0">
                <a:solidFill>
                  <a:schemeClr val="accent5"/>
                </a:solidFill>
              </a:rPr>
              <a:t>A technology solution that strengthens information management and innovation at MCST.</a:t>
            </a:r>
            <a:endParaRPr lang="en-US" sz="125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11  |  CLOSING</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From Managing Books to Making Better Decisions</a:t>
            </a:r>
            <a:endParaRPr lang="en-US" sz="280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23</a:t>
            </a:fld>
            <a:endParaRPr lang="en-US"/>
          </a:p>
        </p:txBody>
      </p:sp>
      <p:sp>
        <p:nvSpPr>
          <p:cNvPr id="5" name="TextBox 4"/>
          <p:cNvSpPr txBox="1"/>
          <p:nvPr/>
        </p:nvSpPr>
        <p:spPr>
          <a:xfrm>
            <a:off x="548640" y="1463040"/>
            <a:ext cx="11094415" cy="457200"/>
          </a:xfrm>
          <a:prstGeom prst="rect">
            <a:avLst/>
          </a:prstGeom>
          <a:noFill/>
        </p:spPr>
        <p:txBody>
          <a:bodyPr wrap="square" lIns="0" tIns="0" rIns="0" bIns="0" anchor="ctr">
            <a:spAutoFit/>
          </a:bodyPr>
          <a:lstStyle/>
          <a:p>
            <a:pPr algn="l"/>
            <a:r>
              <a:rPr sz="2400" b="1" i="0">
                <a:solidFill>
                  <a:schemeClr val="tx2"/>
                </a:solidFill>
                <a:latin typeface="+mj-lt"/>
              </a:rPr>
              <a:t>A modern library should do more than manage resources.</a:t>
            </a:r>
          </a:p>
        </p:txBody>
      </p:sp>
      <p:sp>
        <p:nvSpPr>
          <p:cNvPr id="6" name="TextBox 5"/>
          <p:cNvSpPr txBox="1"/>
          <p:nvPr/>
        </p:nvSpPr>
        <p:spPr>
          <a:xfrm>
            <a:off x="548640" y="2084831"/>
            <a:ext cx="3657600" cy="228600"/>
          </a:xfrm>
          <a:prstGeom prst="rect">
            <a:avLst/>
          </a:prstGeom>
          <a:noFill/>
        </p:spPr>
        <p:txBody>
          <a:bodyPr wrap="square" lIns="0" tIns="0" rIns="0" bIns="0" anchor="t">
            <a:spAutoFit/>
          </a:bodyPr>
          <a:lstStyle/>
          <a:p>
            <a:pPr algn="l"/>
            <a:r>
              <a:rPr sz="1100" b="1" i="0">
                <a:solidFill>
                  <a:schemeClr val="accent2"/>
                </a:solidFill>
              </a:rPr>
              <a:t>IT SHOULD…</a:t>
            </a:r>
          </a:p>
        </p:txBody>
      </p:sp>
      <p:sp>
        <p:nvSpPr>
          <p:cNvPr id="7" name="Rounded Rectangle 6"/>
          <p:cNvSpPr/>
          <p:nvPr/>
        </p:nvSpPr>
        <p:spPr>
          <a:xfrm>
            <a:off x="548640" y="2423160"/>
            <a:ext cx="3456432" cy="2240280"/>
          </a:xfrm>
          <a:prstGeom prst="roundRect">
            <a:avLst>
              <a:gd name="adj" fmla="val 4897"/>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865375" y="2606040"/>
            <a:ext cx="822960" cy="82296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aChartLine_9B1C24.png"/>
          <p:cNvPicPr>
            <a:picLocks noChangeAspect="1"/>
          </p:cNvPicPr>
          <p:nvPr/>
        </p:nvPicPr>
        <p:blipFill>
          <a:blip r:embed="rId3"/>
          <a:stretch>
            <a:fillRect/>
          </a:stretch>
        </p:blipFill>
        <p:spPr>
          <a:xfrm>
            <a:off x="2062886" y="2803550"/>
            <a:ext cx="427939" cy="427939"/>
          </a:xfrm>
          <a:prstGeom prst="rect">
            <a:avLst/>
          </a:prstGeom>
        </p:spPr>
      </p:pic>
      <p:sp>
        <p:nvSpPr>
          <p:cNvPr id="10" name="Oval 9"/>
          <p:cNvSpPr/>
          <p:nvPr/>
        </p:nvSpPr>
        <p:spPr>
          <a:xfrm>
            <a:off x="1709927" y="2560320"/>
            <a:ext cx="347472" cy="347472"/>
          </a:xfrm>
          <a:prstGeom prst="ellipse">
            <a:avLst/>
          </a:prstGeom>
          <a:solidFill>
            <a:schemeClr val="accent2"/>
          </a:solid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709927" y="2560320"/>
            <a:ext cx="347472" cy="347472"/>
          </a:xfrm>
          <a:prstGeom prst="rect">
            <a:avLst/>
          </a:prstGeom>
          <a:noFill/>
        </p:spPr>
        <p:txBody>
          <a:bodyPr wrap="square" lIns="0" tIns="0" rIns="0" bIns="0" anchor="ctr">
            <a:spAutoFit/>
          </a:bodyPr>
          <a:lstStyle/>
          <a:p>
            <a:pPr algn="ctr"/>
            <a:r>
              <a:rPr sz="1200" b="1" i="0">
                <a:solidFill>
                  <a:schemeClr val="bg1"/>
                </a:solidFill>
                <a:latin typeface="+mj-lt"/>
              </a:rPr>
              <a:t>1</a:t>
            </a:r>
          </a:p>
        </p:txBody>
      </p:sp>
      <p:sp>
        <p:nvSpPr>
          <p:cNvPr id="12" name="TextBox 11"/>
          <p:cNvSpPr txBox="1"/>
          <p:nvPr/>
        </p:nvSpPr>
        <p:spPr>
          <a:xfrm>
            <a:off x="822959" y="3611880"/>
            <a:ext cx="2907791" cy="960120"/>
          </a:xfrm>
          <a:prstGeom prst="rect">
            <a:avLst/>
          </a:prstGeom>
          <a:noFill/>
        </p:spPr>
        <p:txBody>
          <a:bodyPr wrap="square" lIns="0" tIns="0" rIns="0" bIns="0" anchor="ctr">
            <a:spAutoFit/>
          </a:bodyPr>
          <a:lstStyle/>
          <a:p>
            <a:pPr algn="ctr"/>
            <a:r>
              <a:rPr sz="1700" b="1" i="0">
                <a:solidFill>
                  <a:schemeClr val="tx2"/>
                </a:solidFill>
                <a:latin typeface="+mj-lt"/>
              </a:rPr>
              <a:t>Understand demand</a:t>
            </a:r>
          </a:p>
        </p:txBody>
      </p:sp>
      <p:sp>
        <p:nvSpPr>
          <p:cNvPr id="13" name="Rounded Rectangle 12"/>
          <p:cNvSpPr/>
          <p:nvPr/>
        </p:nvSpPr>
        <p:spPr>
          <a:xfrm>
            <a:off x="4370831" y="2423160"/>
            <a:ext cx="3456432" cy="2240280"/>
          </a:xfrm>
          <a:prstGeom prst="roundRect">
            <a:avLst>
              <a:gd name="adj" fmla="val 4897"/>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687567" y="2606040"/>
            <a:ext cx="822960" cy="82296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aUsers_B8923A.png"/>
          <p:cNvPicPr>
            <a:picLocks noChangeAspect="1"/>
          </p:cNvPicPr>
          <p:nvPr/>
        </p:nvPicPr>
        <p:blipFill>
          <a:blip r:embed="rId4"/>
          <a:stretch>
            <a:fillRect/>
          </a:stretch>
        </p:blipFill>
        <p:spPr>
          <a:xfrm>
            <a:off x="5885078" y="2803550"/>
            <a:ext cx="427939" cy="427939"/>
          </a:xfrm>
          <a:prstGeom prst="rect">
            <a:avLst/>
          </a:prstGeom>
        </p:spPr>
      </p:pic>
      <p:sp>
        <p:nvSpPr>
          <p:cNvPr id="16" name="Oval 15"/>
          <p:cNvSpPr/>
          <p:nvPr/>
        </p:nvSpPr>
        <p:spPr>
          <a:xfrm>
            <a:off x="5532119" y="2560320"/>
            <a:ext cx="347472" cy="347472"/>
          </a:xfrm>
          <a:prstGeom prst="ellipse">
            <a:avLst/>
          </a:prstGeom>
          <a:solidFill>
            <a:schemeClr val="accent2"/>
          </a:solid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532119" y="2560320"/>
            <a:ext cx="347472" cy="347472"/>
          </a:xfrm>
          <a:prstGeom prst="rect">
            <a:avLst/>
          </a:prstGeom>
          <a:noFill/>
        </p:spPr>
        <p:txBody>
          <a:bodyPr wrap="square" lIns="0" tIns="0" rIns="0" bIns="0" anchor="ctr">
            <a:spAutoFit/>
          </a:bodyPr>
          <a:lstStyle/>
          <a:p>
            <a:pPr algn="ctr"/>
            <a:r>
              <a:rPr sz="1200" b="1" i="0">
                <a:solidFill>
                  <a:schemeClr val="bg1"/>
                </a:solidFill>
                <a:latin typeface="+mj-lt"/>
              </a:rPr>
              <a:t>2</a:t>
            </a:r>
          </a:p>
        </p:txBody>
      </p:sp>
      <p:sp>
        <p:nvSpPr>
          <p:cNvPr id="18" name="TextBox 17"/>
          <p:cNvSpPr txBox="1"/>
          <p:nvPr/>
        </p:nvSpPr>
        <p:spPr>
          <a:xfrm>
            <a:off x="4645151" y="3611880"/>
            <a:ext cx="2907791" cy="960120"/>
          </a:xfrm>
          <a:prstGeom prst="rect">
            <a:avLst/>
          </a:prstGeom>
          <a:noFill/>
        </p:spPr>
        <p:txBody>
          <a:bodyPr wrap="square" lIns="0" tIns="0" rIns="0" bIns="0" anchor="ctr">
            <a:spAutoFit/>
          </a:bodyPr>
          <a:lstStyle/>
          <a:p>
            <a:pPr algn="ctr"/>
            <a:r>
              <a:rPr sz="1700" b="1" i="0">
                <a:solidFill>
                  <a:schemeClr val="tx2"/>
                </a:solidFill>
                <a:latin typeface="+mj-lt"/>
              </a:rPr>
              <a:t>Connect people to knowledge</a:t>
            </a:r>
          </a:p>
        </p:txBody>
      </p:sp>
      <p:sp>
        <p:nvSpPr>
          <p:cNvPr id="19" name="Rounded Rectangle 18"/>
          <p:cNvSpPr/>
          <p:nvPr/>
        </p:nvSpPr>
        <p:spPr>
          <a:xfrm>
            <a:off x="8193023" y="2423160"/>
            <a:ext cx="3456432" cy="2240280"/>
          </a:xfrm>
          <a:prstGeom prst="roundRect">
            <a:avLst>
              <a:gd name="adj" fmla="val 4897"/>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509760" y="2606040"/>
            <a:ext cx="822960" cy="82296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FaLightbulb_2B6F6A.png"/>
          <p:cNvPicPr>
            <a:picLocks noChangeAspect="1"/>
          </p:cNvPicPr>
          <p:nvPr/>
        </p:nvPicPr>
        <p:blipFill>
          <a:blip r:embed="rId5"/>
          <a:stretch>
            <a:fillRect/>
          </a:stretch>
        </p:blipFill>
        <p:spPr>
          <a:xfrm>
            <a:off x="9707270" y="2803550"/>
            <a:ext cx="427939" cy="427939"/>
          </a:xfrm>
          <a:prstGeom prst="rect">
            <a:avLst/>
          </a:prstGeom>
        </p:spPr>
      </p:pic>
      <p:sp>
        <p:nvSpPr>
          <p:cNvPr id="22" name="Oval 21"/>
          <p:cNvSpPr/>
          <p:nvPr/>
        </p:nvSpPr>
        <p:spPr>
          <a:xfrm>
            <a:off x="9354312" y="2560320"/>
            <a:ext cx="347472" cy="347472"/>
          </a:xfrm>
          <a:prstGeom prst="ellipse">
            <a:avLst/>
          </a:prstGeom>
          <a:solidFill>
            <a:schemeClr val="accent2"/>
          </a:solid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54312" y="2560320"/>
            <a:ext cx="347472" cy="347472"/>
          </a:xfrm>
          <a:prstGeom prst="rect">
            <a:avLst/>
          </a:prstGeom>
          <a:noFill/>
        </p:spPr>
        <p:txBody>
          <a:bodyPr wrap="square" lIns="0" tIns="0" rIns="0" bIns="0" anchor="ctr">
            <a:spAutoFit/>
          </a:bodyPr>
          <a:lstStyle/>
          <a:p>
            <a:pPr algn="ctr"/>
            <a:r>
              <a:rPr sz="1200" b="1" i="0">
                <a:solidFill>
                  <a:schemeClr val="bg1"/>
                </a:solidFill>
                <a:latin typeface="+mj-lt"/>
              </a:rPr>
              <a:t>3</a:t>
            </a:r>
          </a:p>
        </p:txBody>
      </p:sp>
      <p:sp>
        <p:nvSpPr>
          <p:cNvPr id="24" name="TextBox 23"/>
          <p:cNvSpPr txBox="1"/>
          <p:nvPr/>
        </p:nvSpPr>
        <p:spPr>
          <a:xfrm>
            <a:off x="8467344" y="3611880"/>
            <a:ext cx="2907791" cy="960120"/>
          </a:xfrm>
          <a:prstGeom prst="rect">
            <a:avLst/>
          </a:prstGeom>
          <a:noFill/>
        </p:spPr>
        <p:txBody>
          <a:bodyPr wrap="square" lIns="0" tIns="0" rIns="0" bIns="0" anchor="ctr">
            <a:spAutoFit/>
          </a:bodyPr>
          <a:lstStyle/>
          <a:p>
            <a:pPr algn="ctr"/>
            <a:r>
              <a:rPr sz="1700" b="1" i="0">
                <a:solidFill>
                  <a:schemeClr val="tx2"/>
                </a:solidFill>
                <a:latin typeface="+mj-lt"/>
              </a:rPr>
              <a:t>Turn everyday transactions into insights for better decisions</a:t>
            </a:r>
          </a:p>
        </p:txBody>
      </p:sp>
      <p:sp>
        <p:nvSpPr>
          <p:cNvPr id="25" name="Rounded Rectangle 24"/>
          <p:cNvSpPr/>
          <p:nvPr/>
        </p:nvSpPr>
        <p:spPr>
          <a:xfrm>
            <a:off x="548640" y="4892040"/>
            <a:ext cx="11094415" cy="1371600"/>
          </a:xfrm>
          <a:prstGeom prst="roundRect">
            <a:avLst>
              <a:gd name="adj" fmla="val 6666"/>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FaQuoteLeft_B8923A.png"/>
          <p:cNvPicPr>
            <a:picLocks noChangeAspect="1"/>
          </p:cNvPicPr>
          <p:nvPr/>
        </p:nvPicPr>
        <p:blipFill>
          <a:blip r:embed="rId6"/>
          <a:stretch>
            <a:fillRect/>
          </a:stretch>
        </p:blipFill>
        <p:spPr>
          <a:xfrm>
            <a:off x="868680" y="5212079"/>
            <a:ext cx="457200" cy="457200"/>
          </a:xfrm>
          <a:prstGeom prst="rect">
            <a:avLst/>
          </a:prstGeom>
        </p:spPr>
      </p:pic>
      <p:sp>
        <p:nvSpPr>
          <p:cNvPr id="27" name="TextBox 26"/>
          <p:cNvSpPr txBox="1"/>
          <p:nvPr/>
        </p:nvSpPr>
        <p:spPr>
          <a:xfrm>
            <a:off x="1600200" y="5047488"/>
            <a:ext cx="9722815" cy="777240"/>
          </a:xfrm>
          <a:prstGeom prst="rect">
            <a:avLst/>
          </a:prstGeom>
          <a:noFill/>
        </p:spPr>
        <p:txBody>
          <a:bodyPr wrap="square" lIns="0" tIns="0" rIns="0" bIns="0" anchor="t">
            <a:spAutoFit/>
          </a:bodyPr>
          <a:lstStyle/>
          <a:p>
            <a:pPr algn="l"/>
            <a:r>
              <a:rPr sz="1700" b="0" i="1">
                <a:solidFill>
                  <a:schemeClr val="bg1"/>
                </a:solidFill>
                <a:latin typeface="+mj-lt"/>
              </a:rPr>
              <a:t>Information is a source of learning. But unless it is organized, processed, and available to the right people in a format for decision making, it is a burden, not a benefit.</a:t>
            </a:r>
          </a:p>
        </p:txBody>
      </p:sp>
      <p:sp>
        <p:nvSpPr>
          <p:cNvPr id="28" name="TextBox 27"/>
          <p:cNvSpPr txBox="1"/>
          <p:nvPr/>
        </p:nvSpPr>
        <p:spPr>
          <a:xfrm>
            <a:off x="1600200" y="5852160"/>
            <a:ext cx="9722815" cy="274320"/>
          </a:xfrm>
          <a:prstGeom prst="rect">
            <a:avLst/>
          </a:prstGeom>
          <a:noFill/>
        </p:spPr>
        <p:txBody>
          <a:bodyPr wrap="square" lIns="0" tIns="0" rIns="0" bIns="0" anchor="t">
            <a:spAutoFit/>
          </a:bodyPr>
          <a:lstStyle/>
          <a:p>
            <a:pPr algn="l"/>
            <a:r>
              <a:rPr sz="1300" b="1" i="0">
                <a:solidFill>
                  <a:schemeClr val="accent2"/>
                </a:solidFill>
              </a:rPr>
              <a:t>— C. William Pollard, The Soul of the Firm (2000).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p:cNvSpPr>
            <a:spLocks noGrp="1"/>
          </p:cNvSpPr>
          <p:nvPr>
            <p:ph type="body" idx="104" hasCustomPrompt="1"/>
          </p:nvPr>
        </p:nvSpPr>
        <p:spPr>
          <a:xfrm>
            <a:off x="548640" y="237744"/>
            <a:ext cx="8229600" cy="256032"/>
          </a:xfrm>
          <a:prstGeom prst="rect">
            <a:avLst/>
          </a:prstGeom>
          <a:noFill/>
        </p:spPr>
        <p:txBody>
          <a:bodyPr wrap="square" lIns="0" tIns="0" rIns="0" bIns="0" rtlCol="0" anchor="ctr"/>
          <a:lstStyle/>
          <a:p>
            <a:pPr marL="0" indent="0" algn="l">
              <a:buNone/>
            </a:pPr>
            <a:r>
              <a:rPr lang="en-US" sz="1200" b="1" kern="0" spc="400" dirty="0">
                <a:solidFill>
                  <a:schemeClr val="accent1"/>
                </a:solidFill>
              </a:rPr>
              <a:t>11  |  CLOSING</a:t>
            </a:r>
            <a:endParaRPr lang="en-US" sz="1200" dirty="0"/>
          </a:p>
        </p:txBody>
      </p:sp>
      <p:sp>
        <p:nvSpPr>
          <p:cNvPr id="3" name="Text 4"/>
          <p:cNvSpPr>
            <a:spLocks noGrp="1"/>
          </p:cNvSpPr>
          <p:nvPr>
            <p:ph type="title" idx="105" hasCustomPrompt="1"/>
          </p:nvPr>
        </p:nvSpPr>
        <p:spPr>
          <a:xfrm>
            <a:off x="548640" y="502920"/>
            <a:ext cx="11094415" cy="640080"/>
          </a:xfrm>
          <a:prstGeom prst="rect">
            <a:avLst/>
          </a:prstGeom>
          <a:noFill/>
        </p:spPr>
        <p:txBody>
          <a:bodyPr wrap="square" lIns="0" tIns="0" rIns="0" bIns="0" rtlCol="0" anchor="ctr"/>
          <a:lstStyle/>
          <a:p>
            <a:pPr marL="0" indent="0" algn="l">
              <a:buNone/>
            </a:pPr>
            <a:r>
              <a:rPr lang="en-US" sz="2800" b="1" dirty="0">
                <a:solidFill>
                  <a:schemeClr val="tx2"/>
                </a:solidFill>
              </a:rPr>
              <a:t>Thank you.</a:t>
            </a:r>
            <a:endParaRPr lang="en-US" sz="2800" dirty="0"/>
          </a:p>
        </p:txBody>
      </p:sp>
      <p:sp>
        <p:nvSpPr>
          <p:cNvPr id="4" name="Slide Number Placeholder 0"/>
          <p:cNvSpPr>
            <a:spLocks noGrp="1"/>
          </p:cNvSpPr>
          <p:nvPr>
            <p:ph type="sldNum" sz="quarter" idx="4294967295"/>
          </p:nvPr>
        </p:nvSpPr>
        <p:spPr>
          <a:xfrm>
            <a:off x="10972800" y="6510528"/>
            <a:ext cx="667512" cy="274320"/>
          </a:xfrm>
          <a:prstGeom prst="rect">
            <a:avLst/>
          </a:prstGeom>
        </p:spPr>
        <p:txBody>
          <a:bodyPr/>
          <a:lstStyle>
            <a:lvl1pPr>
              <a:defRPr sz="1100">
                <a:solidFill>
                  <a:srgbClr val="6B7280"/>
                </a:solidFill>
              </a:defRPr>
            </a:lvl1pPr>
          </a:lstStyle>
          <a:p>
            <a:pPr algn="r"/>
            <a:fld id="{F7021451-1387-4CA6-816F-3879F97B5CBC}" type="slidenum">
              <a:rPr lang="en-US" b="0"/>
              <a:t>24</a:t>
            </a:fld>
            <a:endParaRPr lang="en-US"/>
          </a:p>
        </p:txBody>
      </p:sp>
      <p:sp>
        <p:nvSpPr>
          <p:cNvPr id="5" name="Rounded Rectangle 4"/>
          <p:cNvSpPr/>
          <p:nvPr/>
        </p:nvSpPr>
        <p:spPr>
          <a:xfrm>
            <a:off x="548640" y="1463040"/>
            <a:ext cx="7040880" cy="2331720"/>
          </a:xfrm>
          <a:prstGeom prst="roundRect">
            <a:avLst>
              <a:gd name="adj" fmla="val 4705"/>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463040"/>
            <a:ext cx="6583680" cy="2331720"/>
          </a:xfrm>
          <a:prstGeom prst="rect">
            <a:avLst/>
          </a:prstGeom>
          <a:noFill/>
        </p:spPr>
        <p:txBody>
          <a:bodyPr wrap="square" lIns="0" tIns="0" rIns="0" bIns="0" anchor="ctr">
            <a:spAutoFit/>
          </a:bodyPr>
          <a:lstStyle/>
          <a:p>
            <a:pPr algn="l">
              <a:spcAft>
                <a:spcPts val="800"/>
              </a:spcAft>
            </a:pPr>
            <a:r>
              <a:rPr sz="2600" b="1" i="0">
                <a:solidFill>
                  <a:schemeClr val="bg1"/>
                </a:solidFill>
                <a:latin typeface="+mj-lt"/>
              </a:rPr>
              <a:t>Every Borrow Tells a Story.</a:t>
            </a:r>
          </a:p>
          <a:p>
            <a:pPr algn="l">
              <a:spcAft>
                <a:spcPts val="800"/>
              </a:spcAft>
            </a:pPr>
            <a:r>
              <a:rPr sz="2600" b="1" i="0">
                <a:solidFill>
                  <a:schemeClr val="accent2"/>
                </a:solidFill>
                <a:latin typeface="+mj-lt"/>
              </a:rPr>
              <a:t>Every Data Point Can Guide a Decision.</a:t>
            </a:r>
          </a:p>
        </p:txBody>
      </p:sp>
      <p:sp>
        <p:nvSpPr>
          <p:cNvPr id="7" name="Rounded Rectangle 6"/>
          <p:cNvSpPr/>
          <p:nvPr/>
        </p:nvSpPr>
        <p:spPr>
          <a:xfrm>
            <a:off x="548640" y="3977639"/>
            <a:ext cx="7040880" cy="2286000"/>
          </a:xfrm>
          <a:prstGeom prst="roundRect">
            <a:avLst>
              <a:gd name="adj" fmla="val 48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68680" y="4754880"/>
            <a:ext cx="731520" cy="73152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1042415" y="4928616"/>
            <a:ext cx="384048" cy="384048"/>
          </a:xfrm>
          <a:prstGeom prst="rect">
            <a:avLst/>
          </a:prstGeom>
        </p:spPr>
      </p:pic>
      <p:sp>
        <p:nvSpPr>
          <p:cNvPr id="10" name="TextBox 9"/>
          <p:cNvSpPr txBox="1"/>
          <p:nvPr/>
        </p:nvSpPr>
        <p:spPr>
          <a:xfrm>
            <a:off x="1828800" y="4434840"/>
            <a:ext cx="5486400" cy="868680"/>
          </a:xfrm>
          <a:prstGeom prst="rect">
            <a:avLst/>
          </a:prstGeom>
          <a:noFill/>
        </p:spPr>
        <p:txBody>
          <a:bodyPr wrap="square" lIns="0" tIns="0" rIns="0" bIns="0" anchor="t">
            <a:spAutoFit/>
          </a:bodyPr>
          <a:lstStyle/>
          <a:p>
            <a:pPr algn="l"/>
            <a:r>
              <a:rPr sz="1800" b="0" i="0">
                <a:solidFill>
                  <a:schemeClr val="tx1"/>
                </a:solidFill>
              </a:rPr>
              <a:t>The goal is no longer just to know what books we have. It is to understand what our academic community needs.</a:t>
            </a:r>
          </a:p>
        </p:txBody>
      </p:sp>
      <p:sp>
        <p:nvSpPr>
          <p:cNvPr id="11" name="TextBox 10"/>
          <p:cNvSpPr txBox="1"/>
          <p:nvPr/>
        </p:nvSpPr>
        <p:spPr>
          <a:xfrm>
            <a:off x="1828800" y="5349240"/>
            <a:ext cx="5486400" cy="502920"/>
          </a:xfrm>
          <a:prstGeom prst="rect">
            <a:avLst/>
          </a:prstGeom>
          <a:noFill/>
        </p:spPr>
        <p:txBody>
          <a:bodyPr wrap="square" lIns="0" tIns="0" rIns="0" bIns="0" anchor="ctr">
            <a:spAutoFit/>
          </a:bodyPr>
          <a:lstStyle/>
          <a:p>
            <a:pPr algn="l"/>
            <a:r>
              <a:rPr sz="2200" b="1" i="0">
                <a:solidFill>
                  <a:schemeClr val="accent1"/>
                </a:solidFill>
                <a:latin typeface="+mj-lt"/>
              </a:rPr>
              <a:t>That is the library we are building.</a:t>
            </a:r>
          </a:p>
        </p:txBody>
      </p:sp>
      <p:sp>
        <p:nvSpPr>
          <p:cNvPr id="12" name="Rounded Rectangle 11"/>
          <p:cNvSpPr/>
          <p:nvPr/>
        </p:nvSpPr>
        <p:spPr>
          <a:xfrm>
            <a:off x="7818120" y="1463040"/>
            <a:ext cx="3822191" cy="4800600"/>
          </a:xfrm>
          <a:prstGeom prst="roundRect">
            <a:avLst>
              <a:gd name="adj" fmla="val 287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357616" y="1783080"/>
            <a:ext cx="2743200" cy="2743200"/>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image.jpeg"/>
          <p:cNvPicPr>
            <a:picLocks noChangeAspect="1"/>
          </p:cNvPicPr>
          <p:nvPr/>
        </p:nvPicPr>
        <p:blipFill>
          <a:blip r:embed="rId4"/>
          <a:stretch>
            <a:fillRect/>
          </a:stretch>
        </p:blipFill>
        <p:spPr>
          <a:xfrm>
            <a:off x="8430768" y="1856231"/>
            <a:ext cx="2596896" cy="2596896"/>
          </a:xfrm>
          <a:prstGeom prst="ellipse">
            <a:avLst/>
          </a:prstGeom>
        </p:spPr>
      </p:pic>
      <p:sp>
        <p:nvSpPr>
          <p:cNvPr id="15" name="TextBox 14"/>
          <p:cNvSpPr txBox="1"/>
          <p:nvPr/>
        </p:nvSpPr>
        <p:spPr>
          <a:xfrm>
            <a:off x="8092440" y="4800600"/>
            <a:ext cx="3273552" cy="640080"/>
          </a:xfrm>
          <a:prstGeom prst="rect">
            <a:avLst/>
          </a:prstGeom>
          <a:noFill/>
        </p:spPr>
        <p:txBody>
          <a:bodyPr wrap="square" lIns="0" tIns="0" rIns="0" bIns="0" anchor="t">
            <a:spAutoFit/>
          </a:bodyPr>
          <a:lstStyle/>
          <a:p>
            <a:pPr algn="ctr"/>
            <a:r>
              <a:rPr sz="1600" b="1" i="0">
                <a:solidFill>
                  <a:schemeClr val="tx2"/>
                </a:solidFill>
                <a:latin typeface="+mj-lt"/>
              </a:rPr>
              <a:t>Mandaluyong College of Science and Technology</a:t>
            </a:r>
          </a:p>
        </p:txBody>
      </p:sp>
      <p:sp>
        <p:nvSpPr>
          <p:cNvPr id="16" name="TextBox 15"/>
          <p:cNvSpPr txBox="1"/>
          <p:nvPr/>
        </p:nvSpPr>
        <p:spPr>
          <a:xfrm>
            <a:off x="8092440" y="5577840"/>
            <a:ext cx="3273552" cy="274320"/>
          </a:xfrm>
          <a:prstGeom prst="rect">
            <a:avLst/>
          </a:prstGeom>
          <a:noFill/>
        </p:spPr>
        <p:txBody>
          <a:bodyPr wrap="square" lIns="0" tIns="0" rIns="0" bIns="0" anchor="t">
            <a:spAutoFit/>
          </a:bodyPr>
          <a:lstStyle/>
          <a:p>
            <a:pPr algn="ctr"/>
            <a:r>
              <a:rPr sz="1400" b="0" i="0">
                <a:solidFill>
                  <a:schemeClr val="accent6"/>
                </a:solidFill>
              </a:rPr>
              <a:t>BSIS 404 Not Found</a:t>
            </a:r>
          </a:p>
        </p:txBody>
      </p:sp>
    </p:spTree>
  </p:cSld>
  <p:clrMapOvr>
    <a:masterClrMapping/>
  </p:clrMapOvr>
</p:sld>
</file>

<file path=ppt/theme/theme1.xml><?xml version="1.0" encoding="utf-8"?>
<a:theme xmlns:a="http://schemas.openxmlformats.org/drawingml/2006/main" name="MCST Colloquium">
  <a:themeElements>
    <a:clrScheme name="MCST Colloquium">
      <a:dk1>
        <a:srgbClr val="1B2440"/>
      </a:dk1>
      <a:lt1>
        <a:srgbClr val="FFFFFF"/>
      </a:lt1>
      <a:dk2>
        <a:srgbClr val="14213D"/>
      </a:dk2>
      <a:lt2>
        <a:srgbClr val="F4F0E6"/>
      </a:lt2>
      <a:accent1>
        <a:srgbClr val="9B1C24"/>
      </a:accent1>
      <a:accent2>
        <a:srgbClr val="B8923A"/>
      </a:accent2>
      <a:accent3>
        <a:srgbClr val="2B6F6A"/>
      </a:accent3>
      <a:accent4>
        <a:srgbClr val="3D4F7A"/>
      </a:accent4>
      <a:accent5>
        <a:srgbClr val="E6DDC8"/>
      </a:accent5>
      <a:accent6>
        <a:srgbClr val="6B7280"/>
      </a:accent6>
      <a:hlink>
        <a:srgbClr val="2B6F6A"/>
      </a:hlink>
      <a:folHlink>
        <a:srgbClr val="6B7280"/>
      </a:folHlink>
    </a:clrScheme>
    <a:fontScheme name="MCST Colloquiu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MCST Colloquium">
  <a:themeElements>
    <a:clrScheme name="MCST Colloquium">
      <a:dk1>
        <a:srgbClr val="1B2440"/>
      </a:dk1>
      <a:lt1>
        <a:srgbClr val="FFFFFF"/>
      </a:lt1>
      <a:dk2>
        <a:srgbClr val="14213D"/>
      </a:dk2>
      <a:lt2>
        <a:srgbClr val="F4F0E6"/>
      </a:lt2>
      <a:accent1>
        <a:srgbClr val="9B1C24"/>
      </a:accent1>
      <a:accent2>
        <a:srgbClr val="B8923A"/>
      </a:accent2>
      <a:accent3>
        <a:srgbClr val="2B6F6A"/>
      </a:accent3>
      <a:accent4>
        <a:srgbClr val="3D4F7A"/>
      </a:accent4>
      <a:accent5>
        <a:srgbClr val="E6DDC8"/>
      </a:accent5>
      <a:accent6>
        <a:srgbClr val="6B7280"/>
      </a:accent6>
      <a:hlink>
        <a:srgbClr val="2B6F6A"/>
      </a:hlink>
      <a:folHlink>
        <a:srgbClr val="6B7280"/>
      </a:folHlink>
    </a:clrScheme>
    <a:fontScheme name="MCST Colloquiu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CST Colloquium">
  <a:themeElements>
    <a:clrScheme name="MCST Colloquium">
      <a:dk1>
        <a:srgbClr val="1B2440"/>
      </a:dk1>
      <a:lt1>
        <a:srgbClr val="FFFFFF"/>
      </a:lt1>
      <a:dk2>
        <a:srgbClr val="14213D"/>
      </a:dk2>
      <a:lt2>
        <a:srgbClr val="F4F0E6"/>
      </a:lt2>
      <a:accent1>
        <a:srgbClr val="9B1C24"/>
      </a:accent1>
      <a:accent2>
        <a:srgbClr val="B8923A"/>
      </a:accent2>
      <a:accent3>
        <a:srgbClr val="2B6F6A"/>
      </a:accent3>
      <a:accent4>
        <a:srgbClr val="3D4F7A"/>
      </a:accent4>
      <a:accent5>
        <a:srgbClr val="E6DDC8"/>
      </a:accent5>
      <a:accent6>
        <a:srgbClr val="6B7280"/>
      </a:accent6>
      <a:hlink>
        <a:srgbClr val="2B6F6A"/>
      </a:hlink>
      <a:folHlink>
        <a:srgbClr val="6B7280"/>
      </a:folHlink>
    </a:clrScheme>
    <a:fontScheme name="MCST Colloquiu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513</TotalTime>
  <Words>5656</Words>
  <Application>Microsoft Office PowerPoint</Application>
  <PresentationFormat>Widescreen</PresentationFormat>
  <Paragraphs>495</Paragraphs>
  <Slides>24</Slides>
  <Notes>24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24</vt:i4>
      </vt:variant>
    </vt:vector>
  </HeadingPairs>
  <TitlesOfParts>
    <vt:vector size="29" baseType="lpstr">
      <vt:lpstr>Arial</vt:lpstr>
      <vt:lpstr>Calibri</vt:lpstr>
      <vt:lpstr>Cambria</vt:lpstr>
      <vt:lpstr>MCST Colloquium</vt:lpstr>
      <vt:lpstr>1_MCST Colloquium</vt:lpstr>
      <vt:lpstr>A Business Intelligence-Enabled Web-Based Library Management System for Academic Resource Planning</vt:lpstr>
      <vt:lpstr>Background of the Study</vt:lpstr>
      <vt:lpstr>Current System: KOHA and Paper Log Sheets</vt:lpstr>
      <vt:lpstr>Issues That Arise from the Current System</vt:lpstr>
      <vt:lpstr>Proposed System: Mapping Solutions to Identified Issues</vt:lpstr>
      <vt:lpstr>System Architecture</vt:lpstr>
      <vt:lpstr>System Features: Main Highlight</vt:lpstr>
      <vt:lpstr>Access, Roles, and Accountability</vt:lpstr>
      <vt:lpstr>Cataloging, Accessioning, and Public Catalog</vt:lpstr>
      <vt:lpstr>Circulation, Reservations, and Notifications</vt:lpstr>
      <vt:lpstr>Requests, History, and Administration</vt:lpstr>
      <vt:lpstr>The Reporting Dashboard: Four Analytics Tabs</vt:lpstr>
      <vt:lpstr>BI Tab 1: Circulation Tracking</vt:lpstr>
      <vt:lpstr>BI Tab 2: Library Analytics</vt:lpstr>
      <vt:lpstr>BI Tab 3: Department Analytics</vt:lpstr>
      <vt:lpstr>BI Tab 4: Resource Analytics</vt:lpstr>
      <vt:lpstr>Testing and Evaluation Methodology</vt:lpstr>
      <vt:lpstr>Results Overview: Module-Level Findings</vt:lpstr>
      <vt:lpstr>ISO/IEC 25010:2011 Evaluation Results</vt:lpstr>
      <vt:lpstr>User Acceptance Testing: Summary of Findings</vt:lpstr>
      <vt:lpstr>Recommendations</vt:lpstr>
      <vt:lpstr>With Our System, Everyone Gains</vt:lpstr>
      <vt:lpstr>From Managing Books to Making Better Decisions</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Intelligence-Enabled Web-Based Library Management System</dc:title>
  <dc:subject>PptxGenJS Presentation</dc:subject>
  <dc:creator>PptxGenJS</dc:creator>
  <cp:lastModifiedBy>Glenn Patrick Darriguez</cp:lastModifiedBy>
  <cp:revision>11</cp:revision>
  <dcterms:created xsi:type="dcterms:W3CDTF">2026-10-21T02:45:00Z</dcterms:created>
  <dcterms:modified xsi:type="dcterms:W3CDTF">2026-10-27T01:51:08Z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5AD131EFED3348B8A70FDF8EDFE640EA_12</vt:lpwstr>
  </property>
  <property fmtid="{D5CDD505-2E9C-101B-9397-08002B2CF9AE}" pid="3" name="KSOProductBuildVer">
    <vt:lpwstr>1033-12.1.0.29162</vt:lpwstr>
  </property>
</Properties>
</file>