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3e6728-663e-37b5-39dd-9f4a7c0261d5}">
          <p14:sldIdLst>
            <p14:sldId id="256"/>
          </p14:sldIdLst>
        </p14:section>
        <p14:section name="Engagement" id="{f5f33454-a979-65dd-493a-372be057f5b9}">
          <p14:sldIdLst>
            <p14:sldId id="257"/>
            <p14:sldId id="258"/>
            <p14:sldId id="259"/>
            <p14:sldId id="260"/>
          </p14:sldIdLst>
        </p14:section>
        <p14:section name="System" id="{cbea3417-274b-1e7c-cb37-61b3edbc5b22}">
          <p14:sldIdLst>
            <p14:sldId id="261"/>
            <p14:sldId id="262"/>
          </p14:sldIdLst>
        </p14:section>
        <p14:section name="Risks and Controls" id="{e6845049-8a4c-3bb8-75ba-1c622b03d238}">
          <p14:sldIdLst>
            <p14:sldId id="263"/>
            <p14:sldId id="264"/>
          </p14:sldIdLst>
        </p14:section>
        <p14:section name="Findings" id="{2c522f9d-7e8a-e89b-e9a7-22f6bf9fee09}">
          <p14:sldIdLst>
            <p14:sldId id="265"/>
            <p14:sldId id="266"/>
            <p14:sldId id="267"/>
            <p14:sldId id="268"/>
          </p14:sldIdLst>
        </p14:section>
        <p14:section name="Evidence and Actions" id="{b08bd0b7-1ca0-d6b1-ca27-6ab0e3b3e64c}">
          <p14:sldIdLst>
            <p14:sldId id="269"/>
            <p14:sldId id="270"/>
            <p14:sldId id="271"/>
          </p14:sldIdLst>
        </p14:section>
        <p14:section name="Conclusion" id="{4db49dc4-7e81-be4e-c5e2-9ef32b78b8a9}">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Residual score</c:v>
                </c:pt>
              </c:strCache>
            </c:strRef>
          </c:tx>
          <c:spPr>
            <a:solidFill>
              <a:srgbClr val="B91C1C"/>
            </a:solidFill>
            <a:effectLst/>
          </c:spPr>
          <c:invertIfNegative val="0"/>
          <c:dLbls>
            <c:numFmt formatCode="#,##0" sourceLinked="0"/>
            <c:txPr>
              <a:bodyPr/>
              <a:lstStyle/>
              <a:p>
                <a:pPr>
                  <a:defRPr b="1" i="0" strike="noStrike" sz="1300" u="none">
                    <a:solidFill>
                      <a:srgbClr val="14232E"/>
                    </a:solidFill>
                    <a:latin typeface="+mn-lt"/>
                  </a:defRPr>
                </a:pPr>
              </a:p>
            </c:txPr>
            <c:showLegendKey val="0"/>
            <c:showVal val="1"/>
            <c:showCatName val="0"/>
            <c:showSerName val="0"/>
            <c:showPercent val="0"/>
            <c:showBubbleSize val="0"/>
            <c:showLeaderLines val="0"/>
          </c:dLbls>
          <c:dPt>
            <c:idx val="0"/>
            <c:invertIfNegative val="0"/>
            <c:bubble3D val="0"/>
            <c:spPr>
              <a:solidFill>
                <a:srgbClr val="B91C1C"/>
              </a:solidFill>
              <a:effectLst/>
            </c:spPr>
          </c:dPt>
          <c:dPt>
            <c:idx val="1"/>
            <c:invertIfNegative val="0"/>
            <c:bubble3D val="0"/>
            <c:spPr>
              <a:solidFill>
                <a:srgbClr val="B91C1C"/>
              </a:solidFill>
              <a:effectLst/>
            </c:spPr>
          </c:dPt>
          <c:dPt>
            <c:idx val="2"/>
            <c:invertIfNegative val="0"/>
            <c:bubble3D val="0"/>
            <c:spPr>
              <a:solidFill>
                <a:srgbClr val="B91C1C"/>
              </a:solidFill>
              <a:effectLst/>
            </c:spPr>
          </c:dPt>
          <c:dPt>
            <c:idx val="3"/>
            <c:invertIfNegative val="0"/>
            <c:bubble3D val="0"/>
            <c:spPr>
              <a:solidFill>
                <a:srgbClr val="64748B"/>
              </a:solidFill>
              <a:effectLst/>
            </c:spPr>
          </c:dPt>
          <c:dPt>
            <c:idx val="4"/>
            <c:invertIfNegative val="0"/>
            <c:bubble3D val="0"/>
            <c:spPr>
              <a:solidFill>
                <a:srgbClr val="64748B"/>
              </a:solidFill>
              <a:effectLst/>
            </c:spPr>
          </c:dPt>
          <c:dPt>
            <c:idx val="5"/>
            <c:invertIfNegative val="0"/>
            <c:bubble3D val="0"/>
            <c:spPr>
              <a:solidFill>
                <a:srgbClr val="64748B"/>
              </a:solidFill>
              <a:effectLst/>
            </c:spPr>
          </c:dPt>
          <c:dPt>
            <c:idx val="6"/>
            <c:invertIfNegative val="0"/>
            <c:bubble3D val="0"/>
            <c:spPr>
              <a:solidFill>
                <a:srgbClr val="64748B"/>
              </a:solidFill>
              <a:effectLst/>
            </c:spPr>
          </c:dPt>
          <c:dPt>
            <c:idx val="7"/>
            <c:invertIfNegative val="0"/>
            <c:bubble3D val="0"/>
            <c:spPr>
              <a:solidFill>
                <a:srgbClr val="64748B"/>
              </a:solidFill>
              <a:effectLst/>
            </c:spPr>
          </c:dPt>
          <c:cat>
            <c:multiLvlStrRef>
              <c:f>Sheet1!$A$2:$A$9</c:f>
              <c:multiLvlStrCache>
                <c:ptCount val="8"/>
                <c:lvl>
                  <c:pt idx="0">
                    <c:v>RSK-01  Staff password leaks - no second login check</c:v>
                  </c:pt>
                  <c:pt idx="1">
                    <c:v>RSK-04  Database loss - restore never shown</c:v>
                  </c:pt>
                  <c:pt idx="2">
                    <c:v>RSK-07  Borrower data exposed in wide views / exports</c:v>
                  </c:pt>
                  <c:pt idx="3">
                    <c:v>RSK-02  Bad CSV rows corrupt book catalog</c:v>
                  </c:pt>
                  <c:pt idx="4">
                    <c:v>RSK-03  Import jobs lost on server restart</c:v>
                  </c:pt>
                  <c:pt idx="5">
                    <c:v>RSK-05  Single cloud provider outage (Accepted)</c:v>
                  </c:pt>
                  <c:pt idx="6">
                    <c:v>RSK-06  Same staff member adds + lends (SoD)</c:v>
                  </c:pt>
                  <c:pt idx="7">
                    <c:v>RSK-08  Settings changed without approval</c:v>
                  </c:pt>
                </c:lvl>
              </c:multiLvlStrCache>
            </c:multiLvlStrRef>
          </c:cat>
          <c:val>
            <c:numRef>
              <c:f>Sheet1!$B$2:$B$9</c:f>
              <c:numCache>
                <c:formatCode>General</c:formatCode>
                <c:ptCount val="8"/>
                <c:pt idx="0">
                  <c:v>16</c:v>
                </c:pt>
                <c:pt idx="1">
                  <c:v>8</c:v>
                </c:pt>
                <c:pt idx="2">
                  <c:v>9</c:v>
                </c:pt>
                <c:pt idx="3">
                  <c:v>9</c:v>
                </c:pt>
                <c:pt idx="4">
                  <c:v>6</c:v>
                </c:pt>
                <c:pt idx="5">
                  <c:v>8</c:v>
                </c:pt>
                <c:pt idx="6">
                  <c:v>6</c:v>
                </c:pt>
                <c:pt idx="7">
                  <c:v>6</c:v>
                </c:pt>
              </c:numCache>
            </c:numRef>
          </c:val>
        </c:ser>
        <c:dLbls>
          <c:numFmt formatCode="#,##0" sourceLinked="0"/>
          <c:txPr>
            <a:bodyPr/>
            <a:lstStyle/>
            <a:p>
              <a:pPr>
                <a:defRPr b="1" i="0" strike="noStrike" sz="1300" u="none">
                  <a:solidFill>
                    <a:srgbClr val="1423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32E"/>
                </a:solidFill>
                <a:latin typeface="+mn-lt"/>
              </a:defRPr>
            </a:pPr>
            <a:endParaRPr lang="en-US"/>
          </a:p>
        </c:txPr>
        <c:crossAx val="2094734552"/>
        <c:crosses val="autoZero"/>
        <c:auto val="1"/>
        <c:lblAlgn val="ctr"/>
        <c:noMultiLvlLbl val="1"/>
      </c:catAx>
      <c:valAx>
        <c:axId val="2094734552"/>
        <c:scaling>
          <c:orientation val="minMax"/>
          <c:max val="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Good day, everyone. We are 404NotFound — Justin Batlangao, Glenn Darriguez, and Jenifer Labag. For our capstone, we audited our own system: the MCST Library Management System, which we built for the MCST Library under Head Librarian Calixto Nicolas Camangeg, the system owner.</a:t>
            </a:r>
          </a:p>
          <a:p/>
          <a:p>
            <a:r>
              <a:t>We tested our own capstone the way an external audit team would — with written criteria, sampled tests, and dated evidence. This is our Final Integrated Professional IT Audit Report, covering Labs 7 to 12. Our evidence closes on October 10, 2026; it covers audited builds BLD-04 and BLD-05; and the report is version 1.0 Final, dated October 20.</a:t>
            </a:r>
          </a:p>
          <a:p/>
          <a:p>
            <a:r>
              <a:t>Over the next twenty minutes we will show you what we audited, what we tested, what we found, and what we recommend. Let us begin with how the engagement came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Our audit was not six separate homework pieces — it is one continuous engagement across six labs, each dated, each building on the last. Lab 7 set scope, objectives, and criteria on September 19 — that is mine. Lab 8 mapped assets, data flows, and accounts on September 26 — Glenn. Lab 9 scored risks and compliance on October 3 — Justin again. Lab 10 evaluated controls, tests, and gaps, also October 3 — Glenn. Lab 11 produced findings and action plans on October 10 — and Jenifer, who also presents today's final integration from Lab 12.</a:t>
            </a:r>
          </a:p>
          <a:p/>
          <a:p>
            <a:r>
              <a:t>One thread holds it all together: every lab shares the same system, the same build records, and the same ID families — OBJ, RSK, CTL, TEST, GAP, FND. When you hear a number today, it traces to that same family in the final report.</a:t>
            </a:r>
          </a:p>
          <a:p/>
          <a:p>
            <a:r>
              <a:t>One last point: everyone built and cross-checked in every lab. Today we divided the telling, not the doing.</a:t>
            </a:r>
          </a:p>
          <a:p/>
          <a:p>
            <a:r>
              <a:t>Q&amp;A cue: 'who did what' — each member created their own content, cross-reviewed another member's work, and contributed to every lab.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What exactly did we audit? The MCST LMS is our own Flask 3.1 web application — catalog, borrowing and returns, fines, requests, buying, stock count, and reports, modules MOD-01 to MOD-08 — running PostgreSQL on Render with timed pg_dump backups, and Google school-email login restricted to @mcst.edu.ph, with role checks on every page. Students and faculty borrow; desk staff circulate; admins manage.</a:t>
            </a:r>
          </a:p>
          <a:p/>
          <a:p>
            <a:r>
              <a:t>Because we own the code, we could give the audit full transparency — every code path, every screen. But we deliberately treated it like any external client: written criteria, sampled tests, dated evidence.</a:t>
            </a:r>
          </a:p>
          <a:p/>
          <a:p>
            <a:r>
              <a:t>The build lineage on the right is real git history, frozen before every lab — BLD-01 through BLD-05. And note BLD-06, build c20f98e: it came after our October 10 evidence cutoff. It is excluded from our conclusions and disclosed separately, as you will see later.</a:t>
            </a:r>
          </a:p>
          <a:p/>
          <a:p>
            <a:r>
              <a:t>Q&amp;A cue: 'why audit your own system?' — the partner benefit is real findings before live use; integrity is handled by evidence anyone can re-open (screenshots, git, logs).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Our four objectives came from Lab 7 and were approved with the library. OBJ-01: access control — only the right people reach the right pages, with rights granted by the Access Approver, ORG-02. OBJ-02: build truth — the frozen build really supports the library work we claim. OBJ-03: traceability — every borrow, fine, and change leaves a named record. OBJ-04: data safety — backup, settings, and reports protect data and hide secrets.</a:t>
            </a:r>
          </a:p>
          <a:p/>
          <a:p>
            <a:r>
              <a:t>Each objective anchors to written criteria, CRT-01 to CRT-04. For example, CRT-01 requires role rules in code, a roles table, and school approvals; CRT-03 requires thin pages, POST-only writes, and audit-trail rows.</a:t>
            </a:r>
          </a:p>
          <a:p/>
          <a:p>
            <a:r>
              <a:t>Our procedures stay inside safe boundaries: records and code inspection, configuration review, walkthroughs, and small demo tests — nothing changed, nothing harmed. We did not do attack testing, live restores, or touch real student data. Demo environment only — and that limit is stated in every conclusion we make.</a:t>
            </a:r>
          </a:p>
          <a:p/>
          <a:p>
            <a:r>
              <a:t>Q&amp;A cue: 'why no attack test?' — outside the approved procedures; we promised no over-claim and kept that promise.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How did we work? The same four-step method through Labs 7 to 12, with every result carrying an ID chain. First, inspect — records, code paths, configuration, forming the EVD-09 and EVD-10 evidence series. Second, walk through — real screens in the demo build, screenshotted only after names are cleaned. Third, test — the TEST-01 to TEST-06 samples. Fourth — the discipline layer — every increment was cross-reviewed by another team member with a written challenge and a recorded resolution: the REV-01 to REV-14 log.</a:t>
            </a:r>
          </a:p>
          <a:p/>
          <a:p>
            <a:r>
              <a:t>On AI: we used it only for wording fixes, count double-checks, and task clarification. Every suggestion was validated against real records, and it was never an evidence source. All six AI rows are disclosed in the portfolio, AIV-01 to AIV-06, with what we verified and what we revised.</a:t>
            </a:r>
          </a:p>
          <a:p/>
          <a:p>
            <a:r>
              <a:t>Q&amp;A cue: 'did AI write your audit?' — no; it shortened sentences and re-checked math; every AI row carries Accept/Revise plus what was verified.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Now the system underneath — Figure 2 of our report. Walk the picture with me. A borrower connects over HTTPS to the Flask application. Behind the app, it talks SQL only to PostgreSQL. Google sits outside as an identity provider — it proves who you are; it never touches library data. On the platform side, a scheduler copies the database on a timed pg_dump, and administrators change settings through the highest-trust path.</a:t>
            </a:r>
          </a:p>
          <a:p/>
          <a:p>
            <a:r>
              <a:t>That is six trust boundaries mapped and named, DEP-01 to DEP-06: public entry, the database line, the Google line, the staff upload path, the backup path, and the admin path.</a:t>
            </a:r>
          </a:p>
          <a:p/>
          <a:p>
            <a:r>
              <a:t>Three points to hold. There are seven registered account types, and the one-time bootstrap admin used for first setup was closed and verified — that is ACC-07. Secrets — database URLs, OAuth keys — live only in environment configuration: never in the app code, never inside this report. And every line on this map names its evidence source.</a:t>
            </a:r>
          </a:p>
          <a:p/>
          <a:p>
            <a:r>
              <a:t>Q&amp;A cue: 'what protects the database?' — env-held credentials plus the admin-only path (DEP-02); provider-side access follows school/provider rules.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Figure 3 shows how data moves through the library, across five flows, FLOW-01 to FLOW-05. FLOW-01 is the heart: borrow, return, and fines — borrowing honors the limits of three books for students and five for faculty, the fine is the rate times days late, and deletion is archive-before-delete, never a hard erase of an active record. FLOW-03 is the CSV import: headers must map, and bad rows are skipped — not half-inserted — with every skip logged. FLOW-04 is login: school email only through Google, and the first-login bootstrap admin closes after setup.</a:t>
            </a:r>
          </a:p>
          <a:p/>
          <a:p>
            <a:r>
              <a:t>Every flow carries written rules for validation at entry, where data is stored, which channel it moves over, and how long it may be kept. And notice the in-line checks: a can-borrow check before a loan, unique accession numbers before a copy is added, approval before a purchase is bought.</a:t>
            </a:r>
          </a:p>
          <a:p/>
          <a:p>
            <a:r>
              <a:t>One flow to remember: borrower data sits in PostgreSQL, and its views should be role-limited under CMP-01 and CMP-02. The weak part of that picture is Finding FND-03 — coming up.</a:t>
            </a:r>
          </a:p>
          <a:p/>
          <a:p>
            <a:r>
              <a:t>Q&amp;A cue: 'where does borrower data sit?' — PostgreSQL (AST-04); views should be role-limited per CMP-01/02 — the weakness is FND-03.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What could go wrong? Lab 9 scored eight risk scenarios — likelihood times impact — adjusted for the safeguards we could actually see in the build. Three are High priority. RSK-01: account takeover — a leaked staff password meets no second check; residual sixteen of twenty-five. RSK-04: recovery unproven — backups are logged, but a restore was never demonstrated; residual eight. RSK-07: borrower data exposed through wide staff views and an open export path. Those three drive our three findings.</a:t>
            </a:r>
          </a:p>
          <a:p/>
          <a:p>
            <a:r>
              <a:t>Two principles in our scoring. First: residuals only drop when a safeguard is proven in the build — the backup log is real, so RSK-04's impact drops from five to four. Second: unmatched safeguards change nothing — RSK-05, a single-provider outage, has no verified safeguard, so nothing drops, and the owner accepts it with a paper control: manual desk steps for outage days.</a:t>
            </a:r>
          </a:p>
          <a:p/>
          <a:p>
            <a:r>
              <a:t>Our compliance base is the Data Privacy Act of 2012 plus school access rules — CMP-01 to CMP-07.</a:t>
            </a:r>
          </a:p>
          <a:p/>
          <a:p>
            <a:r>
              <a:t>Q&amp;A cue: 'why is RSK-01 a 16?' — likelihood 4 x impact 4: passwords leak often and no second check exists; the mitigation is the second factor, aiming for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With risks named, we looked for the controls that address them — eight controls, CTL-01 to CTL-08 — and tested six under TEST-01 to TEST-06 on build BLD-04, on October 3. Four came back Effective; two came back Partially Effective.</a:t>
            </a:r>
          </a:p>
          <a:p/>
          <a:p>
            <a:r>
              <a:t>TEST-01, wrong-role entry: all ten role-gated pages blocked the intruder — ten out of ten, zero exceptions. TEST-02, CSV upload with two bad rows: six good books added, both bad rows skipped and logged. TEST-03, a full borrow-return-fine cycle: the fine matched the rate-times-days formula, and the audit trail logged the events. TEST-04, delete discipline: a delete on an active book was refused; the archived one was allowed.</a:t>
            </a:r>
          </a:p>
          <a:p/>
          <a:p>
            <a:r>
              <a:t>Then the two partials. TEST-05, the backup log: fourteen runs, fourteen logged — perfect logs, but zero proof any of them restore. TEST-06, settings changes: the change is logged with a name — but there is no approval step before it takes effect.</a:t>
            </a:r>
          </a:p>
          <a:p/>
          <a:p>
            <a:r>
              <a:t>A word on honesty: these are real populations, not cherry-picked samples — all ten pages, the whole fourteen-row log, the entire CSV. Small system, full coverage. The two partials line up with gaps GAP-02 and GAP-05 — and those gaps are exactly where two of our three findings come from.</a:t>
            </a:r>
          </a:p>
          <a:p/>
          <a:p>
            <a:r>
              <a:t>Q&amp;A cue: 'does Partially Effective = failed?' — no: the control partly works (backups run and are logged) but misses the objective — restore proof, approval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From all that evidence, five finding candidates crossed our desk in Lab 11, and we screened each with four questions: is the evidence sufficient, is it material, is it inside our scope, and what exactly happened? Here are the honest answers.</a:t>
            </a:r>
          </a:p>
          <a:p/>
          <a:p>
            <a:r>
              <a:t>FC-01 and FC-02 became findings FND-01 and FND-02. FC-03 is an observation, OBS-01 — a small fix backlog; not a finding, because it is fixable small and tracked, not hidden. FC-04 became FND-03. FC-05 is closed and compensated: the risk it described is already offset by logging plus a monthly owner review.</a:t>
            </a:r>
          </a:p>
          <a:p/>
          <a:p>
            <a:r>
              <a:t>The result: three formal findings, all High. And we want to be explicit — not every candidate became a finding, because inflating the register would dilute the real ones. Materiality disciplined this list, and every one of the five screening decisions carries its evidence IDs.</a:t>
            </a:r>
          </a:p>
          <a:p/>
          <a:p>
            <a:r>
              <a:t>Q&amp;A cue: 'why not more findings?' — materiality: small items would dilute; they are tracked (OBS-01 backlog, FC-05 control note), not hidden.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Finding one, FND-01 — and word care matters here, so follow the five steps. Condition: on BLD-05, no staff or admin login asks for a second check — the screens confirm it. TEST-01 was ten-for-ten on blocking the wrong role, but blocking the wrong role is not the same as stopping a stolen password. Criteria: CRT-01 and CMP-03 say access must fit the role and login must stop outsiders — ORG-02 is the approver in that line. Cause: the second step was never built; the code read shows no second step. Effect: one leaked staff password can read and change all borrower, loan, and fine data. We say exposure, not breach — nothing was lost or seen broken.</a:t>
            </a:r>
          </a:p>
          <a:p/>
          <a:p>
            <a:r>
              <a:t>Why High: residual risk sixteen of twenty-five, full loan and fine data at stake, a single point of failure on the main gate, and every borrower and staff member affected. The limitation, stated on the workpaper: no attack testing was allowed.</a:t>
            </a:r>
          </a:p>
          <a:p/>
          <a:p>
            <a:r>
              <a:t>The recommendation, REC-01: the Access Approver turns on a second check for staff and admin logins — the target is that a stolen password alone fails, and we re-run TEST-01 plus login attempts to prove it.</a:t>
            </a:r>
          </a:p>
          <a:p/>
          <a:p>
            <a:r>
              <a:t>Q&amp;A cue: '10/10 role tests passed — why still a finding?' — role checks stop the wrong people, not a thief with the right password; challenged in REV-13-02.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Finding two, FND-02 — the restore provability point. Condition: fourteen of fourteen backup runs are logged for September and October, completed status — and zero restore demonstrations exist anywhere. Criteria: CMP-05 with CRT-04 requires more than copies; it requires that recovery is actually possible with approval. Cause: a restore needs owner approval and test data, and it was never scheduled — the owner confirmed that, and our search found no record. Effect: if the database dies, desk work may stop for days, and loans and the catalog may be unrecoverable.</a:t>
            </a:r>
          </a:p>
          <a:p/>
          <a:p>
            <a:r>
              <a:t>Why High: because a backup log proves copies exist — it proves nothing about them coming back. If recovery fails once, the loss is total: every loan, every catalog record. This was the item our cross-review challenged hardest — REV-13-01 — and we kept it High on effect, not on the score alone.</a:t>
            </a:r>
          </a:p>
          <a:p/>
          <a:p>
            <a:r>
              <a:t>And the safety point: restoring the live database was outside our approved scope — that is SCP-03 — so the remedy itself stays safe. REC-02: the System Admin runs one witnessed restore onto a test copy, files the approved steps, and verification is simply reading the restore log. One admin hour: the cheapest fix in this report, and the largest single step in assurance gained.</a:t>
            </a:r>
          </a:p>
          <a:p/>
          <a:p>
            <a:r>
              <a:t>Q&amp;A cue: 'why not restore the real DB?' — out of approved scope; the test-copy exercise gives the proof without touching live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Finding three, FND-03 — borrower data exposure. Condition: staff roles open full borrower rows — name, school ID, fines — on desk screens; reports show names; and the export path has no extra rule between the staff role and the file. Criteria: CMP-01 and CMP-02 — the Data Privacy Act line and the school borrower-privacy practice — with CRT-01: private data only for roles with a genuine need to know, and names hidden in reports. Cause: the views were built for desk speed, and the export path was never fenced — the code read found no rule. Effect: a curious or rogue staff member could read or copy many student records. Again — exposure; we saw no misuse.</a:t>
            </a:r>
          </a:p>
          <a:p/>
          <a:p>
            <a:r>
              <a:t>Why High has a two-part answer: many students are affected, and real privacy-law obligations attach. And note this does not conflict with TEST-01 passing — getting in and seeing wide are different questions. Role checks close the door; they do not narrow the room. Limitation: full export was never tested — we had no right to try.</a:t>
            </a:r>
          </a:p>
          <a:p/>
          <a:p>
            <a:r>
              <a:t>REC-03: the Privacy role narrows views to need-to-know, hides names in reports and exports, and turns on an export log.</a:t>
            </a:r>
          </a:p>
          <a:p/>
          <a:p>
            <a:r>
              <a:t>Q&amp;A cue: 'can staff export everything today?' — we did not test export (SCP); the finding rests on wide views seen plus no export rule found; wording softened accordingly.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So how do our conclusions stand on evidence? Here is FND-01 traced end to end — and every finding carries the same chain. Step one, TEST-01: ten out of ten wrong-role visits blocked, and no second step visible on any login screen. Step two, that behavior is locked into evidence — EVD-12-01 and EVD-13-01 — clean, sanitized, dated screenshots tied to the build. Step three, the gap is identified as GAP-01 against controls CTL-01 and CTL-02. Step four, FND-01 is written up in full: condition, criteria, cause, effect, severity. Step five, the response is set — REC-01 with owner and result target — tracked as MAP-01.</a:t>
            </a:r>
          </a:p>
          <a:p/>
          <a:p>
            <a:r>
              <a:t>FND-02's chain runs TEST-05 to EVD-12-04 to GAP-02. FND-03's runs through TEST-01 and the EVD-10 and EVD-13 series to GAP-04.</a:t>
            </a:r>
          </a:p>
          <a:p/>
          <a:p>
            <a:r>
              <a:t>In total, twenty evidence items are indexed — EVD-09-01 through EVD-13-02 — each with its source, date, privacy treatment, and written limitation. And one more thing: evidence protection. No names, counts only, secrets excluded — nothing sensitive ever left the controlled group folder. Ask us for any ID, and we can show you exactly the condition we saw.</a:t>
            </a:r>
          </a:p>
          <a:p/>
          <a:p>
            <a:r>
              <a:t>Q&amp;A cue: 'could screenshots be faked?' — screenshots are only part; the role test uses live behavior, the backup log comes from the system itself, and dates/git tie everything to builds.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So what do we recommend — and honestly, what it is not yet. Three recommendations, each with a named owner, a priority, a target, and a verifiable result.</a:t>
            </a:r>
          </a:p>
          <a:p/>
          <a:p>
            <a:r>
              <a:t>REC-01 — High, next release: a second login check for staff and admin accounts, owned by the Access Approver; the result must be that a stolen password alone fails. REC-02 — High, before our final defense: one witnessed restore on a test copy plus filed restore steps, owned by the System Admin; the result is that recovery becomes demonstrable, verified by reading the restore log. REC-03 — High, next release: narrow staff views to need-to-know, hide names in reports and exports, and log every export, owned by the Privacy role.</a:t>
            </a:r>
          </a:p>
          <a:p/>
          <a:p>
            <a:r>
              <a:t>Now the honest part: all three are our proposals — proposed, not confirmed. No action is claimed as management-approved unless the library owner confirms it. The good news is the price tag: REC-02 is roughly one admin hour; REC-01 and REC-03 are small development tasks for the next release. Each has a verifiable target, so at follow-up we simply re-run the tests. And if the library declines any of these, the residual risk stays — and the report records that acceptance explicitly. Our job is disclosure, then follow-up; theirs is the decision.</a:t>
            </a:r>
          </a:p>
          <a:p/>
          <a:p>
            <a:r>
              <a:t>Q&amp;A cue: 'what if the library says no?' — the residual stays; the report records owner acceptance explicitly; our job is disclosure, then follow-up.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Now the professional-honesty slide: what this audit does not say. Read our limitations plainly. All evidence comes from the demo build and the test site — never live production data. No attack testing, no live restore, no real student records — those are the approved scope limits. Two compliance items stay not determined: CMP-05, because a restore needs approval we could not obtain unilaterally, and CMP-07 on Google's terms. Our samples are small because the system is small, and the populations are honestly listed. So our conclusion is that the system needs improvement — not that it is broken: four of the six tested controls are fully effective.</a:t>
            </a:r>
          </a:p>
          <a:p/>
          <a:p>
            <a:r>
              <a:t>Finally, change after the cutoff. BLD-06, build c20f98e, landed October 11 to 20 — inventory shared-session fixes, set-based reconcile, a condition modal, and Philippine-time timestamps. None of that was tested: it arrived after the cutoff, so it is disclosed — not absorbed into results. That is the Lab 12 manual rule, applied word for word. One flag for follow-up: once deployed, re-run TEST-03, because timestamps could shift fine displays.</a:t>
            </a:r>
          </a:p>
          <a:p/>
          <a:p>
            <a:r>
              <a:t>Q&amp;A cue: 'does the timestamp commit break your conclusion?' — no; conclusions cover BLD-04/05 up to cutoff; BLD-06 gets its own follow-up test after deploy.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Our overall conclusion: the MCST LMS needs improvement, pending remediation — a fair verdict, and here is why.</a:t>
            </a:r>
          </a:p>
          <a:p/>
          <a:p>
            <a:r>
              <a:t>What works, with evidence we showed today: wrong-role access blocked ten out of ten — control CTL-01; CSV checks that add good rows and skip bad ones, with logs; a full audit trail on desk work with guard rails on deletes; and backups running on schedule — fourteen of fourteen logged.</a:t>
            </a:r>
          </a:p>
          <a:p/>
          <a:p>
            <a:r>
              <a:t>What must improve — the three High findings, all still Proposed: a second login check under FND-01, one witnessed restore under FND-02, and narrower views with export control under FND-03. Then — before live borrower data ever touches this system — a follow-up review and a BLD-06 re-test.</a:t>
            </a:r>
          </a:p>
          <a:p/>
          <a:p>
            <a:r>
              <a:t>We debated whether a different verdict fits — that was a real cross-review argument — but three High findings and no confirmed management response mean improvement must come first. A system that holds student data should not go live with an unproven restore and a single-factor gate.</a:t>
            </a:r>
          </a:p>
          <a:p/>
          <a:p>
            <a:r>
              <a:t>Q&amp;A cue: 'why not Satisfactory instead?' — we debated it in REV cross-review; three High findings plus no confirmed management response means improvement is required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a:t>
            </a:r>
          </a:p>
          <a:p>
            <a:r>
              <a:t>Justin: Thank you for your time. Anyone may direct a question to any of us — all three of us reviewed the whole engagement, so no question has to wait for one person. A quick map: Justin owns scope, risks, and the conclusion; Glenn owns the system, controls, and tests; Jenifer owns findings and action plans.</a:t>
            </a:r>
          </a:p>
          <a:p/>
          <a:p>
            <a:r>
              <a:t>Jenifer: If you ask for evidence, we can bring the report on screen — the twenty-item EVD index, the test workpapers, the review and AI logs, and the build lineage.</a:t>
            </a:r>
          </a:p>
          <a:p/>
          <a:p>
            <a:r>
              <a:t>Glenn: Prepared answers, in case: the fine formula is rate times days late under settings control TEST-06; the Data Privacy Act basis is CMP-01; the post-cutoff build is BLD-06 — disclosed and excluded; and the action plan is verified by re-running TEST-01 and TEST-03, reading the restore log, and reviewing the export log once they exist.</a:t>
            </a:r>
          </a:p>
          <a:p/>
          <a:p>
            <a:r>
              <a:t>Q&amp;A cue: about 3 minutes of Q&amp;A; use the report if asked to show evidence — sections and IDs on request.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404NotFound  |  MCST LMS Audit</a:t>
            </a:r>
            <a:endParaRPr lang="en-US" sz="1000" dirty="0"/>
          </a:p>
        </p:txBody>
      </p:sp>
      <p:sp>
        <p:nvSpPr>
          <p:cNvPr id="3" name="Text 1"/>
          <p:cNvSpPr/>
          <p:nvPr>
            <p:ph idx="101" type="title" hasCustomPrompt="1"/>
          </p:nvPr>
        </p:nvSpPr>
        <p:spPr>
          <a:xfrm>
            <a:off x="548640" y="365760"/>
            <a:ext cx="11091672"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404NotFound  |  MCST LMS Audit</a:t>
            </a:r>
            <a:endParaRPr lang="en-US" sz="1000" dirty="0"/>
          </a:p>
        </p:txBody>
      </p:sp>
      <p:sp>
        <p:nvSpPr>
          <p:cNvPr id="3" name="Text 1"/>
          <p:cNvSpPr/>
          <p:nvPr>
            <p:ph idx="101" type="title" hasCustomPrompt="1"/>
          </p:nvPr>
        </p:nvSpPr>
        <p:spPr>
          <a:xfrm>
            <a:off x="548640" y="365760"/>
            <a:ext cx="11091672"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ckdrop circle"/>
          <p:cNvSpPr/>
          <p:nvPr/>
        </p:nvSpPr>
        <p:spPr>
          <a:xfrm>
            <a:off x="8595360" y="-1463040"/>
            <a:ext cx="5852160" cy="5852160"/>
          </a:xfrm>
          <a:prstGeom prst="ellipse">
            <a:avLst/>
          </a:prstGeom>
          <a:solidFill>
            <a:schemeClr val="accent1">
              <a:alpha val="18000"/>
            </a:schemeClr>
          </a:solidFill>
          <a:ln/>
        </p:spPr>
      </p:sp>
      <p:sp>
        <p:nvSpPr>
          <p:cNvPr id="4" name="Backdrop circle 2"/>
          <p:cNvSpPr/>
          <p:nvPr/>
        </p:nvSpPr>
        <p:spPr>
          <a:xfrm>
            <a:off x="9875520" y="2377440"/>
            <a:ext cx="3291840" cy="3291840"/>
          </a:xfrm>
          <a:prstGeom prst="ellipse">
            <a:avLst/>
          </a:prstGeom>
          <a:solidFill>
            <a:schemeClr val="accent1">
              <a:alpha val="30000"/>
            </a:schemeClr>
          </a:solidFill>
          <a:ln/>
        </p:spPr>
      </p:sp>
      <p:sp>
        <p:nvSpPr>
          <p:cNvPr id="5" name="Text 2"/>
          <p:cNvSpPr txBox="1"/>
          <p:nvPr/>
        </p:nvSpPr>
        <p:spPr>
          <a:xfrm>
            <a:off x="731520" y="822960"/>
            <a:ext cx="7315200" cy="320040"/>
          </a:xfrm>
          <a:prstGeom prst="rect">
            <a:avLst/>
          </a:prstGeom>
          <a:noFill/>
          <a:ln/>
        </p:spPr>
        <p:txBody>
          <a:bodyPr wrap="square" lIns="0" tIns="0" rIns="0" bIns="0" rtlCol="0" anchor="t"/>
          <a:lstStyle/>
          <a:p>
            <a:pPr indent="0" marL="0">
              <a:buNone/>
            </a:pPr>
            <a:r>
              <a:rPr lang="en-US" sz="1300" b="1" spc="300" kern="0" dirty="0">
                <a:solidFill>
                  <a:schemeClr val="bg2"/>
                </a:solidFill>
              </a:rPr>
              <a:t>CAPSTONE SYSTEM IT AUDIT ENGAGEMENT</a:t>
            </a:r>
            <a:endParaRPr lang="en-US" sz="1300" dirty="0"/>
          </a:p>
        </p:txBody>
      </p:sp>
      <p:sp>
        <p:nvSpPr>
          <p:cNvPr id="6" name="Text 3"/>
          <p:cNvSpPr txBox="1"/>
          <p:nvPr/>
        </p:nvSpPr>
        <p:spPr>
          <a:xfrm>
            <a:off x="731520" y="1280160"/>
            <a:ext cx="8412480" cy="1737360"/>
          </a:xfrm>
          <a:prstGeom prst="rect">
            <a:avLst/>
          </a:prstGeom>
          <a:noFill/>
          <a:ln/>
        </p:spPr>
        <p:txBody>
          <a:bodyPr wrap="square" lIns="0" tIns="0" rIns="0" bIns="0" rtlCol="0" anchor="t"/>
          <a:lstStyle/>
          <a:p>
            <a:pPr indent="0" marL="0">
              <a:buNone/>
            </a:pPr>
            <a:r>
              <a:rPr lang="en-US" sz="4200" b="1" dirty="0">
                <a:solidFill>
                  <a:schemeClr val="bg1"/>
                </a:solidFill>
                <a:latin typeface="Cambria" pitchFamily="34" charset="0"/>
                <a:ea typeface="Cambria" pitchFamily="34" charset="-122"/>
                <a:cs typeface="Cambria" pitchFamily="34" charset="-120"/>
              </a:rPr>
              <a:t>IT Audit of the MCST Library Management System (MCST LMS)</a:t>
            </a:r>
            <a:endParaRPr lang="en-US" sz="4200" dirty="0"/>
          </a:p>
        </p:txBody>
      </p:sp>
      <p:sp>
        <p:nvSpPr>
          <p:cNvPr id="7" name="Text 4"/>
          <p:cNvSpPr txBox="1"/>
          <p:nvPr/>
        </p:nvSpPr>
        <p:spPr>
          <a:xfrm>
            <a:off x="731520" y="3108960"/>
            <a:ext cx="8595360" cy="365760"/>
          </a:xfrm>
          <a:prstGeom prst="rect">
            <a:avLst/>
          </a:prstGeom>
          <a:noFill/>
          <a:ln/>
        </p:spPr>
        <p:txBody>
          <a:bodyPr wrap="square" lIns="0" tIns="0" rIns="0" bIns="0" rtlCol="0" anchor="t"/>
          <a:lstStyle/>
          <a:p>
            <a:pPr indent="0" marL="0">
              <a:buNone/>
            </a:pPr>
            <a:r>
              <a:rPr lang="en-US" sz="1800" dirty="0">
                <a:solidFill>
                  <a:schemeClr val="bg2"/>
                </a:solidFill>
              </a:rPr>
              <a:t>Final Integrated Professional IT Audit Report  -  Labs 7-12</a:t>
            </a:r>
            <a:endParaRPr lang="en-US" sz="1800" dirty="0"/>
          </a:p>
        </p:txBody>
      </p:sp>
      <p:sp>
        <p:nvSpPr>
          <p:cNvPr id="8" name="Text 5"/>
          <p:cNvSpPr txBox="1"/>
          <p:nvPr/>
        </p:nvSpPr>
        <p:spPr>
          <a:xfrm>
            <a:off x="731520" y="3566160"/>
            <a:ext cx="9144000" cy="320040"/>
          </a:xfrm>
          <a:prstGeom prst="rect">
            <a:avLst/>
          </a:prstGeom>
          <a:noFill/>
          <a:ln/>
        </p:spPr>
        <p:txBody>
          <a:bodyPr wrap="square" lIns="0" tIns="0" rIns="0" bIns="0" rtlCol="0" anchor="t"/>
          <a:lstStyle/>
          <a:p>
            <a:pPr indent="0" marL="0">
              <a:buNone/>
            </a:pPr>
            <a:r>
              <a:rPr lang="en-US" sz="1300" dirty="0">
                <a:solidFill>
                  <a:schemeClr val="accent6"/>
                </a:solidFill>
              </a:rPr>
              <a:t>Evidence cutoff 2026-10-10  |  Audited builds BLD-04/BLD-05  |  Report 1.0 Final, 2026-10-20</a:t>
            </a:r>
            <a:endParaRPr lang="en-US" sz="1300" dirty="0"/>
          </a:p>
        </p:txBody>
      </p:sp>
      <p:sp>
        <p:nvSpPr>
          <p:cNvPr id="9" name="Text 6"/>
          <p:cNvSpPr txBox="1"/>
          <p:nvPr/>
        </p:nvSpPr>
        <p:spPr>
          <a:xfrm>
            <a:off x="731520" y="4434840"/>
            <a:ext cx="3657600" cy="320040"/>
          </a:xfrm>
          <a:prstGeom prst="rect">
            <a:avLst/>
          </a:prstGeom>
          <a:noFill/>
          <a:ln/>
        </p:spPr>
        <p:txBody>
          <a:bodyPr wrap="square" lIns="0" tIns="0" rIns="0" bIns="0" rtlCol="0" anchor="t"/>
          <a:lstStyle/>
          <a:p>
            <a:pPr indent="0" marL="0">
              <a:buNone/>
            </a:pPr>
            <a:r>
              <a:rPr lang="en-US" sz="1400" b="1" dirty="0">
                <a:solidFill>
                  <a:schemeClr val="bg2"/>
                </a:solidFill>
              </a:rPr>
              <a:t>404NotFound</a:t>
            </a:r>
            <a:endParaRPr lang="en-US" sz="1400" dirty="0"/>
          </a:p>
        </p:txBody>
      </p:sp>
      <p:sp>
        <p:nvSpPr>
          <p:cNvPr id="10" name="Team card"/>
          <p:cNvSpPr/>
          <p:nvPr/>
        </p:nvSpPr>
        <p:spPr>
          <a:xfrm>
            <a:off x="731520" y="4846320"/>
            <a:ext cx="3383280" cy="1005840"/>
          </a:xfrm>
          <a:prstGeom prst="roundRect">
            <a:avLst>
              <a:gd name="adj" fmla="val 9091"/>
            </a:avLst>
          </a:prstGeom>
          <a:solidFill>
            <a:schemeClr val="bg1">
              <a:alpha val="8000"/>
            </a:schemeClr>
          </a:solidFill>
          <a:ln w="9525">
            <a:solidFill>
              <a:schemeClr val="accent6"/>
            </a:solidFill>
            <a:prstDash val="solid"/>
          </a:ln>
        </p:spPr>
      </p:sp>
      <p:sp>
        <p:nvSpPr>
          <p:cNvPr id="11" name="Text 8"/>
          <p:cNvSpPr txBox="1"/>
          <p:nvPr/>
        </p:nvSpPr>
        <p:spPr>
          <a:xfrm>
            <a:off x="914400" y="4983480"/>
            <a:ext cx="3017520" cy="365760"/>
          </a:xfrm>
          <a:prstGeom prst="rect">
            <a:avLst/>
          </a:prstGeom>
          <a:noFill/>
          <a:ln/>
        </p:spPr>
        <p:txBody>
          <a:bodyPr wrap="square" lIns="0" tIns="0" rIns="0" bIns="0" rtlCol="0" anchor="t"/>
          <a:lstStyle/>
          <a:p>
            <a:pPr indent="0" marL="0">
              <a:buNone/>
            </a:pPr>
            <a:r>
              <a:rPr lang="en-US" sz="1600" b="1" dirty="0">
                <a:solidFill>
                  <a:schemeClr val="bg1"/>
                </a:solidFill>
              </a:rPr>
              <a:t>Justin C. Batlangao</a:t>
            </a:r>
            <a:endParaRPr lang="en-US" sz="1600" dirty="0"/>
          </a:p>
        </p:txBody>
      </p:sp>
      <p:sp>
        <p:nvSpPr>
          <p:cNvPr id="12" name="Text 9"/>
          <p:cNvSpPr txBox="1"/>
          <p:nvPr/>
        </p:nvSpPr>
        <p:spPr>
          <a:xfrm>
            <a:off x="914400" y="5394960"/>
            <a:ext cx="3017520" cy="320040"/>
          </a:xfrm>
          <a:prstGeom prst="rect">
            <a:avLst/>
          </a:prstGeom>
          <a:noFill/>
          <a:ln/>
        </p:spPr>
        <p:txBody>
          <a:bodyPr wrap="square" lIns="0" tIns="0" rIns="0" bIns="0" rtlCol="0" anchor="t"/>
          <a:lstStyle/>
          <a:p>
            <a:pPr indent="0" marL="0">
              <a:buNone/>
            </a:pPr>
            <a:r>
              <a:rPr lang="en-US" sz="1200" dirty="0">
                <a:solidFill>
                  <a:schemeClr val="bg2"/>
                </a:solidFill>
              </a:rPr>
              <a:t>Findings and Report Lead</a:t>
            </a:r>
            <a:endParaRPr lang="en-US" sz="1200" dirty="0"/>
          </a:p>
        </p:txBody>
      </p:sp>
      <p:sp>
        <p:nvSpPr>
          <p:cNvPr id="13" name="Team card"/>
          <p:cNvSpPr/>
          <p:nvPr/>
        </p:nvSpPr>
        <p:spPr>
          <a:xfrm>
            <a:off x="4297680" y="4846320"/>
            <a:ext cx="3383280" cy="1005840"/>
          </a:xfrm>
          <a:prstGeom prst="roundRect">
            <a:avLst>
              <a:gd name="adj" fmla="val 9091"/>
            </a:avLst>
          </a:prstGeom>
          <a:solidFill>
            <a:schemeClr val="bg1">
              <a:alpha val="8000"/>
            </a:schemeClr>
          </a:solidFill>
          <a:ln w="9525">
            <a:solidFill>
              <a:schemeClr val="accent6"/>
            </a:solidFill>
            <a:prstDash val="solid"/>
          </a:ln>
        </p:spPr>
      </p:sp>
      <p:sp>
        <p:nvSpPr>
          <p:cNvPr id="14" name="Text 11"/>
          <p:cNvSpPr txBox="1"/>
          <p:nvPr/>
        </p:nvSpPr>
        <p:spPr>
          <a:xfrm>
            <a:off x="4480560" y="4983480"/>
            <a:ext cx="3017520" cy="365760"/>
          </a:xfrm>
          <a:prstGeom prst="rect">
            <a:avLst/>
          </a:prstGeom>
          <a:noFill/>
          <a:ln/>
        </p:spPr>
        <p:txBody>
          <a:bodyPr wrap="square" lIns="0" tIns="0" rIns="0" bIns="0" rtlCol="0" anchor="t"/>
          <a:lstStyle/>
          <a:p>
            <a:pPr indent="0" marL="0">
              <a:buNone/>
            </a:pPr>
            <a:r>
              <a:rPr lang="en-US" sz="1600" b="1" dirty="0">
                <a:solidFill>
                  <a:schemeClr val="bg1"/>
                </a:solidFill>
              </a:rPr>
              <a:t>Glenn Patrick B. Darriguez</a:t>
            </a:r>
            <a:endParaRPr lang="en-US" sz="1600" dirty="0"/>
          </a:p>
        </p:txBody>
      </p:sp>
      <p:sp>
        <p:nvSpPr>
          <p:cNvPr id="15" name="Text 12"/>
          <p:cNvSpPr txBox="1"/>
          <p:nvPr/>
        </p:nvSpPr>
        <p:spPr>
          <a:xfrm>
            <a:off x="4480560" y="5394960"/>
            <a:ext cx="3017520" cy="320040"/>
          </a:xfrm>
          <a:prstGeom prst="rect">
            <a:avLst/>
          </a:prstGeom>
          <a:noFill/>
          <a:ln/>
        </p:spPr>
        <p:txBody>
          <a:bodyPr wrap="square" lIns="0" tIns="0" rIns="0" bIns="0" rtlCol="0" anchor="t"/>
          <a:lstStyle/>
          <a:p>
            <a:pPr indent="0" marL="0">
              <a:buNone/>
            </a:pPr>
            <a:r>
              <a:rPr lang="en-US" sz="1200" dirty="0">
                <a:solidFill>
                  <a:schemeClr val="bg2"/>
                </a:solidFill>
              </a:rPr>
              <a:t>Evidence and Root-Cause Analyst</a:t>
            </a:r>
            <a:endParaRPr lang="en-US" sz="1200" dirty="0"/>
          </a:p>
        </p:txBody>
      </p:sp>
      <p:sp>
        <p:nvSpPr>
          <p:cNvPr id="16" name="Team card"/>
          <p:cNvSpPr/>
          <p:nvPr/>
        </p:nvSpPr>
        <p:spPr>
          <a:xfrm>
            <a:off x="7863840" y="4846320"/>
            <a:ext cx="3383280" cy="1005840"/>
          </a:xfrm>
          <a:prstGeom prst="roundRect">
            <a:avLst>
              <a:gd name="adj" fmla="val 9091"/>
            </a:avLst>
          </a:prstGeom>
          <a:solidFill>
            <a:schemeClr val="bg1">
              <a:alpha val="8000"/>
            </a:schemeClr>
          </a:solidFill>
          <a:ln w="9525">
            <a:solidFill>
              <a:schemeClr val="accent6"/>
            </a:solidFill>
            <a:prstDash val="solid"/>
          </a:ln>
        </p:spPr>
      </p:sp>
      <p:sp>
        <p:nvSpPr>
          <p:cNvPr id="17" name="Text 14"/>
          <p:cNvSpPr txBox="1"/>
          <p:nvPr/>
        </p:nvSpPr>
        <p:spPr>
          <a:xfrm>
            <a:off x="8046720" y="4983480"/>
            <a:ext cx="3017520" cy="365760"/>
          </a:xfrm>
          <a:prstGeom prst="rect">
            <a:avLst/>
          </a:prstGeom>
          <a:noFill/>
          <a:ln/>
        </p:spPr>
        <p:txBody>
          <a:bodyPr wrap="square" lIns="0" tIns="0" rIns="0" bIns="0" rtlCol="0" anchor="t"/>
          <a:lstStyle/>
          <a:p>
            <a:pPr indent="0" marL="0">
              <a:buNone/>
            </a:pPr>
            <a:r>
              <a:rPr lang="en-US" sz="1600" b="1" dirty="0">
                <a:solidFill>
                  <a:schemeClr val="bg1"/>
                </a:solidFill>
              </a:rPr>
              <a:t>Ma. Jenifer L. Labag</a:t>
            </a:r>
            <a:endParaRPr lang="en-US" sz="1600" dirty="0"/>
          </a:p>
        </p:txBody>
      </p:sp>
      <p:sp>
        <p:nvSpPr>
          <p:cNvPr id="18" name="Text 15"/>
          <p:cNvSpPr txBox="1"/>
          <p:nvPr/>
        </p:nvSpPr>
        <p:spPr>
          <a:xfrm>
            <a:off x="8046720" y="5394960"/>
            <a:ext cx="3017520" cy="320040"/>
          </a:xfrm>
          <a:prstGeom prst="rect">
            <a:avLst/>
          </a:prstGeom>
          <a:noFill/>
          <a:ln/>
        </p:spPr>
        <p:txBody>
          <a:bodyPr wrap="square" lIns="0" tIns="0" rIns="0" bIns="0" rtlCol="0" anchor="t"/>
          <a:lstStyle/>
          <a:p>
            <a:pPr indent="0" marL="0">
              <a:buNone/>
            </a:pPr>
            <a:r>
              <a:rPr lang="en-US" sz="1200" dirty="0">
                <a:solidFill>
                  <a:schemeClr val="bg2"/>
                </a:solidFill>
              </a:rPr>
              <a:t>Recommendation and Action-Plan Analyst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Our Audit Journey - and Who Presents What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Six laboratory milestones built one continuous engagement from scope to conclusion</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Timeline line"/>
          <p:cNvSpPr/>
          <p:nvPr/>
        </p:nvSpPr>
        <p:spPr>
          <a:xfrm>
            <a:off x="1394460" y="2130552"/>
            <a:ext cx="9372600" cy="0"/>
          </a:xfrm>
          <a:prstGeom prst="line">
            <a:avLst/>
          </a:prstGeom>
          <a:noFill/>
          <a:ln w="19050">
            <a:solidFill>
              <a:schemeClr val="accent6"/>
            </a:solidFill>
            <a:prstDash val="solid"/>
          </a:ln>
        </p:spPr>
      </p:sp>
      <p:sp>
        <p:nvSpPr>
          <p:cNvPr id="7" name="Timeline node"/>
          <p:cNvSpPr/>
          <p:nvPr/>
        </p:nvSpPr>
        <p:spPr>
          <a:xfrm>
            <a:off x="1138428" y="1874520"/>
            <a:ext cx="512064" cy="512064"/>
          </a:xfrm>
          <a:prstGeom prst="ellipse">
            <a:avLst/>
          </a:prstGeom>
          <a:solidFill>
            <a:schemeClr val="accent1"/>
          </a:solidFill>
          <a:ln w="38100">
            <a:solidFill>
              <a:schemeClr val="bg1"/>
            </a:solidFill>
            <a:prstDash val="solid"/>
          </a:ln>
        </p:spPr>
      </p:sp>
      <p:sp>
        <p:nvSpPr>
          <p:cNvPr id="8" name="Text 5"/>
          <p:cNvSpPr txBox="1"/>
          <p:nvPr/>
        </p:nvSpPr>
        <p:spPr>
          <a:xfrm>
            <a:off x="113842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9" name="Card"/>
          <p:cNvSpPr/>
          <p:nvPr/>
        </p:nvSpPr>
        <p:spPr>
          <a:xfrm>
            <a:off x="54864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10" name="Text 7"/>
          <p:cNvSpPr txBox="1"/>
          <p:nvPr/>
        </p:nvSpPr>
        <p:spPr>
          <a:xfrm>
            <a:off x="68580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7</a:t>
            </a:r>
            <a:endParaRPr lang="en-US" sz="1500" dirty="0"/>
          </a:p>
        </p:txBody>
      </p:sp>
      <p:sp>
        <p:nvSpPr>
          <p:cNvPr id="11" name="Text 8"/>
          <p:cNvSpPr txBox="1"/>
          <p:nvPr/>
        </p:nvSpPr>
        <p:spPr>
          <a:xfrm>
            <a:off x="68580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Scope + objectives + criteria</a:t>
            </a:r>
            <a:endParaRPr lang="en-US" sz="1300" dirty="0"/>
          </a:p>
        </p:txBody>
      </p:sp>
      <p:sp>
        <p:nvSpPr>
          <p:cNvPr id="12" name="Text 9"/>
          <p:cNvSpPr txBox="1"/>
          <p:nvPr/>
        </p:nvSpPr>
        <p:spPr>
          <a:xfrm>
            <a:off x="68580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2026-09-19</a:t>
            </a:r>
            <a:endParaRPr lang="en-US" sz="1100" dirty="0"/>
          </a:p>
        </p:txBody>
      </p:sp>
      <p:sp>
        <p:nvSpPr>
          <p:cNvPr id="13" name="Text 10"/>
          <p:cNvSpPr txBox="1"/>
          <p:nvPr/>
        </p:nvSpPr>
        <p:spPr>
          <a:xfrm>
            <a:off x="68580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Justin</a:t>
            </a:r>
            <a:endParaRPr lang="en-US" sz="1200" dirty="0"/>
          </a:p>
        </p:txBody>
      </p:sp>
      <p:sp>
        <p:nvSpPr>
          <p:cNvPr id="14" name="Timeline node"/>
          <p:cNvSpPr/>
          <p:nvPr/>
        </p:nvSpPr>
        <p:spPr>
          <a:xfrm>
            <a:off x="3012948" y="1874520"/>
            <a:ext cx="512064" cy="512064"/>
          </a:xfrm>
          <a:prstGeom prst="ellipse">
            <a:avLst/>
          </a:prstGeom>
          <a:solidFill>
            <a:schemeClr val="accent1"/>
          </a:solidFill>
          <a:ln w="38100">
            <a:solidFill>
              <a:schemeClr val="bg1"/>
            </a:solidFill>
            <a:prstDash val="solid"/>
          </a:ln>
        </p:spPr>
      </p:sp>
      <p:sp>
        <p:nvSpPr>
          <p:cNvPr id="15" name="Text 12"/>
          <p:cNvSpPr txBox="1"/>
          <p:nvPr/>
        </p:nvSpPr>
        <p:spPr>
          <a:xfrm>
            <a:off x="301294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6" name="Card"/>
          <p:cNvSpPr/>
          <p:nvPr/>
        </p:nvSpPr>
        <p:spPr>
          <a:xfrm>
            <a:off x="242316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17" name="Text 14"/>
          <p:cNvSpPr txBox="1"/>
          <p:nvPr/>
        </p:nvSpPr>
        <p:spPr>
          <a:xfrm>
            <a:off x="256032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8</a:t>
            </a:r>
            <a:endParaRPr lang="en-US" sz="1500" dirty="0"/>
          </a:p>
        </p:txBody>
      </p:sp>
      <p:sp>
        <p:nvSpPr>
          <p:cNvPr id="18" name="Text 15"/>
          <p:cNvSpPr txBox="1"/>
          <p:nvPr/>
        </p:nvSpPr>
        <p:spPr>
          <a:xfrm>
            <a:off x="256032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Assets + flows + accounts</a:t>
            </a:r>
            <a:endParaRPr lang="en-US" sz="1300" dirty="0"/>
          </a:p>
        </p:txBody>
      </p:sp>
      <p:sp>
        <p:nvSpPr>
          <p:cNvPr id="19" name="Text 16"/>
          <p:cNvSpPr txBox="1"/>
          <p:nvPr/>
        </p:nvSpPr>
        <p:spPr>
          <a:xfrm>
            <a:off x="256032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2026-09-26</a:t>
            </a:r>
            <a:endParaRPr lang="en-US" sz="1100" dirty="0"/>
          </a:p>
        </p:txBody>
      </p:sp>
      <p:sp>
        <p:nvSpPr>
          <p:cNvPr id="20" name="Text 17"/>
          <p:cNvSpPr txBox="1"/>
          <p:nvPr/>
        </p:nvSpPr>
        <p:spPr>
          <a:xfrm>
            <a:off x="256032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Glenn</a:t>
            </a:r>
            <a:endParaRPr lang="en-US" sz="1200" dirty="0"/>
          </a:p>
        </p:txBody>
      </p:sp>
      <p:sp>
        <p:nvSpPr>
          <p:cNvPr id="21" name="Timeline node"/>
          <p:cNvSpPr/>
          <p:nvPr/>
        </p:nvSpPr>
        <p:spPr>
          <a:xfrm>
            <a:off x="4887468" y="1874520"/>
            <a:ext cx="512064" cy="512064"/>
          </a:xfrm>
          <a:prstGeom prst="ellipse">
            <a:avLst/>
          </a:prstGeom>
          <a:solidFill>
            <a:schemeClr val="accent1"/>
          </a:solidFill>
          <a:ln w="38100">
            <a:solidFill>
              <a:schemeClr val="bg1"/>
            </a:solidFill>
            <a:prstDash val="solid"/>
          </a:ln>
        </p:spPr>
      </p:sp>
      <p:sp>
        <p:nvSpPr>
          <p:cNvPr id="22" name="Text 19"/>
          <p:cNvSpPr txBox="1"/>
          <p:nvPr/>
        </p:nvSpPr>
        <p:spPr>
          <a:xfrm>
            <a:off x="488746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3" name="Card"/>
          <p:cNvSpPr/>
          <p:nvPr/>
        </p:nvSpPr>
        <p:spPr>
          <a:xfrm>
            <a:off x="429768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24" name="Text 21"/>
          <p:cNvSpPr txBox="1"/>
          <p:nvPr/>
        </p:nvSpPr>
        <p:spPr>
          <a:xfrm>
            <a:off x="443484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9</a:t>
            </a:r>
            <a:endParaRPr lang="en-US" sz="1500" dirty="0"/>
          </a:p>
        </p:txBody>
      </p:sp>
      <p:sp>
        <p:nvSpPr>
          <p:cNvPr id="25" name="Text 22"/>
          <p:cNvSpPr txBox="1"/>
          <p:nvPr/>
        </p:nvSpPr>
        <p:spPr>
          <a:xfrm>
            <a:off x="443484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Risks + compliance</a:t>
            </a:r>
            <a:endParaRPr lang="en-US" sz="1300" dirty="0"/>
          </a:p>
        </p:txBody>
      </p:sp>
      <p:sp>
        <p:nvSpPr>
          <p:cNvPr id="26" name="Text 23"/>
          <p:cNvSpPr txBox="1"/>
          <p:nvPr/>
        </p:nvSpPr>
        <p:spPr>
          <a:xfrm>
            <a:off x="443484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2026-10-03</a:t>
            </a:r>
            <a:endParaRPr lang="en-US" sz="1100" dirty="0"/>
          </a:p>
        </p:txBody>
      </p:sp>
      <p:sp>
        <p:nvSpPr>
          <p:cNvPr id="27" name="Text 24"/>
          <p:cNvSpPr txBox="1"/>
          <p:nvPr/>
        </p:nvSpPr>
        <p:spPr>
          <a:xfrm>
            <a:off x="443484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Justin</a:t>
            </a:r>
            <a:endParaRPr lang="en-US" sz="1200" dirty="0"/>
          </a:p>
        </p:txBody>
      </p:sp>
      <p:sp>
        <p:nvSpPr>
          <p:cNvPr id="28" name="Timeline node"/>
          <p:cNvSpPr/>
          <p:nvPr/>
        </p:nvSpPr>
        <p:spPr>
          <a:xfrm>
            <a:off x="6761988" y="1874520"/>
            <a:ext cx="512064" cy="512064"/>
          </a:xfrm>
          <a:prstGeom prst="ellipse">
            <a:avLst/>
          </a:prstGeom>
          <a:solidFill>
            <a:schemeClr val="accent1"/>
          </a:solidFill>
          <a:ln w="38100">
            <a:solidFill>
              <a:schemeClr val="bg1"/>
            </a:solidFill>
            <a:prstDash val="solid"/>
          </a:ln>
        </p:spPr>
      </p:sp>
      <p:sp>
        <p:nvSpPr>
          <p:cNvPr id="29" name="Text 26"/>
          <p:cNvSpPr txBox="1"/>
          <p:nvPr/>
        </p:nvSpPr>
        <p:spPr>
          <a:xfrm>
            <a:off x="676198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0" name="Card"/>
          <p:cNvSpPr/>
          <p:nvPr/>
        </p:nvSpPr>
        <p:spPr>
          <a:xfrm>
            <a:off x="617220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31" name="Text 28"/>
          <p:cNvSpPr txBox="1"/>
          <p:nvPr/>
        </p:nvSpPr>
        <p:spPr>
          <a:xfrm>
            <a:off x="630936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10</a:t>
            </a:r>
            <a:endParaRPr lang="en-US" sz="1500" dirty="0"/>
          </a:p>
        </p:txBody>
      </p:sp>
      <p:sp>
        <p:nvSpPr>
          <p:cNvPr id="32" name="Text 29"/>
          <p:cNvSpPr txBox="1"/>
          <p:nvPr/>
        </p:nvSpPr>
        <p:spPr>
          <a:xfrm>
            <a:off x="630936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Controls + tests + gaps</a:t>
            </a:r>
            <a:endParaRPr lang="en-US" sz="1300" dirty="0"/>
          </a:p>
        </p:txBody>
      </p:sp>
      <p:sp>
        <p:nvSpPr>
          <p:cNvPr id="33" name="Text 30"/>
          <p:cNvSpPr txBox="1"/>
          <p:nvPr/>
        </p:nvSpPr>
        <p:spPr>
          <a:xfrm>
            <a:off x="630936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2026-10-03</a:t>
            </a:r>
            <a:endParaRPr lang="en-US" sz="1100" dirty="0"/>
          </a:p>
        </p:txBody>
      </p:sp>
      <p:sp>
        <p:nvSpPr>
          <p:cNvPr id="34" name="Text 31"/>
          <p:cNvSpPr txBox="1"/>
          <p:nvPr/>
        </p:nvSpPr>
        <p:spPr>
          <a:xfrm>
            <a:off x="630936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Glenn</a:t>
            </a:r>
            <a:endParaRPr lang="en-US" sz="1200" dirty="0"/>
          </a:p>
        </p:txBody>
      </p:sp>
      <p:sp>
        <p:nvSpPr>
          <p:cNvPr id="35" name="Timeline node"/>
          <p:cNvSpPr/>
          <p:nvPr/>
        </p:nvSpPr>
        <p:spPr>
          <a:xfrm>
            <a:off x="8636508" y="1874520"/>
            <a:ext cx="512064" cy="512064"/>
          </a:xfrm>
          <a:prstGeom prst="ellipse">
            <a:avLst/>
          </a:prstGeom>
          <a:solidFill>
            <a:schemeClr val="accent1"/>
          </a:solidFill>
          <a:ln w="38100">
            <a:solidFill>
              <a:schemeClr val="bg1"/>
            </a:solidFill>
            <a:prstDash val="solid"/>
          </a:ln>
        </p:spPr>
      </p:sp>
      <p:sp>
        <p:nvSpPr>
          <p:cNvPr id="36" name="Text 33"/>
          <p:cNvSpPr txBox="1"/>
          <p:nvPr/>
        </p:nvSpPr>
        <p:spPr>
          <a:xfrm>
            <a:off x="863650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11</a:t>
            </a:r>
            <a:endParaRPr lang="en-US" sz="1600" dirty="0"/>
          </a:p>
        </p:txBody>
      </p:sp>
      <p:sp>
        <p:nvSpPr>
          <p:cNvPr id="37" name="Card"/>
          <p:cNvSpPr/>
          <p:nvPr/>
        </p:nvSpPr>
        <p:spPr>
          <a:xfrm>
            <a:off x="804672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38" name="Text 35"/>
          <p:cNvSpPr txBox="1"/>
          <p:nvPr/>
        </p:nvSpPr>
        <p:spPr>
          <a:xfrm>
            <a:off x="818388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11</a:t>
            </a:r>
            <a:endParaRPr lang="en-US" sz="1500" dirty="0"/>
          </a:p>
        </p:txBody>
      </p:sp>
      <p:sp>
        <p:nvSpPr>
          <p:cNvPr id="39" name="Text 36"/>
          <p:cNvSpPr txBox="1"/>
          <p:nvPr/>
        </p:nvSpPr>
        <p:spPr>
          <a:xfrm>
            <a:off x="818388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Findings + actions</a:t>
            </a:r>
            <a:endParaRPr lang="en-US" sz="1300" dirty="0"/>
          </a:p>
        </p:txBody>
      </p:sp>
      <p:sp>
        <p:nvSpPr>
          <p:cNvPr id="40" name="Text 37"/>
          <p:cNvSpPr txBox="1"/>
          <p:nvPr/>
        </p:nvSpPr>
        <p:spPr>
          <a:xfrm>
            <a:off x="818388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2026-10-10</a:t>
            </a:r>
            <a:endParaRPr lang="en-US" sz="1100" dirty="0"/>
          </a:p>
        </p:txBody>
      </p:sp>
      <p:sp>
        <p:nvSpPr>
          <p:cNvPr id="41" name="Text 38"/>
          <p:cNvSpPr txBox="1"/>
          <p:nvPr/>
        </p:nvSpPr>
        <p:spPr>
          <a:xfrm>
            <a:off x="818388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Ma.</a:t>
            </a:r>
            <a:endParaRPr lang="en-US" sz="1200" dirty="0"/>
          </a:p>
        </p:txBody>
      </p:sp>
      <p:sp>
        <p:nvSpPr>
          <p:cNvPr id="42" name="Timeline node"/>
          <p:cNvSpPr/>
          <p:nvPr/>
        </p:nvSpPr>
        <p:spPr>
          <a:xfrm>
            <a:off x="10511028" y="1874520"/>
            <a:ext cx="512064" cy="512064"/>
          </a:xfrm>
          <a:prstGeom prst="ellipse">
            <a:avLst/>
          </a:prstGeom>
          <a:solidFill>
            <a:schemeClr val="accent1"/>
          </a:solidFill>
          <a:ln w="38100">
            <a:solidFill>
              <a:schemeClr val="bg1"/>
            </a:solidFill>
            <a:prstDash val="solid"/>
          </a:ln>
        </p:spPr>
      </p:sp>
      <p:sp>
        <p:nvSpPr>
          <p:cNvPr id="43" name="Text 40"/>
          <p:cNvSpPr txBox="1"/>
          <p:nvPr/>
        </p:nvSpPr>
        <p:spPr>
          <a:xfrm>
            <a:off x="1051102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12</a:t>
            </a:r>
            <a:endParaRPr lang="en-US" sz="1600" dirty="0"/>
          </a:p>
        </p:txBody>
      </p:sp>
      <p:sp>
        <p:nvSpPr>
          <p:cNvPr id="44" name="Card"/>
          <p:cNvSpPr/>
          <p:nvPr/>
        </p:nvSpPr>
        <p:spPr>
          <a:xfrm>
            <a:off x="992124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45" name="Text 42"/>
          <p:cNvSpPr txBox="1"/>
          <p:nvPr/>
        </p:nvSpPr>
        <p:spPr>
          <a:xfrm>
            <a:off x="1005840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12</a:t>
            </a:r>
            <a:endParaRPr lang="en-US" sz="1500" dirty="0"/>
          </a:p>
        </p:txBody>
      </p:sp>
      <p:sp>
        <p:nvSpPr>
          <p:cNvPr id="46" name="Text 43"/>
          <p:cNvSpPr txBox="1"/>
          <p:nvPr/>
        </p:nvSpPr>
        <p:spPr>
          <a:xfrm>
            <a:off x="1005840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Final integration</a:t>
            </a:r>
            <a:endParaRPr lang="en-US" sz="1300" dirty="0"/>
          </a:p>
        </p:txBody>
      </p:sp>
      <p:sp>
        <p:nvSpPr>
          <p:cNvPr id="47" name="Text 44"/>
          <p:cNvSpPr txBox="1"/>
          <p:nvPr/>
        </p:nvSpPr>
        <p:spPr>
          <a:xfrm>
            <a:off x="1005840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2026-10-20</a:t>
            </a:r>
            <a:endParaRPr lang="en-US" sz="1100" dirty="0"/>
          </a:p>
        </p:txBody>
      </p:sp>
      <p:sp>
        <p:nvSpPr>
          <p:cNvPr id="48" name="Text 45"/>
          <p:cNvSpPr txBox="1"/>
          <p:nvPr/>
        </p:nvSpPr>
        <p:spPr>
          <a:xfrm>
            <a:off x="1005840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Ma.</a:t>
            </a:r>
            <a:endParaRPr lang="en-US" sz="1200" dirty="0"/>
          </a:p>
        </p:txBody>
      </p:sp>
      <p:sp>
        <p:nvSpPr>
          <p:cNvPr id="49" name="Text 46"/>
          <p:cNvSpPr txBox="1"/>
          <p:nvPr/>
        </p:nvSpPr>
        <p:spPr>
          <a:xfrm>
            <a:off x="548640" y="4937760"/>
            <a:ext cx="3520440" cy="1188720"/>
          </a:xfrm>
          <a:prstGeom prst="rect">
            <a:avLst/>
          </a:prstGeom>
          <a:noFill/>
          <a:ln/>
        </p:spPr>
        <p:txBody>
          <a:bodyPr wrap="square" lIns="0" tIns="0" rIns="0" bIns="0" rtlCol="0" anchor="t"/>
          <a:lstStyle/>
          <a:p>
            <a:pPr indent="0" marL="0">
              <a:buNone/>
            </a:pPr>
            <a:r>
              <a:rPr lang="en-US" sz="1400" dirty="0">
                <a:solidFill>
                  <a:schemeClr val="tx1"/>
                </a:solidFill>
              </a:rPr>
              <a:t>One continuous engagement: every lab shares the same system, build records, and ID families (OBJ / RSK / CTL / TEST / GAP / FND).</a:t>
            </a:r>
            <a:endParaRPr lang="en-US" sz="1400" dirty="0"/>
          </a:p>
        </p:txBody>
      </p:sp>
      <p:sp>
        <p:nvSpPr>
          <p:cNvPr id="50" name="Text 47"/>
          <p:cNvSpPr txBox="1"/>
          <p:nvPr/>
        </p:nvSpPr>
        <p:spPr>
          <a:xfrm>
            <a:off x="4315968" y="4937760"/>
            <a:ext cx="3520440" cy="1188720"/>
          </a:xfrm>
          <a:prstGeom prst="rect">
            <a:avLst/>
          </a:prstGeom>
          <a:noFill/>
          <a:ln/>
        </p:spPr>
        <p:txBody>
          <a:bodyPr wrap="square" lIns="0" tIns="0" rIns="0" bIns="0" rtlCol="0" anchor="t"/>
          <a:lstStyle/>
          <a:p>
            <a:pPr indent="0" marL="0">
              <a:buNone/>
            </a:pPr>
            <a:r>
              <a:rPr lang="en-US" sz="1400" dirty="0">
                <a:solidFill>
                  <a:schemeClr val="tx1"/>
                </a:solidFill>
              </a:rPr>
              <a:t>This deck covers: what we audited, what we tested, what we found, what we recommend, and our conclusion.</a:t>
            </a:r>
            <a:endParaRPr lang="en-US" sz="1400" dirty="0"/>
          </a:p>
        </p:txBody>
      </p:sp>
      <p:sp>
        <p:nvSpPr>
          <p:cNvPr id="51" name="Text 48"/>
          <p:cNvSpPr txBox="1"/>
          <p:nvPr/>
        </p:nvSpPr>
        <p:spPr>
          <a:xfrm>
            <a:off x="8083296" y="4937760"/>
            <a:ext cx="3520440" cy="1188720"/>
          </a:xfrm>
          <a:prstGeom prst="rect">
            <a:avLst/>
          </a:prstGeom>
          <a:noFill/>
          <a:ln/>
        </p:spPr>
        <p:txBody>
          <a:bodyPr wrap="square" lIns="0" tIns="0" rIns="0" bIns="0" rtlCol="0" anchor="t"/>
          <a:lstStyle/>
          <a:p>
            <a:pPr indent="0" marL="0">
              <a:buNone/>
            </a:pPr>
            <a:r>
              <a:rPr lang="en-US" sz="1400" dirty="0">
                <a:solidFill>
                  <a:schemeClr val="tx1"/>
                </a:solidFill>
              </a:rPr>
              <a:t>Every claim traces to evidence we collected - we will show the chain, not the paperwork.</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System We Audited</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Client: MCST Library (Head Librarian Calixto Nicolas Camangeg)  |  Our own capstone build - audited like an external team would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Card"/>
          <p:cNvSpPr/>
          <p:nvPr/>
        </p:nvSpPr>
        <p:spPr>
          <a:xfrm>
            <a:off x="548640" y="1645920"/>
            <a:ext cx="5394960" cy="640080"/>
          </a:xfrm>
          <a:prstGeom prst="roundRect">
            <a:avLst>
              <a:gd name="adj" fmla="val 14286"/>
            </a:avLst>
          </a:prstGeom>
          <a:solidFill>
            <a:schemeClr val="bg2"/>
          </a:solidFill>
          <a:ln/>
        </p:spPr>
      </p:sp>
      <p:sp>
        <p:nvSpPr>
          <p:cNvPr id="7" name="Bullet dot"/>
          <p:cNvSpPr/>
          <p:nvPr/>
        </p:nvSpPr>
        <p:spPr>
          <a:xfrm>
            <a:off x="731520" y="1865376"/>
            <a:ext cx="201168" cy="201168"/>
          </a:xfrm>
          <a:prstGeom prst="ellipse">
            <a:avLst/>
          </a:prstGeom>
          <a:solidFill>
            <a:schemeClr val="accent1"/>
          </a:solidFill>
          <a:ln/>
        </p:spPr>
      </p:sp>
      <p:sp>
        <p:nvSpPr>
          <p:cNvPr id="8" name="Text 5"/>
          <p:cNvSpPr txBox="1"/>
          <p:nvPr/>
        </p:nvSpPr>
        <p:spPr>
          <a:xfrm>
            <a:off x="1097280" y="1691640"/>
            <a:ext cx="4709160" cy="548640"/>
          </a:xfrm>
          <a:prstGeom prst="rect">
            <a:avLst/>
          </a:prstGeom>
          <a:noFill/>
          <a:ln/>
        </p:spPr>
        <p:txBody>
          <a:bodyPr wrap="square" lIns="0" tIns="0" rIns="0" bIns="0" rtlCol="0" anchor="ctr"/>
          <a:lstStyle/>
          <a:p>
            <a:pPr indent="0" marL="0">
              <a:buNone/>
            </a:pPr>
            <a:r>
              <a:rPr lang="en-US" sz="1300" dirty="0">
                <a:solidFill>
                  <a:schemeClr val="tx1"/>
                </a:solidFill>
              </a:rPr>
              <a:t>Flask 3.1 web app: catalog, borrowing, fines, requests, buying, stock check, reports (MOD-01..08)</a:t>
            </a:r>
            <a:endParaRPr lang="en-US" sz="1300" dirty="0"/>
          </a:p>
        </p:txBody>
      </p:sp>
      <p:sp>
        <p:nvSpPr>
          <p:cNvPr id="9" name="Card"/>
          <p:cNvSpPr/>
          <p:nvPr/>
        </p:nvSpPr>
        <p:spPr>
          <a:xfrm>
            <a:off x="548640" y="2395728"/>
            <a:ext cx="5394960" cy="640080"/>
          </a:xfrm>
          <a:prstGeom prst="roundRect">
            <a:avLst>
              <a:gd name="adj" fmla="val 14286"/>
            </a:avLst>
          </a:prstGeom>
          <a:solidFill>
            <a:schemeClr val="bg2"/>
          </a:solidFill>
          <a:ln/>
        </p:spPr>
      </p:sp>
      <p:sp>
        <p:nvSpPr>
          <p:cNvPr id="10" name="Bullet dot"/>
          <p:cNvSpPr/>
          <p:nvPr/>
        </p:nvSpPr>
        <p:spPr>
          <a:xfrm>
            <a:off x="731520" y="2615184"/>
            <a:ext cx="201168" cy="201168"/>
          </a:xfrm>
          <a:prstGeom prst="ellipse">
            <a:avLst/>
          </a:prstGeom>
          <a:solidFill>
            <a:schemeClr val="accent1"/>
          </a:solidFill>
          <a:ln/>
        </p:spPr>
      </p:sp>
      <p:sp>
        <p:nvSpPr>
          <p:cNvPr id="11" name="Text 8"/>
          <p:cNvSpPr txBox="1"/>
          <p:nvPr/>
        </p:nvSpPr>
        <p:spPr>
          <a:xfrm>
            <a:off x="1097280" y="2441448"/>
            <a:ext cx="4709160" cy="548640"/>
          </a:xfrm>
          <a:prstGeom prst="rect">
            <a:avLst/>
          </a:prstGeom>
          <a:noFill/>
          <a:ln/>
        </p:spPr>
        <p:txBody>
          <a:bodyPr wrap="square" lIns="0" tIns="0" rIns="0" bIns="0" rtlCol="0" anchor="ctr"/>
          <a:lstStyle/>
          <a:p>
            <a:pPr indent="0" marL="0">
              <a:buNone/>
            </a:pPr>
            <a:r>
              <a:rPr lang="en-US" sz="1300" dirty="0">
                <a:solidFill>
                  <a:schemeClr val="tx1"/>
                </a:solidFill>
              </a:rPr>
              <a:t>PostgreSQL on Render + timed pg_dump backups</a:t>
            </a:r>
            <a:endParaRPr lang="en-US" sz="1300" dirty="0"/>
          </a:p>
        </p:txBody>
      </p:sp>
      <p:sp>
        <p:nvSpPr>
          <p:cNvPr id="12" name="Card"/>
          <p:cNvSpPr/>
          <p:nvPr/>
        </p:nvSpPr>
        <p:spPr>
          <a:xfrm>
            <a:off x="548640" y="3145536"/>
            <a:ext cx="5394960" cy="640080"/>
          </a:xfrm>
          <a:prstGeom prst="roundRect">
            <a:avLst>
              <a:gd name="adj" fmla="val 14286"/>
            </a:avLst>
          </a:prstGeom>
          <a:solidFill>
            <a:schemeClr val="bg2"/>
          </a:solidFill>
          <a:ln/>
        </p:spPr>
      </p:sp>
      <p:sp>
        <p:nvSpPr>
          <p:cNvPr id="13" name="Bullet dot"/>
          <p:cNvSpPr/>
          <p:nvPr/>
        </p:nvSpPr>
        <p:spPr>
          <a:xfrm>
            <a:off x="731520" y="3364992"/>
            <a:ext cx="201168" cy="201168"/>
          </a:xfrm>
          <a:prstGeom prst="ellipse">
            <a:avLst/>
          </a:prstGeom>
          <a:solidFill>
            <a:schemeClr val="accent1"/>
          </a:solidFill>
          <a:ln/>
        </p:spPr>
      </p:sp>
      <p:sp>
        <p:nvSpPr>
          <p:cNvPr id="14" name="Text 11"/>
          <p:cNvSpPr txBox="1"/>
          <p:nvPr/>
        </p:nvSpPr>
        <p:spPr>
          <a:xfrm>
            <a:off x="1097280" y="3191256"/>
            <a:ext cx="4709160" cy="548640"/>
          </a:xfrm>
          <a:prstGeom prst="rect">
            <a:avLst/>
          </a:prstGeom>
          <a:noFill/>
          <a:ln/>
        </p:spPr>
        <p:txBody>
          <a:bodyPr wrap="square" lIns="0" tIns="0" rIns="0" bIns="0" rtlCol="0" anchor="ctr"/>
          <a:lstStyle/>
          <a:p>
            <a:pPr indent="0" marL="0">
              <a:buNone/>
            </a:pPr>
            <a:r>
              <a:rPr lang="en-US" sz="1300" dirty="0">
                <a:solidFill>
                  <a:schemeClr val="tx1"/>
                </a:solidFill>
              </a:rPr>
              <a:t>Google school-email login (@mcst.edu.ph) with role checks per page</a:t>
            </a:r>
            <a:endParaRPr lang="en-US" sz="1300" dirty="0"/>
          </a:p>
        </p:txBody>
      </p:sp>
      <p:sp>
        <p:nvSpPr>
          <p:cNvPr id="15" name="Card"/>
          <p:cNvSpPr/>
          <p:nvPr/>
        </p:nvSpPr>
        <p:spPr>
          <a:xfrm>
            <a:off x="548640" y="3895344"/>
            <a:ext cx="5394960" cy="640080"/>
          </a:xfrm>
          <a:prstGeom prst="roundRect">
            <a:avLst>
              <a:gd name="adj" fmla="val 14286"/>
            </a:avLst>
          </a:prstGeom>
          <a:solidFill>
            <a:schemeClr val="bg2"/>
          </a:solidFill>
          <a:ln/>
        </p:spPr>
      </p:sp>
      <p:sp>
        <p:nvSpPr>
          <p:cNvPr id="16" name="Bullet dot"/>
          <p:cNvSpPr/>
          <p:nvPr/>
        </p:nvSpPr>
        <p:spPr>
          <a:xfrm>
            <a:off x="731520" y="4114800"/>
            <a:ext cx="201168" cy="201168"/>
          </a:xfrm>
          <a:prstGeom prst="ellipse">
            <a:avLst/>
          </a:prstGeom>
          <a:solidFill>
            <a:schemeClr val="accent1"/>
          </a:solidFill>
          <a:ln/>
        </p:spPr>
      </p:sp>
      <p:sp>
        <p:nvSpPr>
          <p:cNvPr id="17" name="Text 14"/>
          <p:cNvSpPr txBox="1"/>
          <p:nvPr/>
        </p:nvSpPr>
        <p:spPr>
          <a:xfrm>
            <a:off x="1097280" y="3941064"/>
            <a:ext cx="4709160" cy="548640"/>
          </a:xfrm>
          <a:prstGeom prst="rect">
            <a:avLst/>
          </a:prstGeom>
          <a:noFill/>
          <a:ln/>
        </p:spPr>
        <p:txBody>
          <a:bodyPr wrap="square" lIns="0" tIns="0" rIns="0" bIns="0" rtlCol="0" anchor="ctr"/>
          <a:lstStyle/>
          <a:p>
            <a:pPr indent="0" marL="0">
              <a:buNone/>
            </a:pPr>
            <a:r>
              <a:rPr lang="en-US" sz="1300" dirty="0">
                <a:solidFill>
                  <a:schemeClr val="tx1"/>
                </a:solidFill>
              </a:rPr>
              <a:t>Users: students / faculty borrow; desk staff circulate; admins manage</a:t>
            </a:r>
            <a:endParaRPr lang="en-US" sz="1300" dirty="0"/>
          </a:p>
        </p:txBody>
      </p:sp>
      <p:sp>
        <p:nvSpPr>
          <p:cNvPr id="18" name="Card"/>
          <p:cNvSpPr/>
          <p:nvPr/>
        </p:nvSpPr>
        <p:spPr>
          <a:xfrm>
            <a:off x="6217920" y="1645920"/>
            <a:ext cx="5394960" cy="640080"/>
          </a:xfrm>
          <a:prstGeom prst="roundRect">
            <a:avLst>
              <a:gd name="adj" fmla="val 14286"/>
            </a:avLst>
          </a:prstGeom>
          <a:solidFill>
            <a:schemeClr val="bg2"/>
          </a:solidFill>
          <a:ln/>
        </p:spPr>
      </p:sp>
      <p:sp>
        <p:nvSpPr>
          <p:cNvPr id="19" name="Bullet dot"/>
          <p:cNvSpPr/>
          <p:nvPr/>
        </p:nvSpPr>
        <p:spPr>
          <a:xfrm>
            <a:off x="6400800" y="1865376"/>
            <a:ext cx="201168" cy="201168"/>
          </a:xfrm>
          <a:prstGeom prst="ellipse">
            <a:avLst/>
          </a:prstGeom>
          <a:solidFill>
            <a:schemeClr val="accent1"/>
          </a:solidFill>
          <a:ln/>
        </p:spPr>
      </p:sp>
      <p:sp>
        <p:nvSpPr>
          <p:cNvPr id="20" name="Text 17"/>
          <p:cNvSpPr txBox="1"/>
          <p:nvPr/>
        </p:nvSpPr>
        <p:spPr>
          <a:xfrm>
            <a:off x="6766560" y="1691640"/>
            <a:ext cx="4709160" cy="548640"/>
          </a:xfrm>
          <a:prstGeom prst="rect">
            <a:avLst/>
          </a:prstGeom>
          <a:noFill/>
          <a:ln/>
        </p:spPr>
        <p:txBody>
          <a:bodyPr wrap="square" lIns="0" tIns="0" rIns="0" bIns="0" rtlCol="0" anchor="ctr"/>
          <a:lstStyle/>
          <a:p>
            <a:pPr indent="0" marL="0">
              <a:buNone/>
            </a:pPr>
            <a:r>
              <a:rPr lang="en-US" sz="1300" dirty="0">
                <a:solidFill>
                  <a:schemeClr val="tx1"/>
                </a:solidFill>
              </a:rPr>
              <a:t>Real library workflow: request -&gt; buy -&gt; add -&gt; borrow/return -&gt; fines -&gt; stock take</a:t>
            </a:r>
            <a:endParaRPr lang="en-US" sz="1300" dirty="0"/>
          </a:p>
        </p:txBody>
      </p:sp>
      <p:sp>
        <p:nvSpPr>
          <p:cNvPr id="21" name="Card"/>
          <p:cNvSpPr/>
          <p:nvPr/>
        </p:nvSpPr>
        <p:spPr>
          <a:xfrm>
            <a:off x="6217920" y="2395728"/>
            <a:ext cx="5394960" cy="640080"/>
          </a:xfrm>
          <a:prstGeom prst="roundRect">
            <a:avLst>
              <a:gd name="adj" fmla="val 14286"/>
            </a:avLst>
          </a:prstGeom>
          <a:solidFill>
            <a:schemeClr val="bg2"/>
          </a:solidFill>
          <a:ln/>
        </p:spPr>
      </p:sp>
      <p:sp>
        <p:nvSpPr>
          <p:cNvPr id="22" name="Bullet dot"/>
          <p:cNvSpPr/>
          <p:nvPr/>
        </p:nvSpPr>
        <p:spPr>
          <a:xfrm>
            <a:off x="6400800" y="2615184"/>
            <a:ext cx="201168" cy="201168"/>
          </a:xfrm>
          <a:prstGeom prst="ellipse">
            <a:avLst/>
          </a:prstGeom>
          <a:solidFill>
            <a:schemeClr val="accent1"/>
          </a:solidFill>
          <a:ln/>
        </p:spPr>
      </p:sp>
      <p:sp>
        <p:nvSpPr>
          <p:cNvPr id="23" name="Text 20"/>
          <p:cNvSpPr txBox="1"/>
          <p:nvPr/>
        </p:nvSpPr>
        <p:spPr>
          <a:xfrm>
            <a:off x="6766560" y="2441448"/>
            <a:ext cx="4709160" cy="548640"/>
          </a:xfrm>
          <a:prstGeom prst="rect">
            <a:avLst/>
          </a:prstGeom>
          <a:noFill/>
          <a:ln/>
        </p:spPr>
        <p:txBody>
          <a:bodyPr wrap="square" lIns="0" tIns="0" rIns="0" bIns="0" rtlCol="0" anchor="ctr"/>
          <a:lstStyle/>
          <a:p>
            <a:pPr indent="0" marL="0">
              <a:buNone/>
            </a:pPr>
            <a:r>
              <a:rPr lang="en-US" sz="1300" dirty="0">
                <a:solidFill>
                  <a:schemeClr val="tx1"/>
                </a:solidFill>
              </a:rPr>
              <a:t>Key data: book catalog + copies, borrower records, loans and fines, audit trail</a:t>
            </a:r>
            <a:endParaRPr lang="en-US" sz="1300" dirty="0"/>
          </a:p>
        </p:txBody>
      </p:sp>
      <p:sp>
        <p:nvSpPr>
          <p:cNvPr id="24" name="Card"/>
          <p:cNvSpPr/>
          <p:nvPr/>
        </p:nvSpPr>
        <p:spPr>
          <a:xfrm>
            <a:off x="6217920" y="3145536"/>
            <a:ext cx="5394960" cy="640080"/>
          </a:xfrm>
          <a:prstGeom prst="roundRect">
            <a:avLst>
              <a:gd name="adj" fmla="val 14286"/>
            </a:avLst>
          </a:prstGeom>
          <a:solidFill>
            <a:schemeClr val="bg2"/>
          </a:solidFill>
          <a:ln/>
        </p:spPr>
      </p:sp>
      <p:sp>
        <p:nvSpPr>
          <p:cNvPr id="25" name="Bullet dot"/>
          <p:cNvSpPr/>
          <p:nvPr/>
        </p:nvSpPr>
        <p:spPr>
          <a:xfrm>
            <a:off x="6400800" y="3364992"/>
            <a:ext cx="201168" cy="201168"/>
          </a:xfrm>
          <a:prstGeom prst="ellipse">
            <a:avLst/>
          </a:prstGeom>
          <a:solidFill>
            <a:schemeClr val="accent1"/>
          </a:solidFill>
          <a:ln/>
        </p:spPr>
      </p:sp>
      <p:sp>
        <p:nvSpPr>
          <p:cNvPr id="26" name="Text 23"/>
          <p:cNvSpPr txBox="1"/>
          <p:nvPr/>
        </p:nvSpPr>
        <p:spPr>
          <a:xfrm>
            <a:off x="6766560" y="3191256"/>
            <a:ext cx="4709160" cy="548640"/>
          </a:xfrm>
          <a:prstGeom prst="rect">
            <a:avLst/>
          </a:prstGeom>
          <a:noFill/>
          <a:ln/>
        </p:spPr>
        <p:txBody>
          <a:bodyPr wrap="square" lIns="0" tIns="0" rIns="0" bIns="0" rtlCol="0" anchor="ctr"/>
          <a:lstStyle/>
          <a:p>
            <a:pPr indent="0" marL="0">
              <a:buNone/>
            </a:pPr>
            <a:r>
              <a:rPr lang="en-US" sz="1300" dirty="0">
                <a:solidFill>
                  <a:schemeClr val="tx1"/>
                </a:solidFill>
              </a:rPr>
              <a:t>Runs on local demo + Render test site - demo evidence only, honestly stated</a:t>
            </a:r>
            <a:endParaRPr lang="en-US" sz="1300" dirty="0"/>
          </a:p>
        </p:txBody>
      </p:sp>
      <p:sp>
        <p:nvSpPr>
          <p:cNvPr id="27" name="Card"/>
          <p:cNvSpPr/>
          <p:nvPr/>
        </p:nvSpPr>
        <p:spPr>
          <a:xfrm>
            <a:off x="6217920" y="3895344"/>
            <a:ext cx="5394960" cy="640080"/>
          </a:xfrm>
          <a:prstGeom prst="roundRect">
            <a:avLst>
              <a:gd name="adj" fmla="val 14286"/>
            </a:avLst>
          </a:prstGeom>
          <a:solidFill>
            <a:schemeClr val="bg2"/>
          </a:solidFill>
          <a:ln/>
        </p:spPr>
      </p:sp>
      <p:sp>
        <p:nvSpPr>
          <p:cNvPr id="28" name="Bullet dot"/>
          <p:cNvSpPr/>
          <p:nvPr/>
        </p:nvSpPr>
        <p:spPr>
          <a:xfrm>
            <a:off x="6400800" y="4114800"/>
            <a:ext cx="201168" cy="201168"/>
          </a:xfrm>
          <a:prstGeom prst="ellipse">
            <a:avLst/>
          </a:prstGeom>
          <a:solidFill>
            <a:schemeClr val="accent1"/>
          </a:solidFill>
          <a:ln/>
        </p:spPr>
      </p:sp>
      <p:sp>
        <p:nvSpPr>
          <p:cNvPr id="29" name="Text 26"/>
          <p:cNvSpPr txBox="1"/>
          <p:nvPr/>
        </p:nvSpPr>
        <p:spPr>
          <a:xfrm>
            <a:off x="6766560" y="3941064"/>
            <a:ext cx="4709160" cy="548640"/>
          </a:xfrm>
          <a:prstGeom prst="rect">
            <a:avLst/>
          </a:prstGeom>
          <a:noFill/>
          <a:ln/>
        </p:spPr>
        <p:txBody>
          <a:bodyPr wrap="square" lIns="0" tIns="0" rIns="0" bIns="0" rtlCol="0" anchor="ctr"/>
          <a:lstStyle/>
          <a:p>
            <a:pPr indent="0" marL="0">
              <a:buNone/>
            </a:pPr>
            <a:r>
              <a:rPr lang="en-US" sz="1300" dirty="0">
                <a:solidFill>
                  <a:schemeClr val="tx1"/>
                </a:solidFill>
              </a:rPr>
              <a:t>That is why we could show every code path transparently</a:t>
            </a:r>
            <a:endParaRPr lang="en-US" sz="1300" dirty="0"/>
          </a:p>
        </p:txBody>
      </p:sp>
      <p:sp>
        <p:nvSpPr>
          <p:cNvPr id="30" name="Text 27"/>
          <p:cNvSpPr txBox="1"/>
          <p:nvPr/>
        </p:nvSpPr>
        <p:spPr>
          <a:xfrm>
            <a:off x="548640" y="4754880"/>
            <a:ext cx="8229600"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Build lineage - real git history, frozen before every lab</a:t>
            </a:r>
            <a:endParaRPr lang="en-US" sz="1600" dirty="0"/>
          </a:p>
        </p:txBody>
      </p:sp>
      <p:sp>
        <p:nvSpPr>
          <p:cNvPr id="31" name="Build BLD-01"/>
          <p:cNvSpPr/>
          <p:nvPr/>
        </p:nvSpPr>
        <p:spPr>
          <a:xfrm>
            <a:off x="548640" y="5212080"/>
            <a:ext cx="2011680" cy="960120"/>
          </a:xfrm>
          <a:prstGeom prst="roundRect">
            <a:avLst>
              <a:gd name="adj" fmla="val 9524"/>
            </a:avLst>
          </a:prstGeom>
          <a:solidFill>
            <a:schemeClr val="accent1"/>
          </a:solidFill>
          <a:ln/>
        </p:spPr>
      </p:sp>
      <p:sp>
        <p:nvSpPr>
          <p:cNvPr id="32" name="Text 29"/>
          <p:cNvSpPr txBox="1"/>
          <p:nvPr/>
        </p:nvSpPr>
        <p:spPr>
          <a:xfrm>
            <a:off x="640080"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BLD-01 @ 71e0d30</a:t>
            </a:r>
            <a:endParaRPr lang="en-US" sz="1400" dirty="0"/>
          </a:p>
        </p:txBody>
      </p:sp>
      <p:sp>
        <p:nvSpPr>
          <p:cNvPr id="33" name="Text 30"/>
          <p:cNvSpPr txBox="1"/>
          <p:nvPr/>
        </p:nvSpPr>
        <p:spPr>
          <a:xfrm>
            <a:off x="640080"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Sep 19</a:t>
            </a:r>
            <a:endParaRPr lang="en-US" sz="1200" dirty="0"/>
          </a:p>
        </p:txBody>
      </p:sp>
      <p:sp>
        <p:nvSpPr>
          <p:cNvPr id="34" name="Text 31"/>
          <p:cNvSpPr txBox="1"/>
          <p:nvPr/>
        </p:nvSpPr>
        <p:spPr>
          <a:xfrm>
            <a:off x="2560320"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35" name="Build BLD-02"/>
          <p:cNvSpPr/>
          <p:nvPr/>
        </p:nvSpPr>
        <p:spPr>
          <a:xfrm>
            <a:off x="2843784" y="5212080"/>
            <a:ext cx="2011680" cy="960120"/>
          </a:xfrm>
          <a:prstGeom prst="roundRect">
            <a:avLst>
              <a:gd name="adj" fmla="val 9524"/>
            </a:avLst>
          </a:prstGeom>
          <a:solidFill>
            <a:schemeClr val="accent1"/>
          </a:solidFill>
          <a:ln/>
        </p:spPr>
      </p:sp>
      <p:sp>
        <p:nvSpPr>
          <p:cNvPr id="36" name="Text 33"/>
          <p:cNvSpPr txBox="1"/>
          <p:nvPr/>
        </p:nvSpPr>
        <p:spPr>
          <a:xfrm>
            <a:off x="2935224"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BLD-02 @ 82075e8</a:t>
            </a:r>
            <a:endParaRPr lang="en-US" sz="1400" dirty="0"/>
          </a:p>
        </p:txBody>
      </p:sp>
      <p:sp>
        <p:nvSpPr>
          <p:cNvPr id="37" name="Text 34"/>
          <p:cNvSpPr txBox="1"/>
          <p:nvPr/>
        </p:nvSpPr>
        <p:spPr>
          <a:xfrm>
            <a:off x="2935224"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Sep 26</a:t>
            </a:r>
            <a:endParaRPr lang="en-US" sz="1200" dirty="0"/>
          </a:p>
        </p:txBody>
      </p:sp>
      <p:sp>
        <p:nvSpPr>
          <p:cNvPr id="38" name="Text 35"/>
          <p:cNvSpPr txBox="1"/>
          <p:nvPr/>
        </p:nvSpPr>
        <p:spPr>
          <a:xfrm>
            <a:off x="4855464"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39" name="Build BLD-04"/>
          <p:cNvSpPr/>
          <p:nvPr/>
        </p:nvSpPr>
        <p:spPr>
          <a:xfrm>
            <a:off x="5138928" y="5212080"/>
            <a:ext cx="2011680" cy="960120"/>
          </a:xfrm>
          <a:prstGeom prst="roundRect">
            <a:avLst>
              <a:gd name="adj" fmla="val 9524"/>
            </a:avLst>
          </a:prstGeom>
          <a:solidFill>
            <a:schemeClr val="accent1"/>
          </a:solidFill>
          <a:ln/>
        </p:spPr>
      </p:sp>
      <p:sp>
        <p:nvSpPr>
          <p:cNvPr id="40" name="Text 37"/>
          <p:cNvSpPr txBox="1"/>
          <p:nvPr/>
        </p:nvSpPr>
        <p:spPr>
          <a:xfrm>
            <a:off x="5230368"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BLD-04 @ 7b9b680</a:t>
            </a:r>
            <a:endParaRPr lang="en-US" sz="1400" dirty="0"/>
          </a:p>
        </p:txBody>
      </p:sp>
      <p:sp>
        <p:nvSpPr>
          <p:cNvPr id="41" name="Text 38"/>
          <p:cNvSpPr txBox="1"/>
          <p:nvPr/>
        </p:nvSpPr>
        <p:spPr>
          <a:xfrm>
            <a:off x="5230368"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tests, Oct 3</a:t>
            </a:r>
            <a:endParaRPr lang="en-US" sz="1200" dirty="0"/>
          </a:p>
        </p:txBody>
      </p:sp>
      <p:sp>
        <p:nvSpPr>
          <p:cNvPr id="42" name="Text 39"/>
          <p:cNvSpPr txBox="1"/>
          <p:nvPr/>
        </p:nvSpPr>
        <p:spPr>
          <a:xfrm>
            <a:off x="7150608"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43" name="Build BLD-05"/>
          <p:cNvSpPr/>
          <p:nvPr/>
        </p:nvSpPr>
        <p:spPr>
          <a:xfrm>
            <a:off x="7434072" y="5212080"/>
            <a:ext cx="2011680" cy="960120"/>
          </a:xfrm>
          <a:prstGeom prst="roundRect">
            <a:avLst>
              <a:gd name="adj" fmla="val 9524"/>
            </a:avLst>
          </a:prstGeom>
          <a:solidFill>
            <a:schemeClr val="accent1"/>
          </a:solidFill>
          <a:ln/>
        </p:spPr>
      </p:sp>
      <p:sp>
        <p:nvSpPr>
          <p:cNvPr id="44" name="Text 41"/>
          <p:cNvSpPr txBox="1"/>
          <p:nvPr/>
        </p:nvSpPr>
        <p:spPr>
          <a:xfrm>
            <a:off x="7525512"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BLD-05 @ 5ca2c79</a:t>
            </a:r>
            <a:endParaRPr lang="en-US" sz="1400" dirty="0"/>
          </a:p>
        </p:txBody>
      </p:sp>
      <p:sp>
        <p:nvSpPr>
          <p:cNvPr id="45" name="Text 42"/>
          <p:cNvSpPr txBox="1"/>
          <p:nvPr/>
        </p:nvSpPr>
        <p:spPr>
          <a:xfrm>
            <a:off x="7525512"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confirmations, Oct 10</a:t>
            </a:r>
            <a:endParaRPr lang="en-US" sz="1200" dirty="0"/>
          </a:p>
        </p:txBody>
      </p:sp>
      <p:sp>
        <p:nvSpPr>
          <p:cNvPr id="46" name="Text 43"/>
          <p:cNvSpPr txBox="1"/>
          <p:nvPr/>
        </p:nvSpPr>
        <p:spPr>
          <a:xfrm>
            <a:off x="9445752"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47" name="Build BLD-06"/>
          <p:cNvSpPr/>
          <p:nvPr/>
        </p:nvSpPr>
        <p:spPr>
          <a:xfrm>
            <a:off x="9729216" y="5212080"/>
            <a:ext cx="2011680" cy="960120"/>
          </a:xfrm>
          <a:prstGeom prst="roundRect">
            <a:avLst>
              <a:gd name="adj" fmla="val 9524"/>
            </a:avLst>
          </a:prstGeom>
          <a:solidFill>
            <a:schemeClr val="bg1"/>
          </a:solidFill>
          <a:ln w="19050">
            <a:solidFill>
              <a:schemeClr val="accent3"/>
            </a:solidFill>
            <a:prstDash val="dash"/>
          </a:ln>
        </p:spPr>
      </p:sp>
      <p:sp>
        <p:nvSpPr>
          <p:cNvPr id="48" name="Text 45"/>
          <p:cNvSpPr txBox="1"/>
          <p:nvPr/>
        </p:nvSpPr>
        <p:spPr>
          <a:xfrm>
            <a:off x="9820656" y="5303520"/>
            <a:ext cx="1828800" cy="365760"/>
          </a:xfrm>
          <a:prstGeom prst="rect">
            <a:avLst/>
          </a:prstGeom>
          <a:noFill/>
          <a:ln/>
        </p:spPr>
        <p:txBody>
          <a:bodyPr wrap="square" lIns="0" tIns="0" rIns="0" bIns="0" rtlCol="0" anchor="t"/>
          <a:lstStyle/>
          <a:p>
            <a:pPr algn="ctr" indent="0" marL="0">
              <a:buNone/>
            </a:pPr>
            <a:r>
              <a:rPr lang="en-US" sz="1400" b="1" dirty="0">
                <a:solidFill>
                  <a:schemeClr val="accent3"/>
                </a:solidFill>
              </a:rPr>
              <a:t>BLD-06 @ c20f98e</a:t>
            </a:r>
            <a:endParaRPr lang="en-US" sz="1400" dirty="0"/>
          </a:p>
        </p:txBody>
      </p:sp>
      <p:sp>
        <p:nvSpPr>
          <p:cNvPr id="49" name="Text 46"/>
          <p:cNvSpPr txBox="1"/>
          <p:nvPr/>
        </p:nvSpPr>
        <p:spPr>
          <a:xfrm>
            <a:off x="9820656" y="5669280"/>
            <a:ext cx="1828800" cy="411480"/>
          </a:xfrm>
          <a:prstGeom prst="rect">
            <a:avLst/>
          </a:prstGeom>
          <a:noFill/>
          <a:ln/>
        </p:spPr>
        <p:txBody>
          <a:bodyPr wrap="square" lIns="0" tIns="0" rIns="0" bIns="0" rtlCol="0" anchor="t"/>
          <a:lstStyle/>
          <a:p>
            <a:pPr algn="ctr" indent="0" marL="0">
              <a:buNone/>
            </a:pPr>
            <a:r>
              <a:rPr lang="en-US" sz="1200" dirty="0">
                <a:solidFill>
                  <a:schemeClr val="accent3"/>
                </a:solidFill>
              </a:rPr>
              <a:t>POST-CUTOFF - excluded</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Audit Objectives and Scope (Lab 7)</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Four objectives supported by criteria CRT-01..04; scope approved with the library owner</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Card"/>
          <p:cNvSpPr/>
          <p:nvPr/>
        </p:nvSpPr>
        <p:spPr>
          <a:xfrm>
            <a:off x="548640" y="160020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7" name="Icon circle"/>
          <p:cNvSpPr/>
          <p:nvPr/>
        </p:nvSpPr>
        <p:spPr>
          <a:xfrm>
            <a:off x="777240" y="1874520"/>
            <a:ext cx="731520" cy="731520"/>
          </a:xfrm>
          <a:prstGeom prst="ellipse">
            <a:avLst/>
          </a:prstGeom>
          <a:solidFill>
            <a:schemeClr val="accent1"/>
          </a:solidFill>
          <a:ln/>
        </p:spPr>
      </p:sp>
      <p:pic>
        <p:nvPicPr>
          <p:cNvPr id="8" name="Icon" descr="preencoded.png">    </p:cNvPr>
          <p:cNvPicPr>
            <a:picLocks noChangeAspect="1"/>
          </p:cNvPicPr>
          <p:nvPr/>
        </p:nvPicPr>
        <p:blipFill>
          <a:blip r:embed="rId1"/>
          <a:stretch>
            <a:fillRect/>
          </a:stretch>
        </p:blipFill>
        <p:spPr>
          <a:xfrm>
            <a:off x="982066" y="2079346"/>
            <a:ext cx="321869" cy="321869"/>
          </a:xfrm>
          <a:prstGeom prst="rect">
            <a:avLst/>
          </a:prstGeom>
        </p:spPr>
      </p:pic>
      <p:sp>
        <p:nvSpPr>
          <p:cNvPr id="9" name="Text 5"/>
          <p:cNvSpPr txBox="1"/>
          <p:nvPr/>
        </p:nvSpPr>
        <p:spPr>
          <a:xfrm>
            <a:off x="1737360" y="173736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OBJ-01</a:t>
            </a:r>
            <a:endParaRPr lang="en-US" sz="1200" dirty="0"/>
          </a:p>
        </p:txBody>
      </p:sp>
      <p:sp>
        <p:nvSpPr>
          <p:cNvPr id="10" name="Text 6"/>
          <p:cNvSpPr txBox="1"/>
          <p:nvPr/>
        </p:nvSpPr>
        <p:spPr>
          <a:xfrm>
            <a:off x="1737360" y="2011680"/>
            <a:ext cx="4023360" cy="548640"/>
          </a:xfrm>
          <a:prstGeom prst="rect">
            <a:avLst/>
          </a:prstGeom>
          <a:noFill/>
          <a:ln/>
        </p:spPr>
        <p:txBody>
          <a:bodyPr wrap="square" lIns="0" tIns="0" rIns="0" bIns="0" rtlCol="0" anchor="t"/>
          <a:lstStyle/>
          <a:p>
            <a:pPr indent="0" marL="0">
              <a:buNone/>
            </a:pPr>
            <a:r>
              <a:rPr lang="en-US" sz="1400" dirty="0">
                <a:solidFill>
                  <a:schemeClr val="tx1"/>
                </a:solidFill>
              </a:rPr>
              <a:t>Access control - only the right people reach the right pages</a:t>
            </a:r>
            <a:endParaRPr lang="en-US" sz="1400" dirty="0"/>
          </a:p>
        </p:txBody>
      </p:sp>
      <p:sp>
        <p:nvSpPr>
          <p:cNvPr id="11" name="Text 7"/>
          <p:cNvSpPr txBox="1"/>
          <p:nvPr/>
        </p:nvSpPr>
        <p:spPr>
          <a:xfrm>
            <a:off x="1737360" y="256032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SCP-01/05/06 | CRT-01</a:t>
            </a:r>
            <a:endParaRPr lang="en-US" sz="1100" dirty="0"/>
          </a:p>
        </p:txBody>
      </p:sp>
      <p:sp>
        <p:nvSpPr>
          <p:cNvPr id="12" name="Card"/>
          <p:cNvSpPr/>
          <p:nvPr/>
        </p:nvSpPr>
        <p:spPr>
          <a:xfrm>
            <a:off x="6217920" y="160020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13" name="Icon circle"/>
          <p:cNvSpPr/>
          <p:nvPr/>
        </p:nvSpPr>
        <p:spPr>
          <a:xfrm>
            <a:off x="6446520" y="1874520"/>
            <a:ext cx="731520" cy="731520"/>
          </a:xfrm>
          <a:prstGeom prst="ellipse">
            <a:avLst/>
          </a:prstGeom>
          <a:solidFill>
            <a:schemeClr val="accent1"/>
          </a:solidFill>
          <a:ln/>
        </p:spPr>
      </p:sp>
      <p:pic>
        <p:nvPicPr>
          <p:cNvPr id="14" name="Icon" descr="preencoded.png">    </p:cNvPr>
          <p:cNvPicPr>
            <a:picLocks noChangeAspect="1"/>
          </p:cNvPicPr>
          <p:nvPr/>
        </p:nvPicPr>
        <p:blipFill>
          <a:blip r:embed="rId2"/>
          <a:stretch>
            <a:fillRect/>
          </a:stretch>
        </p:blipFill>
        <p:spPr>
          <a:xfrm>
            <a:off x="6651346" y="2079346"/>
            <a:ext cx="321869" cy="321869"/>
          </a:xfrm>
          <a:prstGeom prst="rect">
            <a:avLst/>
          </a:prstGeom>
        </p:spPr>
      </p:pic>
      <p:sp>
        <p:nvSpPr>
          <p:cNvPr id="15" name="Text 10"/>
          <p:cNvSpPr txBox="1"/>
          <p:nvPr/>
        </p:nvSpPr>
        <p:spPr>
          <a:xfrm>
            <a:off x="7406640" y="173736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OBJ-02</a:t>
            </a:r>
            <a:endParaRPr lang="en-US" sz="1200" dirty="0"/>
          </a:p>
        </p:txBody>
      </p:sp>
      <p:sp>
        <p:nvSpPr>
          <p:cNvPr id="16" name="Text 11"/>
          <p:cNvSpPr txBox="1"/>
          <p:nvPr/>
        </p:nvSpPr>
        <p:spPr>
          <a:xfrm>
            <a:off x="7406640" y="2011680"/>
            <a:ext cx="4023360" cy="548640"/>
          </a:xfrm>
          <a:prstGeom prst="rect">
            <a:avLst/>
          </a:prstGeom>
          <a:noFill/>
          <a:ln/>
        </p:spPr>
        <p:txBody>
          <a:bodyPr wrap="square" lIns="0" tIns="0" rIns="0" bIns="0" rtlCol="0" anchor="t"/>
          <a:lstStyle/>
          <a:p>
            <a:pPr indent="0" marL="0">
              <a:buNone/>
            </a:pPr>
            <a:r>
              <a:rPr lang="en-US" sz="1400" dirty="0">
                <a:solidFill>
                  <a:schemeClr val="tx1"/>
                </a:solidFill>
              </a:rPr>
              <a:t>Build truth - the build really supports the library work we claim</a:t>
            </a:r>
            <a:endParaRPr lang="en-US" sz="1400" dirty="0"/>
          </a:p>
        </p:txBody>
      </p:sp>
      <p:sp>
        <p:nvSpPr>
          <p:cNvPr id="17" name="Text 12"/>
          <p:cNvSpPr txBox="1"/>
          <p:nvPr/>
        </p:nvSpPr>
        <p:spPr>
          <a:xfrm>
            <a:off x="7406640" y="256032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SCP-02/05/07 | CRT-02</a:t>
            </a:r>
            <a:endParaRPr lang="en-US" sz="1100" dirty="0"/>
          </a:p>
        </p:txBody>
      </p:sp>
      <p:sp>
        <p:nvSpPr>
          <p:cNvPr id="18" name="Card"/>
          <p:cNvSpPr/>
          <p:nvPr/>
        </p:nvSpPr>
        <p:spPr>
          <a:xfrm>
            <a:off x="548640" y="306324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19" name="Icon circle"/>
          <p:cNvSpPr/>
          <p:nvPr/>
        </p:nvSpPr>
        <p:spPr>
          <a:xfrm>
            <a:off x="777240" y="3337560"/>
            <a:ext cx="731520" cy="731520"/>
          </a:xfrm>
          <a:prstGeom prst="ellipse">
            <a:avLst/>
          </a:prstGeom>
          <a:solidFill>
            <a:schemeClr val="accent1"/>
          </a:solidFill>
          <a:ln/>
        </p:spPr>
      </p:sp>
      <p:pic>
        <p:nvPicPr>
          <p:cNvPr id="20" name="Icon" descr="preencoded.png">    </p:cNvPr>
          <p:cNvPicPr>
            <a:picLocks noChangeAspect="1"/>
          </p:cNvPicPr>
          <p:nvPr/>
        </p:nvPicPr>
        <p:blipFill>
          <a:blip r:embed="rId3"/>
          <a:stretch>
            <a:fillRect/>
          </a:stretch>
        </p:blipFill>
        <p:spPr>
          <a:xfrm>
            <a:off x="982066" y="3542386"/>
            <a:ext cx="321869" cy="321869"/>
          </a:xfrm>
          <a:prstGeom prst="rect">
            <a:avLst/>
          </a:prstGeom>
        </p:spPr>
      </p:pic>
      <p:sp>
        <p:nvSpPr>
          <p:cNvPr id="21" name="Text 15"/>
          <p:cNvSpPr txBox="1"/>
          <p:nvPr/>
        </p:nvSpPr>
        <p:spPr>
          <a:xfrm>
            <a:off x="1737360" y="320040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OBJ-03</a:t>
            </a:r>
            <a:endParaRPr lang="en-US" sz="1200" dirty="0"/>
          </a:p>
        </p:txBody>
      </p:sp>
      <p:sp>
        <p:nvSpPr>
          <p:cNvPr id="22" name="Text 16"/>
          <p:cNvSpPr txBox="1"/>
          <p:nvPr/>
        </p:nvSpPr>
        <p:spPr>
          <a:xfrm>
            <a:off x="1737360" y="3474720"/>
            <a:ext cx="4023360" cy="548640"/>
          </a:xfrm>
          <a:prstGeom prst="rect">
            <a:avLst/>
          </a:prstGeom>
          <a:noFill/>
          <a:ln/>
        </p:spPr>
        <p:txBody>
          <a:bodyPr wrap="square" lIns="0" tIns="0" rIns="0" bIns="0" rtlCol="0" anchor="t"/>
          <a:lstStyle/>
          <a:p>
            <a:pPr indent="0" marL="0">
              <a:buNone/>
            </a:pPr>
            <a:r>
              <a:rPr lang="en-US" sz="1400" dirty="0">
                <a:solidFill>
                  <a:schemeClr val="tx1"/>
                </a:solidFill>
              </a:rPr>
              <a:t>Traceability - every borrow and change leaves a named record</a:t>
            </a:r>
            <a:endParaRPr lang="en-US" sz="1400" dirty="0"/>
          </a:p>
        </p:txBody>
      </p:sp>
      <p:sp>
        <p:nvSpPr>
          <p:cNvPr id="23" name="Text 17"/>
          <p:cNvSpPr txBox="1"/>
          <p:nvPr/>
        </p:nvSpPr>
        <p:spPr>
          <a:xfrm>
            <a:off x="1737360" y="402336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SCP-02/04/05 | CRT-03</a:t>
            </a:r>
            <a:endParaRPr lang="en-US" sz="1100" dirty="0"/>
          </a:p>
        </p:txBody>
      </p:sp>
      <p:sp>
        <p:nvSpPr>
          <p:cNvPr id="24" name="Card"/>
          <p:cNvSpPr/>
          <p:nvPr/>
        </p:nvSpPr>
        <p:spPr>
          <a:xfrm>
            <a:off x="6217920" y="306324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25" name="Icon circle"/>
          <p:cNvSpPr/>
          <p:nvPr/>
        </p:nvSpPr>
        <p:spPr>
          <a:xfrm>
            <a:off x="6446520" y="3337560"/>
            <a:ext cx="731520" cy="731520"/>
          </a:xfrm>
          <a:prstGeom prst="ellipse">
            <a:avLst/>
          </a:prstGeom>
          <a:solidFill>
            <a:schemeClr val="accent1"/>
          </a:solidFill>
          <a:ln/>
        </p:spPr>
      </p:sp>
      <p:pic>
        <p:nvPicPr>
          <p:cNvPr id="26" name="Icon" descr="preencoded.png">    </p:cNvPr>
          <p:cNvPicPr>
            <a:picLocks noChangeAspect="1"/>
          </p:cNvPicPr>
          <p:nvPr/>
        </p:nvPicPr>
        <p:blipFill>
          <a:blip r:embed="rId4"/>
          <a:stretch>
            <a:fillRect/>
          </a:stretch>
        </p:blipFill>
        <p:spPr>
          <a:xfrm>
            <a:off x="6651346" y="3542386"/>
            <a:ext cx="321869" cy="321869"/>
          </a:xfrm>
          <a:prstGeom prst="rect">
            <a:avLst/>
          </a:prstGeom>
        </p:spPr>
      </p:pic>
      <p:sp>
        <p:nvSpPr>
          <p:cNvPr id="27" name="Text 20"/>
          <p:cNvSpPr txBox="1"/>
          <p:nvPr/>
        </p:nvSpPr>
        <p:spPr>
          <a:xfrm>
            <a:off x="7406640" y="320040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OBJ-04</a:t>
            </a:r>
            <a:endParaRPr lang="en-US" sz="1200" dirty="0"/>
          </a:p>
        </p:txBody>
      </p:sp>
      <p:sp>
        <p:nvSpPr>
          <p:cNvPr id="28" name="Text 21"/>
          <p:cNvSpPr txBox="1"/>
          <p:nvPr/>
        </p:nvSpPr>
        <p:spPr>
          <a:xfrm>
            <a:off x="7406640" y="3474720"/>
            <a:ext cx="4023360" cy="548640"/>
          </a:xfrm>
          <a:prstGeom prst="rect">
            <a:avLst/>
          </a:prstGeom>
          <a:noFill/>
          <a:ln/>
        </p:spPr>
        <p:txBody>
          <a:bodyPr wrap="square" lIns="0" tIns="0" rIns="0" bIns="0" rtlCol="0" anchor="t"/>
          <a:lstStyle/>
          <a:p>
            <a:pPr indent="0" marL="0">
              <a:buNone/>
            </a:pPr>
            <a:r>
              <a:rPr lang="en-US" sz="1400" dirty="0">
                <a:solidFill>
                  <a:schemeClr val="tx1"/>
                </a:solidFill>
              </a:rPr>
              <a:t>Data safety - backup, settings, reports protect and hide secrets</a:t>
            </a:r>
            <a:endParaRPr lang="en-US" sz="1400" dirty="0"/>
          </a:p>
        </p:txBody>
      </p:sp>
      <p:sp>
        <p:nvSpPr>
          <p:cNvPr id="29" name="Text 22"/>
          <p:cNvSpPr txBox="1"/>
          <p:nvPr/>
        </p:nvSpPr>
        <p:spPr>
          <a:xfrm>
            <a:off x="7406640" y="402336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SCP-02/03/04 | CRT-04</a:t>
            </a:r>
            <a:endParaRPr lang="en-US" sz="1100" dirty="0"/>
          </a:p>
        </p:txBody>
      </p:sp>
      <p:sp>
        <p:nvSpPr>
          <p:cNvPr id="30" name="Card"/>
          <p:cNvSpPr/>
          <p:nvPr/>
        </p:nvSpPr>
        <p:spPr>
          <a:xfrm>
            <a:off x="548640" y="4617720"/>
            <a:ext cx="5394960" cy="1508760"/>
          </a:xfrm>
          <a:prstGeom prst="roundRect">
            <a:avLst>
              <a:gd name="adj" fmla="val 6061"/>
            </a:avLst>
          </a:prstGeom>
          <a:solidFill>
            <a:schemeClr val="accent4">
              <a:alpha val="10000"/>
            </a:schemeClr>
          </a:solidFill>
          <a:ln/>
        </p:spPr>
      </p:sp>
      <p:sp>
        <p:nvSpPr>
          <p:cNvPr id="31" name="Text 24"/>
          <p:cNvSpPr txBox="1"/>
          <p:nvPr/>
        </p:nvSpPr>
        <p:spPr>
          <a:xfrm>
            <a:off x="777240" y="4754880"/>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In scope (safe procedures)</a:t>
            </a:r>
            <a:endParaRPr lang="en-US" sz="1500" dirty="0"/>
          </a:p>
        </p:txBody>
      </p:sp>
      <p:sp>
        <p:nvSpPr>
          <p:cNvPr id="32" name="Text 25"/>
          <p:cNvSpPr txBox="1"/>
          <p:nvPr/>
        </p:nvSpPr>
        <p:spPr>
          <a:xfrm>
            <a:off x="777240" y="5120640"/>
            <a:ext cx="4937760" cy="868680"/>
          </a:xfrm>
          <a:prstGeom prst="rect">
            <a:avLst/>
          </a:prstGeom>
          <a:noFill/>
          <a:ln/>
        </p:spPr>
        <p:txBody>
          <a:bodyPr wrap="square" lIns="0" tIns="0" rIns="0" bIns="0" rtlCol="0" anchor="t"/>
          <a:lstStyle/>
          <a:p>
            <a:pPr indent="0" marL="0">
              <a:buNone/>
            </a:pPr>
            <a:r>
              <a:rPr lang="en-US" sz="1400" dirty="0">
                <a:solidFill>
                  <a:schemeClr val="tx1"/>
                </a:solidFill>
              </a:rPr>
              <a:t>Records + code inspection, config review, walkthroughs, small demo tests - nothing changed or harmed</a:t>
            </a:r>
            <a:endParaRPr lang="en-US" sz="1400" dirty="0"/>
          </a:p>
        </p:txBody>
      </p:sp>
      <p:sp>
        <p:nvSpPr>
          <p:cNvPr id="33" name="Card"/>
          <p:cNvSpPr/>
          <p:nvPr/>
        </p:nvSpPr>
        <p:spPr>
          <a:xfrm>
            <a:off x="6217920" y="4617720"/>
            <a:ext cx="5394960" cy="1508760"/>
          </a:xfrm>
          <a:prstGeom prst="roundRect">
            <a:avLst>
              <a:gd name="adj" fmla="val 6061"/>
            </a:avLst>
          </a:prstGeom>
          <a:solidFill>
            <a:schemeClr val="accent3">
              <a:alpha val="10000"/>
            </a:schemeClr>
          </a:solidFill>
          <a:ln/>
        </p:spPr>
      </p:sp>
      <p:sp>
        <p:nvSpPr>
          <p:cNvPr id="34" name="Text 27"/>
          <p:cNvSpPr txBox="1"/>
          <p:nvPr/>
        </p:nvSpPr>
        <p:spPr>
          <a:xfrm>
            <a:off x="6446520" y="4754880"/>
            <a:ext cx="4937760" cy="274320"/>
          </a:xfrm>
          <a:prstGeom prst="rect">
            <a:avLst/>
          </a:prstGeom>
          <a:noFill/>
          <a:ln/>
        </p:spPr>
        <p:txBody>
          <a:bodyPr wrap="square" lIns="0" tIns="0" rIns="0" bIns="0" rtlCol="0" anchor="t"/>
          <a:lstStyle/>
          <a:p>
            <a:pPr indent="0" marL="0">
              <a:buNone/>
            </a:pPr>
            <a:r>
              <a:rPr lang="en-US" sz="1500" b="1" dirty="0">
                <a:solidFill>
                  <a:schemeClr val="accent3"/>
                </a:solidFill>
              </a:rPr>
              <a:t>Out of scope / limits (SCP-03/04)</a:t>
            </a:r>
            <a:endParaRPr lang="en-US" sz="1500" dirty="0"/>
          </a:p>
        </p:txBody>
      </p:sp>
      <p:sp>
        <p:nvSpPr>
          <p:cNvPr id="35" name="Text 28"/>
          <p:cNvSpPr txBox="1"/>
          <p:nvPr/>
        </p:nvSpPr>
        <p:spPr>
          <a:xfrm>
            <a:off x="6446520" y="5120640"/>
            <a:ext cx="4937760" cy="868680"/>
          </a:xfrm>
          <a:prstGeom prst="rect">
            <a:avLst/>
          </a:prstGeom>
          <a:noFill/>
          <a:ln/>
        </p:spPr>
        <p:txBody>
          <a:bodyPr wrap="square" lIns="0" tIns="0" rIns="0" bIns="0" rtlCol="0" anchor="t"/>
          <a:lstStyle/>
          <a:p>
            <a:pPr indent="0" marL="0">
              <a:buNone/>
            </a:pPr>
            <a:r>
              <a:rPr lang="en-US" sz="1400" dirty="0">
                <a:solidFill>
                  <a:schemeClr val="tx1"/>
                </a:solidFill>
              </a:rPr>
              <a:t>No attack testing, no live restore, no real student data - demo environment only, stated in every conclusion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We Worked - Evidence First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Same method through Labs 7-12; every result carries an ID chain</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Card"/>
          <p:cNvSpPr/>
          <p:nvPr/>
        </p:nvSpPr>
        <p:spPr>
          <a:xfrm>
            <a:off x="548640"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7" name="Icon circle"/>
          <p:cNvSpPr/>
          <p:nvPr/>
        </p:nvSpPr>
        <p:spPr>
          <a:xfrm>
            <a:off x="822960" y="2011680"/>
            <a:ext cx="777240" cy="777240"/>
          </a:xfrm>
          <a:prstGeom prst="ellipse">
            <a:avLst/>
          </a:prstGeom>
          <a:solidFill>
            <a:schemeClr val="accent1"/>
          </a:solidFill>
          <a:ln/>
        </p:spPr>
      </p:sp>
      <p:pic>
        <p:nvPicPr>
          <p:cNvPr id="8" name="Icon" descr="preencoded.png">    </p:cNvPr>
          <p:cNvPicPr>
            <a:picLocks noChangeAspect="1"/>
          </p:cNvPicPr>
          <p:nvPr/>
        </p:nvPicPr>
        <p:blipFill>
          <a:blip r:embed="rId1"/>
          <a:stretch>
            <a:fillRect/>
          </a:stretch>
        </p:blipFill>
        <p:spPr>
          <a:xfrm>
            <a:off x="1040587" y="2229307"/>
            <a:ext cx="341986" cy="341986"/>
          </a:xfrm>
          <a:prstGeom prst="rect">
            <a:avLst/>
          </a:prstGeom>
        </p:spPr>
      </p:pic>
      <p:sp>
        <p:nvSpPr>
          <p:cNvPr id="9" name="Text 5"/>
          <p:cNvSpPr txBox="1"/>
          <p:nvPr/>
        </p:nvSpPr>
        <p:spPr>
          <a:xfrm>
            <a:off x="2377440"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1</a:t>
            </a:r>
            <a:endParaRPr lang="en-US" sz="3000" dirty="0"/>
          </a:p>
        </p:txBody>
      </p:sp>
      <p:sp>
        <p:nvSpPr>
          <p:cNvPr id="10" name="Text 6"/>
          <p:cNvSpPr txBox="1"/>
          <p:nvPr/>
        </p:nvSpPr>
        <p:spPr>
          <a:xfrm>
            <a:off x="822960"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Inspect</a:t>
            </a:r>
            <a:endParaRPr lang="en-US" sz="2000" dirty="0"/>
          </a:p>
        </p:txBody>
      </p:sp>
      <p:sp>
        <p:nvSpPr>
          <p:cNvPr id="11" name="Text 7"/>
          <p:cNvSpPr txBox="1"/>
          <p:nvPr/>
        </p:nvSpPr>
        <p:spPr>
          <a:xfrm>
            <a:off x="822960"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records, code paths, configuration</a:t>
            </a:r>
            <a:endParaRPr lang="en-US" sz="1400" dirty="0"/>
          </a:p>
        </p:txBody>
      </p:sp>
      <p:sp>
        <p:nvSpPr>
          <p:cNvPr id="12" name="Text 8"/>
          <p:cNvSpPr txBox="1"/>
          <p:nvPr/>
        </p:nvSpPr>
        <p:spPr>
          <a:xfrm>
            <a:off x="822960"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EVD-09/10/12/13 series</a:t>
            </a:r>
            <a:endParaRPr lang="en-US" sz="1100" dirty="0"/>
          </a:p>
        </p:txBody>
      </p:sp>
      <p:sp>
        <p:nvSpPr>
          <p:cNvPr id="13" name="Text 9"/>
          <p:cNvSpPr txBox="1"/>
          <p:nvPr/>
        </p:nvSpPr>
        <p:spPr>
          <a:xfrm>
            <a:off x="3017520" y="2834640"/>
            <a:ext cx="393192" cy="457200"/>
          </a:xfrm>
          <a:prstGeom prst="rect">
            <a:avLst/>
          </a:prstGeom>
          <a:noFill/>
          <a:ln/>
        </p:spPr>
        <p:txBody>
          <a:bodyPr wrap="square" lIns="0" tIns="0" rIns="0" bIns="0" rtlCol="0" anchor="ctr"/>
          <a:lstStyle/>
          <a:p>
            <a:pPr algn="ctr" indent="0" marL="0">
              <a:buNone/>
            </a:pPr>
            <a:r>
              <a:rPr lang="en-US" sz="2200" b="1" dirty="0">
                <a:solidFill>
                  <a:schemeClr val="accent6"/>
                </a:solidFill>
              </a:rPr>
              <a:t>&gt;</a:t>
            </a:r>
            <a:endParaRPr lang="en-US" sz="2200" dirty="0"/>
          </a:p>
        </p:txBody>
      </p:sp>
      <p:sp>
        <p:nvSpPr>
          <p:cNvPr id="14" name="Card"/>
          <p:cNvSpPr/>
          <p:nvPr/>
        </p:nvSpPr>
        <p:spPr>
          <a:xfrm>
            <a:off x="3410712"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15" name="Icon circle"/>
          <p:cNvSpPr/>
          <p:nvPr/>
        </p:nvSpPr>
        <p:spPr>
          <a:xfrm>
            <a:off x="3685032" y="2011680"/>
            <a:ext cx="777240" cy="777240"/>
          </a:xfrm>
          <a:prstGeom prst="ellipse">
            <a:avLst/>
          </a:prstGeom>
          <a:solidFill>
            <a:schemeClr val="accent1"/>
          </a:solidFill>
          <a:ln/>
        </p:spPr>
      </p:sp>
      <p:pic>
        <p:nvPicPr>
          <p:cNvPr id="16" name="Icon" descr="preencoded.png">    </p:cNvPr>
          <p:cNvPicPr>
            <a:picLocks noChangeAspect="1"/>
          </p:cNvPicPr>
          <p:nvPr/>
        </p:nvPicPr>
        <p:blipFill>
          <a:blip r:embed="rId2"/>
          <a:stretch>
            <a:fillRect/>
          </a:stretch>
        </p:blipFill>
        <p:spPr>
          <a:xfrm>
            <a:off x="3902659" y="2229307"/>
            <a:ext cx="341986" cy="341986"/>
          </a:xfrm>
          <a:prstGeom prst="rect">
            <a:avLst/>
          </a:prstGeom>
        </p:spPr>
      </p:pic>
      <p:sp>
        <p:nvSpPr>
          <p:cNvPr id="17" name="Text 12"/>
          <p:cNvSpPr txBox="1"/>
          <p:nvPr/>
        </p:nvSpPr>
        <p:spPr>
          <a:xfrm>
            <a:off x="5239512"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2</a:t>
            </a:r>
            <a:endParaRPr lang="en-US" sz="3000" dirty="0"/>
          </a:p>
        </p:txBody>
      </p:sp>
      <p:sp>
        <p:nvSpPr>
          <p:cNvPr id="18" name="Text 13"/>
          <p:cNvSpPr txBox="1"/>
          <p:nvPr/>
        </p:nvSpPr>
        <p:spPr>
          <a:xfrm>
            <a:off x="3685032"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Walk through</a:t>
            </a:r>
            <a:endParaRPr lang="en-US" sz="2000" dirty="0"/>
          </a:p>
        </p:txBody>
      </p:sp>
      <p:sp>
        <p:nvSpPr>
          <p:cNvPr id="19" name="Text 14"/>
          <p:cNvSpPr txBox="1"/>
          <p:nvPr/>
        </p:nvSpPr>
        <p:spPr>
          <a:xfrm>
            <a:off x="3685032"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real screens in the demo build</a:t>
            </a:r>
            <a:endParaRPr lang="en-US" sz="1400" dirty="0"/>
          </a:p>
        </p:txBody>
      </p:sp>
      <p:sp>
        <p:nvSpPr>
          <p:cNvPr id="20" name="Text 15"/>
          <p:cNvSpPr txBox="1"/>
          <p:nvPr/>
        </p:nvSpPr>
        <p:spPr>
          <a:xfrm>
            <a:off x="3685032"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clean screenshots - no names</a:t>
            </a:r>
            <a:endParaRPr lang="en-US" sz="1100" dirty="0"/>
          </a:p>
        </p:txBody>
      </p:sp>
      <p:sp>
        <p:nvSpPr>
          <p:cNvPr id="21" name="Text 16"/>
          <p:cNvSpPr txBox="1"/>
          <p:nvPr/>
        </p:nvSpPr>
        <p:spPr>
          <a:xfrm>
            <a:off x="5879592" y="2834640"/>
            <a:ext cx="393192" cy="457200"/>
          </a:xfrm>
          <a:prstGeom prst="rect">
            <a:avLst/>
          </a:prstGeom>
          <a:noFill/>
          <a:ln/>
        </p:spPr>
        <p:txBody>
          <a:bodyPr wrap="square" lIns="0" tIns="0" rIns="0" bIns="0" rtlCol="0" anchor="ctr"/>
          <a:lstStyle/>
          <a:p>
            <a:pPr algn="ctr" indent="0" marL="0">
              <a:buNone/>
            </a:pPr>
            <a:r>
              <a:rPr lang="en-US" sz="2200" b="1" dirty="0">
                <a:solidFill>
                  <a:schemeClr val="accent6"/>
                </a:solidFill>
              </a:rPr>
              <a:t>&gt;</a:t>
            </a:r>
            <a:endParaRPr lang="en-US" sz="2200" dirty="0"/>
          </a:p>
        </p:txBody>
      </p:sp>
      <p:sp>
        <p:nvSpPr>
          <p:cNvPr id="22" name="Card"/>
          <p:cNvSpPr/>
          <p:nvPr/>
        </p:nvSpPr>
        <p:spPr>
          <a:xfrm>
            <a:off x="6272784"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23" name="Icon circle"/>
          <p:cNvSpPr/>
          <p:nvPr/>
        </p:nvSpPr>
        <p:spPr>
          <a:xfrm>
            <a:off x="6547104" y="2011680"/>
            <a:ext cx="777240" cy="777240"/>
          </a:xfrm>
          <a:prstGeom prst="ellipse">
            <a:avLst/>
          </a:prstGeom>
          <a:solidFill>
            <a:schemeClr val="accent1"/>
          </a:solidFill>
          <a:ln/>
        </p:spPr>
      </p:sp>
      <p:pic>
        <p:nvPicPr>
          <p:cNvPr id="24" name="Icon" descr="preencoded.png">    </p:cNvPr>
          <p:cNvPicPr>
            <a:picLocks noChangeAspect="1"/>
          </p:cNvPicPr>
          <p:nvPr/>
        </p:nvPicPr>
        <p:blipFill>
          <a:blip r:embed="rId3"/>
          <a:stretch>
            <a:fillRect/>
          </a:stretch>
        </p:blipFill>
        <p:spPr>
          <a:xfrm>
            <a:off x="6764731" y="2229307"/>
            <a:ext cx="341986" cy="341986"/>
          </a:xfrm>
          <a:prstGeom prst="rect">
            <a:avLst/>
          </a:prstGeom>
        </p:spPr>
      </p:pic>
      <p:sp>
        <p:nvSpPr>
          <p:cNvPr id="25" name="Text 19"/>
          <p:cNvSpPr txBox="1"/>
          <p:nvPr/>
        </p:nvSpPr>
        <p:spPr>
          <a:xfrm>
            <a:off x="8101584"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3</a:t>
            </a:r>
            <a:endParaRPr lang="en-US" sz="3000" dirty="0"/>
          </a:p>
        </p:txBody>
      </p:sp>
      <p:sp>
        <p:nvSpPr>
          <p:cNvPr id="26" name="Text 20"/>
          <p:cNvSpPr txBox="1"/>
          <p:nvPr/>
        </p:nvSpPr>
        <p:spPr>
          <a:xfrm>
            <a:off x="6547104"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Test</a:t>
            </a:r>
            <a:endParaRPr lang="en-US" sz="2000" dirty="0"/>
          </a:p>
        </p:txBody>
      </p:sp>
      <p:sp>
        <p:nvSpPr>
          <p:cNvPr id="27" name="Text 21"/>
          <p:cNvSpPr txBox="1"/>
          <p:nvPr/>
        </p:nvSpPr>
        <p:spPr>
          <a:xfrm>
            <a:off x="6547104"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10/10 pages, CSV file, loan cycle, backup log</a:t>
            </a:r>
            <a:endParaRPr lang="en-US" sz="1400" dirty="0"/>
          </a:p>
        </p:txBody>
      </p:sp>
      <p:sp>
        <p:nvSpPr>
          <p:cNvPr id="28" name="Text 22"/>
          <p:cNvSpPr txBox="1"/>
          <p:nvPr/>
        </p:nvSpPr>
        <p:spPr>
          <a:xfrm>
            <a:off x="6547104"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TEST-01..06 samples</a:t>
            </a:r>
            <a:endParaRPr lang="en-US" sz="1100" dirty="0"/>
          </a:p>
        </p:txBody>
      </p:sp>
      <p:sp>
        <p:nvSpPr>
          <p:cNvPr id="29" name="Text 23"/>
          <p:cNvSpPr txBox="1"/>
          <p:nvPr/>
        </p:nvSpPr>
        <p:spPr>
          <a:xfrm>
            <a:off x="8741664" y="2834640"/>
            <a:ext cx="393192" cy="457200"/>
          </a:xfrm>
          <a:prstGeom prst="rect">
            <a:avLst/>
          </a:prstGeom>
          <a:noFill/>
          <a:ln/>
        </p:spPr>
        <p:txBody>
          <a:bodyPr wrap="square" lIns="0" tIns="0" rIns="0" bIns="0" rtlCol="0" anchor="ctr"/>
          <a:lstStyle/>
          <a:p>
            <a:pPr algn="ctr" indent="0" marL="0">
              <a:buNone/>
            </a:pPr>
            <a:r>
              <a:rPr lang="en-US" sz="2200" b="1" dirty="0">
                <a:solidFill>
                  <a:schemeClr val="accent6"/>
                </a:solidFill>
              </a:rPr>
              <a:t>&gt;</a:t>
            </a:r>
            <a:endParaRPr lang="en-US" sz="2200" dirty="0"/>
          </a:p>
        </p:txBody>
      </p:sp>
      <p:sp>
        <p:nvSpPr>
          <p:cNvPr id="30" name="Card"/>
          <p:cNvSpPr/>
          <p:nvPr/>
        </p:nvSpPr>
        <p:spPr>
          <a:xfrm>
            <a:off x="9134856"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31" name="Icon circle"/>
          <p:cNvSpPr/>
          <p:nvPr/>
        </p:nvSpPr>
        <p:spPr>
          <a:xfrm>
            <a:off x="9409176" y="2011680"/>
            <a:ext cx="777240" cy="777240"/>
          </a:xfrm>
          <a:prstGeom prst="ellipse">
            <a:avLst/>
          </a:prstGeom>
          <a:solidFill>
            <a:schemeClr val="accent1"/>
          </a:solidFill>
          <a:ln/>
        </p:spPr>
      </p:sp>
      <p:pic>
        <p:nvPicPr>
          <p:cNvPr id="32" name="Icon" descr="preencoded.png">    </p:cNvPr>
          <p:cNvPicPr>
            <a:picLocks noChangeAspect="1"/>
          </p:cNvPicPr>
          <p:nvPr/>
        </p:nvPicPr>
        <p:blipFill>
          <a:blip r:embed="rId4"/>
          <a:stretch>
            <a:fillRect/>
          </a:stretch>
        </p:blipFill>
        <p:spPr>
          <a:xfrm>
            <a:off x="9626803" y="2229307"/>
            <a:ext cx="341986" cy="341986"/>
          </a:xfrm>
          <a:prstGeom prst="rect">
            <a:avLst/>
          </a:prstGeom>
        </p:spPr>
      </p:pic>
      <p:sp>
        <p:nvSpPr>
          <p:cNvPr id="33" name="Text 26"/>
          <p:cNvSpPr txBox="1"/>
          <p:nvPr/>
        </p:nvSpPr>
        <p:spPr>
          <a:xfrm>
            <a:off x="10963656"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4</a:t>
            </a:r>
            <a:endParaRPr lang="en-US" sz="3000" dirty="0"/>
          </a:p>
        </p:txBody>
      </p:sp>
      <p:sp>
        <p:nvSpPr>
          <p:cNvPr id="34" name="Text 27"/>
          <p:cNvSpPr txBox="1"/>
          <p:nvPr/>
        </p:nvSpPr>
        <p:spPr>
          <a:xfrm>
            <a:off x="9409176"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Review</a:t>
            </a:r>
            <a:endParaRPr lang="en-US" sz="2000" dirty="0"/>
          </a:p>
        </p:txBody>
      </p:sp>
      <p:sp>
        <p:nvSpPr>
          <p:cNvPr id="35" name="Text 28"/>
          <p:cNvSpPr txBox="1"/>
          <p:nvPr/>
        </p:nvSpPr>
        <p:spPr>
          <a:xfrm>
            <a:off x="9409176"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each member cross-checked + challenged</a:t>
            </a:r>
            <a:endParaRPr lang="en-US" sz="1400" dirty="0"/>
          </a:p>
        </p:txBody>
      </p:sp>
      <p:sp>
        <p:nvSpPr>
          <p:cNvPr id="36" name="Text 29"/>
          <p:cNvSpPr txBox="1"/>
          <p:nvPr/>
        </p:nvSpPr>
        <p:spPr>
          <a:xfrm>
            <a:off x="9409176"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REV-01..14 rows</a:t>
            </a:r>
            <a:endParaRPr lang="en-US" sz="1100" dirty="0"/>
          </a:p>
        </p:txBody>
      </p:sp>
      <p:sp>
        <p:nvSpPr>
          <p:cNvPr id="37" name="Card"/>
          <p:cNvSpPr/>
          <p:nvPr/>
        </p:nvSpPr>
        <p:spPr>
          <a:xfrm>
            <a:off x="548640" y="4846320"/>
            <a:ext cx="11094415" cy="1234440"/>
          </a:xfrm>
          <a:prstGeom prst="roundRect">
            <a:avLst>
              <a:gd name="adj" fmla="val 7407"/>
            </a:avLst>
          </a:prstGeom>
          <a:solidFill>
            <a:schemeClr val="tx2"/>
          </a:solidFill>
          <a:ln/>
        </p:spPr>
      </p:sp>
      <p:sp>
        <p:nvSpPr>
          <p:cNvPr id="38" name="Text 31"/>
          <p:cNvSpPr txBox="1"/>
          <p:nvPr/>
        </p:nvSpPr>
        <p:spPr>
          <a:xfrm>
            <a:off x="914400" y="4937760"/>
            <a:ext cx="10362895" cy="1051560"/>
          </a:xfrm>
          <a:prstGeom prst="rect">
            <a:avLst/>
          </a:prstGeom>
          <a:noFill/>
          <a:ln/>
        </p:spPr>
        <p:txBody>
          <a:bodyPr wrap="square" lIns="0" tIns="0" rIns="0" bIns="0" rtlCol="0" anchor="ctr"/>
          <a:lstStyle/>
          <a:p>
            <a:pPr indent="0" marL="0">
              <a:buNone/>
            </a:pPr>
            <a:r>
              <a:rPr lang="en-US" sz="1600" dirty="0">
                <a:solidFill>
                  <a:schemeClr val="bg1"/>
                </a:solidFill>
              </a:rPr>
              <a:t>AI used only for wording fixes, count double-checks, task clarifications - every suggestion validated against real records; never an evidence source (Portfolio AIV-01..06)</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Architecture and Trust Boundaries</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Figure 2 from the report: Flask app, PostgreSQL, Google OAuth, Render (DEP-01..06)</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ard"/>
          <p:cNvSpPr/>
          <p:nvPr/>
        </p:nvSpPr>
        <p:spPr>
          <a:xfrm>
            <a:off x="548640" y="1600200"/>
            <a:ext cx="6949440" cy="4617720"/>
          </a:xfrm>
          <a:prstGeom prst="roundRect">
            <a:avLst>
              <a:gd name="adj" fmla="val 1980"/>
            </a:avLst>
          </a:prstGeom>
          <a:solidFill>
            <a:schemeClr val="bg1"/>
          </a:solidFill>
          <a:ln w="12700">
            <a:solidFill>
              <a:schemeClr val="bg2"/>
            </a:solidFill>
            <a:prstDash val="solid"/>
          </a:ln>
          <a:effectLst>
            <a:outerShdw sx="100000" sy="100000" kx="0" ky="0" algn="bl" rotWithShape="0" blurRad="101600" dist="25400" dir="5400000">
              <a:srgbClr val="14232E">
                <a:alpha val="12000"/>
              </a:srgbClr>
            </a:outerShdw>
          </a:effectLst>
        </p:spPr>
      </p:sp>
      <p:pic>
        <p:nvPicPr>
          <p:cNvPr id="7" name="Figure 2" descr="Figure 2: MCST LMS system context and deployment">    </p:cNvPr>
          <p:cNvPicPr>
            <a:picLocks noChangeAspect="1"/>
          </p:cNvPicPr>
          <p:nvPr/>
        </p:nvPicPr>
        <p:blipFill>
          <a:blip r:embed="rId1"/>
          <a:stretch>
            <a:fillRect/>
          </a:stretch>
        </p:blipFill>
        <p:spPr>
          <a:xfrm>
            <a:off x="685800" y="1763486"/>
            <a:ext cx="6675120" cy="4291149"/>
          </a:xfrm>
          <a:prstGeom prst="rect">
            <a:avLst/>
          </a:prstGeom>
        </p:spPr>
      </p:pic>
      <p:sp>
        <p:nvSpPr>
          <p:cNvPr id="8" name="Card"/>
          <p:cNvSpPr/>
          <p:nvPr/>
        </p:nvSpPr>
        <p:spPr>
          <a:xfrm>
            <a:off x="7772400" y="1600200"/>
            <a:ext cx="3867912" cy="1097280"/>
          </a:xfrm>
          <a:prstGeom prst="roundRect">
            <a:avLst>
              <a:gd name="adj" fmla="val 8333"/>
            </a:avLst>
          </a:prstGeom>
          <a:solidFill>
            <a:schemeClr val="bg2"/>
          </a:solidFill>
          <a:ln/>
        </p:spPr>
      </p:sp>
      <p:sp>
        <p:nvSpPr>
          <p:cNvPr id="9" name="Text 5"/>
          <p:cNvSpPr txBox="1"/>
          <p:nvPr/>
        </p:nvSpPr>
        <p:spPr>
          <a:xfrm>
            <a:off x="7955280" y="1691640"/>
            <a:ext cx="731520"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a:t>
            </a:r>
            <a:endParaRPr lang="en-US" sz="4000" dirty="0"/>
          </a:p>
        </p:txBody>
      </p:sp>
      <p:sp>
        <p:nvSpPr>
          <p:cNvPr id="10" name="Text 6"/>
          <p:cNvSpPr txBox="1"/>
          <p:nvPr/>
        </p:nvSpPr>
        <p:spPr>
          <a:xfrm>
            <a:off x="8686800" y="1691640"/>
            <a:ext cx="2834640" cy="914400"/>
          </a:xfrm>
          <a:prstGeom prst="rect">
            <a:avLst/>
          </a:prstGeom>
          <a:noFill/>
          <a:ln/>
        </p:spPr>
        <p:txBody>
          <a:bodyPr wrap="square" lIns="0" tIns="0" rIns="0" bIns="0" rtlCol="0" anchor="ctr"/>
          <a:lstStyle/>
          <a:p>
            <a:pPr indent="0" marL="0">
              <a:buNone/>
            </a:pPr>
            <a:r>
              <a:rPr lang="en-US" sz="1300" dirty="0">
                <a:solidFill>
                  <a:schemeClr val="tx1"/>
                </a:solidFill>
              </a:rPr>
              <a:t>trust boundaries mapped: public entry, DB line, Google line, staff upload path, backup path, admin path</a:t>
            </a:r>
            <a:endParaRPr lang="en-US" sz="1300" dirty="0"/>
          </a:p>
        </p:txBody>
      </p:sp>
      <p:sp>
        <p:nvSpPr>
          <p:cNvPr id="11" name="Card"/>
          <p:cNvSpPr/>
          <p:nvPr/>
        </p:nvSpPr>
        <p:spPr>
          <a:xfrm>
            <a:off x="7772400" y="2834640"/>
            <a:ext cx="3867912" cy="1097280"/>
          </a:xfrm>
          <a:prstGeom prst="roundRect">
            <a:avLst>
              <a:gd name="adj" fmla="val 8333"/>
            </a:avLst>
          </a:prstGeom>
          <a:solidFill>
            <a:schemeClr val="bg2"/>
          </a:solidFill>
          <a:ln/>
        </p:spPr>
      </p:sp>
      <p:sp>
        <p:nvSpPr>
          <p:cNvPr id="12" name="Text 8"/>
          <p:cNvSpPr txBox="1"/>
          <p:nvPr/>
        </p:nvSpPr>
        <p:spPr>
          <a:xfrm>
            <a:off x="7955280" y="2926080"/>
            <a:ext cx="731520"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a:t>
            </a:r>
            <a:endParaRPr lang="en-US" sz="4000" dirty="0"/>
          </a:p>
        </p:txBody>
      </p:sp>
      <p:sp>
        <p:nvSpPr>
          <p:cNvPr id="13" name="Text 9"/>
          <p:cNvSpPr txBox="1"/>
          <p:nvPr/>
        </p:nvSpPr>
        <p:spPr>
          <a:xfrm>
            <a:off x="8686800" y="2926080"/>
            <a:ext cx="2834640" cy="914400"/>
          </a:xfrm>
          <a:prstGeom prst="rect">
            <a:avLst/>
          </a:prstGeom>
          <a:noFill/>
          <a:ln/>
        </p:spPr>
        <p:txBody>
          <a:bodyPr wrap="square" lIns="0" tIns="0" rIns="0" bIns="0" rtlCol="0" anchor="ctr"/>
          <a:lstStyle/>
          <a:p>
            <a:pPr indent="0" marL="0">
              <a:buNone/>
            </a:pPr>
            <a:r>
              <a:rPr lang="en-US" sz="1300" dirty="0">
                <a:solidFill>
                  <a:schemeClr val="tx1"/>
                </a:solidFill>
              </a:rPr>
              <a:t>account types registered; one-time bootstrap admin was closed and verified (ACC-07)</a:t>
            </a:r>
            <a:endParaRPr lang="en-US" sz="1300" dirty="0"/>
          </a:p>
        </p:txBody>
      </p:sp>
      <p:sp>
        <p:nvSpPr>
          <p:cNvPr id="14" name="Card"/>
          <p:cNvSpPr/>
          <p:nvPr/>
        </p:nvSpPr>
        <p:spPr>
          <a:xfrm>
            <a:off x="7772400" y="4069080"/>
            <a:ext cx="3867912" cy="914400"/>
          </a:xfrm>
          <a:prstGeom prst="roundRect">
            <a:avLst>
              <a:gd name="adj" fmla="val 10000"/>
            </a:avLst>
          </a:prstGeom>
          <a:solidFill>
            <a:schemeClr val="bg2"/>
          </a:solidFill>
          <a:ln/>
        </p:spPr>
      </p:sp>
      <p:sp>
        <p:nvSpPr>
          <p:cNvPr id="15" name="Text 11"/>
          <p:cNvSpPr txBox="1"/>
          <p:nvPr/>
        </p:nvSpPr>
        <p:spPr>
          <a:xfrm>
            <a:off x="7955280" y="4160520"/>
            <a:ext cx="3520440" cy="731520"/>
          </a:xfrm>
          <a:prstGeom prst="rect">
            <a:avLst/>
          </a:prstGeom>
          <a:noFill/>
          <a:ln/>
        </p:spPr>
        <p:txBody>
          <a:bodyPr wrap="square" lIns="0" tIns="0" rIns="0" bIns="0" rtlCol="0" anchor="ctr"/>
          <a:lstStyle/>
          <a:p>
            <a:pPr indent="0" marL="0">
              <a:buNone/>
            </a:pPr>
            <a:r>
              <a:rPr lang="en-US" sz="1400" dirty="0">
                <a:solidFill>
                  <a:schemeClr val="tx1"/>
                </a:solidFill>
              </a:rPr>
              <a:t>Secrets live in environment config - never in the app, never in this report</a:t>
            </a:r>
            <a:endParaRPr lang="en-US" sz="1400" dirty="0"/>
          </a:p>
        </p:txBody>
      </p:sp>
      <p:sp>
        <p:nvSpPr>
          <p:cNvPr id="16" name="Card"/>
          <p:cNvSpPr/>
          <p:nvPr/>
        </p:nvSpPr>
        <p:spPr>
          <a:xfrm>
            <a:off x="7772400" y="5120640"/>
            <a:ext cx="3867912" cy="914400"/>
          </a:xfrm>
          <a:prstGeom prst="roundRect">
            <a:avLst>
              <a:gd name="adj" fmla="val 10000"/>
            </a:avLst>
          </a:prstGeom>
          <a:solidFill>
            <a:schemeClr val="bg2"/>
          </a:solidFill>
          <a:ln/>
        </p:spPr>
      </p:sp>
      <p:sp>
        <p:nvSpPr>
          <p:cNvPr id="17" name="Text 13"/>
          <p:cNvSpPr txBox="1"/>
          <p:nvPr/>
        </p:nvSpPr>
        <p:spPr>
          <a:xfrm>
            <a:off x="7955280" y="5212080"/>
            <a:ext cx="3520440" cy="731520"/>
          </a:xfrm>
          <a:prstGeom prst="rect">
            <a:avLst/>
          </a:prstGeom>
          <a:noFill/>
          <a:ln/>
        </p:spPr>
        <p:txBody>
          <a:bodyPr wrap="square" lIns="0" tIns="0" rIns="0" bIns="0" rtlCol="0" anchor="ctr"/>
          <a:lstStyle/>
          <a:p>
            <a:pPr indent="0" marL="0">
              <a:buNone/>
            </a:pPr>
            <a:r>
              <a:rPr lang="en-US" sz="1400" dirty="0">
                <a:solidFill>
                  <a:schemeClr val="tx1"/>
                </a:solidFill>
              </a:rPr>
              <a:t>Each line names its evidence source (DEP-01..06)</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Data Moves Through the Library</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Figure 3 from the report: five flows with validation, storage, and retention rules (FLOW-01..05)</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ard"/>
          <p:cNvSpPr/>
          <p:nvPr/>
        </p:nvSpPr>
        <p:spPr>
          <a:xfrm>
            <a:off x="548640" y="1600200"/>
            <a:ext cx="6309360" cy="4617720"/>
          </a:xfrm>
          <a:prstGeom prst="roundRect">
            <a:avLst>
              <a:gd name="adj" fmla="val 1980"/>
            </a:avLst>
          </a:prstGeom>
          <a:solidFill>
            <a:schemeClr val="bg1"/>
          </a:solidFill>
          <a:ln w="12700">
            <a:solidFill>
              <a:schemeClr val="bg2"/>
            </a:solidFill>
            <a:prstDash val="solid"/>
          </a:ln>
          <a:effectLst>
            <a:outerShdw sx="100000" sy="100000" kx="0" ky="0" algn="bl" rotWithShape="0" blurRad="101600" dist="25400" dir="5400000">
              <a:srgbClr val="14232E">
                <a:alpha val="12000"/>
              </a:srgbClr>
            </a:outerShdw>
          </a:effectLst>
        </p:spPr>
      </p:sp>
      <p:pic>
        <p:nvPicPr>
          <p:cNvPr id="7" name="Figure 3" descr="Figure 3: MCST LMS data flows">    </p:cNvPr>
          <p:cNvPicPr>
            <a:picLocks noChangeAspect="1"/>
          </p:cNvPicPr>
          <p:nvPr/>
        </p:nvPicPr>
        <p:blipFill>
          <a:blip r:embed="rId1"/>
          <a:stretch>
            <a:fillRect/>
          </a:stretch>
        </p:blipFill>
        <p:spPr>
          <a:xfrm>
            <a:off x="598932" y="1691640"/>
            <a:ext cx="6208776" cy="4434840"/>
          </a:xfrm>
          <a:prstGeom prst="rect">
            <a:avLst/>
          </a:prstGeom>
        </p:spPr>
      </p:pic>
      <p:sp>
        <p:nvSpPr>
          <p:cNvPr id="8" name="Card"/>
          <p:cNvSpPr/>
          <p:nvPr/>
        </p:nvSpPr>
        <p:spPr>
          <a:xfrm>
            <a:off x="7132320" y="1600200"/>
            <a:ext cx="4507992" cy="1033272"/>
          </a:xfrm>
          <a:prstGeom prst="roundRect">
            <a:avLst>
              <a:gd name="adj" fmla="val 8850"/>
            </a:avLst>
          </a:prstGeom>
          <a:solidFill>
            <a:schemeClr val="bg2"/>
          </a:solidFill>
          <a:ln/>
        </p:spPr>
      </p:sp>
      <p:sp>
        <p:nvSpPr>
          <p:cNvPr id="9" name="Text 5"/>
          <p:cNvSpPr txBox="1"/>
          <p:nvPr/>
        </p:nvSpPr>
        <p:spPr>
          <a:xfrm>
            <a:off x="7315200" y="1709928"/>
            <a:ext cx="4114800" cy="256032"/>
          </a:xfrm>
          <a:prstGeom prst="rect">
            <a:avLst/>
          </a:prstGeom>
          <a:noFill/>
          <a:ln/>
        </p:spPr>
        <p:txBody>
          <a:bodyPr wrap="square" lIns="0" tIns="0" rIns="0" bIns="0" rtlCol="0" anchor="t"/>
          <a:lstStyle/>
          <a:p>
            <a:pPr indent="0" marL="0">
              <a:buNone/>
            </a:pPr>
            <a:r>
              <a:rPr lang="en-US" sz="1200" b="1" dirty="0">
                <a:solidFill>
                  <a:schemeClr val="accent1"/>
                </a:solidFill>
              </a:rPr>
              <a:t>FLOW-01</a:t>
            </a:r>
            <a:endParaRPr lang="en-US" sz="1200" dirty="0"/>
          </a:p>
        </p:txBody>
      </p:sp>
      <p:sp>
        <p:nvSpPr>
          <p:cNvPr id="10" name="Text 6"/>
          <p:cNvSpPr txBox="1"/>
          <p:nvPr/>
        </p:nvSpPr>
        <p:spPr>
          <a:xfrm>
            <a:off x="7315200" y="1984248"/>
            <a:ext cx="4160520" cy="594360"/>
          </a:xfrm>
          <a:prstGeom prst="rect">
            <a:avLst/>
          </a:prstGeom>
          <a:noFill/>
          <a:ln/>
        </p:spPr>
        <p:txBody>
          <a:bodyPr wrap="square" lIns="0" tIns="0" rIns="0" bIns="0" rtlCol="0" anchor="t"/>
          <a:lstStyle/>
          <a:p>
            <a:pPr indent="0" marL="0">
              <a:buNone/>
            </a:pPr>
            <a:r>
              <a:rPr lang="en-US" sz="1300" dirty="0">
                <a:solidFill>
                  <a:schemeClr val="tx1"/>
                </a:solidFill>
              </a:rPr>
              <a:t>borrow/return/fine: limits (3/5), fine = rate x days late, archive-before-delete</a:t>
            </a:r>
            <a:endParaRPr lang="en-US" sz="1300" dirty="0"/>
          </a:p>
        </p:txBody>
      </p:sp>
      <p:sp>
        <p:nvSpPr>
          <p:cNvPr id="11" name="Card"/>
          <p:cNvSpPr/>
          <p:nvPr/>
        </p:nvSpPr>
        <p:spPr>
          <a:xfrm>
            <a:off x="7132320" y="2770632"/>
            <a:ext cx="4507992" cy="1033272"/>
          </a:xfrm>
          <a:prstGeom prst="roundRect">
            <a:avLst>
              <a:gd name="adj" fmla="val 8850"/>
            </a:avLst>
          </a:prstGeom>
          <a:solidFill>
            <a:schemeClr val="bg2"/>
          </a:solidFill>
          <a:ln/>
        </p:spPr>
      </p:sp>
      <p:sp>
        <p:nvSpPr>
          <p:cNvPr id="12" name="Text 8"/>
          <p:cNvSpPr txBox="1"/>
          <p:nvPr/>
        </p:nvSpPr>
        <p:spPr>
          <a:xfrm>
            <a:off x="7315200" y="2880360"/>
            <a:ext cx="4114800" cy="256032"/>
          </a:xfrm>
          <a:prstGeom prst="rect">
            <a:avLst/>
          </a:prstGeom>
          <a:noFill/>
          <a:ln/>
        </p:spPr>
        <p:txBody>
          <a:bodyPr wrap="square" lIns="0" tIns="0" rIns="0" bIns="0" rtlCol="0" anchor="t"/>
          <a:lstStyle/>
          <a:p>
            <a:pPr indent="0" marL="0">
              <a:buNone/>
            </a:pPr>
            <a:r>
              <a:rPr lang="en-US" sz="1200" b="1" dirty="0">
                <a:solidFill>
                  <a:schemeClr val="accent1"/>
                </a:solidFill>
              </a:rPr>
              <a:t>FLOW-03</a:t>
            </a:r>
            <a:endParaRPr lang="en-US" sz="1200" dirty="0"/>
          </a:p>
        </p:txBody>
      </p:sp>
      <p:sp>
        <p:nvSpPr>
          <p:cNvPr id="13" name="Text 9"/>
          <p:cNvSpPr txBox="1"/>
          <p:nvPr/>
        </p:nvSpPr>
        <p:spPr>
          <a:xfrm>
            <a:off x="7315200" y="3154680"/>
            <a:ext cx="4160520" cy="594360"/>
          </a:xfrm>
          <a:prstGeom prst="rect">
            <a:avLst/>
          </a:prstGeom>
          <a:noFill/>
          <a:ln/>
        </p:spPr>
        <p:txBody>
          <a:bodyPr wrap="square" lIns="0" tIns="0" rIns="0" bIns="0" rtlCol="0" anchor="t"/>
          <a:lstStyle/>
          <a:p>
            <a:pPr indent="0" marL="0">
              <a:buNone/>
            </a:pPr>
            <a:r>
              <a:rPr lang="en-US" sz="1300" dirty="0">
                <a:solidFill>
                  <a:schemeClr val="tx1"/>
                </a:solidFill>
              </a:rPr>
              <a:t>CSV import: header map + required fields; bad rows skipped + logged</a:t>
            </a:r>
            <a:endParaRPr lang="en-US" sz="1300" dirty="0"/>
          </a:p>
        </p:txBody>
      </p:sp>
      <p:sp>
        <p:nvSpPr>
          <p:cNvPr id="14" name="Card"/>
          <p:cNvSpPr/>
          <p:nvPr/>
        </p:nvSpPr>
        <p:spPr>
          <a:xfrm>
            <a:off x="7132320" y="3941064"/>
            <a:ext cx="4507992" cy="1033272"/>
          </a:xfrm>
          <a:prstGeom prst="roundRect">
            <a:avLst>
              <a:gd name="adj" fmla="val 8850"/>
            </a:avLst>
          </a:prstGeom>
          <a:solidFill>
            <a:schemeClr val="bg2"/>
          </a:solidFill>
          <a:ln/>
        </p:spPr>
      </p:sp>
      <p:sp>
        <p:nvSpPr>
          <p:cNvPr id="15" name="Text 11"/>
          <p:cNvSpPr txBox="1"/>
          <p:nvPr/>
        </p:nvSpPr>
        <p:spPr>
          <a:xfrm>
            <a:off x="7315200" y="4050792"/>
            <a:ext cx="4114800" cy="256032"/>
          </a:xfrm>
          <a:prstGeom prst="rect">
            <a:avLst/>
          </a:prstGeom>
          <a:noFill/>
          <a:ln/>
        </p:spPr>
        <p:txBody>
          <a:bodyPr wrap="square" lIns="0" tIns="0" rIns="0" bIns="0" rtlCol="0" anchor="t"/>
          <a:lstStyle/>
          <a:p>
            <a:pPr indent="0" marL="0">
              <a:buNone/>
            </a:pPr>
            <a:r>
              <a:rPr lang="en-US" sz="1200" b="1" dirty="0">
                <a:solidFill>
                  <a:schemeClr val="accent1"/>
                </a:solidFill>
              </a:rPr>
              <a:t>FLOW-04</a:t>
            </a:r>
            <a:endParaRPr lang="en-US" sz="1200" dirty="0"/>
          </a:p>
        </p:txBody>
      </p:sp>
      <p:sp>
        <p:nvSpPr>
          <p:cNvPr id="16" name="Text 12"/>
          <p:cNvSpPr txBox="1"/>
          <p:nvPr/>
        </p:nvSpPr>
        <p:spPr>
          <a:xfrm>
            <a:off x="7315200" y="4325112"/>
            <a:ext cx="4160520" cy="594360"/>
          </a:xfrm>
          <a:prstGeom prst="rect">
            <a:avLst/>
          </a:prstGeom>
          <a:noFill/>
          <a:ln/>
        </p:spPr>
        <p:txBody>
          <a:bodyPr wrap="square" lIns="0" tIns="0" rIns="0" bIns="0" rtlCol="0" anchor="t"/>
          <a:lstStyle/>
          <a:p>
            <a:pPr indent="0" marL="0">
              <a:buNone/>
            </a:pPr>
            <a:r>
              <a:rPr lang="en-US" sz="1300" dirty="0">
                <a:solidFill>
                  <a:schemeClr val="tx1"/>
                </a:solidFill>
              </a:rPr>
              <a:t>login: school email only; first-login admin closed after setup</a:t>
            </a:r>
            <a:endParaRPr lang="en-US" sz="1300" dirty="0"/>
          </a:p>
        </p:txBody>
      </p:sp>
      <p:sp>
        <p:nvSpPr>
          <p:cNvPr id="17" name="Card"/>
          <p:cNvSpPr/>
          <p:nvPr/>
        </p:nvSpPr>
        <p:spPr>
          <a:xfrm>
            <a:off x="7132320" y="5120640"/>
            <a:ext cx="4507992" cy="1097280"/>
          </a:xfrm>
          <a:prstGeom prst="roundRect">
            <a:avLst>
              <a:gd name="adj" fmla="val 8333"/>
            </a:avLst>
          </a:prstGeom>
          <a:solidFill>
            <a:schemeClr val="tx2"/>
          </a:solidFill>
          <a:ln/>
        </p:spPr>
      </p:sp>
      <p:sp>
        <p:nvSpPr>
          <p:cNvPr id="18" name="Text 14"/>
          <p:cNvSpPr txBox="1"/>
          <p:nvPr/>
        </p:nvSpPr>
        <p:spPr>
          <a:xfrm>
            <a:off x="7315200" y="5212080"/>
            <a:ext cx="4160520" cy="914400"/>
          </a:xfrm>
          <a:prstGeom prst="rect">
            <a:avLst/>
          </a:prstGeom>
          <a:noFill/>
          <a:ln/>
        </p:spPr>
        <p:txBody>
          <a:bodyPr wrap="square" lIns="0" tIns="0" rIns="0" bIns="0" rtlCol="0" anchor="ctr"/>
          <a:lstStyle/>
          <a:p>
            <a:pPr indent="0" marL="0">
              <a:buNone/>
            </a:pPr>
            <a:r>
              <a:rPr lang="en-US" sz="1500" b="1" dirty="0">
                <a:solidFill>
                  <a:schemeClr val="bg1"/>
                </a:solidFill>
              </a:rPr>
              <a:t>Every flow has validation, store, channel, and a written retention rule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Could Go Wrong - Risk Profile (Lab 9)</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8 risks scored Likelihood x Impact; 3 High priorities drive our findings</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Text 3"/>
          <p:cNvSpPr txBox="1"/>
          <p:nvPr/>
        </p:nvSpPr>
        <p:spPr>
          <a:xfrm>
            <a:off x="548640" y="1554480"/>
            <a:ext cx="7680960" cy="274320"/>
          </a:xfrm>
          <a:prstGeom prst="rect">
            <a:avLst/>
          </a:prstGeom>
          <a:noFill/>
          <a:ln/>
        </p:spPr>
        <p:txBody>
          <a:bodyPr wrap="square" lIns="0" tIns="0" rIns="0" bIns="0" rtlCol="0" anchor="t"/>
          <a:lstStyle/>
          <a:p>
            <a:pPr indent="0" marL="0">
              <a:buNone/>
            </a:pPr>
            <a:r>
              <a:rPr lang="en-US" sz="1300" b="1" dirty="0">
                <a:solidFill>
                  <a:schemeClr val="tx2"/>
                </a:solidFill>
              </a:rPr>
              <a:t>Residual score (Inherent x Impact, after safeguards)</a:t>
            </a:r>
            <a:endParaRPr lang="en-US" sz="1300" dirty="0"/>
          </a:p>
        </p:txBody>
      </p:sp>
      <p:graphicFrame>
        <p:nvGraphicFramePr>
          <p:cNvPr id="7" name="Chart 0" descr=""/>
          <p:cNvGraphicFramePr/>
          <p:nvPr/>
        </p:nvGraphicFramePr>
        <p:xfrm>
          <a:off x="548640" y="1828800"/>
          <a:ext cx="7680960" cy="438912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8595360" y="1600200"/>
            <a:ext cx="3044952" cy="1828800"/>
          </a:xfrm>
          <a:prstGeom prst="roundRect">
            <a:avLst>
              <a:gd name="adj" fmla="val 5000"/>
            </a:avLst>
          </a:prstGeom>
          <a:solidFill>
            <a:schemeClr val="accent3">
              <a:alpha val="10000"/>
            </a:schemeClr>
          </a:solidFill>
          <a:ln/>
        </p:spPr>
      </p:sp>
      <p:sp>
        <p:nvSpPr>
          <p:cNvPr id="9" name="Text 5"/>
          <p:cNvSpPr txBox="1"/>
          <p:nvPr/>
        </p:nvSpPr>
        <p:spPr>
          <a:xfrm>
            <a:off x="8778240" y="1691640"/>
            <a:ext cx="914400" cy="914400"/>
          </a:xfrm>
          <a:prstGeom prst="rect">
            <a:avLst/>
          </a:prstGeom>
          <a:noFill/>
          <a:ln/>
        </p:spPr>
        <p:txBody>
          <a:bodyPr wrap="square" lIns="0" tIns="0" rIns="0" bIns="0" rtlCol="0" anchor="ctr"/>
          <a:lstStyle/>
          <a:p>
            <a:pPr indent="0" marL="0">
              <a:buNone/>
            </a:pPr>
            <a:r>
              <a:rPr lang="en-US" sz="6000" b="1" dirty="0">
                <a:solidFill>
                  <a:schemeClr val="accent3"/>
                </a:solidFill>
                <a:latin typeface="Cambria" pitchFamily="34" charset="0"/>
                <a:ea typeface="Cambria" pitchFamily="34" charset="-122"/>
                <a:cs typeface="Cambria" pitchFamily="34" charset="-120"/>
              </a:rPr>
              <a:t>3</a:t>
            </a:r>
            <a:endParaRPr lang="en-US" sz="6000" dirty="0"/>
          </a:p>
        </p:txBody>
      </p:sp>
      <p:sp>
        <p:nvSpPr>
          <p:cNvPr id="10" name="Text 6"/>
          <p:cNvSpPr txBox="1"/>
          <p:nvPr/>
        </p:nvSpPr>
        <p:spPr>
          <a:xfrm>
            <a:off x="8778240" y="2606040"/>
            <a:ext cx="2697480" cy="777240"/>
          </a:xfrm>
          <a:prstGeom prst="rect">
            <a:avLst/>
          </a:prstGeom>
          <a:noFill/>
          <a:ln/>
        </p:spPr>
        <p:txBody>
          <a:bodyPr wrap="square" lIns="0" tIns="0" rIns="0" bIns="0" rtlCol="0" anchor="t"/>
          <a:lstStyle/>
          <a:p>
            <a:pPr indent="0" marL="0">
              <a:buNone/>
            </a:pPr>
            <a:r>
              <a:rPr lang="en-US" sz="1300" dirty="0">
                <a:solidFill>
                  <a:schemeClr val="tx1"/>
                </a:solidFill>
              </a:rPr>
              <a:t>High priorities: RSK-01, RSK-04, RSK-07 - they become our three findings</a:t>
            </a:r>
            <a:endParaRPr lang="en-US" sz="1300" dirty="0"/>
          </a:p>
        </p:txBody>
      </p:sp>
      <p:sp>
        <p:nvSpPr>
          <p:cNvPr id="11" name="Card"/>
          <p:cNvSpPr/>
          <p:nvPr/>
        </p:nvSpPr>
        <p:spPr>
          <a:xfrm>
            <a:off x="8595360" y="3611880"/>
            <a:ext cx="3044952" cy="2606040"/>
          </a:xfrm>
          <a:prstGeom prst="roundRect">
            <a:avLst>
              <a:gd name="adj" fmla="val 3509"/>
            </a:avLst>
          </a:prstGeom>
          <a:solidFill>
            <a:schemeClr val="bg2"/>
          </a:solidFill>
          <a:ln/>
        </p:spPr>
      </p:sp>
      <p:sp>
        <p:nvSpPr>
          <p:cNvPr id="12" name="Text 8"/>
          <p:cNvSpPr txBox="1"/>
          <p:nvPr/>
        </p:nvSpPr>
        <p:spPr>
          <a:xfrm>
            <a:off x="8778240" y="3749040"/>
            <a:ext cx="2697480" cy="2331720"/>
          </a:xfrm>
          <a:prstGeom prst="rect">
            <a:avLst/>
          </a:prstGeom>
          <a:noFill/>
          <a:ln/>
        </p:spPr>
        <p:txBody>
          <a:bodyPr wrap="square" lIns="0" tIns="0" rIns="0" bIns="0" rtlCol="0" anchor="t"/>
          <a:lstStyle/>
          <a:p>
            <a:pPr indent="0" marL="0">
              <a:buNone/>
            </a:pPr>
            <a:r>
              <a:rPr lang="en-US" sz="1300" dirty="0">
                <a:solidFill>
                  <a:schemeClr val="tx1"/>
                </a:solidFill>
              </a:rPr>
              <a:t>Residuals only drop for safeguards proven in the build (e.g., backup log proves RSK-04 impact drops 5 -&gt; 4); unmatched safeguards change nothing. Compliance base: Data Privacy Act + school access rules (CMP-01..07).</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Controls We Evaluated and What the Tests Showed (Lab 10)</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8 controls CTL-01..08; 6 tests TEST-01..06 on build BLD-04 (Oct 3) - 4 Effective, 2 Partially Effective</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ard"/>
          <p:cNvSpPr/>
          <p:nvPr/>
        </p:nvSpPr>
        <p:spPr>
          <a:xfrm>
            <a:off x="548640" y="1600200"/>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7" name="Text 4"/>
          <p:cNvSpPr txBox="1"/>
          <p:nvPr/>
        </p:nvSpPr>
        <p:spPr>
          <a:xfrm>
            <a:off x="777240" y="1737360"/>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TEST-01</a:t>
            </a:r>
            <a:endParaRPr lang="en-US" sz="1300" dirty="0"/>
          </a:p>
        </p:txBody>
      </p:sp>
      <p:sp>
        <p:nvSpPr>
          <p:cNvPr id="8" name="Pill Effective"/>
          <p:cNvSpPr/>
          <p:nvPr/>
        </p:nvSpPr>
        <p:spPr>
          <a:xfrm>
            <a:off x="4160520" y="1719072"/>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9" name="Text 6"/>
          <p:cNvSpPr txBox="1"/>
          <p:nvPr/>
        </p:nvSpPr>
        <p:spPr>
          <a:xfrm>
            <a:off x="777240" y="2075688"/>
            <a:ext cx="4937760" cy="274320"/>
          </a:xfrm>
          <a:prstGeom prst="rect">
            <a:avLst/>
          </a:prstGeom>
          <a:noFill/>
          <a:ln/>
        </p:spPr>
        <p:txBody>
          <a:bodyPr wrap="square" lIns="0" tIns="0" rIns="0" bIns="0" rtlCol="0" anchor="t"/>
          <a:lstStyle/>
          <a:p>
            <a:pPr indent="0" marL="0">
              <a:buNone/>
            </a:pPr>
            <a:r>
              <a:rPr lang="en-US" sz="1400" dirty="0">
                <a:solidFill>
                  <a:schemeClr val="tx1"/>
                </a:solidFill>
              </a:rPr>
              <a:t>Wrong-role entry on 10 pages</a:t>
            </a:r>
            <a:endParaRPr lang="en-US" sz="1400" dirty="0"/>
          </a:p>
        </p:txBody>
      </p:sp>
      <p:sp>
        <p:nvSpPr>
          <p:cNvPr id="10" name="Text 7"/>
          <p:cNvSpPr txBox="1"/>
          <p:nvPr/>
        </p:nvSpPr>
        <p:spPr>
          <a:xfrm>
            <a:off x="777240" y="2377440"/>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10 / 10 blocked - 0 exceptions</a:t>
            </a:r>
            <a:endParaRPr lang="en-US" sz="1500" dirty="0"/>
          </a:p>
        </p:txBody>
      </p:sp>
      <p:sp>
        <p:nvSpPr>
          <p:cNvPr id="11" name="Card"/>
          <p:cNvSpPr/>
          <p:nvPr/>
        </p:nvSpPr>
        <p:spPr>
          <a:xfrm>
            <a:off x="6217920" y="1600200"/>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12" name="Text 9"/>
          <p:cNvSpPr txBox="1"/>
          <p:nvPr/>
        </p:nvSpPr>
        <p:spPr>
          <a:xfrm>
            <a:off x="6446520" y="1737360"/>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TEST-02</a:t>
            </a:r>
            <a:endParaRPr lang="en-US" sz="1300" dirty="0"/>
          </a:p>
        </p:txBody>
      </p:sp>
      <p:sp>
        <p:nvSpPr>
          <p:cNvPr id="13" name="Pill Effective"/>
          <p:cNvSpPr/>
          <p:nvPr/>
        </p:nvSpPr>
        <p:spPr>
          <a:xfrm>
            <a:off x="9829800" y="1719072"/>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14" name="Text 11"/>
          <p:cNvSpPr txBox="1"/>
          <p:nvPr/>
        </p:nvSpPr>
        <p:spPr>
          <a:xfrm>
            <a:off x="6446520" y="2075688"/>
            <a:ext cx="4937760" cy="274320"/>
          </a:xfrm>
          <a:prstGeom prst="rect">
            <a:avLst/>
          </a:prstGeom>
          <a:noFill/>
          <a:ln/>
        </p:spPr>
        <p:txBody>
          <a:bodyPr wrap="square" lIns="0" tIns="0" rIns="0" bIns="0" rtlCol="0" anchor="t"/>
          <a:lstStyle/>
          <a:p>
            <a:pPr indent="0" marL="0">
              <a:buNone/>
            </a:pPr>
            <a:r>
              <a:rPr lang="en-US" sz="1400" dirty="0">
                <a:solidFill>
                  <a:schemeClr val="tx1"/>
                </a:solidFill>
              </a:rPr>
              <a:t>CSV upload with 2 bad rows</a:t>
            </a:r>
            <a:endParaRPr lang="en-US" sz="1400" dirty="0"/>
          </a:p>
        </p:txBody>
      </p:sp>
      <p:sp>
        <p:nvSpPr>
          <p:cNvPr id="15" name="Text 12"/>
          <p:cNvSpPr txBox="1"/>
          <p:nvPr/>
        </p:nvSpPr>
        <p:spPr>
          <a:xfrm>
            <a:off x="6446520" y="2377440"/>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6 added, 2 skipped + logged</a:t>
            </a:r>
            <a:endParaRPr lang="en-US" sz="1500" dirty="0"/>
          </a:p>
        </p:txBody>
      </p:sp>
      <p:sp>
        <p:nvSpPr>
          <p:cNvPr id="16" name="Card"/>
          <p:cNvSpPr/>
          <p:nvPr/>
        </p:nvSpPr>
        <p:spPr>
          <a:xfrm>
            <a:off x="548640" y="2898648"/>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17" name="Text 14"/>
          <p:cNvSpPr txBox="1"/>
          <p:nvPr/>
        </p:nvSpPr>
        <p:spPr>
          <a:xfrm>
            <a:off x="777240" y="3035808"/>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TEST-03</a:t>
            </a:r>
            <a:endParaRPr lang="en-US" sz="1300" dirty="0"/>
          </a:p>
        </p:txBody>
      </p:sp>
      <p:sp>
        <p:nvSpPr>
          <p:cNvPr id="18" name="Pill Effective"/>
          <p:cNvSpPr/>
          <p:nvPr/>
        </p:nvSpPr>
        <p:spPr>
          <a:xfrm>
            <a:off x="4160520" y="3017520"/>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19" name="Text 16"/>
          <p:cNvSpPr txBox="1"/>
          <p:nvPr/>
        </p:nvSpPr>
        <p:spPr>
          <a:xfrm>
            <a:off x="777240" y="3374136"/>
            <a:ext cx="4937760" cy="274320"/>
          </a:xfrm>
          <a:prstGeom prst="rect">
            <a:avLst/>
          </a:prstGeom>
          <a:noFill/>
          <a:ln/>
        </p:spPr>
        <p:txBody>
          <a:bodyPr wrap="square" lIns="0" tIns="0" rIns="0" bIns="0" rtlCol="0" anchor="t"/>
          <a:lstStyle/>
          <a:p>
            <a:pPr indent="0" marL="0">
              <a:buNone/>
            </a:pPr>
            <a:r>
              <a:rPr lang="en-US" sz="1400" dirty="0">
                <a:solidFill>
                  <a:schemeClr val="tx1"/>
                </a:solidFill>
              </a:rPr>
              <a:t>Borrow -&gt; return -&gt; fine cycle</a:t>
            </a:r>
            <a:endParaRPr lang="en-US" sz="1400" dirty="0"/>
          </a:p>
        </p:txBody>
      </p:sp>
      <p:sp>
        <p:nvSpPr>
          <p:cNvPr id="20" name="Text 17"/>
          <p:cNvSpPr txBox="1"/>
          <p:nvPr/>
        </p:nvSpPr>
        <p:spPr>
          <a:xfrm>
            <a:off x="777240" y="3675888"/>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Fine matched + 3 log rows</a:t>
            </a:r>
            <a:endParaRPr lang="en-US" sz="1500" dirty="0"/>
          </a:p>
        </p:txBody>
      </p:sp>
      <p:sp>
        <p:nvSpPr>
          <p:cNvPr id="21" name="Card"/>
          <p:cNvSpPr/>
          <p:nvPr/>
        </p:nvSpPr>
        <p:spPr>
          <a:xfrm>
            <a:off x="6217920" y="2898648"/>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22" name="Text 19"/>
          <p:cNvSpPr txBox="1"/>
          <p:nvPr/>
        </p:nvSpPr>
        <p:spPr>
          <a:xfrm>
            <a:off x="6446520" y="3035808"/>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TEST-04</a:t>
            </a:r>
            <a:endParaRPr lang="en-US" sz="1300" dirty="0"/>
          </a:p>
        </p:txBody>
      </p:sp>
      <p:sp>
        <p:nvSpPr>
          <p:cNvPr id="23" name="Pill Effective"/>
          <p:cNvSpPr/>
          <p:nvPr/>
        </p:nvSpPr>
        <p:spPr>
          <a:xfrm>
            <a:off x="9829800" y="3017520"/>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24" name="Text 21"/>
          <p:cNvSpPr txBox="1"/>
          <p:nvPr/>
        </p:nvSpPr>
        <p:spPr>
          <a:xfrm>
            <a:off x="6446520" y="3374136"/>
            <a:ext cx="4937760" cy="274320"/>
          </a:xfrm>
          <a:prstGeom prst="rect">
            <a:avLst/>
          </a:prstGeom>
          <a:noFill/>
          <a:ln/>
        </p:spPr>
        <p:txBody>
          <a:bodyPr wrap="square" lIns="0" tIns="0" rIns="0" bIns="0" rtlCol="0" anchor="t"/>
          <a:lstStyle/>
          <a:p>
            <a:pPr indent="0" marL="0">
              <a:buNone/>
            </a:pPr>
            <a:r>
              <a:rPr lang="en-US" sz="1400" dirty="0">
                <a:solidFill>
                  <a:schemeClr val="tx1"/>
                </a:solidFill>
              </a:rPr>
              <a:t>Delete active vs archived book</a:t>
            </a:r>
            <a:endParaRPr lang="en-US" sz="1400" dirty="0"/>
          </a:p>
        </p:txBody>
      </p:sp>
      <p:sp>
        <p:nvSpPr>
          <p:cNvPr id="25" name="Text 22"/>
          <p:cNvSpPr txBox="1"/>
          <p:nvPr/>
        </p:nvSpPr>
        <p:spPr>
          <a:xfrm>
            <a:off x="6446520" y="3675888"/>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Active refused; archived allowed</a:t>
            </a:r>
            <a:endParaRPr lang="en-US" sz="1500" dirty="0"/>
          </a:p>
        </p:txBody>
      </p:sp>
      <p:sp>
        <p:nvSpPr>
          <p:cNvPr id="26" name="Card"/>
          <p:cNvSpPr/>
          <p:nvPr/>
        </p:nvSpPr>
        <p:spPr>
          <a:xfrm>
            <a:off x="548640" y="4197096"/>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27" name="Text 24"/>
          <p:cNvSpPr txBox="1"/>
          <p:nvPr/>
        </p:nvSpPr>
        <p:spPr>
          <a:xfrm>
            <a:off x="777240" y="4334256"/>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TEST-05</a:t>
            </a:r>
            <a:endParaRPr lang="en-US" sz="1300" dirty="0"/>
          </a:p>
        </p:txBody>
      </p:sp>
      <p:sp>
        <p:nvSpPr>
          <p:cNvPr id="28" name="Pill Partially Effective"/>
          <p:cNvSpPr/>
          <p:nvPr/>
        </p:nvSpPr>
        <p:spPr>
          <a:xfrm>
            <a:off x="4160520" y="4315968"/>
            <a:ext cx="155448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bg1"/>
                </a:solidFill>
              </a:rPr>
              <a:t>Partially Effective</a:t>
            </a:r>
            <a:endParaRPr lang="en-US" sz="1100" dirty="0"/>
          </a:p>
        </p:txBody>
      </p:sp>
      <p:sp>
        <p:nvSpPr>
          <p:cNvPr id="29" name="Text 26"/>
          <p:cNvSpPr txBox="1"/>
          <p:nvPr/>
        </p:nvSpPr>
        <p:spPr>
          <a:xfrm>
            <a:off x="777240" y="4672584"/>
            <a:ext cx="4937760" cy="274320"/>
          </a:xfrm>
          <a:prstGeom prst="rect">
            <a:avLst/>
          </a:prstGeom>
          <a:noFill/>
          <a:ln/>
        </p:spPr>
        <p:txBody>
          <a:bodyPr wrap="square" lIns="0" tIns="0" rIns="0" bIns="0" rtlCol="0" anchor="t"/>
          <a:lstStyle/>
          <a:p>
            <a:pPr indent="0" marL="0">
              <a:buNone/>
            </a:pPr>
            <a:r>
              <a:rPr lang="en-US" sz="1400" dirty="0">
                <a:solidFill>
                  <a:schemeClr val="tx1"/>
                </a:solidFill>
              </a:rPr>
              <a:t>Backup log Sep-Oct (14 runs)</a:t>
            </a:r>
            <a:endParaRPr lang="en-US" sz="1400" dirty="0"/>
          </a:p>
        </p:txBody>
      </p:sp>
      <p:sp>
        <p:nvSpPr>
          <p:cNvPr id="30" name="Text 27"/>
          <p:cNvSpPr txBox="1"/>
          <p:nvPr/>
        </p:nvSpPr>
        <p:spPr>
          <a:xfrm>
            <a:off x="777240" y="4974336"/>
            <a:ext cx="4937760" cy="274320"/>
          </a:xfrm>
          <a:prstGeom prst="rect">
            <a:avLst/>
          </a:prstGeom>
          <a:noFill/>
          <a:ln/>
        </p:spPr>
        <p:txBody>
          <a:bodyPr wrap="square" lIns="0" tIns="0" rIns="0" bIns="0" rtlCol="0" anchor="t"/>
          <a:lstStyle/>
          <a:p>
            <a:pPr indent="0" marL="0">
              <a:buNone/>
            </a:pPr>
            <a:r>
              <a:rPr lang="en-US" sz="1500" b="1" dirty="0">
                <a:solidFill>
                  <a:schemeClr val="accent5"/>
                </a:solidFill>
              </a:rPr>
              <a:t>14/14 logged - NO restore proof</a:t>
            </a:r>
            <a:endParaRPr lang="en-US" sz="1500" dirty="0"/>
          </a:p>
        </p:txBody>
      </p:sp>
      <p:sp>
        <p:nvSpPr>
          <p:cNvPr id="31" name="Card"/>
          <p:cNvSpPr/>
          <p:nvPr/>
        </p:nvSpPr>
        <p:spPr>
          <a:xfrm>
            <a:off x="6217920" y="4197096"/>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32" name="Text 29"/>
          <p:cNvSpPr txBox="1"/>
          <p:nvPr/>
        </p:nvSpPr>
        <p:spPr>
          <a:xfrm>
            <a:off x="6446520" y="4334256"/>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TEST-06</a:t>
            </a:r>
            <a:endParaRPr lang="en-US" sz="1300" dirty="0"/>
          </a:p>
        </p:txBody>
      </p:sp>
      <p:sp>
        <p:nvSpPr>
          <p:cNvPr id="33" name="Pill Partially Effective"/>
          <p:cNvSpPr/>
          <p:nvPr/>
        </p:nvSpPr>
        <p:spPr>
          <a:xfrm>
            <a:off x="9829800" y="4315968"/>
            <a:ext cx="155448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bg1"/>
                </a:solidFill>
              </a:rPr>
              <a:t>Partially Effective</a:t>
            </a:r>
            <a:endParaRPr lang="en-US" sz="1100" dirty="0"/>
          </a:p>
        </p:txBody>
      </p:sp>
      <p:sp>
        <p:nvSpPr>
          <p:cNvPr id="34" name="Text 31"/>
          <p:cNvSpPr txBox="1"/>
          <p:nvPr/>
        </p:nvSpPr>
        <p:spPr>
          <a:xfrm>
            <a:off x="6446520" y="4672584"/>
            <a:ext cx="4937760" cy="274320"/>
          </a:xfrm>
          <a:prstGeom prst="rect">
            <a:avLst/>
          </a:prstGeom>
          <a:noFill/>
          <a:ln/>
        </p:spPr>
        <p:txBody>
          <a:bodyPr wrap="square" lIns="0" tIns="0" rIns="0" bIns="0" rtlCol="0" anchor="t"/>
          <a:lstStyle/>
          <a:p>
            <a:pPr indent="0" marL="0">
              <a:buNone/>
            </a:pPr>
            <a:r>
              <a:rPr lang="en-US" sz="1400" dirty="0">
                <a:solidFill>
                  <a:schemeClr val="tx1"/>
                </a:solidFill>
              </a:rPr>
              <a:t>Settings change + log</a:t>
            </a:r>
            <a:endParaRPr lang="en-US" sz="1400" dirty="0"/>
          </a:p>
        </p:txBody>
      </p:sp>
      <p:sp>
        <p:nvSpPr>
          <p:cNvPr id="35" name="Text 32"/>
          <p:cNvSpPr txBox="1"/>
          <p:nvPr/>
        </p:nvSpPr>
        <p:spPr>
          <a:xfrm>
            <a:off x="6446520" y="4974336"/>
            <a:ext cx="4937760" cy="274320"/>
          </a:xfrm>
          <a:prstGeom prst="rect">
            <a:avLst/>
          </a:prstGeom>
          <a:noFill/>
          <a:ln/>
        </p:spPr>
        <p:txBody>
          <a:bodyPr wrap="square" lIns="0" tIns="0" rIns="0" bIns="0" rtlCol="0" anchor="t"/>
          <a:lstStyle/>
          <a:p>
            <a:pPr indent="0" marL="0">
              <a:buNone/>
            </a:pPr>
            <a:r>
              <a:rPr lang="en-US" sz="1500" b="1" dirty="0">
                <a:solidFill>
                  <a:schemeClr val="accent5"/>
                </a:solidFill>
              </a:rPr>
              <a:t>Logged with name - no approval step</a:t>
            </a:r>
            <a:endParaRPr lang="en-US" sz="1500" dirty="0"/>
          </a:p>
        </p:txBody>
      </p:sp>
      <p:sp>
        <p:nvSpPr>
          <p:cNvPr id="36" name="Card"/>
          <p:cNvSpPr/>
          <p:nvPr/>
        </p:nvSpPr>
        <p:spPr>
          <a:xfrm>
            <a:off x="548640" y="5532120"/>
            <a:ext cx="11094415" cy="731520"/>
          </a:xfrm>
          <a:prstGeom prst="roundRect">
            <a:avLst>
              <a:gd name="adj" fmla="val 12500"/>
            </a:avLst>
          </a:prstGeom>
          <a:solidFill>
            <a:schemeClr val="tx2"/>
          </a:solidFill>
          <a:ln/>
        </p:spPr>
      </p:sp>
      <p:sp>
        <p:nvSpPr>
          <p:cNvPr id="37" name="Text 34"/>
          <p:cNvSpPr txBox="1"/>
          <p:nvPr/>
        </p:nvSpPr>
        <p:spPr>
          <a:xfrm>
            <a:off x="822960" y="5577840"/>
            <a:ext cx="10545775" cy="640080"/>
          </a:xfrm>
          <a:prstGeom prst="rect">
            <a:avLst/>
          </a:prstGeom>
          <a:noFill/>
          <a:ln/>
        </p:spPr>
        <p:txBody>
          <a:bodyPr wrap="square" lIns="0" tIns="0" rIns="0" bIns="0" rtlCol="0" anchor="ctr"/>
          <a:lstStyle/>
          <a:p>
            <a:pPr indent="0" marL="0">
              <a:buNone/>
            </a:pPr>
            <a:r>
              <a:rPr lang="en-US" sz="1300" dirty="0">
                <a:solidFill>
                  <a:schemeClr val="bg1"/>
                </a:solidFill>
              </a:rPr>
              <a:t>All 6 tests: real procedures on the demo build, full populations where small (10 pages, 14 log rows, whole files); evidence EVD-12-01..05 saved clean.</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Key Findings - Three High Items</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From Lab 11 screening: 5 candidates -&gt; 3 formal findings + 1 observation + 1 close (evidence-checked)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Candidate FC-01"/>
          <p:cNvSpPr/>
          <p:nvPr/>
        </p:nvSpPr>
        <p:spPr>
          <a:xfrm>
            <a:off x="548640" y="1645920"/>
            <a:ext cx="2103120" cy="731520"/>
          </a:xfrm>
          <a:prstGeom prst="roundRect">
            <a:avLst>
              <a:gd name="adj" fmla="val 12500"/>
            </a:avLst>
          </a:prstGeom>
          <a:solidFill>
            <a:schemeClr val="accent3">
              <a:alpha val="12000"/>
            </a:schemeClr>
          </a:solidFill>
          <a:ln w="12700">
            <a:solidFill>
              <a:schemeClr val="accent3"/>
            </a:solidFill>
            <a:prstDash val="solid"/>
          </a:ln>
        </p:spPr>
      </p:sp>
      <p:sp>
        <p:nvSpPr>
          <p:cNvPr id="7" name="Text 4"/>
          <p:cNvSpPr txBox="1"/>
          <p:nvPr/>
        </p:nvSpPr>
        <p:spPr>
          <a:xfrm>
            <a:off x="685800" y="1719072"/>
            <a:ext cx="1828800" cy="274320"/>
          </a:xfrm>
          <a:prstGeom prst="rect">
            <a:avLst/>
          </a:prstGeom>
          <a:noFill/>
          <a:ln/>
        </p:spPr>
        <p:txBody>
          <a:bodyPr wrap="square" lIns="0" tIns="0" rIns="0" bIns="0" rtlCol="0" anchor="t"/>
          <a:lstStyle/>
          <a:p>
            <a:pPr indent="0" marL="0">
              <a:buNone/>
            </a:pPr>
            <a:r>
              <a:rPr lang="en-US" sz="1300" b="1" dirty="0">
                <a:solidFill>
                  <a:schemeClr val="accent3"/>
                </a:solidFill>
              </a:rPr>
              <a:t>FC-01</a:t>
            </a:r>
            <a:endParaRPr lang="en-US" sz="1300" dirty="0"/>
          </a:p>
        </p:txBody>
      </p:sp>
      <p:sp>
        <p:nvSpPr>
          <p:cNvPr id="8" name="Text 5"/>
          <p:cNvSpPr txBox="1"/>
          <p:nvPr/>
        </p:nvSpPr>
        <p:spPr>
          <a:xfrm>
            <a:off x="685800"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Finding -&gt; FND-01</a:t>
            </a:r>
            <a:endParaRPr lang="en-US" sz="1200" dirty="0"/>
          </a:p>
        </p:txBody>
      </p:sp>
      <p:sp>
        <p:nvSpPr>
          <p:cNvPr id="9" name="Candidate FC-02"/>
          <p:cNvSpPr/>
          <p:nvPr/>
        </p:nvSpPr>
        <p:spPr>
          <a:xfrm>
            <a:off x="2795778" y="1645920"/>
            <a:ext cx="2103120" cy="731520"/>
          </a:xfrm>
          <a:prstGeom prst="roundRect">
            <a:avLst>
              <a:gd name="adj" fmla="val 12500"/>
            </a:avLst>
          </a:prstGeom>
          <a:solidFill>
            <a:schemeClr val="accent3">
              <a:alpha val="12000"/>
            </a:schemeClr>
          </a:solidFill>
          <a:ln w="12700">
            <a:solidFill>
              <a:schemeClr val="accent3"/>
            </a:solidFill>
            <a:prstDash val="solid"/>
          </a:ln>
        </p:spPr>
      </p:sp>
      <p:sp>
        <p:nvSpPr>
          <p:cNvPr id="10" name="Text 7"/>
          <p:cNvSpPr txBox="1"/>
          <p:nvPr/>
        </p:nvSpPr>
        <p:spPr>
          <a:xfrm>
            <a:off x="2932938" y="1719072"/>
            <a:ext cx="1828800" cy="274320"/>
          </a:xfrm>
          <a:prstGeom prst="rect">
            <a:avLst/>
          </a:prstGeom>
          <a:noFill/>
          <a:ln/>
        </p:spPr>
        <p:txBody>
          <a:bodyPr wrap="square" lIns="0" tIns="0" rIns="0" bIns="0" rtlCol="0" anchor="t"/>
          <a:lstStyle/>
          <a:p>
            <a:pPr indent="0" marL="0">
              <a:buNone/>
            </a:pPr>
            <a:r>
              <a:rPr lang="en-US" sz="1300" b="1" dirty="0">
                <a:solidFill>
                  <a:schemeClr val="accent3"/>
                </a:solidFill>
              </a:rPr>
              <a:t>FC-02</a:t>
            </a:r>
            <a:endParaRPr lang="en-US" sz="1300" dirty="0"/>
          </a:p>
        </p:txBody>
      </p:sp>
      <p:sp>
        <p:nvSpPr>
          <p:cNvPr id="11" name="Text 8"/>
          <p:cNvSpPr txBox="1"/>
          <p:nvPr/>
        </p:nvSpPr>
        <p:spPr>
          <a:xfrm>
            <a:off x="2932938"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Finding -&gt; FND-02</a:t>
            </a:r>
            <a:endParaRPr lang="en-US" sz="1200" dirty="0"/>
          </a:p>
        </p:txBody>
      </p:sp>
      <p:sp>
        <p:nvSpPr>
          <p:cNvPr id="12" name="Candidate FC-03"/>
          <p:cNvSpPr/>
          <p:nvPr/>
        </p:nvSpPr>
        <p:spPr>
          <a:xfrm>
            <a:off x="5042916" y="1645920"/>
            <a:ext cx="2103120" cy="731520"/>
          </a:xfrm>
          <a:prstGeom prst="roundRect">
            <a:avLst>
              <a:gd name="adj" fmla="val 12500"/>
            </a:avLst>
          </a:prstGeom>
          <a:solidFill>
            <a:schemeClr val="accent5">
              <a:alpha val="12000"/>
            </a:schemeClr>
          </a:solidFill>
          <a:ln w="12700">
            <a:solidFill>
              <a:schemeClr val="accent5"/>
            </a:solidFill>
            <a:prstDash val="solid"/>
          </a:ln>
        </p:spPr>
      </p:sp>
      <p:sp>
        <p:nvSpPr>
          <p:cNvPr id="13" name="Text 10"/>
          <p:cNvSpPr txBox="1"/>
          <p:nvPr/>
        </p:nvSpPr>
        <p:spPr>
          <a:xfrm>
            <a:off x="5180076" y="1719072"/>
            <a:ext cx="1828800" cy="274320"/>
          </a:xfrm>
          <a:prstGeom prst="rect">
            <a:avLst/>
          </a:prstGeom>
          <a:noFill/>
          <a:ln/>
        </p:spPr>
        <p:txBody>
          <a:bodyPr wrap="square" lIns="0" tIns="0" rIns="0" bIns="0" rtlCol="0" anchor="t"/>
          <a:lstStyle/>
          <a:p>
            <a:pPr indent="0" marL="0">
              <a:buNone/>
            </a:pPr>
            <a:r>
              <a:rPr lang="en-US" sz="1300" b="1" dirty="0">
                <a:solidFill>
                  <a:schemeClr val="accent5"/>
                </a:solidFill>
              </a:rPr>
              <a:t>FC-03</a:t>
            </a:r>
            <a:endParaRPr lang="en-US" sz="1300" dirty="0"/>
          </a:p>
        </p:txBody>
      </p:sp>
      <p:sp>
        <p:nvSpPr>
          <p:cNvPr id="14" name="Text 11"/>
          <p:cNvSpPr txBox="1"/>
          <p:nvPr/>
        </p:nvSpPr>
        <p:spPr>
          <a:xfrm>
            <a:off x="5180076"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Observation (OBS-01)</a:t>
            </a:r>
            <a:endParaRPr lang="en-US" sz="1200" dirty="0"/>
          </a:p>
        </p:txBody>
      </p:sp>
      <p:sp>
        <p:nvSpPr>
          <p:cNvPr id="15" name="Candidate FC-04"/>
          <p:cNvSpPr/>
          <p:nvPr/>
        </p:nvSpPr>
        <p:spPr>
          <a:xfrm>
            <a:off x="7290054" y="1645920"/>
            <a:ext cx="2103120" cy="731520"/>
          </a:xfrm>
          <a:prstGeom prst="roundRect">
            <a:avLst>
              <a:gd name="adj" fmla="val 12500"/>
            </a:avLst>
          </a:prstGeom>
          <a:solidFill>
            <a:schemeClr val="accent3">
              <a:alpha val="12000"/>
            </a:schemeClr>
          </a:solidFill>
          <a:ln w="12700">
            <a:solidFill>
              <a:schemeClr val="accent3"/>
            </a:solidFill>
            <a:prstDash val="solid"/>
          </a:ln>
        </p:spPr>
      </p:sp>
      <p:sp>
        <p:nvSpPr>
          <p:cNvPr id="16" name="Text 13"/>
          <p:cNvSpPr txBox="1"/>
          <p:nvPr/>
        </p:nvSpPr>
        <p:spPr>
          <a:xfrm>
            <a:off x="7427214" y="1719072"/>
            <a:ext cx="1828800" cy="274320"/>
          </a:xfrm>
          <a:prstGeom prst="rect">
            <a:avLst/>
          </a:prstGeom>
          <a:noFill/>
          <a:ln/>
        </p:spPr>
        <p:txBody>
          <a:bodyPr wrap="square" lIns="0" tIns="0" rIns="0" bIns="0" rtlCol="0" anchor="t"/>
          <a:lstStyle/>
          <a:p>
            <a:pPr indent="0" marL="0">
              <a:buNone/>
            </a:pPr>
            <a:r>
              <a:rPr lang="en-US" sz="1300" b="1" dirty="0">
                <a:solidFill>
                  <a:schemeClr val="accent3"/>
                </a:solidFill>
              </a:rPr>
              <a:t>FC-04</a:t>
            </a:r>
            <a:endParaRPr lang="en-US" sz="1300" dirty="0"/>
          </a:p>
        </p:txBody>
      </p:sp>
      <p:sp>
        <p:nvSpPr>
          <p:cNvPr id="17" name="Text 14"/>
          <p:cNvSpPr txBox="1"/>
          <p:nvPr/>
        </p:nvSpPr>
        <p:spPr>
          <a:xfrm>
            <a:off x="7427214"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Finding -&gt; FND-03</a:t>
            </a:r>
            <a:endParaRPr lang="en-US" sz="1200" dirty="0"/>
          </a:p>
        </p:txBody>
      </p:sp>
      <p:sp>
        <p:nvSpPr>
          <p:cNvPr id="18" name="Candidate FC-05"/>
          <p:cNvSpPr/>
          <p:nvPr/>
        </p:nvSpPr>
        <p:spPr>
          <a:xfrm>
            <a:off x="9537192" y="1645920"/>
            <a:ext cx="2103120" cy="731520"/>
          </a:xfrm>
          <a:prstGeom prst="roundRect">
            <a:avLst>
              <a:gd name="adj" fmla="val 12500"/>
            </a:avLst>
          </a:prstGeom>
          <a:solidFill>
            <a:schemeClr val="accent4">
              <a:alpha val="12000"/>
            </a:schemeClr>
          </a:solidFill>
          <a:ln w="12700">
            <a:solidFill>
              <a:schemeClr val="accent4"/>
            </a:solidFill>
            <a:prstDash val="solid"/>
          </a:ln>
        </p:spPr>
      </p:sp>
      <p:sp>
        <p:nvSpPr>
          <p:cNvPr id="19" name="Text 16"/>
          <p:cNvSpPr txBox="1"/>
          <p:nvPr/>
        </p:nvSpPr>
        <p:spPr>
          <a:xfrm>
            <a:off x="9674352" y="1719072"/>
            <a:ext cx="1828800" cy="274320"/>
          </a:xfrm>
          <a:prstGeom prst="rect">
            <a:avLst/>
          </a:prstGeom>
          <a:noFill/>
          <a:ln/>
        </p:spPr>
        <p:txBody>
          <a:bodyPr wrap="square" lIns="0" tIns="0" rIns="0" bIns="0" rtlCol="0" anchor="t"/>
          <a:lstStyle/>
          <a:p>
            <a:pPr indent="0" marL="0">
              <a:buNone/>
            </a:pPr>
            <a:r>
              <a:rPr lang="en-US" sz="1300" b="1" dirty="0">
                <a:solidFill>
                  <a:schemeClr val="accent4"/>
                </a:solidFill>
              </a:rPr>
              <a:t>FC-05</a:t>
            </a:r>
            <a:endParaRPr lang="en-US" sz="1300" dirty="0"/>
          </a:p>
        </p:txBody>
      </p:sp>
      <p:sp>
        <p:nvSpPr>
          <p:cNvPr id="20" name="Text 17"/>
          <p:cNvSpPr txBox="1"/>
          <p:nvPr/>
        </p:nvSpPr>
        <p:spPr>
          <a:xfrm>
            <a:off x="9674352"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Close (compensated)</a:t>
            </a:r>
            <a:endParaRPr lang="en-US" sz="1200" dirty="0"/>
          </a:p>
        </p:txBody>
      </p:sp>
      <p:sp>
        <p:nvSpPr>
          <p:cNvPr id="21" name="Card"/>
          <p:cNvSpPr/>
          <p:nvPr/>
        </p:nvSpPr>
        <p:spPr>
          <a:xfrm>
            <a:off x="548640" y="2743200"/>
            <a:ext cx="3520440" cy="2377440"/>
          </a:xfrm>
          <a:prstGeom prst="roundRect">
            <a:avLst>
              <a:gd name="adj" fmla="val 3846"/>
            </a:avLst>
          </a:prstGeom>
          <a:solidFill>
            <a:schemeClr val="bg2"/>
          </a:solidFill>
          <a:ln/>
          <a:effectLst>
            <a:outerShdw sx="100000" sy="100000" kx="0" ky="0" algn="bl" rotWithShape="0" blurRad="101600" dist="25400" dir="5400000">
              <a:srgbClr val="14232E">
                <a:alpha val="12000"/>
              </a:srgbClr>
            </a:outerShdw>
          </a:effectLst>
        </p:spPr>
      </p:sp>
      <p:sp>
        <p:nvSpPr>
          <p:cNvPr id="22" name="Text 19"/>
          <p:cNvSpPr txBox="1"/>
          <p:nvPr/>
        </p:nvSpPr>
        <p:spPr>
          <a:xfrm>
            <a:off x="822960" y="3017520"/>
            <a:ext cx="18288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FND-01</a:t>
            </a:r>
            <a:endParaRPr lang="en-US" sz="2800" dirty="0"/>
          </a:p>
        </p:txBody>
      </p:sp>
      <p:sp>
        <p:nvSpPr>
          <p:cNvPr id="23" name="Pill HIGH"/>
          <p:cNvSpPr/>
          <p:nvPr/>
        </p:nvSpPr>
        <p:spPr>
          <a:xfrm>
            <a:off x="2926080" y="3090672"/>
            <a:ext cx="86868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24" name="Text 21"/>
          <p:cNvSpPr txBox="1"/>
          <p:nvPr/>
        </p:nvSpPr>
        <p:spPr>
          <a:xfrm>
            <a:off x="822960" y="3703320"/>
            <a:ext cx="2971800" cy="1234440"/>
          </a:xfrm>
          <a:prstGeom prst="rect">
            <a:avLst/>
          </a:prstGeom>
          <a:noFill/>
          <a:ln/>
        </p:spPr>
        <p:txBody>
          <a:bodyPr wrap="square" lIns="0" tIns="0" rIns="0" bIns="0" rtlCol="0" anchor="t"/>
          <a:lstStyle/>
          <a:p>
            <a:pPr indent="0" marL="0">
              <a:buNone/>
            </a:pPr>
            <a:r>
              <a:rPr lang="en-US" sz="1700" b="1" dirty="0">
                <a:solidFill>
                  <a:schemeClr val="tx1"/>
                </a:solidFill>
              </a:rPr>
              <a:t>Staff Login Without Second Check Allows Full Account Takeover</a:t>
            </a:r>
            <a:endParaRPr lang="en-US" sz="1700" dirty="0"/>
          </a:p>
        </p:txBody>
      </p:sp>
      <p:sp>
        <p:nvSpPr>
          <p:cNvPr id="25" name="Card"/>
          <p:cNvSpPr/>
          <p:nvPr/>
        </p:nvSpPr>
        <p:spPr>
          <a:xfrm>
            <a:off x="4366260" y="2743200"/>
            <a:ext cx="3520440" cy="2377440"/>
          </a:xfrm>
          <a:prstGeom prst="roundRect">
            <a:avLst>
              <a:gd name="adj" fmla="val 3846"/>
            </a:avLst>
          </a:prstGeom>
          <a:solidFill>
            <a:schemeClr val="bg2"/>
          </a:solidFill>
          <a:ln/>
          <a:effectLst>
            <a:outerShdw sx="100000" sy="100000" kx="0" ky="0" algn="bl" rotWithShape="0" blurRad="101600" dist="25400" dir="5400000">
              <a:srgbClr val="14232E">
                <a:alpha val="12000"/>
              </a:srgbClr>
            </a:outerShdw>
          </a:effectLst>
        </p:spPr>
      </p:sp>
      <p:sp>
        <p:nvSpPr>
          <p:cNvPr id="26" name="Text 23"/>
          <p:cNvSpPr txBox="1"/>
          <p:nvPr/>
        </p:nvSpPr>
        <p:spPr>
          <a:xfrm>
            <a:off x="4640580" y="3017520"/>
            <a:ext cx="18288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FND-02</a:t>
            </a:r>
            <a:endParaRPr lang="en-US" sz="2800" dirty="0"/>
          </a:p>
        </p:txBody>
      </p:sp>
      <p:sp>
        <p:nvSpPr>
          <p:cNvPr id="27" name="Pill HIGH"/>
          <p:cNvSpPr/>
          <p:nvPr/>
        </p:nvSpPr>
        <p:spPr>
          <a:xfrm>
            <a:off x="6743700" y="3090672"/>
            <a:ext cx="86868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28" name="Text 25"/>
          <p:cNvSpPr txBox="1"/>
          <p:nvPr/>
        </p:nvSpPr>
        <p:spPr>
          <a:xfrm>
            <a:off x="4640580" y="3703320"/>
            <a:ext cx="2971800" cy="1234440"/>
          </a:xfrm>
          <a:prstGeom prst="rect">
            <a:avLst/>
          </a:prstGeom>
          <a:noFill/>
          <a:ln/>
        </p:spPr>
        <p:txBody>
          <a:bodyPr wrap="square" lIns="0" tIns="0" rIns="0" bIns="0" rtlCol="0" anchor="t"/>
          <a:lstStyle/>
          <a:p>
            <a:pPr indent="0" marL="0">
              <a:buNone/>
            </a:pPr>
            <a:r>
              <a:rPr lang="en-US" sz="1700" b="1" dirty="0">
                <a:solidFill>
                  <a:schemeClr val="tx1"/>
                </a:solidFill>
              </a:rPr>
              <a:t>Restore Never Tested, So Recovery Is Unproven</a:t>
            </a:r>
            <a:endParaRPr lang="en-US" sz="1700" dirty="0"/>
          </a:p>
        </p:txBody>
      </p:sp>
      <p:sp>
        <p:nvSpPr>
          <p:cNvPr id="29" name="Card"/>
          <p:cNvSpPr/>
          <p:nvPr/>
        </p:nvSpPr>
        <p:spPr>
          <a:xfrm>
            <a:off x="8183880" y="2743200"/>
            <a:ext cx="3520440" cy="2377440"/>
          </a:xfrm>
          <a:prstGeom prst="roundRect">
            <a:avLst>
              <a:gd name="adj" fmla="val 3846"/>
            </a:avLst>
          </a:prstGeom>
          <a:solidFill>
            <a:schemeClr val="bg2"/>
          </a:solidFill>
          <a:ln/>
          <a:effectLst>
            <a:outerShdw sx="100000" sy="100000" kx="0" ky="0" algn="bl" rotWithShape="0" blurRad="101600" dist="25400" dir="5400000">
              <a:srgbClr val="14232E">
                <a:alpha val="12000"/>
              </a:srgbClr>
            </a:outerShdw>
          </a:effectLst>
        </p:spPr>
      </p:sp>
      <p:sp>
        <p:nvSpPr>
          <p:cNvPr id="30" name="Text 27"/>
          <p:cNvSpPr txBox="1"/>
          <p:nvPr/>
        </p:nvSpPr>
        <p:spPr>
          <a:xfrm>
            <a:off x="8458200" y="3017520"/>
            <a:ext cx="18288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FND-03</a:t>
            </a:r>
            <a:endParaRPr lang="en-US" sz="2800" dirty="0"/>
          </a:p>
        </p:txBody>
      </p:sp>
      <p:sp>
        <p:nvSpPr>
          <p:cNvPr id="31" name="Pill HIGH"/>
          <p:cNvSpPr/>
          <p:nvPr/>
        </p:nvSpPr>
        <p:spPr>
          <a:xfrm>
            <a:off x="10561320" y="3090672"/>
            <a:ext cx="86868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32" name="Text 29"/>
          <p:cNvSpPr txBox="1"/>
          <p:nvPr/>
        </p:nvSpPr>
        <p:spPr>
          <a:xfrm>
            <a:off x="8458200" y="3703320"/>
            <a:ext cx="2971800" cy="1234440"/>
          </a:xfrm>
          <a:prstGeom prst="rect">
            <a:avLst/>
          </a:prstGeom>
          <a:noFill/>
          <a:ln/>
        </p:spPr>
        <p:txBody>
          <a:bodyPr wrap="square" lIns="0" tIns="0" rIns="0" bIns="0" rtlCol="0" anchor="t"/>
          <a:lstStyle/>
          <a:p>
            <a:pPr indent="0" marL="0">
              <a:buNone/>
            </a:pPr>
            <a:r>
              <a:rPr lang="en-US" sz="1700" b="1" dirty="0">
                <a:solidFill>
                  <a:schemeClr val="tx1"/>
                </a:solidFill>
              </a:rPr>
              <a:t>Wide Staff Views and Open Export Path Expose Borrower Data</a:t>
            </a:r>
            <a:endParaRPr lang="en-US" sz="1700" dirty="0"/>
          </a:p>
        </p:txBody>
      </p:sp>
      <p:sp>
        <p:nvSpPr>
          <p:cNvPr id="33" name="Text 30"/>
          <p:cNvSpPr txBox="1"/>
          <p:nvPr/>
        </p:nvSpPr>
        <p:spPr>
          <a:xfrm>
            <a:off x="548640" y="5440680"/>
            <a:ext cx="11094415" cy="731520"/>
          </a:xfrm>
          <a:prstGeom prst="rect">
            <a:avLst/>
          </a:prstGeom>
          <a:noFill/>
          <a:ln/>
        </p:spPr>
        <p:txBody>
          <a:bodyPr wrap="square" lIns="0" tIns="0" rIns="0" bIns="0" rtlCol="0" anchor="t"/>
          <a:lstStyle/>
          <a:p>
            <a:pPr indent="0" marL="0">
              <a:buNone/>
            </a:pPr>
            <a:r>
              <a:rPr lang="en-US" sz="1400" i="1" dirty="0">
                <a:solidFill>
                  <a:schemeClr val="accent6"/>
                </a:solidFill>
              </a:rPr>
              <a:t>Not every gap became a finding - FC-03 is fixable small (backlog); FC-05 is compensated by logging + monthly review. Honest screening, not finding inflation.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Finding 1 - Staff Login Without Second Check</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FND-01 | HIGH | RSK-01 residual 16 | evidence EVD-12-01 + EVD-13-01</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Text 3"/>
          <p:cNvSpPr txBox="1"/>
          <p:nvPr/>
        </p:nvSpPr>
        <p:spPr>
          <a:xfrm>
            <a:off x="548640" y="1600200"/>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Condition</a:t>
            </a:r>
            <a:endParaRPr lang="en-US" sz="1200" dirty="0"/>
          </a:p>
        </p:txBody>
      </p:sp>
      <p:sp>
        <p:nvSpPr>
          <p:cNvPr id="7" name="Text 4"/>
          <p:cNvSpPr txBox="1"/>
          <p:nvPr/>
        </p:nvSpPr>
        <p:spPr>
          <a:xfrm>
            <a:off x="1737360" y="1600200"/>
            <a:ext cx="5394960" cy="914400"/>
          </a:xfrm>
          <a:prstGeom prst="rect">
            <a:avLst/>
          </a:prstGeom>
          <a:noFill/>
          <a:ln/>
        </p:spPr>
        <p:txBody>
          <a:bodyPr wrap="square" lIns="0" tIns="0" rIns="0" bIns="0" rtlCol="0" anchor="ctr"/>
          <a:lstStyle/>
          <a:p>
            <a:pPr indent="0" marL="0">
              <a:buNone/>
            </a:pPr>
            <a:r>
              <a:rPr lang="en-US" sz="1300" dirty="0">
                <a:solidFill>
                  <a:schemeClr val="tx1"/>
                </a:solidFill>
              </a:rPr>
              <a:t>No staff/admin login asks for a second check (screens confirm; BLD-05, Oct 10)</a:t>
            </a:r>
            <a:endParaRPr lang="en-US" sz="1300" dirty="0"/>
          </a:p>
        </p:txBody>
      </p:sp>
      <p:sp>
        <p:nvSpPr>
          <p:cNvPr id="8" name="Row divider"/>
          <p:cNvSpPr/>
          <p:nvPr/>
        </p:nvSpPr>
        <p:spPr>
          <a:xfrm>
            <a:off x="548640" y="2532888"/>
            <a:ext cx="6583680" cy="0"/>
          </a:xfrm>
          <a:prstGeom prst="line">
            <a:avLst/>
          </a:prstGeom>
          <a:noFill/>
          <a:ln w="12700">
            <a:solidFill>
              <a:schemeClr val="bg2"/>
            </a:solidFill>
            <a:prstDash val="solid"/>
          </a:ln>
        </p:spPr>
      </p:sp>
      <p:sp>
        <p:nvSpPr>
          <p:cNvPr id="9" name="Text 6"/>
          <p:cNvSpPr txBox="1"/>
          <p:nvPr/>
        </p:nvSpPr>
        <p:spPr>
          <a:xfrm>
            <a:off x="548640" y="2551176"/>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Criteria</a:t>
            </a:r>
            <a:endParaRPr lang="en-US" sz="1200" dirty="0"/>
          </a:p>
        </p:txBody>
      </p:sp>
      <p:sp>
        <p:nvSpPr>
          <p:cNvPr id="10" name="Text 7"/>
          <p:cNvSpPr txBox="1"/>
          <p:nvPr/>
        </p:nvSpPr>
        <p:spPr>
          <a:xfrm>
            <a:off x="1737360" y="2551176"/>
            <a:ext cx="5394960" cy="914400"/>
          </a:xfrm>
          <a:prstGeom prst="rect">
            <a:avLst/>
          </a:prstGeom>
          <a:noFill/>
          <a:ln/>
        </p:spPr>
        <p:txBody>
          <a:bodyPr wrap="square" lIns="0" tIns="0" rIns="0" bIns="0" rtlCol="0" anchor="ctr"/>
          <a:lstStyle/>
          <a:p>
            <a:pPr indent="0" marL="0">
              <a:buNone/>
            </a:pPr>
            <a:r>
              <a:rPr lang="en-US" sz="1300" dirty="0">
                <a:solidFill>
                  <a:schemeClr val="tx1"/>
                </a:solidFill>
              </a:rPr>
              <a:t>CRT-01 + CMP-03 - access fits role AND login stops outsiders (approver ORG-02)</a:t>
            </a:r>
            <a:endParaRPr lang="en-US" sz="1300" dirty="0"/>
          </a:p>
        </p:txBody>
      </p:sp>
      <p:sp>
        <p:nvSpPr>
          <p:cNvPr id="11" name="Row divider"/>
          <p:cNvSpPr/>
          <p:nvPr/>
        </p:nvSpPr>
        <p:spPr>
          <a:xfrm>
            <a:off x="548640" y="3483864"/>
            <a:ext cx="6583680" cy="0"/>
          </a:xfrm>
          <a:prstGeom prst="line">
            <a:avLst/>
          </a:prstGeom>
          <a:noFill/>
          <a:ln w="12700">
            <a:solidFill>
              <a:schemeClr val="bg2"/>
            </a:solidFill>
            <a:prstDash val="solid"/>
          </a:ln>
        </p:spPr>
      </p:sp>
      <p:sp>
        <p:nvSpPr>
          <p:cNvPr id="12" name="Text 9"/>
          <p:cNvSpPr txBox="1"/>
          <p:nvPr/>
        </p:nvSpPr>
        <p:spPr>
          <a:xfrm>
            <a:off x="548640" y="3502152"/>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Cause</a:t>
            </a:r>
            <a:endParaRPr lang="en-US" sz="1200" dirty="0"/>
          </a:p>
        </p:txBody>
      </p:sp>
      <p:sp>
        <p:nvSpPr>
          <p:cNvPr id="13" name="Text 10"/>
          <p:cNvSpPr txBox="1"/>
          <p:nvPr/>
        </p:nvSpPr>
        <p:spPr>
          <a:xfrm>
            <a:off x="1737360" y="3502152"/>
            <a:ext cx="5394960" cy="914400"/>
          </a:xfrm>
          <a:prstGeom prst="rect">
            <a:avLst/>
          </a:prstGeom>
          <a:noFill/>
          <a:ln/>
        </p:spPr>
        <p:txBody>
          <a:bodyPr wrap="square" lIns="0" tIns="0" rIns="0" bIns="0" rtlCol="0" anchor="ctr"/>
          <a:lstStyle/>
          <a:p>
            <a:pPr indent="0" marL="0">
              <a:buNone/>
            </a:pPr>
            <a:r>
              <a:rPr lang="en-US" sz="1300" dirty="0">
                <a:solidFill>
                  <a:schemeClr val="tx1"/>
                </a:solidFill>
              </a:rPr>
              <a:t>Second step never built (code read); small team, demo stage</a:t>
            </a:r>
            <a:endParaRPr lang="en-US" sz="1300" dirty="0"/>
          </a:p>
        </p:txBody>
      </p:sp>
      <p:sp>
        <p:nvSpPr>
          <p:cNvPr id="14" name="Row divider"/>
          <p:cNvSpPr/>
          <p:nvPr/>
        </p:nvSpPr>
        <p:spPr>
          <a:xfrm>
            <a:off x="548640" y="4434840"/>
            <a:ext cx="6583680" cy="0"/>
          </a:xfrm>
          <a:prstGeom prst="line">
            <a:avLst/>
          </a:prstGeom>
          <a:noFill/>
          <a:ln w="12700">
            <a:solidFill>
              <a:schemeClr val="bg2"/>
            </a:solidFill>
            <a:prstDash val="solid"/>
          </a:ln>
        </p:spPr>
      </p:sp>
      <p:sp>
        <p:nvSpPr>
          <p:cNvPr id="15" name="Text 12"/>
          <p:cNvSpPr txBox="1"/>
          <p:nvPr/>
        </p:nvSpPr>
        <p:spPr>
          <a:xfrm>
            <a:off x="548640" y="4453128"/>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Effect</a:t>
            </a:r>
            <a:endParaRPr lang="en-US" sz="1200" dirty="0"/>
          </a:p>
        </p:txBody>
      </p:sp>
      <p:sp>
        <p:nvSpPr>
          <p:cNvPr id="16" name="Text 13"/>
          <p:cNvSpPr txBox="1"/>
          <p:nvPr/>
        </p:nvSpPr>
        <p:spPr>
          <a:xfrm>
            <a:off x="1737360" y="4453128"/>
            <a:ext cx="5394960" cy="914400"/>
          </a:xfrm>
          <a:prstGeom prst="rect">
            <a:avLst/>
          </a:prstGeom>
          <a:noFill/>
          <a:ln/>
        </p:spPr>
        <p:txBody>
          <a:bodyPr wrap="square" lIns="0" tIns="0" rIns="0" bIns="0" rtlCol="0" anchor="ctr"/>
          <a:lstStyle/>
          <a:p>
            <a:pPr indent="0" marL="0">
              <a:buNone/>
            </a:pPr>
            <a:r>
              <a:rPr lang="en-US" sz="1300" dirty="0">
                <a:solidFill>
                  <a:schemeClr val="tx1"/>
                </a:solidFill>
              </a:rPr>
              <a:t>One leaked password = full borrower/loan control - exposure, no breach seen</a:t>
            </a:r>
            <a:endParaRPr lang="en-US" sz="1300" dirty="0"/>
          </a:p>
        </p:txBody>
      </p:sp>
      <p:sp>
        <p:nvSpPr>
          <p:cNvPr id="17" name="Row divider"/>
          <p:cNvSpPr/>
          <p:nvPr/>
        </p:nvSpPr>
        <p:spPr>
          <a:xfrm>
            <a:off x="548640" y="5385816"/>
            <a:ext cx="6583680" cy="0"/>
          </a:xfrm>
          <a:prstGeom prst="line">
            <a:avLst/>
          </a:prstGeom>
          <a:noFill/>
          <a:ln w="12700">
            <a:solidFill>
              <a:schemeClr val="bg2"/>
            </a:solidFill>
            <a:prstDash val="solid"/>
          </a:ln>
        </p:spPr>
      </p:sp>
      <p:sp>
        <p:nvSpPr>
          <p:cNvPr id="18" name="Text 15"/>
          <p:cNvSpPr txBox="1"/>
          <p:nvPr/>
        </p:nvSpPr>
        <p:spPr>
          <a:xfrm>
            <a:off x="548640" y="5404104"/>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Limitation</a:t>
            </a:r>
            <a:endParaRPr lang="en-US" sz="1200" dirty="0"/>
          </a:p>
        </p:txBody>
      </p:sp>
      <p:sp>
        <p:nvSpPr>
          <p:cNvPr id="19" name="Text 16"/>
          <p:cNvSpPr txBox="1"/>
          <p:nvPr/>
        </p:nvSpPr>
        <p:spPr>
          <a:xfrm>
            <a:off x="1737360" y="5404104"/>
            <a:ext cx="5394960" cy="914400"/>
          </a:xfrm>
          <a:prstGeom prst="rect">
            <a:avLst/>
          </a:prstGeom>
          <a:noFill/>
          <a:ln/>
        </p:spPr>
        <p:txBody>
          <a:bodyPr wrap="square" lIns="0" tIns="0" rIns="0" bIns="0" rtlCol="0" anchor="ctr"/>
          <a:lstStyle/>
          <a:p>
            <a:pPr indent="0" marL="0">
              <a:buNone/>
            </a:pPr>
            <a:r>
              <a:rPr lang="en-US" sz="1300" dirty="0">
                <a:solidFill>
                  <a:schemeClr val="tx1"/>
                </a:solidFill>
              </a:rPr>
              <a:t>No attack test allowed; stated on the workpaper</a:t>
            </a:r>
            <a:endParaRPr lang="en-US" sz="1300" dirty="0"/>
          </a:p>
        </p:txBody>
      </p:sp>
      <p:sp>
        <p:nvSpPr>
          <p:cNvPr id="20" name="Card"/>
          <p:cNvSpPr/>
          <p:nvPr/>
        </p:nvSpPr>
        <p:spPr>
          <a:xfrm>
            <a:off x="7589520" y="1600200"/>
            <a:ext cx="4050792" cy="2331720"/>
          </a:xfrm>
          <a:prstGeom prst="roundRect">
            <a:avLst>
              <a:gd name="adj" fmla="val 3922"/>
            </a:avLst>
          </a:prstGeom>
          <a:solidFill>
            <a:schemeClr val="accent3">
              <a:alpha val="10000"/>
            </a:schemeClr>
          </a:solidFill>
          <a:ln/>
        </p:spPr>
      </p:sp>
      <p:sp>
        <p:nvSpPr>
          <p:cNvPr id="21" name="Text 18"/>
          <p:cNvSpPr txBox="1"/>
          <p:nvPr/>
        </p:nvSpPr>
        <p:spPr>
          <a:xfrm>
            <a:off x="7818120" y="1737360"/>
            <a:ext cx="3611880" cy="320040"/>
          </a:xfrm>
          <a:prstGeom prst="rect">
            <a:avLst/>
          </a:prstGeom>
          <a:noFill/>
          <a:ln/>
        </p:spPr>
        <p:txBody>
          <a:bodyPr wrap="square" lIns="0" tIns="0" rIns="0" bIns="0" rtlCol="0" anchor="t"/>
          <a:lstStyle/>
          <a:p>
            <a:pPr indent="0" marL="0">
              <a:buNone/>
            </a:pPr>
            <a:r>
              <a:rPr lang="en-US" sz="1500" b="1" dirty="0">
                <a:solidFill>
                  <a:schemeClr val="accent3"/>
                </a:solidFill>
              </a:rPr>
              <a:t>Why HIGH (severity rationale)</a:t>
            </a:r>
            <a:endParaRPr lang="en-US" sz="1500" dirty="0"/>
          </a:p>
        </p:txBody>
      </p:sp>
      <p:sp>
        <p:nvSpPr>
          <p:cNvPr id="22" name="Text 19"/>
          <p:cNvSpPr txBox="1"/>
          <p:nvPr/>
        </p:nvSpPr>
        <p:spPr>
          <a:xfrm>
            <a:off x="7818120" y="2103120"/>
            <a:ext cx="3611880" cy="1737360"/>
          </a:xfrm>
          <a:prstGeom prst="rect">
            <a:avLst/>
          </a:prstGeom>
          <a:noFill/>
          <a:ln/>
        </p:spPr>
        <p:txBody>
          <a:bodyPr wrap="square" lIns="0" tIns="0" rIns="0" bIns="0" rtlCol="0" anchor="t"/>
          <a:lstStyle/>
          <a:p>
            <a:pPr indent="0" marL="0">
              <a:buNone/>
            </a:pPr>
            <a:r>
              <a:rPr lang="en-US" sz="1300" dirty="0">
                <a:solidFill>
                  <a:schemeClr val="tx1"/>
                </a:solidFill>
              </a:rPr>
              <a:t>Residual risk 16 of 25; full loan + fine data at stake; single control failure on the main gate; affected: all borrowers + library staff</a:t>
            </a:r>
            <a:endParaRPr lang="en-US" sz="1300" dirty="0"/>
          </a:p>
        </p:txBody>
      </p:sp>
      <p:sp>
        <p:nvSpPr>
          <p:cNvPr id="23" name="Card"/>
          <p:cNvSpPr/>
          <p:nvPr/>
        </p:nvSpPr>
        <p:spPr>
          <a:xfrm>
            <a:off x="7589520" y="4114800"/>
            <a:ext cx="4050792" cy="2103120"/>
          </a:xfrm>
          <a:prstGeom prst="roundRect">
            <a:avLst>
              <a:gd name="adj" fmla="val 4348"/>
            </a:avLst>
          </a:prstGeom>
          <a:solidFill>
            <a:schemeClr val="accent4">
              <a:alpha val="10000"/>
            </a:schemeClr>
          </a:solidFill>
          <a:ln/>
        </p:spPr>
      </p:sp>
      <p:sp>
        <p:nvSpPr>
          <p:cNvPr id="24" name="Text 21"/>
          <p:cNvSpPr txBox="1"/>
          <p:nvPr/>
        </p:nvSpPr>
        <p:spPr>
          <a:xfrm>
            <a:off x="7818120" y="4251960"/>
            <a:ext cx="3611880" cy="320040"/>
          </a:xfrm>
          <a:prstGeom prst="rect">
            <a:avLst/>
          </a:prstGeom>
          <a:noFill/>
          <a:ln/>
        </p:spPr>
        <p:txBody>
          <a:bodyPr wrap="square" lIns="0" tIns="0" rIns="0" bIns="0" rtlCol="0" anchor="t"/>
          <a:lstStyle/>
          <a:p>
            <a:pPr indent="0" marL="0">
              <a:buNone/>
            </a:pPr>
            <a:r>
              <a:rPr lang="en-US" sz="1500" b="1" dirty="0">
                <a:solidFill>
                  <a:schemeClr val="accent4"/>
                </a:solidFill>
              </a:rPr>
              <a:t>Recommendation REC-01</a:t>
            </a:r>
            <a:endParaRPr lang="en-US" sz="1500" dirty="0"/>
          </a:p>
        </p:txBody>
      </p:sp>
      <p:sp>
        <p:nvSpPr>
          <p:cNvPr id="25" name="Text 22"/>
          <p:cNvSpPr txBox="1"/>
          <p:nvPr/>
        </p:nvSpPr>
        <p:spPr>
          <a:xfrm>
            <a:off x="7818120" y="4617720"/>
            <a:ext cx="3611880" cy="1508760"/>
          </a:xfrm>
          <a:prstGeom prst="rect">
            <a:avLst/>
          </a:prstGeom>
          <a:noFill/>
          <a:ln/>
        </p:spPr>
        <p:txBody>
          <a:bodyPr wrap="square" lIns="0" tIns="0" rIns="0" bIns="0" rtlCol="0" anchor="t"/>
          <a:lstStyle/>
          <a:p>
            <a:pPr indent="0" marL="0">
              <a:buNone/>
            </a:pPr>
            <a:r>
              <a:rPr lang="en-US" sz="1300" dirty="0">
                <a:solidFill>
                  <a:schemeClr val="tx1"/>
                </a:solidFill>
              </a:rPr>
              <a:t>Access Approver (ORG-02) turns on a second check for staff/admin logins; target: stolen password alone fails - re-run TEST-01 + login tries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Finding 2 - Restore Never Tested</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FND-02 | HIGH | RSK-04 intrinsic 10 -&gt; residual 8 | evidence EVD-12-04</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Text 3"/>
          <p:cNvSpPr txBox="1"/>
          <p:nvPr/>
        </p:nvSpPr>
        <p:spPr>
          <a:xfrm>
            <a:off x="548640" y="1600200"/>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Condition</a:t>
            </a:r>
            <a:endParaRPr lang="en-US" sz="1200" dirty="0"/>
          </a:p>
        </p:txBody>
      </p:sp>
      <p:sp>
        <p:nvSpPr>
          <p:cNvPr id="7" name="Text 4"/>
          <p:cNvSpPr txBox="1"/>
          <p:nvPr/>
        </p:nvSpPr>
        <p:spPr>
          <a:xfrm>
            <a:off x="1737360" y="1600200"/>
            <a:ext cx="5394960" cy="914400"/>
          </a:xfrm>
          <a:prstGeom prst="rect">
            <a:avLst/>
          </a:prstGeom>
          <a:noFill/>
          <a:ln/>
        </p:spPr>
        <p:txBody>
          <a:bodyPr wrap="square" lIns="0" tIns="0" rIns="0" bIns="0" rtlCol="0" anchor="ctr"/>
          <a:lstStyle/>
          <a:p>
            <a:pPr indent="0" marL="0">
              <a:buNone/>
            </a:pPr>
            <a:r>
              <a:rPr lang="en-US" sz="1300" dirty="0">
                <a:solidFill>
                  <a:schemeClr val="tx1"/>
                </a:solidFill>
              </a:rPr>
              <a:t>14/14 backup runs logged (Sep-Oct) - but ZERO restore demonstrations exist</a:t>
            </a:r>
            <a:endParaRPr lang="en-US" sz="1300" dirty="0"/>
          </a:p>
        </p:txBody>
      </p:sp>
      <p:sp>
        <p:nvSpPr>
          <p:cNvPr id="8" name="Row divider"/>
          <p:cNvSpPr/>
          <p:nvPr/>
        </p:nvSpPr>
        <p:spPr>
          <a:xfrm>
            <a:off x="548640" y="2532888"/>
            <a:ext cx="6583680" cy="0"/>
          </a:xfrm>
          <a:prstGeom prst="line">
            <a:avLst/>
          </a:prstGeom>
          <a:noFill/>
          <a:ln w="12700">
            <a:solidFill>
              <a:schemeClr val="bg2"/>
            </a:solidFill>
            <a:prstDash val="solid"/>
          </a:ln>
        </p:spPr>
      </p:sp>
      <p:sp>
        <p:nvSpPr>
          <p:cNvPr id="9" name="Text 6"/>
          <p:cNvSpPr txBox="1"/>
          <p:nvPr/>
        </p:nvSpPr>
        <p:spPr>
          <a:xfrm>
            <a:off x="548640" y="2551176"/>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Criteria</a:t>
            </a:r>
            <a:endParaRPr lang="en-US" sz="1200" dirty="0"/>
          </a:p>
        </p:txBody>
      </p:sp>
      <p:sp>
        <p:nvSpPr>
          <p:cNvPr id="10" name="Text 7"/>
          <p:cNvSpPr txBox="1"/>
          <p:nvPr/>
        </p:nvSpPr>
        <p:spPr>
          <a:xfrm>
            <a:off x="1737360" y="2551176"/>
            <a:ext cx="5394960" cy="914400"/>
          </a:xfrm>
          <a:prstGeom prst="rect">
            <a:avLst/>
          </a:prstGeom>
          <a:noFill/>
          <a:ln/>
        </p:spPr>
        <p:txBody>
          <a:bodyPr wrap="square" lIns="0" tIns="0" rIns="0" bIns="0" rtlCol="0" anchor="ctr"/>
          <a:lstStyle/>
          <a:p>
            <a:pPr indent="0" marL="0">
              <a:buNone/>
            </a:pPr>
            <a:r>
              <a:rPr lang="en-US" sz="1300" dirty="0">
                <a:solidFill>
                  <a:schemeClr val="tx1"/>
                </a:solidFill>
              </a:rPr>
              <a:t>CMP-05 + CRT-04 - copies exist AND recovery is possible with approval</a:t>
            </a:r>
            <a:endParaRPr lang="en-US" sz="1300" dirty="0"/>
          </a:p>
        </p:txBody>
      </p:sp>
      <p:sp>
        <p:nvSpPr>
          <p:cNvPr id="11" name="Row divider"/>
          <p:cNvSpPr/>
          <p:nvPr/>
        </p:nvSpPr>
        <p:spPr>
          <a:xfrm>
            <a:off x="548640" y="3483864"/>
            <a:ext cx="6583680" cy="0"/>
          </a:xfrm>
          <a:prstGeom prst="line">
            <a:avLst/>
          </a:prstGeom>
          <a:noFill/>
          <a:ln w="12700">
            <a:solidFill>
              <a:schemeClr val="bg2"/>
            </a:solidFill>
            <a:prstDash val="solid"/>
          </a:ln>
        </p:spPr>
      </p:sp>
      <p:sp>
        <p:nvSpPr>
          <p:cNvPr id="12" name="Text 9"/>
          <p:cNvSpPr txBox="1"/>
          <p:nvPr/>
        </p:nvSpPr>
        <p:spPr>
          <a:xfrm>
            <a:off x="548640" y="3502152"/>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Cause</a:t>
            </a:r>
            <a:endParaRPr lang="en-US" sz="1200" dirty="0"/>
          </a:p>
        </p:txBody>
      </p:sp>
      <p:sp>
        <p:nvSpPr>
          <p:cNvPr id="13" name="Text 10"/>
          <p:cNvSpPr txBox="1"/>
          <p:nvPr/>
        </p:nvSpPr>
        <p:spPr>
          <a:xfrm>
            <a:off x="1737360" y="3502152"/>
            <a:ext cx="5394960" cy="914400"/>
          </a:xfrm>
          <a:prstGeom prst="rect">
            <a:avLst/>
          </a:prstGeom>
          <a:noFill/>
          <a:ln/>
        </p:spPr>
        <p:txBody>
          <a:bodyPr wrap="square" lIns="0" tIns="0" rIns="0" bIns="0" rtlCol="0" anchor="ctr"/>
          <a:lstStyle/>
          <a:p>
            <a:pPr indent="0" marL="0">
              <a:buNone/>
            </a:pPr>
            <a:r>
              <a:rPr lang="en-US" sz="1300" dirty="0">
                <a:solidFill>
                  <a:schemeClr val="tx1"/>
                </a:solidFill>
              </a:rPr>
              <a:t>Restore needs live approval; never scheduled (owner inquiry + no record)</a:t>
            </a:r>
            <a:endParaRPr lang="en-US" sz="1300" dirty="0"/>
          </a:p>
        </p:txBody>
      </p:sp>
      <p:sp>
        <p:nvSpPr>
          <p:cNvPr id="14" name="Row divider"/>
          <p:cNvSpPr/>
          <p:nvPr/>
        </p:nvSpPr>
        <p:spPr>
          <a:xfrm>
            <a:off x="548640" y="4434840"/>
            <a:ext cx="6583680" cy="0"/>
          </a:xfrm>
          <a:prstGeom prst="line">
            <a:avLst/>
          </a:prstGeom>
          <a:noFill/>
          <a:ln w="12700">
            <a:solidFill>
              <a:schemeClr val="bg2"/>
            </a:solidFill>
            <a:prstDash val="solid"/>
          </a:ln>
        </p:spPr>
      </p:sp>
      <p:sp>
        <p:nvSpPr>
          <p:cNvPr id="15" name="Text 12"/>
          <p:cNvSpPr txBox="1"/>
          <p:nvPr/>
        </p:nvSpPr>
        <p:spPr>
          <a:xfrm>
            <a:off x="548640" y="4453128"/>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Effect</a:t>
            </a:r>
            <a:endParaRPr lang="en-US" sz="1200" dirty="0"/>
          </a:p>
        </p:txBody>
      </p:sp>
      <p:sp>
        <p:nvSpPr>
          <p:cNvPr id="16" name="Text 13"/>
          <p:cNvSpPr txBox="1"/>
          <p:nvPr/>
        </p:nvSpPr>
        <p:spPr>
          <a:xfrm>
            <a:off x="1737360" y="4453128"/>
            <a:ext cx="5394960" cy="914400"/>
          </a:xfrm>
          <a:prstGeom prst="rect">
            <a:avLst/>
          </a:prstGeom>
          <a:noFill/>
          <a:ln/>
        </p:spPr>
        <p:txBody>
          <a:bodyPr wrap="square" lIns="0" tIns="0" rIns="0" bIns="0" rtlCol="0" anchor="ctr"/>
          <a:lstStyle/>
          <a:p>
            <a:pPr indent="0" marL="0">
              <a:buNone/>
            </a:pPr>
            <a:r>
              <a:rPr lang="en-US" sz="1300" dirty="0">
                <a:solidFill>
                  <a:schemeClr val="tx1"/>
                </a:solidFill>
              </a:rPr>
              <a:t>If the database is lost, desk work may stop for days; loans/catalog may be unrecoverable</a:t>
            </a:r>
            <a:endParaRPr lang="en-US" sz="1300" dirty="0"/>
          </a:p>
        </p:txBody>
      </p:sp>
      <p:sp>
        <p:nvSpPr>
          <p:cNvPr id="17" name="Row divider"/>
          <p:cNvSpPr/>
          <p:nvPr/>
        </p:nvSpPr>
        <p:spPr>
          <a:xfrm>
            <a:off x="548640" y="5385816"/>
            <a:ext cx="6583680" cy="0"/>
          </a:xfrm>
          <a:prstGeom prst="line">
            <a:avLst/>
          </a:prstGeom>
          <a:noFill/>
          <a:ln w="12700">
            <a:solidFill>
              <a:schemeClr val="bg2"/>
            </a:solidFill>
            <a:prstDash val="solid"/>
          </a:ln>
        </p:spPr>
      </p:sp>
      <p:sp>
        <p:nvSpPr>
          <p:cNvPr id="18" name="Text 15"/>
          <p:cNvSpPr txBox="1"/>
          <p:nvPr/>
        </p:nvSpPr>
        <p:spPr>
          <a:xfrm>
            <a:off x="548640" y="5404104"/>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Limitation</a:t>
            </a:r>
            <a:endParaRPr lang="en-US" sz="1200" dirty="0"/>
          </a:p>
        </p:txBody>
      </p:sp>
      <p:sp>
        <p:nvSpPr>
          <p:cNvPr id="19" name="Text 16"/>
          <p:cNvSpPr txBox="1"/>
          <p:nvPr/>
        </p:nvSpPr>
        <p:spPr>
          <a:xfrm>
            <a:off x="1737360" y="5404104"/>
            <a:ext cx="5394960" cy="914400"/>
          </a:xfrm>
          <a:prstGeom prst="rect">
            <a:avLst/>
          </a:prstGeom>
          <a:noFill/>
          <a:ln/>
        </p:spPr>
        <p:txBody>
          <a:bodyPr wrap="square" lIns="0" tIns="0" rIns="0" bIns="0" rtlCol="0" anchor="ctr"/>
          <a:lstStyle/>
          <a:p>
            <a:pPr indent="0" marL="0">
              <a:buNone/>
            </a:pPr>
            <a:r>
              <a:rPr lang="en-US" sz="1300" dirty="0">
                <a:solidFill>
                  <a:schemeClr val="tx1"/>
                </a:solidFill>
              </a:rPr>
              <a:t>Restore itself was out of scope (SCP-03) - our conclusion: identify it, not test it</a:t>
            </a:r>
            <a:endParaRPr lang="en-US" sz="1300" dirty="0"/>
          </a:p>
        </p:txBody>
      </p:sp>
      <p:sp>
        <p:nvSpPr>
          <p:cNvPr id="20" name="Card"/>
          <p:cNvSpPr/>
          <p:nvPr/>
        </p:nvSpPr>
        <p:spPr>
          <a:xfrm>
            <a:off x="7589520" y="1600200"/>
            <a:ext cx="4050792" cy="2331720"/>
          </a:xfrm>
          <a:prstGeom prst="roundRect">
            <a:avLst>
              <a:gd name="adj" fmla="val 3922"/>
            </a:avLst>
          </a:prstGeom>
          <a:solidFill>
            <a:schemeClr val="accent3">
              <a:alpha val="10000"/>
            </a:schemeClr>
          </a:solidFill>
          <a:ln/>
        </p:spPr>
      </p:sp>
      <p:sp>
        <p:nvSpPr>
          <p:cNvPr id="21" name="Text 18"/>
          <p:cNvSpPr txBox="1"/>
          <p:nvPr/>
        </p:nvSpPr>
        <p:spPr>
          <a:xfrm>
            <a:off x="7818120" y="1737360"/>
            <a:ext cx="3611880" cy="320040"/>
          </a:xfrm>
          <a:prstGeom prst="rect">
            <a:avLst/>
          </a:prstGeom>
          <a:noFill/>
          <a:ln/>
        </p:spPr>
        <p:txBody>
          <a:bodyPr wrap="square" lIns="0" tIns="0" rIns="0" bIns="0" rtlCol="0" anchor="t"/>
          <a:lstStyle/>
          <a:p>
            <a:pPr indent="0" marL="0">
              <a:buNone/>
            </a:pPr>
            <a:r>
              <a:rPr lang="en-US" sz="1500" b="1" dirty="0">
                <a:solidFill>
                  <a:schemeClr val="accent3"/>
                </a:solidFill>
              </a:rPr>
              <a:t>Why HIGH - severity rationale</a:t>
            </a:r>
            <a:endParaRPr lang="en-US" sz="1500" dirty="0"/>
          </a:p>
        </p:txBody>
      </p:sp>
      <p:sp>
        <p:nvSpPr>
          <p:cNvPr id="22" name="Text 19"/>
          <p:cNvSpPr txBox="1"/>
          <p:nvPr/>
        </p:nvSpPr>
        <p:spPr>
          <a:xfrm>
            <a:off x="7818120" y="2103120"/>
            <a:ext cx="3611880" cy="1737360"/>
          </a:xfrm>
          <a:prstGeom prst="rect">
            <a:avLst/>
          </a:prstGeom>
          <a:noFill/>
          <a:ln/>
        </p:spPr>
        <p:txBody>
          <a:bodyPr wrap="square" lIns="0" tIns="0" rIns="0" bIns="0" rtlCol="0" anchor="t"/>
          <a:lstStyle/>
          <a:p>
            <a:pPr indent="0" marL="0">
              <a:buNone/>
            </a:pPr>
            <a:r>
              <a:rPr lang="en-US" sz="1300" dirty="0">
                <a:solidFill>
                  <a:schemeClr val="tx1"/>
                </a:solidFill>
              </a:rPr>
              <a:t>A backup log proves copies exist, NOT that they work. If recovery fails once, the loss is total - all loans + catalog. Team challenged: kept High on effect, not score alone (REV-13-01)</a:t>
            </a:r>
            <a:endParaRPr lang="en-US" sz="1300" dirty="0"/>
          </a:p>
        </p:txBody>
      </p:sp>
      <p:sp>
        <p:nvSpPr>
          <p:cNvPr id="23" name="Card"/>
          <p:cNvSpPr/>
          <p:nvPr/>
        </p:nvSpPr>
        <p:spPr>
          <a:xfrm>
            <a:off x="7589520" y="4114800"/>
            <a:ext cx="4050792" cy="2103120"/>
          </a:xfrm>
          <a:prstGeom prst="roundRect">
            <a:avLst>
              <a:gd name="adj" fmla="val 4348"/>
            </a:avLst>
          </a:prstGeom>
          <a:solidFill>
            <a:schemeClr val="accent4">
              <a:alpha val="10000"/>
            </a:schemeClr>
          </a:solidFill>
          <a:ln/>
        </p:spPr>
      </p:sp>
      <p:sp>
        <p:nvSpPr>
          <p:cNvPr id="24" name="Text 21"/>
          <p:cNvSpPr txBox="1"/>
          <p:nvPr/>
        </p:nvSpPr>
        <p:spPr>
          <a:xfrm>
            <a:off x="7818120" y="4251960"/>
            <a:ext cx="3611880" cy="320040"/>
          </a:xfrm>
          <a:prstGeom prst="rect">
            <a:avLst/>
          </a:prstGeom>
          <a:noFill/>
          <a:ln/>
        </p:spPr>
        <p:txBody>
          <a:bodyPr wrap="square" lIns="0" tIns="0" rIns="0" bIns="0" rtlCol="0" anchor="t"/>
          <a:lstStyle/>
          <a:p>
            <a:pPr indent="0" marL="0">
              <a:buNone/>
            </a:pPr>
            <a:r>
              <a:rPr lang="en-US" sz="1500" b="1" dirty="0">
                <a:solidFill>
                  <a:schemeClr val="accent4"/>
                </a:solidFill>
              </a:rPr>
              <a:t>Recommendation REC-02</a:t>
            </a:r>
            <a:endParaRPr lang="en-US" sz="1500" dirty="0"/>
          </a:p>
        </p:txBody>
      </p:sp>
      <p:sp>
        <p:nvSpPr>
          <p:cNvPr id="25" name="Text 22"/>
          <p:cNvSpPr txBox="1"/>
          <p:nvPr/>
        </p:nvSpPr>
        <p:spPr>
          <a:xfrm>
            <a:off x="7818120" y="4617720"/>
            <a:ext cx="3611880" cy="1508760"/>
          </a:xfrm>
          <a:prstGeom prst="rect">
            <a:avLst/>
          </a:prstGeom>
          <a:noFill/>
          <a:ln/>
        </p:spPr>
        <p:txBody>
          <a:bodyPr wrap="square" lIns="0" tIns="0" rIns="0" bIns="0" rtlCol="0" anchor="t"/>
          <a:lstStyle/>
          <a:p>
            <a:pPr indent="0" marL="0">
              <a:buNone/>
            </a:pPr>
            <a:r>
              <a:rPr lang="en-US" sz="1300" dirty="0">
                <a:solidFill>
                  <a:schemeClr val="tx1"/>
                </a:solidFill>
              </a:rPr>
              <a:t>System Admin (ORG-03) runs ONE witnessed restore on a test copy + files approved restore steps; verified by reading the restore log</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Finding 3 - Borrower Data Exposure</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FND-03 | HIGH | RSK-07 + CMP-01/02 (Data Privacy Act context) | EVD-10-02/03 + EVD-13-02</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Text 3"/>
          <p:cNvSpPr txBox="1"/>
          <p:nvPr/>
        </p:nvSpPr>
        <p:spPr>
          <a:xfrm>
            <a:off x="548640" y="1600200"/>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Condition</a:t>
            </a:r>
            <a:endParaRPr lang="en-US" sz="1200" dirty="0"/>
          </a:p>
        </p:txBody>
      </p:sp>
      <p:sp>
        <p:nvSpPr>
          <p:cNvPr id="7" name="Text 4"/>
          <p:cNvSpPr txBox="1"/>
          <p:nvPr/>
        </p:nvSpPr>
        <p:spPr>
          <a:xfrm>
            <a:off x="1737360" y="1600200"/>
            <a:ext cx="5394960" cy="914400"/>
          </a:xfrm>
          <a:prstGeom prst="rect">
            <a:avLst/>
          </a:prstGeom>
          <a:noFill/>
          <a:ln/>
        </p:spPr>
        <p:txBody>
          <a:bodyPr wrap="square" lIns="0" tIns="0" rIns="0" bIns="0" rtlCol="0" anchor="ctr"/>
          <a:lstStyle/>
          <a:p>
            <a:pPr indent="0" marL="0">
              <a:buNone/>
            </a:pPr>
            <a:r>
              <a:rPr lang="en-US" sz="1300" dirty="0">
                <a:solidFill>
                  <a:schemeClr val="tx1"/>
                </a:solidFill>
              </a:rPr>
              <a:t>Staff roles open FULL borrower rows (name, school ID, fines); reports show names; export path has no extra rule</a:t>
            </a:r>
            <a:endParaRPr lang="en-US" sz="1300" dirty="0"/>
          </a:p>
        </p:txBody>
      </p:sp>
      <p:sp>
        <p:nvSpPr>
          <p:cNvPr id="8" name="Row divider"/>
          <p:cNvSpPr/>
          <p:nvPr/>
        </p:nvSpPr>
        <p:spPr>
          <a:xfrm>
            <a:off x="548640" y="2532888"/>
            <a:ext cx="6583680" cy="0"/>
          </a:xfrm>
          <a:prstGeom prst="line">
            <a:avLst/>
          </a:prstGeom>
          <a:noFill/>
          <a:ln w="12700">
            <a:solidFill>
              <a:schemeClr val="bg2"/>
            </a:solidFill>
            <a:prstDash val="solid"/>
          </a:ln>
        </p:spPr>
      </p:sp>
      <p:sp>
        <p:nvSpPr>
          <p:cNvPr id="9" name="Text 6"/>
          <p:cNvSpPr txBox="1"/>
          <p:nvPr/>
        </p:nvSpPr>
        <p:spPr>
          <a:xfrm>
            <a:off x="548640" y="2551176"/>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Criteria</a:t>
            </a:r>
            <a:endParaRPr lang="en-US" sz="1200" dirty="0"/>
          </a:p>
        </p:txBody>
      </p:sp>
      <p:sp>
        <p:nvSpPr>
          <p:cNvPr id="10" name="Text 7"/>
          <p:cNvSpPr txBox="1"/>
          <p:nvPr/>
        </p:nvSpPr>
        <p:spPr>
          <a:xfrm>
            <a:off x="1737360" y="2551176"/>
            <a:ext cx="5394960" cy="914400"/>
          </a:xfrm>
          <a:prstGeom prst="rect">
            <a:avLst/>
          </a:prstGeom>
          <a:noFill/>
          <a:ln/>
        </p:spPr>
        <p:txBody>
          <a:bodyPr wrap="square" lIns="0" tIns="0" rIns="0" bIns="0" rtlCol="0" anchor="ctr"/>
          <a:lstStyle/>
          <a:p>
            <a:pPr indent="0" marL="0">
              <a:buNone/>
            </a:pPr>
            <a:r>
              <a:rPr lang="en-US" sz="1300" dirty="0">
                <a:solidFill>
                  <a:schemeClr val="tx1"/>
                </a:solidFill>
              </a:rPr>
              <a:t>CMP-01/02 + CRT-01 - private data only for need-to-know roles; names hidden in reports</a:t>
            </a:r>
            <a:endParaRPr lang="en-US" sz="1300" dirty="0"/>
          </a:p>
        </p:txBody>
      </p:sp>
      <p:sp>
        <p:nvSpPr>
          <p:cNvPr id="11" name="Row divider"/>
          <p:cNvSpPr/>
          <p:nvPr/>
        </p:nvSpPr>
        <p:spPr>
          <a:xfrm>
            <a:off x="548640" y="3483864"/>
            <a:ext cx="6583680" cy="0"/>
          </a:xfrm>
          <a:prstGeom prst="line">
            <a:avLst/>
          </a:prstGeom>
          <a:noFill/>
          <a:ln w="12700">
            <a:solidFill>
              <a:schemeClr val="bg2"/>
            </a:solidFill>
            <a:prstDash val="solid"/>
          </a:ln>
        </p:spPr>
      </p:sp>
      <p:sp>
        <p:nvSpPr>
          <p:cNvPr id="12" name="Text 9"/>
          <p:cNvSpPr txBox="1"/>
          <p:nvPr/>
        </p:nvSpPr>
        <p:spPr>
          <a:xfrm>
            <a:off x="548640" y="3502152"/>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Cause</a:t>
            </a:r>
            <a:endParaRPr lang="en-US" sz="1200" dirty="0"/>
          </a:p>
        </p:txBody>
      </p:sp>
      <p:sp>
        <p:nvSpPr>
          <p:cNvPr id="13" name="Text 10"/>
          <p:cNvSpPr txBox="1"/>
          <p:nvPr/>
        </p:nvSpPr>
        <p:spPr>
          <a:xfrm>
            <a:off x="1737360" y="3502152"/>
            <a:ext cx="5394960" cy="914400"/>
          </a:xfrm>
          <a:prstGeom prst="rect">
            <a:avLst/>
          </a:prstGeom>
          <a:noFill/>
          <a:ln/>
        </p:spPr>
        <p:txBody>
          <a:bodyPr wrap="square" lIns="0" tIns="0" rIns="0" bIns="0" rtlCol="0" anchor="ctr"/>
          <a:lstStyle/>
          <a:p>
            <a:pPr indent="0" marL="0">
              <a:buNone/>
            </a:pPr>
            <a:r>
              <a:rPr lang="en-US" sz="1300" dirty="0">
                <a:solidFill>
                  <a:schemeClr val="tx1"/>
                </a:solidFill>
              </a:rPr>
              <a:t>Views built for desk speed; export path never fenced (code read)</a:t>
            </a:r>
            <a:endParaRPr lang="en-US" sz="1300" dirty="0"/>
          </a:p>
        </p:txBody>
      </p:sp>
      <p:sp>
        <p:nvSpPr>
          <p:cNvPr id="14" name="Row divider"/>
          <p:cNvSpPr/>
          <p:nvPr/>
        </p:nvSpPr>
        <p:spPr>
          <a:xfrm>
            <a:off x="548640" y="4434840"/>
            <a:ext cx="6583680" cy="0"/>
          </a:xfrm>
          <a:prstGeom prst="line">
            <a:avLst/>
          </a:prstGeom>
          <a:noFill/>
          <a:ln w="12700">
            <a:solidFill>
              <a:schemeClr val="bg2"/>
            </a:solidFill>
            <a:prstDash val="solid"/>
          </a:ln>
        </p:spPr>
      </p:sp>
      <p:sp>
        <p:nvSpPr>
          <p:cNvPr id="15" name="Text 12"/>
          <p:cNvSpPr txBox="1"/>
          <p:nvPr/>
        </p:nvSpPr>
        <p:spPr>
          <a:xfrm>
            <a:off x="548640" y="4453128"/>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Effect</a:t>
            </a:r>
            <a:endParaRPr lang="en-US" sz="1200" dirty="0"/>
          </a:p>
        </p:txBody>
      </p:sp>
      <p:sp>
        <p:nvSpPr>
          <p:cNvPr id="16" name="Text 13"/>
          <p:cNvSpPr txBox="1"/>
          <p:nvPr/>
        </p:nvSpPr>
        <p:spPr>
          <a:xfrm>
            <a:off x="1737360" y="4453128"/>
            <a:ext cx="5394960" cy="914400"/>
          </a:xfrm>
          <a:prstGeom prst="rect">
            <a:avLst/>
          </a:prstGeom>
          <a:noFill/>
          <a:ln/>
        </p:spPr>
        <p:txBody>
          <a:bodyPr wrap="square" lIns="0" tIns="0" rIns="0" bIns="0" rtlCol="0" anchor="ctr"/>
          <a:lstStyle/>
          <a:p>
            <a:pPr indent="0" marL="0">
              <a:buNone/>
            </a:pPr>
            <a:r>
              <a:rPr lang="en-US" sz="1300" dirty="0">
                <a:solidFill>
                  <a:schemeClr val="tx1"/>
                </a:solidFill>
              </a:rPr>
              <a:t>Curious or rogue staff could read/copy many student records - exposure; no misuse seen</a:t>
            </a:r>
            <a:endParaRPr lang="en-US" sz="1300" dirty="0"/>
          </a:p>
        </p:txBody>
      </p:sp>
      <p:sp>
        <p:nvSpPr>
          <p:cNvPr id="17" name="Row divider"/>
          <p:cNvSpPr/>
          <p:nvPr/>
        </p:nvSpPr>
        <p:spPr>
          <a:xfrm>
            <a:off x="548640" y="5385816"/>
            <a:ext cx="6583680" cy="0"/>
          </a:xfrm>
          <a:prstGeom prst="line">
            <a:avLst/>
          </a:prstGeom>
          <a:noFill/>
          <a:ln w="12700">
            <a:solidFill>
              <a:schemeClr val="bg2"/>
            </a:solidFill>
            <a:prstDash val="solid"/>
          </a:ln>
        </p:spPr>
      </p:sp>
      <p:sp>
        <p:nvSpPr>
          <p:cNvPr id="18" name="Text 15"/>
          <p:cNvSpPr txBox="1"/>
          <p:nvPr/>
        </p:nvSpPr>
        <p:spPr>
          <a:xfrm>
            <a:off x="548640" y="5404104"/>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Limitation</a:t>
            </a:r>
            <a:endParaRPr lang="en-US" sz="1200" dirty="0"/>
          </a:p>
        </p:txBody>
      </p:sp>
      <p:sp>
        <p:nvSpPr>
          <p:cNvPr id="19" name="Text 16"/>
          <p:cNvSpPr txBox="1"/>
          <p:nvPr/>
        </p:nvSpPr>
        <p:spPr>
          <a:xfrm>
            <a:off x="1737360" y="5404104"/>
            <a:ext cx="5394960" cy="914400"/>
          </a:xfrm>
          <a:prstGeom prst="rect">
            <a:avLst/>
          </a:prstGeom>
          <a:noFill/>
          <a:ln/>
        </p:spPr>
        <p:txBody>
          <a:bodyPr wrap="square" lIns="0" tIns="0" rIns="0" bIns="0" rtlCol="0" anchor="ctr"/>
          <a:lstStyle/>
          <a:p>
            <a:pPr indent="0" marL="0">
              <a:buNone/>
            </a:pPr>
            <a:r>
              <a:rPr lang="en-US" sz="1300" dirty="0">
                <a:solidFill>
                  <a:schemeClr val="tx1"/>
                </a:solidFill>
              </a:rPr>
              <a:t>Full export was never tested (not allowed); conclusion rests on views seen + missing rule</a:t>
            </a:r>
            <a:endParaRPr lang="en-US" sz="1300" dirty="0"/>
          </a:p>
        </p:txBody>
      </p:sp>
      <p:sp>
        <p:nvSpPr>
          <p:cNvPr id="20" name="Card"/>
          <p:cNvSpPr/>
          <p:nvPr/>
        </p:nvSpPr>
        <p:spPr>
          <a:xfrm>
            <a:off x="7589520" y="1600200"/>
            <a:ext cx="4050792" cy="2331720"/>
          </a:xfrm>
          <a:prstGeom prst="roundRect">
            <a:avLst>
              <a:gd name="adj" fmla="val 3922"/>
            </a:avLst>
          </a:prstGeom>
          <a:solidFill>
            <a:schemeClr val="accent3">
              <a:alpha val="10000"/>
            </a:schemeClr>
          </a:solidFill>
          <a:ln/>
        </p:spPr>
      </p:sp>
      <p:sp>
        <p:nvSpPr>
          <p:cNvPr id="21" name="Text 18"/>
          <p:cNvSpPr txBox="1"/>
          <p:nvPr/>
        </p:nvSpPr>
        <p:spPr>
          <a:xfrm>
            <a:off x="7818120" y="1737360"/>
            <a:ext cx="3611880" cy="320040"/>
          </a:xfrm>
          <a:prstGeom prst="rect">
            <a:avLst/>
          </a:prstGeom>
          <a:noFill/>
          <a:ln/>
        </p:spPr>
        <p:txBody>
          <a:bodyPr wrap="square" lIns="0" tIns="0" rIns="0" bIns="0" rtlCol="0" anchor="t"/>
          <a:lstStyle/>
          <a:p>
            <a:pPr indent="0" marL="0">
              <a:buNone/>
            </a:pPr>
            <a:r>
              <a:rPr lang="en-US" sz="1500" b="1" dirty="0">
                <a:solidFill>
                  <a:schemeClr val="accent3"/>
                </a:solidFill>
              </a:rPr>
              <a:t>Why HIGH</a:t>
            </a:r>
            <a:endParaRPr lang="en-US" sz="1500" dirty="0"/>
          </a:p>
        </p:txBody>
      </p:sp>
      <p:sp>
        <p:nvSpPr>
          <p:cNvPr id="22" name="Text 19"/>
          <p:cNvSpPr txBox="1"/>
          <p:nvPr/>
        </p:nvSpPr>
        <p:spPr>
          <a:xfrm>
            <a:off x="7818120" y="2103120"/>
            <a:ext cx="3611880" cy="1737360"/>
          </a:xfrm>
          <a:prstGeom prst="rect">
            <a:avLst/>
          </a:prstGeom>
          <a:noFill/>
          <a:ln/>
        </p:spPr>
        <p:txBody>
          <a:bodyPr wrap="square" lIns="0" tIns="0" rIns="0" bIns="0" rtlCol="0" anchor="t"/>
          <a:lstStyle/>
          <a:p>
            <a:pPr indent="0" marL="0">
              <a:buNone/>
            </a:pPr>
            <a:r>
              <a:rPr lang="en-US" sz="1300" dirty="0">
                <a:solidFill>
                  <a:schemeClr val="tx1"/>
                </a:solidFill>
              </a:rPr>
              <a:t>Many students affected + real privacy-law obligations; passing TEST-01 does not clear it: getting IN vs seeing WIDE are different questions</a:t>
            </a:r>
            <a:endParaRPr lang="en-US" sz="1300" dirty="0"/>
          </a:p>
        </p:txBody>
      </p:sp>
      <p:sp>
        <p:nvSpPr>
          <p:cNvPr id="23" name="Card"/>
          <p:cNvSpPr/>
          <p:nvPr/>
        </p:nvSpPr>
        <p:spPr>
          <a:xfrm>
            <a:off x="7589520" y="4114800"/>
            <a:ext cx="4050792" cy="2103120"/>
          </a:xfrm>
          <a:prstGeom prst="roundRect">
            <a:avLst>
              <a:gd name="adj" fmla="val 4348"/>
            </a:avLst>
          </a:prstGeom>
          <a:solidFill>
            <a:schemeClr val="accent4">
              <a:alpha val="10000"/>
            </a:schemeClr>
          </a:solidFill>
          <a:ln/>
        </p:spPr>
      </p:sp>
      <p:sp>
        <p:nvSpPr>
          <p:cNvPr id="24" name="Text 21"/>
          <p:cNvSpPr txBox="1"/>
          <p:nvPr/>
        </p:nvSpPr>
        <p:spPr>
          <a:xfrm>
            <a:off x="7818120" y="4251960"/>
            <a:ext cx="3611880" cy="320040"/>
          </a:xfrm>
          <a:prstGeom prst="rect">
            <a:avLst/>
          </a:prstGeom>
          <a:noFill/>
          <a:ln/>
        </p:spPr>
        <p:txBody>
          <a:bodyPr wrap="square" lIns="0" tIns="0" rIns="0" bIns="0" rtlCol="0" anchor="t"/>
          <a:lstStyle/>
          <a:p>
            <a:pPr indent="0" marL="0">
              <a:buNone/>
            </a:pPr>
            <a:r>
              <a:rPr lang="en-US" sz="1500" b="1" dirty="0">
                <a:solidFill>
                  <a:schemeClr val="accent4"/>
                </a:solidFill>
              </a:rPr>
              <a:t>Recommendation REC-03</a:t>
            </a:r>
            <a:endParaRPr lang="en-US" sz="1500" dirty="0"/>
          </a:p>
        </p:txBody>
      </p:sp>
      <p:sp>
        <p:nvSpPr>
          <p:cNvPr id="25" name="Text 22"/>
          <p:cNvSpPr txBox="1"/>
          <p:nvPr/>
        </p:nvSpPr>
        <p:spPr>
          <a:xfrm>
            <a:off x="7818120" y="4617720"/>
            <a:ext cx="3611880" cy="1508760"/>
          </a:xfrm>
          <a:prstGeom prst="rect">
            <a:avLst/>
          </a:prstGeom>
          <a:noFill/>
          <a:ln/>
        </p:spPr>
        <p:txBody>
          <a:bodyPr wrap="square" lIns="0" tIns="0" rIns="0" bIns="0" rtlCol="0" anchor="t"/>
          <a:lstStyle/>
          <a:p>
            <a:pPr indent="0" marL="0">
              <a:buNone/>
            </a:pPr>
            <a:r>
              <a:rPr lang="en-US" sz="1300" dirty="0">
                <a:solidFill>
                  <a:schemeClr val="tx1"/>
                </a:solidFill>
              </a:rPr>
              <a:t>Privacy role (ORG-05) narrows views to need-to-know, hides names in reports/exports, turns on an export log</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Conclusions Stand on Evidence - The Chain</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Example: FND-01 traced end-to-end; every finding has the same chain in the report</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hain step 1"/>
          <p:cNvSpPr/>
          <p:nvPr/>
        </p:nvSpPr>
        <p:spPr>
          <a:xfrm>
            <a:off x="54864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7" name="Step number"/>
          <p:cNvSpPr/>
          <p:nvPr/>
        </p:nvSpPr>
        <p:spPr>
          <a:xfrm>
            <a:off x="731520" y="1874520"/>
            <a:ext cx="384048" cy="384048"/>
          </a:xfrm>
          <a:prstGeom prst="ellipse">
            <a:avLst/>
          </a:prstGeom>
          <a:solidFill>
            <a:schemeClr val="accent1"/>
          </a:solidFill>
          <a:ln/>
        </p:spPr>
      </p:sp>
      <p:sp>
        <p:nvSpPr>
          <p:cNvPr id="8" name="Text 5"/>
          <p:cNvSpPr txBox="1"/>
          <p:nvPr/>
        </p:nvSpPr>
        <p:spPr>
          <a:xfrm>
            <a:off x="73152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73152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TEST-01</a:t>
            </a:r>
            <a:endParaRPr lang="en-US" sz="1400" dirty="0"/>
          </a:p>
        </p:txBody>
      </p:sp>
      <p:sp>
        <p:nvSpPr>
          <p:cNvPr id="10" name="Text 7"/>
          <p:cNvSpPr txBox="1"/>
          <p:nvPr/>
        </p:nvSpPr>
        <p:spPr>
          <a:xfrm>
            <a:off x="73152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10/10 wrong-role blocked; no second step visible</a:t>
            </a:r>
            <a:endParaRPr lang="en-US" sz="1200" dirty="0"/>
          </a:p>
        </p:txBody>
      </p:sp>
      <p:sp>
        <p:nvSpPr>
          <p:cNvPr id="11" name="Text 8"/>
          <p:cNvSpPr txBox="1"/>
          <p:nvPr/>
        </p:nvSpPr>
        <p:spPr>
          <a:xfrm>
            <a:off x="260604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12" name="Chain step 2"/>
          <p:cNvSpPr/>
          <p:nvPr/>
        </p:nvSpPr>
        <p:spPr>
          <a:xfrm>
            <a:off x="278892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13" name="Step number"/>
          <p:cNvSpPr/>
          <p:nvPr/>
        </p:nvSpPr>
        <p:spPr>
          <a:xfrm>
            <a:off x="2971800" y="1874520"/>
            <a:ext cx="384048" cy="384048"/>
          </a:xfrm>
          <a:prstGeom prst="ellipse">
            <a:avLst/>
          </a:prstGeom>
          <a:solidFill>
            <a:schemeClr val="accent1"/>
          </a:solidFill>
          <a:ln/>
        </p:spPr>
      </p:sp>
      <p:sp>
        <p:nvSpPr>
          <p:cNvPr id="14" name="Text 11"/>
          <p:cNvSpPr txBox="1"/>
          <p:nvPr/>
        </p:nvSpPr>
        <p:spPr>
          <a:xfrm>
            <a:off x="297180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297180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EVD-12-01 / EVD-13-01</a:t>
            </a:r>
            <a:endParaRPr lang="en-US" sz="1400" dirty="0"/>
          </a:p>
        </p:txBody>
      </p:sp>
      <p:sp>
        <p:nvSpPr>
          <p:cNvPr id="16" name="Text 13"/>
          <p:cNvSpPr txBox="1"/>
          <p:nvPr/>
        </p:nvSpPr>
        <p:spPr>
          <a:xfrm>
            <a:off x="297180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clean screenshots, dated, sanitized</a:t>
            </a:r>
            <a:endParaRPr lang="en-US" sz="1200" dirty="0"/>
          </a:p>
        </p:txBody>
      </p:sp>
      <p:sp>
        <p:nvSpPr>
          <p:cNvPr id="17" name="Text 14"/>
          <p:cNvSpPr txBox="1"/>
          <p:nvPr/>
        </p:nvSpPr>
        <p:spPr>
          <a:xfrm>
            <a:off x="484632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18" name="Chain step 3"/>
          <p:cNvSpPr/>
          <p:nvPr/>
        </p:nvSpPr>
        <p:spPr>
          <a:xfrm>
            <a:off x="502920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19" name="Step number"/>
          <p:cNvSpPr/>
          <p:nvPr/>
        </p:nvSpPr>
        <p:spPr>
          <a:xfrm>
            <a:off x="5212080" y="1874520"/>
            <a:ext cx="384048" cy="384048"/>
          </a:xfrm>
          <a:prstGeom prst="ellipse">
            <a:avLst/>
          </a:prstGeom>
          <a:solidFill>
            <a:schemeClr val="accent1"/>
          </a:solidFill>
          <a:ln/>
        </p:spPr>
      </p:sp>
      <p:sp>
        <p:nvSpPr>
          <p:cNvPr id="20" name="Text 17"/>
          <p:cNvSpPr txBox="1"/>
          <p:nvPr/>
        </p:nvSpPr>
        <p:spPr>
          <a:xfrm>
            <a:off x="521208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521208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GAP-01</a:t>
            </a:r>
            <a:endParaRPr lang="en-US" sz="1400" dirty="0"/>
          </a:p>
        </p:txBody>
      </p:sp>
      <p:sp>
        <p:nvSpPr>
          <p:cNvPr id="22" name="Text 19"/>
          <p:cNvSpPr txBox="1"/>
          <p:nvPr/>
        </p:nvSpPr>
        <p:spPr>
          <a:xfrm>
            <a:off x="521208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missing control identified (CTL-01/CTL-02)</a:t>
            </a:r>
            <a:endParaRPr lang="en-US" sz="1200" dirty="0"/>
          </a:p>
        </p:txBody>
      </p:sp>
      <p:sp>
        <p:nvSpPr>
          <p:cNvPr id="23" name="Text 20"/>
          <p:cNvSpPr txBox="1"/>
          <p:nvPr/>
        </p:nvSpPr>
        <p:spPr>
          <a:xfrm>
            <a:off x="708660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24" name="Chain step 4"/>
          <p:cNvSpPr/>
          <p:nvPr/>
        </p:nvSpPr>
        <p:spPr>
          <a:xfrm>
            <a:off x="726948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25" name="Step number"/>
          <p:cNvSpPr/>
          <p:nvPr/>
        </p:nvSpPr>
        <p:spPr>
          <a:xfrm>
            <a:off x="7452360" y="1874520"/>
            <a:ext cx="384048" cy="384048"/>
          </a:xfrm>
          <a:prstGeom prst="ellipse">
            <a:avLst/>
          </a:prstGeom>
          <a:solidFill>
            <a:schemeClr val="accent1"/>
          </a:solidFill>
          <a:ln/>
        </p:spPr>
      </p:sp>
      <p:sp>
        <p:nvSpPr>
          <p:cNvPr id="26" name="Text 23"/>
          <p:cNvSpPr txBox="1"/>
          <p:nvPr/>
        </p:nvSpPr>
        <p:spPr>
          <a:xfrm>
            <a:off x="745236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4"/>
          <p:cNvSpPr txBox="1"/>
          <p:nvPr/>
        </p:nvSpPr>
        <p:spPr>
          <a:xfrm>
            <a:off x="745236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FND-01</a:t>
            </a:r>
            <a:endParaRPr lang="en-US" sz="1400" dirty="0"/>
          </a:p>
        </p:txBody>
      </p:sp>
      <p:sp>
        <p:nvSpPr>
          <p:cNvPr id="28" name="Text 25"/>
          <p:cNvSpPr txBox="1"/>
          <p:nvPr/>
        </p:nvSpPr>
        <p:spPr>
          <a:xfrm>
            <a:off x="745236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condition + criteria + cause + effect + severity</a:t>
            </a:r>
            <a:endParaRPr lang="en-US" sz="1200" dirty="0"/>
          </a:p>
        </p:txBody>
      </p:sp>
      <p:sp>
        <p:nvSpPr>
          <p:cNvPr id="29" name="Text 26"/>
          <p:cNvSpPr txBox="1"/>
          <p:nvPr/>
        </p:nvSpPr>
        <p:spPr>
          <a:xfrm>
            <a:off x="932688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30" name="Chain step 5"/>
          <p:cNvSpPr/>
          <p:nvPr/>
        </p:nvSpPr>
        <p:spPr>
          <a:xfrm>
            <a:off x="9509760" y="1691640"/>
            <a:ext cx="2057400" cy="2103120"/>
          </a:xfrm>
          <a:prstGeom prst="roundRect">
            <a:avLst>
              <a:gd name="adj" fmla="val 4444"/>
            </a:avLst>
          </a:prstGeom>
          <a:solidFill>
            <a:schemeClr val="accent1"/>
          </a:solidFill>
          <a:ln/>
          <a:effectLst>
            <a:outerShdw sx="100000" sy="100000" kx="0" ky="0" algn="bl" rotWithShape="0" blurRad="101600" dist="25400" dir="5400000">
              <a:srgbClr val="14232E">
                <a:alpha val="12000"/>
              </a:srgbClr>
            </a:outerShdw>
          </a:effectLst>
        </p:spPr>
      </p:sp>
      <p:sp>
        <p:nvSpPr>
          <p:cNvPr id="31" name="Step number"/>
          <p:cNvSpPr/>
          <p:nvPr/>
        </p:nvSpPr>
        <p:spPr>
          <a:xfrm>
            <a:off x="9692640" y="1874520"/>
            <a:ext cx="384048" cy="384048"/>
          </a:xfrm>
          <a:prstGeom prst="ellipse">
            <a:avLst/>
          </a:prstGeom>
          <a:solidFill>
            <a:schemeClr val="bg1"/>
          </a:solidFill>
          <a:ln/>
        </p:spPr>
      </p:sp>
      <p:sp>
        <p:nvSpPr>
          <p:cNvPr id="32" name="Text 29"/>
          <p:cNvSpPr txBox="1"/>
          <p:nvPr/>
        </p:nvSpPr>
        <p:spPr>
          <a:xfrm>
            <a:off x="9692640" y="18745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33" name="Text 30"/>
          <p:cNvSpPr txBox="1"/>
          <p:nvPr/>
        </p:nvSpPr>
        <p:spPr>
          <a:xfrm>
            <a:off x="9692640" y="2423160"/>
            <a:ext cx="1691640" cy="502920"/>
          </a:xfrm>
          <a:prstGeom prst="rect">
            <a:avLst/>
          </a:prstGeom>
          <a:noFill/>
          <a:ln/>
        </p:spPr>
        <p:txBody>
          <a:bodyPr wrap="square" lIns="0" tIns="0" rIns="0" bIns="0" rtlCol="0" anchor="t"/>
          <a:lstStyle/>
          <a:p>
            <a:pPr indent="0" marL="0">
              <a:buNone/>
            </a:pPr>
            <a:r>
              <a:rPr lang="en-US" sz="1400" b="1" dirty="0">
                <a:solidFill>
                  <a:schemeClr val="bg1"/>
                </a:solidFill>
              </a:rPr>
              <a:t>REC-01 / MAP-01</a:t>
            </a:r>
            <a:endParaRPr lang="en-US" sz="1400" dirty="0"/>
          </a:p>
        </p:txBody>
      </p:sp>
      <p:sp>
        <p:nvSpPr>
          <p:cNvPr id="34" name="Text 31"/>
          <p:cNvSpPr txBox="1"/>
          <p:nvPr/>
        </p:nvSpPr>
        <p:spPr>
          <a:xfrm>
            <a:off x="9692640" y="2926080"/>
            <a:ext cx="1691640" cy="777240"/>
          </a:xfrm>
          <a:prstGeom prst="rect">
            <a:avLst/>
          </a:prstGeom>
          <a:noFill/>
          <a:ln/>
        </p:spPr>
        <p:txBody>
          <a:bodyPr wrap="square" lIns="0" tIns="0" rIns="0" bIns="0" rtlCol="0" anchor="t"/>
          <a:lstStyle/>
          <a:p>
            <a:pPr indent="0" marL="0">
              <a:buNone/>
            </a:pPr>
            <a:r>
              <a:rPr lang="en-US" sz="1200" dirty="0">
                <a:solidFill>
                  <a:schemeClr val="bg1"/>
                </a:solidFill>
              </a:rPr>
              <a:t>rule-focused action, owner + target set</a:t>
            </a:r>
            <a:endParaRPr lang="en-US" sz="1200" dirty="0"/>
          </a:p>
        </p:txBody>
      </p:sp>
      <p:sp>
        <p:nvSpPr>
          <p:cNvPr id="35" name="Card"/>
          <p:cNvSpPr/>
          <p:nvPr/>
        </p:nvSpPr>
        <p:spPr>
          <a:xfrm>
            <a:off x="548640" y="4206240"/>
            <a:ext cx="3566160" cy="1920240"/>
          </a:xfrm>
          <a:prstGeom prst="roundRect">
            <a:avLst>
              <a:gd name="adj" fmla="val 4762"/>
            </a:avLst>
          </a:prstGeom>
          <a:solidFill>
            <a:schemeClr val="bg2"/>
          </a:solidFill>
          <a:ln/>
        </p:spPr>
      </p:sp>
      <p:sp>
        <p:nvSpPr>
          <p:cNvPr id="36" name="Text 33"/>
          <p:cNvSpPr txBox="1"/>
          <p:nvPr/>
        </p:nvSpPr>
        <p:spPr>
          <a:xfrm>
            <a:off x="777240" y="4343400"/>
            <a:ext cx="3108960" cy="1645920"/>
          </a:xfrm>
          <a:prstGeom prst="rect">
            <a:avLst/>
          </a:prstGeom>
          <a:noFill/>
          <a:ln/>
        </p:spPr>
        <p:txBody>
          <a:bodyPr wrap="square" lIns="0" tIns="0" rIns="0" bIns="0" rtlCol="0" anchor="ctr"/>
          <a:lstStyle/>
          <a:p>
            <a:pPr indent="0" marL="0">
              <a:buNone/>
            </a:pPr>
            <a:r>
              <a:rPr lang="en-US" sz="1400" dirty="0">
                <a:solidFill>
                  <a:schemeClr val="tx1"/>
                </a:solidFill>
              </a:rPr>
              <a:t>Same chain for FND-02 (TEST-05 -&gt; EVD-12-04 -&gt; GAP-02) and FND-03 (TEST-01/EVD-10/13 -&gt; GAP-04).</a:t>
            </a:r>
            <a:endParaRPr lang="en-US" sz="1400" dirty="0"/>
          </a:p>
        </p:txBody>
      </p:sp>
      <p:sp>
        <p:nvSpPr>
          <p:cNvPr id="37" name="Card"/>
          <p:cNvSpPr/>
          <p:nvPr/>
        </p:nvSpPr>
        <p:spPr>
          <a:xfrm>
            <a:off x="4315968" y="4206240"/>
            <a:ext cx="3566160" cy="1920240"/>
          </a:xfrm>
          <a:prstGeom prst="roundRect">
            <a:avLst>
              <a:gd name="adj" fmla="val 4762"/>
            </a:avLst>
          </a:prstGeom>
          <a:solidFill>
            <a:schemeClr val="bg2"/>
          </a:solidFill>
          <a:ln/>
        </p:spPr>
      </p:sp>
      <p:sp>
        <p:nvSpPr>
          <p:cNvPr id="38" name="Text 35"/>
          <p:cNvSpPr txBox="1"/>
          <p:nvPr/>
        </p:nvSpPr>
        <p:spPr>
          <a:xfrm>
            <a:off x="4544568" y="4343400"/>
            <a:ext cx="3108960" cy="1645920"/>
          </a:xfrm>
          <a:prstGeom prst="rect">
            <a:avLst/>
          </a:prstGeom>
          <a:noFill/>
          <a:ln/>
        </p:spPr>
        <p:txBody>
          <a:bodyPr wrap="square" lIns="0" tIns="0" rIns="0" bIns="0" rtlCol="0" anchor="ctr"/>
          <a:lstStyle/>
          <a:p>
            <a:pPr indent="0" marL="0">
              <a:buNone/>
            </a:pPr>
            <a:r>
              <a:rPr lang="en-US" sz="1400" dirty="0">
                <a:solidFill>
                  <a:schemeClr val="tx1"/>
                </a:solidFill>
              </a:rPr>
              <a:t>20 evidence items indexed in the final report (EVD-09-01 .. EVD-13-02) - each with source, date, privacy treatment, and written limitation.</a:t>
            </a:r>
            <a:endParaRPr lang="en-US" sz="1400" dirty="0"/>
          </a:p>
        </p:txBody>
      </p:sp>
      <p:sp>
        <p:nvSpPr>
          <p:cNvPr id="39" name="Card"/>
          <p:cNvSpPr/>
          <p:nvPr/>
        </p:nvSpPr>
        <p:spPr>
          <a:xfrm>
            <a:off x="8083296" y="4206240"/>
            <a:ext cx="3566160" cy="1920240"/>
          </a:xfrm>
          <a:prstGeom prst="roundRect">
            <a:avLst>
              <a:gd name="adj" fmla="val 4762"/>
            </a:avLst>
          </a:prstGeom>
          <a:solidFill>
            <a:schemeClr val="bg2"/>
          </a:solidFill>
          <a:ln/>
        </p:spPr>
      </p:sp>
      <p:sp>
        <p:nvSpPr>
          <p:cNvPr id="40" name="Text 37"/>
          <p:cNvSpPr txBox="1"/>
          <p:nvPr/>
        </p:nvSpPr>
        <p:spPr>
          <a:xfrm>
            <a:off x="8311896" y="4343400"/>
            <a:ext cx="3108960" cy="1645920"/>
          </a:xfrm>
          <a:prstGeom prst="rect">
            <a:avLst/>
          </a:prstGeom>
          <a:noFill/>
          <a:ln/>
        </p:spPr>
        <p:txBody>
          <a:bodyPr wrap="square" lIns="0" tIns="0" rIns="0" bIns="0" rtlCol="0" anchor="ctr"/>
          <a:lstStyle/>
          <a:p>
            <a:pPr indent="0" marL="0">
              <a:buNone/>
            </a:pPr>
            <a:r>
              <a:rPr lang="en-US" sz="1400" dirty="0">
                <a:solidFill>
                  <a:schemeClr val="tx1"/>
                </a:solidFill>
              </a:rPr>
              <a:t>Evidence protection: names hidden, counts only, secrets excluded - nothing sensitive leaves the controlled folder.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We Recommend - and Honestly, What It Is Not Yet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Roadmap: 3 actions, owners, priorities, target results - status: Proposed (library not yet confirmed)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Card"/>
          <p:cNvSpPr/>
          <p:nvPr/>
        </p:nvSpPr>
        <p:spPr>
          <a:xfrm>
            <a:off x="548640" y="1600200"/>
            <a:ext cx="3520440" cy="3611880"/>
          </a:xfrm>
          <a:prstGeom prst="roundRect">
            <a:avLst>
              <a:gd name="adj" fmla="val 2597"/>
            </a:avLst>
          </a:prstGeom>
          <a:solidFill>
            <a:schemeClr val="bg2"/>
          </a:solidFill>
          <a:ln/>
          <a:effectLst>
            <a:outerShdw sx="100000" sy="100000" kx="0" ky="0" algn="bl" rotWithShape="0" blurRad="101600" dist="25400" dir="5400000">
              <a:srgbClr val="14232E">
                <a:alpha val="12000"/>
              </a:srgbClr>
            </a:outerShdw>
          </a:effectLst>
        </p:spPr>
      </p:sp>
      <p:sp>
        <p:nvSpPr>
          <p:cNvPr id="7" name="Text 4"/>
          <p:cNvSpPr txBox="1"/>
          <p:nvPr/>
        </p:nvSpPr>
        <p:spPr>
          <a:xfrm>
            <a:off x="777240" y="1783080"/>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REC-01  |  MAP-01</a:t>
            </a:r>
            <a:endParaRPr lang="en-US" sz="1200" dirty="0"/>
          </a:p>
        </p:txBody>
      </p:sp>
      <p:sp>
        <p:nvSpPr>
          <p:cNvPr id="8" name="Pill High"/>
          <p:cNvSpPr/>
          <p:nvPr/>
        </p:nvSpPr>
        <p:spPr>
          <a:xfrm>
            <a:off x="3108960" y="1764792"/>
            <a:ext cx="7315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9" name="Text 6"/>
          <p:cNvSpPr txBox="1"/>
          <p:nvPr/>
        </p:nvSpPr>
        <p:spPr>
          <a:xfrm>
            <a:off x="777240" y="2194560"/>
            <a:ext cx="3063240" cy="8686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Second login check for staff + admin accounts</a:t>
            </a:r>
            <a:endParaRPr lang="en-US" sz="1700" dirty="0"/>
          </a:p>
        </p:txBody>
      </p:sp>
      <p:sp>
        <p:nvSpPr>
          <p:cNvPr id="10" name="Text 7"/>
          <p:cNvSpPr txBox="1"/>
          <p:nvPr/>
        </p:nvSpPr>
        <p:spPr>
          <a:xfrm>
            <a:off x="777240" y="320040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Owner</a:t>
            </a:r>
            <a:endParaRPr lang="en-US" sz="1100" dirty="0"/>
          </a:p>
        </p:txBody>
      </p:sp>
      <p:sp>
        <p:nvSpPr>
          <p:cNvPr id="11" name="Text 8"/>
          <p:cNvSpPr txBox="1"/>
          <p:nvPr/>
        </p:nvSpPr>
        <p:spPr>
          <a:xfrm>
            <a:off x="1508760" y="3200400"/>
            <a:ext cx="2331720" cy="548640"/>
          </a:xfrm>
          <a:prstGeom prst="rect">
            <a:avLst/>
          </a:prstGeom>
          <a:noFill/>
          <a:ln/>
        </p:spPr>
        <p:txBody>
          <a:bodyPr wrap="square" lIns="0" tIns="0" rIns="0" bIns="0" rtlCol="0" anchor="ctr"/>
          <a:lstStyle/>
          <a:p>
            <a:pPr indent="0" marL="0">
              <a:buNone/>
            </a:pPr>
            <a:r>
              <a:rPr lang="en-US" sz="1300" dirty="0">
                <a:solidFill>
                  <a:schemeClr val="tx1"/>
                </a:solidFill>
              </a:rPr>
              <a:t>Access Approver (ORG-02)</a:t>
            </a:r>
            <a:endParaRPr lang="en-US" sz="1300" dirty="0"/>
          </a:p>
        </p:txBody>
      </p:sp>
      <p:sp>
        <p:nvSpPr>
          <p:cNvPr id="12" name="Text 9"/>
          <p:cNvSpPr txBox="1"/>
          <p:nvPr/>
        </p:nvSpPr>
        <p:spPr>
          <a:xfrm>
            <a:off x="777240" y="384048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Target</a:t>
            </a:r>
            <a:endParaRPr lang="en-US" sz="1100" dirty="0"/>
          </a:p>
        </p:txBody>
      </p:sp>
      <p:sp>
        <p:nvSpPr>
          <p:cNvPr id="13" name="Text 10"/>
          <p:cNvSpPr txBox="1"/>
          <p:nvPr/>
        </p:nvSpPr>
        <p:spPr>
          <a:xfrm>
            <a:off x="1508760" y="3840480"/>
            <a:ext cx="2331720" cy="548640"/>
          </a:xfrm>
          <a:prstGeom prst="rect">
            <a:avLst/>
          </a:prstGeom>
          <a:noFill/>
          <a:ln/>
        </p:spPr>
        <p:txBody>
          <a:bodyPr wrap="square" lIns="0" tIns="0" rIns="0" bIns="0" rtlCol="0" anchor="ctr"/>
          <a:lstStyle/>
          <a:p>
            <a:pPr indent="0" marL="0">
              <a:buNone/>
            </a:pPr>
            <a:r>
              <a:rPr lang="en-US" sz="1300" dirty="0">
                <a:solidFill>
                  <a:schemeClr val="tx1"/>
                </a:solidFill>
              </a:rPr>
              <a:t>Next release</a:t>
            </a:r>
            <a:endParaRPr lang="en-US" sz="1300" dirty="0"/>
          </a:p>
        </p:txBody>
      </p:sp>
      <p:sp>
        <p:nvSpPr>
          <p:cNvPr id="14" name="Text 11"/>
          <p:cNvSpPr txBox="1"/>
          <p:nvPr/>
        </p:nvSpPr>
        <p:spPr>
          <a:xfrm>
            <a:off x="777240" y="448056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Result</a:t>
            </a:r>
            <a:endParaRPr lang="en-US" sz="1100" dirty="0"/>
          </a:p>
        </p:txBody>
      </p:sp>
      <p:sp>
        <p:nvSpPr>
          <p:cNvPr id="15" name="Text 12"/>
          <p:cNvSpPr txBox="1"/>
          <p:nvPr/>
        </p:nvSpPr>
        <p:spPr>
          <a:xfrm>
            <a:off x="1508760" y="4480560"/>
            <a:ext cx="2331720" cy="548640"/>
          </a:xfrm>
          <a:prstGeom prst="rect">
            <a:avLst/>
          </a:prstGeom>
          <a:noFill/>
          <a:ln/>
        </p:spPr>
        <p:txBody>
          <a:bodyPr wrap="square" lIns="0" tIns="0" rIns="0" bIns="0" rtlCol="0" anchor="ctr"/>
          <a:lstStyle/>
          <a:p>
            <a:pPr indent="0" marL="0">
              <a:buNone/>
            </a:pPr>
            <a:r>
              <a:rPr lang="en-US" sz="1300" dirty="0">
                <a:solidFill>
                  <a:schemeClr val="tx1"/>
                </a:solidFill>
              </a:rPr>
              <a:t>Stolen password alone fails</a:t>
            </a:r>
            <a:endParaRPr lang="en-US" sz="1300" dirty="0"/>
          </a:p>
        </p:txBody>
      </p:sp>
      <p:sp>
        <p:nvSpPr>
          <p:cNvPr id="16" name="Card"/>
          <p:cNvSpPr/>
          <p:nvPr/>
        </p:nvSpPr>
        <p:spPr>
          <a:xfrm>
            <a:off x="4366260" y="1600200"/>
            <a:ext cx="3520440" cy="3611880"/>
          </a:xfrm>
          <a:prstGeom prst="roundRect">
            <a:avLst>
              <a:gd name="adj" fmla="val 2597"/>
            </a:avLst>
          </a:prstGeom>
          <a:solidFill>
            <a:schemeClr val="bg2"/>
          </a:solidFill>
          <a:ln/>
          <a:effectLst>
            <a:outerShdw sx="100000" sy="100000" kx="0" ky="0" algn="bl" rotWithShape="0" blurRad="101600" dist="25400" dir="5400000">
              <a:srgbClr val="14232E">
                <a:alpha val="12000"/>
              </a:srgbClr>
            </a:outerShdw>
          </a:effectLst>
        </p:spPr>
      </p:sp>
      <p:sp>
        <p:nvSpPr>
          <p:cNvPr id="17" name="Text 14"/>
          <p:cNvSpPr txBox="1"/>
          <p:nvPr/>
        </p:nvSpPr>
        <p:spPr>
          <a:xfrm>
            <a:off x="4594860" y="1783080"/>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REC-02  |  MAP-02</a:t>
            </a:r>
            <a:endParaRPr lang="en-US" sz="1200" dirty="0"/>
          </a:p>
        </p:txBody>
      </p:sp>
      <p:sp>
        <p:nvSpPr>
          <p:cNvPr id="18" name="Pill High"/>
          <p:cNvSpPr/>
          <p:nvPr/>
        </p:nvSpPr>
        <p:spPr>
          <a:xfrm>
            <a:off x="6926580" y="1764792"/>
            <a:ext cx="7315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9" name="Text 16"/>
          <p:cNvSpPr txBox="1"/>
          <p:nvPr/>
        </p:nvSpPr>
        <p:spPr>
          <a:xfrm>
            <a:off x="4594860" y="2194560"/>
            <a:ext cx="3063240" cy="8686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One witnessed restore on a test copy + filed steps</a:t>
            </a:r>
            <a:endParaRPr lang="en-US" sz="1700" dirty="0"/>
          </a:p>
        </p:txBody>
      </p:sp>
      <p:sp>
        <p:nvSpPr>
          <p:cNvPr id="20" name="Text 17"/>
          <p:cNvSpPr txBox="1"/>
          <p:nvPr/>
        </p:nvSpPr>
        <p:spPr>
          <a:xfrm>
            <a:off x="4594860" y="320040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Owner</a:t>
            </a:r>
            <a:endParaRPr lang="en-US" sz="1100" dirty="0"/>
          </a:p>
        </p:txBody>
      </p:sp>
      <p:sp>
        <p:nvSpPr>
          <p:cNvPr id="21" name="Text 18"/>
          <p:cNvSpPr txBox="1"/>
          <p:nvPr/>
        </p:nvSpPr>
        <p:spPr>
          <a:xfrm>
            <a:off x="5326380" y="3200400"/>
            <a:ext cx="2331720" cy="548640"/>
          </a:xfrm>
          <a:prstGeom prst="rect">
            <a:avLst/>
          </a:prstGeom>
          <a:noFill/>
          <a:ln/>
        </p:spPr>
        <p:txBody>
          <a:bodyPr wrap="square" lIns="0" tIns="0" rIns="0" bIns="0" rtlCol="0" anchor="ctr"/>
          <a:lstStyle/>
          <a:p>
            <a:pPr indent="0" marL="0">
              <a:buNone/>
            </a:pPr>
            <a:r>
              <a:rPr lang="en-US" sz="1300" dirty="0">
                <a:solidFill>
                  <a:schemeClr val="tx1"/>
                </a:solidFill>
              </a:rPr>
              <a:t>System Admin (ORG-03)</a:t>
            </a:r>
            <a:endParaRPr lang="en-US" sz="1300" dirty="0"/>
          </a:p>
        </p:txBody>
      </p:sp>
      <p:sp>
        <p:nvSpPr>
          <p:cNvPr id="22" name="Text 19"/>
          <p:cNvSpPr txBox="1"/>
          <p:nvPr/>
        </p:nvSpPr>
        <p:spPr>
          <a:xfrm>
            <a:off x="4594860" y="384048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Target</a:t>
            </a:r>
            <a:endParaRPr lang="en-US" sz="1100" dirty="0"/>
          </a:p>
        </p:txBody>
      </p:sp>
      <p:sp>
        <p:nvSpPr>
          <p:cNvPr id="23" name="Text 20"/>
          <p:cNvSpPr txBox="1"/>
          <p:nvPr/>
        </p:nvSpPr>
        <p:spPr>
          <a:xfrm>
            <a:off x="5326380" y="3840480"/>
            <a:ext cx="2331720" cy="548640"/>
          </a:xfrm>
          <a:prstGeom prst="rect">
            <a:avLst/>
          </a:prstGeom>
          <a:noFill/>
          <a:ln/>
        </p:spPr>
        <p:txBody>
          <a:bodyPr wrap="square" lIns="0" tIns="0" rIns="0" bIns="0" rtlCol="0" anchor="ctr"/>
          <a:lstStyle/>
          <a:p>
            <a:pPr indent="0" marL="0">
              <a:buNone/>
            </a:pPr>
            <a:r>
              <a:rPr lang="en-US" sz="1300" dirty="0">
                <a:solidFill>
                  <a:schemeClr val="tx1"/>
                </a:solidFill>
              </a:rPr>
              <a:t>Before final defense</a:t>
            </a:r>
            <a:endParaRPr lang="en-US" sz="1300" dirty="0"/>
          </a:p>
        </p:txBody>
      </p:sp>
      <p:sp>
        <p:nvSpPr>
          <p:cNvPr id="24" name="Text 21"/>
          <p:cNvSpPr txBox="1"/>
          <p:nvPr/>
        </p:nvSpPr>
        <p:spPr>
          <a:xfrm>
            <a:off x="4594860" y="448056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Result</a:t>
            </a:r>
            <a:endParaRPr lang="en-US" sz="1100" dirty="0"/>
          </a:p>
        </p:txBody>
      </p:sp>
      <p:sp>
        <p:nvSpPr>
          <p:cNvPr id="25" name="Text 22"/>
          <p:cNvSpPr txBox="1"/>
          <p:nvPr/>
        </p:nvSpPr>
        <p:spPr>
          <a:xfrm>
            <a:off x="5326380" y="4480560"/>
            <a:ext cx="2331720" cy="548640"/>
          </a:xfrm>
          <a:prstGeom prst="rect">
            <a:avLst/>
          </a:prstGeom>
          <a:noFill/>
          <a:ln/>
        </p:spPr>
        <p:txBody>
          <a:bodyPr wrap="square" lIns="0" tIns="0" rIns="0" bIns="0" rtlCol="0" anchor="ctr"/>
          <a:lstStyle/>
          <a:p>
            <a:pPr indent="0" marL="0">
              <a:buNone/>
            </a:pPr>
            <a:r>
              <a:rPr lang="en-US" sz="1300" dirty="0">
                <a:solidFill>
                  <a:schemeClr val="tx1"/>
                </a:solidFill>
              </a:rPr>
              <a:t>Recovery becomes demonstrable</a:t>
            </a:r>
            <a:endParaRPr lang="en-US" sz="1300" dirty="0"/>
          </a:p>
        </p:txBody>
      </p:sp>
      <p:sp>
        <p:nvSpPr>
          <p:cNvPr id="26" name="Card"/>
          <p:cNvSpPr/>
          <p:nvPr/>
        </p:nvSpPr>
        <p:spPr>
          <a:xfrm>
            <a:off x="8183880" y="1600200"/>
            <a:ext cx="3520440" cy="3611880"/>
          </a:xfrm>
          <a:prstGeom prst="roundRect">
            <a:avLst>
              <a:gd name="adj" fmla="val 2597"/>
            </a:avLst>
          </a:prstGeom>
          <a:solidFill>
            <a:schemeClr val="bg2"/>
          </a:solidFill>
          <a:ln/>
          <a:effectLst>
            <a:outerShdw sx="100000" sy="100000" kx="0" ky="0" algn="bl" rotWithShape="0" blurRad="101600" dist="25400" dir="5400000">
              <a:srgbClr val="14232E">
                <a:alpha val="12000"/>
              </a:srgbClr>
            </a:outerShdw>
          </a:effectLst>
        </p:spPr>
      </p:sp>
      <p:sp>
        <p:nvSpPr>
          <p:cNvPr id="27" name="Text 24"/>
          <p:cNvSpPr txBox="1"/>
          <p:nvPr/>
        </p:nvSpPr>
        <p:spPr>
          <a:xfrm>
            <a:off x="8412480" y="1783080"/>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REC-03  |  MAP-03</a:t>
            </a:r>
            <a:endParaRPr lang="en-US" sz="1200" dirty="0"/>
          </a:p>
        </p:txBody>
      </p:sp>
      <p:sp>
        <p:nvSpPr>
          <p:cNvPr id="28" name="Pill High"/>
          <p:cNvSpPr/>
          <p:nvPr/>
        </p:nvSpPr>
        <p:spPr>
          <a:xfrm>
            <a:off x="10744200" y="1764792"/>
            <a:ext cx="7315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8412480" y="2194560"/>
            <a:ext cx="3063240" cy="8686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Narrow staff views, hide names, log exports</a:t>
            </a:r>
            <a:endParaRPr lang="en-US" sz="1700" dirty="0"/>
          </a:p>
        </p:txBody>
      </p:sp>
      <p:sp>
        <p:nvSpPr>
          <p:cNvPr id="30" name="Text 27"/>
          <p:cNvSpPr txBox="1"/>
          <p:nvPr/>
        </p:nvSpPr>
        <p:spPr>
          <a:xfrm>
            <a:off x="8412480" y="320040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Owner</a:t>
            </a:r>
            <a:endParaRPr lang="en-US" sz="1100" dirty="0"/>
          </a:p>
        </p:txBody>
      </p:sp>
      <p:sp>
        <p:nvSpPr>
          <p:cNvPr id="31" name="Text 28"/>
          <p:cNvSpPr txBox="1"/>
          <p:nvPr/>
        </p:nvSpPr>
        <p:spPr>
          <a:xfrm>
            <a:off x="9144000" y="3200400"/>
            <a:ext cx="2331720" cy="548640"/>
          </a:xfrm>
          <a:prstGeom prst="rect">
            <a:avLst/>
          </a:prstGeom>
          <a:noFill/>
          <a:ln/>
        </p:spPr>
        <p:txBody>
          <a:bodyPr wrap="square" lIns="0" tIns="0" rIns="0" bIns="0" rtlCol="0" anchor="ctr"/>
          <a:lstStyle/>
          <a:p>
            <a:pPr indent="0" marL="0">
              <a:buNone/>
            </a:pPr>
            <a:r>
              <a:rPr lang="en-US" sz="1300" dirty="0">
                <a:solidFill>
                  <a:schemeClr val="tx1"/>
                </a:solidFill>
              </a:rPr>
              <a:t>Privacy role (ORG-05)</a:t>
            </a:r>
            <a:endParaRPr lang="en-US" sz="1300" dirty="0"/>
          </a:p>
        </p:txBody>
      </p:sp>
      <p:sp>
        <p:nvSpPr>
          <p:cNvPr id="32" name="Text 29"/>
          <p:cNvSpPr txBox="1"/>
          <p:nvPr/>
        </p:nvSpPr>
        <p:spPr>
          <a:xfrm>
            <a:off x="8412480" y="384048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Target</a:t>
            </a:r>
            <a:endParaRPr lang="en-US" sz="1100" dirty="0"/>
          </a:p>
        </p:txBody>
      </p:sp>
      <p:sp>
        <p:nvSpPr>
          <p:cNvPr id="33" name="Text 30"/>
          <p:cNvSpPr txBox="1"/>
          <p:nvPr/>
        </p:nvSpPr>
        <p:spPr>
          <a:xfrm>
            <a:off x="9144000" y="3840480"/>
            <a:ext cx="2331720" cy="548640"/>
          </a:xfrm>
          <a:prstGeom prst="rect">
            <a:avLst/>
          </a:prstGeom>
          <a:noFill/>
          <a:ln/>
        </p:spPr>
        <p:txBody>
          <a:bodyPr wrap="square" lIns="0" tIns="0" rIns="0" bIns="0" rtlCol="0" anchor="ctr"/>
          <a:lstStyle/>
          <a:p>
            <a:pPr indent="0" marL="0">
              <a:buNone/>
            </a:pPr>
            <a:r>
              <a:rPr lang="en-US" sz="1300" dirty="0">
                <a:solidFill>
                  <a:schemeClr val="tx1"/>
                </a:solidFill>
              </a:rPr>
              <a:t>Next release</a:t>
            </a:r>
            <a:endParaRPr lang="en-US" sz="1300" dirty="0"/>
          </a:p>
        </p:txBody>
      </p:sp>
      <p:sp>
        <p:nvSpPr>
          <p:cNvPr id="34" name="Text 31"/>
          <p:cNvSpPr txBox="1"/>
          <p:nvPr/>
        </p:nvSpPr>
        <p:spPr>
          <a:xfrm>
            <a:off x="8412480" y="448056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Result</a:t>
            </a:r>
            <a:endParaRPr lang="en-US" sz="1100" dirty="0"/>
          </a:p>
        </p:txBody>
      </p:sp>
      <p:sp>
        <p:nvSpPr>
          <p:cNvPr id="35" name="Text 32"/>
          <p:cNvSpPr txBox="1"/>
          <p:nvPr/>
        </p:nvSpPr>
        <p:spPr>
          <a:xfrm>
            <a:off x="9144000" y="4480560"/>
            <a:ext cx="2331720" cy="548640"/>
          </a:xfrm>
          <a:prstGeom prst="rect">
            <a:avLst/>
          </a:prstGeom>
          <a:noFill/>
          <a:ln/>
        </p:spPr>
        <p:txBody>
          <a:bodyPr wrap="square" lIns="0" tIns="0" rIns="0" bIns="0" rtlCol="0" anchor="ctr"/>
          <a:lstStyle/>
          <a:p>
            <a:pPr indent="0" marL="0">
              <a:buNone/>
            </a:pPr>
            <a:r>
              <a:rPr lang="en-US" sz="1300" dirty="0">
                <a:solidFill>
                  <a:schemeClr val="tx1"/>
                </a:solidFill>
              </a:rPr>
              <a:t>Borrower rows visible only to need-to-know roles</a:t>
            </a:r>
            <a:endParaRPr lang="en-US" sz="1300" dirty="0"/>
          </a:p>
        </p:txBody>
      </p:sp>
      <p:sp>
        <p:nvSpPr>
          <p:cNvPr id="36" name="Card"/>
          <p:cNvSpPr/>
          <p:nvPr/>
        </p:nvSpPr>
        <p:spPr>
          <a:xfrm>
            <a:off x="548640" y="5440680"/>
            <a:ext cx="11094415" cy="777240"/>
          </a:xfrm>
          <a:prstGeom prst="roundRect">
            <a:avLst>
              <a:gd name="adj" fmla="val 11765"/>
            </a:avLst>
          </a:prstGeom>
          <a:solidFill>
            <a:schemeClr val="accent5">
              <a:alpha val="12000"/>
            </a:schemeClr>
          </a:solidFill>
          <a:ln/>
        </p:spPr>
      </p:sp>
      <p:sp>
        <p:nvSpPr>
          <p:cNvPr id="37" name="Text 34"/>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400" b="1" dirty="0">
                <a:solidFill>
                  <a:schemeClr val="tx1"/>
                </a:solidFill>
              </a:rPr>
              <a:t>All three are OUR PROPOSALS - no action is claimed as management-approved unless the owner confirms it. That honesty is part of the audit standard we followed.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This Audit DOES NOT Say (professional honesty)</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Balanced assurance language - conclusions cover only what was tested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Icon circle"/>
          <p:cNvSpPr/>
          <p:nvPr/>
        </p:nvSpPr>
        <p:spPr>
          <a:xfrm>
            <a:off x="548640" y="1755648"/>
            <a:ext cx="548640" cy="548640"/>
          </a:xfrm>
          <a:prstGeom prst="ellipse">
            <a:avLst/>
          </a:prstGeom>
          <a:solidFill>
            <a:schemeClr val="accent6"/>
          </a:solidFill>
          <a:ln/>
        </p:spPr>
      </p:sp>
      <p:pic>
        <p:nvPicPr>
          <p:cNvPr id="7" name="Icon" descr="preencoded.png">    </p:cNvPr>
          <p:cNvPicPr>
            <a:picLocks noChangeAspect="1"/>
          </p:cNvPicPr>
          <p:nvPr/>
        </p:nvPicPr>
        <p:blipFill>
          <a:blip r:embed="rId1"/>
          <a:stretch>
            <a:fillRect/>
          </a:stretch>
        </p:blipFill>
        <p:spPr>
          <a:xfrm>
            <a:off x="702259" y="1909267"/>
            <a:ext cx="241402" cy="241402"/>
          </a:xfrm>
          <a:prstGeom prst="rect">
            <a:avLst/>
          </a:prstGeom>
        </p:spPr>
      </p:pic>
      <p:sp>
        <p:nvSpPr>
          <p:cNvPr id="8" name="Text 4"/>
          <p:cNvSpPr txBox="1"/>
          <p:nvPr/>
        </p:nvSpPr>
        <p:spPr>
          <a:xfrm>
            <a:off x="1325880" y="1645920"/>
            <a:ext cx="5120640" cy="777240"/>
          </a:xfrm>
          <a:prstGeom prst="rect">
            <a:avLst/>
          </a:prstGeom>
          <a:noFill/>
          <a:ln/>
        </p:spPr>
        <p:txBody>
          <a:bodyPr wrap="square" lIns="0" tIns="0" rIns="0" bIns="0" rtlCol="0" anchor="ctr"/>
          <a:lstStyle/>
          <a:p>
            <a:pPr indent="0" marL="0">
              <a:buNone/>
            </a:pPr>
            <a:r>
              <a:rPr lang="en-US" sz="1400" dirty="0">
                <a:solidFill>
                  <a:schemeClr val="tx1"/>
                </a:solidFill>
              </a:rPr>
              <a:t>Environment: evidence from demo build + test site only - not live production data</a:t>
            </a:r>
            <a:endParaRPr lang="en-US" sz="1400" dirty="0"/>
          </a:p>
        </p:txBody>
      </p:sp>
      <p:sp>
        <p:nvSpPr>
          <p:cNvPr id="9" name="Icon circle"/>
          <p:cNvSpPr/>
          <p:nvPr/>
        </p:nvSpPr>
        <p:spPr>
          <a:xfrm>
            <a:off x="548640" y="2651760"/>
            <a:ext cx="548640" cy="548640"/>
          </a:xfrm>
          <a:prstGeom prst="ellipse">
            <a:avLst/>
          </a:prstGeom>
          <a:solidFill>
            <a:schemeClr val="accent6"/>
          </a:solidFill>
          <a:ln/>
        </p:spPr>
      </p:sp>
      <p:pic>
        <p:nvPicPr>
          <p:cNvPr id="10" name="Icon" descr="preencoded.png">    </p:cNvPr>
          <p:cNvPicPr>
            <a:picLocks noChangeAspect="1"/>
          </p:cNvPicPr>
          <p:nvPr/>
        </p:nvPicPr>
        <p:blipFill>
          <a:blip r:embed="rId2"/>
          <a:stretch>
            <a:fillRect/>
          </a:stretch>
        </p:blipFill>
        <p:spPr>
          <a:xfrm>
            <a:off x="702259" y="2805379"/>
            <a:ext cx="241402" cy="241402"/>
          </a:xfrm>
          <a:prstGeom prst="rect">
            <a:avLst/>
          </a:prstGeom>
        </p:spPr>
      </p:pic>
      <p:sp>
        <p:nvSpPr>
          <p:cNvPr id="11" name="Text 6"/>
          <p:cNvSpPr txBox="1"/>
          <p:nvPr/>
        </p:nvSpPr>
        <p:spPr>
          <a:xfrm>
            <a:off x="1325880" y="2542032"/>
            <a:ext cx="5120640" cy="777240"/>
          </a:xfrm>
          <a:prstGeom prst="rect">
            <a:avLst/>
          </a:prstGeom>
          <a:noFill/>
          <a:ln/>
        </p:spPr>
        <p:txBody>
          <a:bodyPr wrap="square" lIns="0" tIns="0" rIns="0" bIns="0" rtlCol="0" anchor="ctr"/>
          <a:lstStyle/>
          <a:p>
            <a:pPr indent="0" marL="0">
              <a:buNone/>
            </a:pPr>
            <a:r>
              <a:rPr lang="en-US" sz="1400" dirty="0">
                <a:solidFill>
                  <a:schemeClr val="tx1"/>
                </a:solidFill>
              </a:rPr>
              <a:t>No attack testing, no live restore, no real student records (approved scope limits)</a:t>
            </a:r>
            <a:endParaRPr lang="en-US" sz="1400" dirty="0"/>
          </a:p>
        </p:txBody>
      </p:sp>
      <p:sp>
        <p:nvSpPr>
          <p:cNvPr id="12" name="Icon circle"/>
          <p:cNvSpPr/>
          <p:nvPr/>
        </p:nvSpPr>
        <p:spPr>
          <a:xfrm>
            <a:off x="548640" y="3547872"/>
            <a:ext cx="548640" cy="548640"/>
          </a:xfrm>
          <a:prstGeom prst="ellipse">
            <a:avLst/>
          </a:prstGeom>
          <a:solidFill>
            <a:schemeClr val="accent6"/>
          </a:solidFill>
          <a:ln/>
        </p:spPr>
      </p:sp>
      <p:pic>
        <p:nvPicPr>
          <p:cNvPr id="13" name="Icon" descr="preencoded.png">    </p:cNvPr>
          <p:cNvPicPr>
            <a:picLocks noChangeAspect="1"/>
          </p:cNvPicPr>
          <p:nvPr/>
        </p:nvPicPr>
        <p:blipFill>
          <a:blip r:embed="rId3"/>
          <a:stretch>
            <a:fillRect/>
          </a:stretch>
        </p:blipFill>
        <p:spPr>
          <a:xfrm>
            <a:off x="702259" y="3701491"/>
            <a:ext cx="241402" cy="241402"/>
          </a:xfrm>
          <a:prstGeom prst="rect">
            <a:avLst/>
          </a:prstGeom>
        </p:spPr>
      </p:pic>
      <p:sp>
        <p:nvSpPr>
          <p:cNvPr id="14" name="Text 8"/>
          <p:cNvSpPr txBox="1"/>
          <p:nvPr/>
        </p:nvSpPr>
        <p:spPr>
          <a:xfrm>
            <a:off x="1325880" y="3438144"/>
            <a:ext cx="5120640" cy="777240"/>
          </a:xfrm>
          <a:prstGeom prst="rect">
            <a:avLst/>
          </a:prstGeom>
          <a:noFill/>
          <a:ln/>
        </p:spPr>
        <p:txBody>
          <a:bodyPr wrap="square" lIns="0" tIns="0" rIns="0" bIns="0" rtlCol="0" anchor="ctr"/>
          <a:lstStyle/>
          <a:p>
            <a:pPr indent="0" marL="0">
              <a:buNone/>
            </a:pPr>
            <a:r>
              <a:rPr lang="en-US" sz="1400" dirty="0">
                <a:solidFill>
                  <a:schemeClr val="tx1"/>
                </a:solidFill>
              </a:rPr>
              <a:t>Compliance items CMP-05 (restore) and CMP-07 (Google terms) stay NOT DETERMINED</a:t>
            </a:r>
            <a:endParaRPr lang="en-US" sz="1400" dirty="0"/>
          </a:p>
        </p:txBody>
      </p:sp>
      <p:sp>
        <p:nvSpPr>
          <p:cNvPr id="15" name="Icon circle"/>
          <p:cNvSpPr/>
          <p:nvPr/>
        </p:nvSpPr>
        <p:spPr>
          <a:xfrm>
            <a:off x="548640" y="4443984"/>
            <a:ext cx="548640" cy="548640"/>
          </a:xfrm>
          <a:prstGeom prst="ellipse">
            <a:avLst/>
          </a:prstGeom>
          <a:solidFill>
            <a:schemeClr val="accent6"/>
          </a:solidFill>
          <a:ln/>
        </p:spPr>
      </p:sp>
      <p:pic>
        <p:nvPicPr>
          <p:cNvPr id="16" name="Icon" descr="preencoded.png">    </p:cNvPr>
          <p:cNvPicPr>
            <a:picLocks noChangeAspect="1"/>
          </p:cNvPicPr>
          <p:nvPr/>
        </p:nvPicPr>
        <p:blipFill>
          <a:blip r:embed="rId4"/>
          <a:stretch>
            <a:fillRect/>
          </a:stretch>
        </p:blipFill>
        <p:spPr>
          <a:xfrm>
            <a:off x="702259" y="4597603"/>
            <a:ext cx="241402" cy="241402"/>
          </a:xfrm>
          <a:prstGeom prst="rect">
            <a:avLst/>
          </a:prstGeom>
        </p:spPr>
      </p:pic>
      <p:sp>
        <p:nvSpPr>
          <p:cNvPr id="17" name="Text 10"/>
          <p:cNvSpPr txBox="1"/>
          <p:nvPr/>
        </p:nvSpPr>
        <p:spPr>
          <a:xfrm>
            <a:off x="1325880" y="4334256"/>
            <a:ext cx="5120640" cy="777240"/>
          </a:xfrm>
          <a:prstGeom prst="rect">
            <a:avLst/>
          </a:prstGeom>
          <a:noFill/>
          <a:ln/>
        </p:spPr>
        <p:txBody>
          <a:bodyPr wrap="square" lIns="0" tIns="0" rIns="0" bIns="0" rtlCol="0" anchor="ctr"/>
          <a:lstStyle/>
          <a:p>
            <a:pPr indent="0" marL="0">
              <a:buNone/>
            </a:pPr>
            <a:r>
              <a:rPr lang="en-US" sz="1400" dirty="0">
                <a:solidFill>
                  <a:schemeClr val="tx1"/>
                </a:solidFill>
              </a:rPr>
              <a:t>Samples are small because the system is small - populations honestly listed</a:t>
            </a:r>
            <a:endParaRPr lang="en-US" sz="1400" dirty="0"/>
          </a:p>
        </p:txBody>
      </p:sp>
      <p:sp>
        <p:nvSpPr>
          <p:cNvPr id="18" name="Icon circle"/>
          <p:cNvSpPr/>
          <p:nvPr/>
        </p:nvSpPr>
        <p:spPr>
          <a:xfrm>
            <a:off x="548640" y="5340096"/>
            <a:ext cx="548640" cy="548640"/>
          </a:xfrm>
          <a:prstGeom prst="ellipse">
            <a:avLst/>
          </a:prstGeom>
          <a:solidFill>
            <a:schemeClr val="accent6"/>
          </a:solidFill>
          <a:ln/>
        </p:spPr>
      </p:sp>
      <p:pic>
        <p:nvPicPr>
          <p:cNvPr id="19" name="Icon" descr="preencoded.png">    </p:cNvPr>
          <p:cNvPicPr>
            <a:picLocks noChangeAspect="1"/>
          </p:cNvPicPr>
          <p:nvPr/>
        </p:nvPicPr>
        <p:blipFill>
          <a:blip r:embed="rId5"/>
          <a:stretch>
            <a:fillRect/>
          </a:stretch>
        </p:blipFill>
        <p:spPr>
          <a:xfrm>
            <a:off x="702259" y="5493715"/>
            <a:ext cx="241402" cy="241402"/>
          </a:xfrm>
          <a:prstGeom prst="rect">
            <a:avLst/>
          </a:prstGeom>
        </p:spPr>
      </p:pic>
      <p:sp>
        <p:nvSpPr>
          <p:cNvPr id="20" name="Text 12"/>
          <p:cNvSpPr txBox="1"/>
          <p:nvPr/>
        </p:nvSpPr>
        <p:spPr>
          <a:xfrm>
            <a:off x="1325880" y="5230368"/>
            <a:ext cx="5120640" cy="777240"/>
          </a:xfrm>
          <a:prstGeom prst="rect">
            <a:avLst/>
          </a:prstGeom>
          <a:noFill/>
          <a:ln/>
        </p:spPr>
        <p:txBody>
          <a:bodyPr wrap="square" lIns="0" tIns="0" rIns="0" bIns="0" rtlCol="0" anchor="ctr"/>
          <a:lstStyle/>
          <a:p>
            <a:pPr indent="0" marL="0">
              <a:buNone/>
            </a:pPr>
            <a:r>
              <a:rPr lang="en-US" sz="1400" dirty="0">
                <a:solidFill>
                  <a:schemeClr val="tx1"/>
                </a:solidFill>
              </a:rPr>
              <a:t>Conclusion: needs improvement, NOT 'system is broken' - 4/6 controls fully effective</a:t>
            </a:r>
            <a:endParaRPr lang="en-US" sz="1400" dirty="0"/>
          </a:p>
        </p:txBody>
      </p:sp>
      <p:sp>
        <p:nvSpPr>
          <p:cNvPr id="21" name="Card"/>
          <p:cNvSpPr/>
          <p:nvPr/>
        </p:nvSpPr>
        <p:spPr>
          <a:xfrm>
            <a:off x="6858000" y="1600200"/>
            <a:ext cx="4782312" cy="4617720"/>
          </a:xfrm>
          <a:prstGeom prst="roundRect">
            <a:avLst>
              <a:gd name="adj" fmla="val 1980"/>
            </a:avLst>
          </a:prstGeom>
          <a:solidFill>
            <a:schemeClr val="tx2"/>
          </a:solidFill>
          <a:ln/>
        </p:spPr>
      </p:sp>
      <p:sp>
        <p:nvSpPr>
          <p:cNvPr id="22" name="Icon circle"/>
          <p:cNvSpPr/>
          <p:nvPr/>
        </p:nvSpPr>
        <p:spPr>
          <a:xfrm>
            <a:off x="7132320" y="1828800"/>
            <a:ext cx="594360" cy="594360"/>
          </a:xfrm>
          <a:prstGeom prst="ellipse">
            <a:avLst/>
          </a:prstGeom>
          <a:solidFill>
            <a:schemeClr val="accent5"/>
          </a:solidFill>
          <a:ln/>
        </p:spPr>
      </p:sp>
      <p:pic>
        <p:nvPicPr>
          <p:cNvPr id="23" name="Icon" descr="preencoded.png">    </p:cNvPr>
          <p:cNvPicPr>
            <a:picLocks noChangeAspect="1"/>
          </p:cNvPicPr>
          <p:nvPr/>
        </p:nvPicPr>
        <p:blipFill>
          <a:blip r:embed="rId6"/>
          <a:stretch>
            <a:fillRect/>
          </a:stretch>
        </p:blipFill>
        <p:spPr>
          <a:xfrm>
            <a:off x="7298741" y="1995221"/>
            <a:ext cx="261518" cy="261518"/>
          </a:xfrm>
          <a:prstGeom prst="rect">
            <a:avLst/>
          </a:prstGeom>
        </p:spPr>
      </p:pic>
      <p:sp>
        <p:nvSpPr>
          <p:cNvPr id="24" name="Text 15"/>
          <p:cNvSpPr txBox="1"/>
          <p:nvPr/>
        </p:nvSpPr>
        <p:spPr>
          <a:xfrm>
            <a:off x="7909560" y="1828800"/>
            <a:ext cx="3474720" cy="59436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Change after cutoff - handled correctly</a:t>
            </a:r>
            <a:endParaRPr lang="en-US" sz="1700" dirty="0"/>
          </a:p>
        </p:txBody>
      </p:sp>
      <p:sp>
        <p:nvSpPr>
          <p:cNvPr id="25" name="Text 16"/>
          <p:cNvSpPr txBox="1"/>
          <p:nvPr/>
        </p:nvSpPr>
        <p:spPr>
          <a:xfrm>
            <a:off x="7132320" y="2697480"/>
            <a:ext cx="4251960" cy="1097280"/>
          </a:xfrm>
          <a:prstGeom prst="rect">
            <a:avLst/>
          </a:prstGeom>
          <a:noFill/>
          <a:ln/>
        </p:spPr>
        <p:txBody>
          <a:bodyPr wrap="square" lIns="0" tIns="0" rIns="0" bIns="0" rtlCol="0" anchor="t"/>
          <a:lstStyle/>
          <a:p>
            <a:pPr indent="0" marL="0">
              <a:buNone/>
            </a:pPr>
            <a:r>
              <a:rPr lang="en-US" sz="1300" dirty="0">
                <a:solidFill>
                  <a:schemeClr val="bg2"/>
                </a:solidFill>
              </a:rPr>
              <a:t>BLD-06 @ c20f98e (Oct 11-20): inventory shared-session fixes + set-based reconcile + condition modal + Philippine-time timestamps</a:t>
            </a:r>
            <a:endParaRPr lang="en-US" sz="1300" dirty="0"/>
          </a:p>
        </p:txBody>
      </p:sp>
      <p:sp>
        <p:nvSpPr>
          <p:cNvPr id="26" name="Text 17"/>
          <p:cNvSpPr txBox="1"/>
          <p:nvPr/>
        </p:nvSpPr>
        <p:spPr>
          <a:xfrm>
            <a:off x="7132320" y="3886200"/>
            <a:ext cx="4251960" cy="914400"/>
          </a:xfrm>
          <a:prstGeom prst="rect">
            <a:avLst/>
          </a:prstGeom>
          <a:noFill/>
          <a:ln/>
        </p:spPr>
        <p:txBody>
          <a:bodyPr wrap="square" lIns="0" tIns="0" rIns="0" bIns="0" rtlCol="0" anchor="t"/>
          <a:lstStyle/>
          <a:p>
            <a:pPr indent="0" marL="0">
              <a:buNone/>
            </a:pPr>
            <a:r>
              <a:rPr lang="en-US" sz="1400" b="1" dirty="0">
                <a:solidFill>
                  <a:schemeClr val="bg1"/>
                </a:solidFill>
              </a:rPr>
              <a:t>NOT tested - arrives after the 2026-10-10 cutoff, so it is DISCLOSED, not absorbed into results</a:t>
            </a:r>
            <a:endParaRPr lang="en-US" sz="1400" dirty="0"/>
          </a:p>
        </p:txBody>
      </p:sp>
      <p:sp>
        <p:nvSpPr>
          <p:cNvPr id="27" name="Text 18"/>
          <p:cNvSpPr txBox="1"/>
          <p:nvPr/>
        </p:nvSpPr>
        <p:spPr>
          <a:xfrm>
            <a:off x="7132320" y="4937760"/>
            <a:ext cx="4251960" cy="1097280"/>
          </a:xfrm>
          <a:prstGeom prst="rect">
            <a:avLst/>
          </a:prstGeom>
          <a:noFill/>
          <a:ln/>
        </p:spPr>
        <p:txBody>
          <a:bodyPr wrap="square" lIns="0" tIns="0" rIns="0" bIns="0" rtlCol="0" anchor="t"/>
          <a:lstStyle/>
          <a:p>
            <a:pPr indent="0" marL="0">
              <a:buNone/>
            </a:pPr>
            <a:r>
              <a:rPr lang="en-US" sz="1300" dirty="0">
                <a:solidFill>
                  <a:schemeClr val="bg2"/>
                </a:solidFill>
              </a:rPr>
              <a:t>Flag: re-run TEST-03 (fine/due-date math) after deploy - timestamps could shift fine displays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Overall Conclusion - Needs Improvement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bg2"/>
                </a:solidFill>
              </a:rPr>
              <a:t>Pending remediation - built on effective tests + honest gaps + unconfirmed actions</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Presenter: Justin C. Batlangao</a:t>
            </a:r>
            <a:endParaRPr lang="en-US" sz="1100" dirty="0"/>
          </a:p>
        </p:txBody>
      </p:sp>
      <p:sp>
        <p:nvSpPr>
          <p:cNvPr id="6" name="Card"/>
          <p:cNvSpPr/>
          <p:nvPr/>
        </p:nvSpPr>
        <p:spPr>
          <a:xfrm>
            <a:off x="548640" y="1600200"/>
            <a:ext cx="4206240" cy="4617720"/>
          </a:xfrm>
          <a:prstGeom prst="roundRect">
            <a:avLst>
              <a:gd name="adj" fmla="val 2174"/>
            </a:avLst>
          </a:prstGeom>
          <a:solidFill>
            <a:schemeClr val="accent5"/>
          </a:solidFill>
          <a:ln/>
        </p:spPr>
      </p:sp>
      <p:sp>
        <p:nvSpPr>
          <p:cNvPr id="7" name="Text 4"/>
          <p:cNvSpPr txBox="1"/>
          <p:nvPr/>
        </p:nvSpPr>
        <p:spPr>
          <a:xfrm>
            <a:off x="868680" y="1828800"/>
            <a:ext cx="3566160" cy="274320"/>
          </a:xfrm>
          <a:prstGeom prst="rect">
            <a:avLst/>
          </a:prstGeom>
          <a:noFill/>
          <a:ln/>
        </p:spPr>
        <p:txBody>
          <a:bodyPr wrap="square" lIns="0" tIns="0" rIns="0" bIns="0" rtlCol="0" anchor="t"/>
          <a:lstStyle/>
          <a:p>
            <a:pPr indent="0" marL="0">
              <a:buNone/>
            </a:pPr>
            <a:r>
              <a:rPr lang="en-US" sz="1300" b="1" spc="300" kern="0" dirty="0">
                <a:solidFill>
                  <a:schemeClr val="bg1"/>
                </a:solidFill>
              </a:rPr>
              <a:t>VERDICT</a:t>
            </a:r>
            <a:endParaRPr lang="en-US" sz="1300" dirty="0"/>
          </a:p>
        </p:txBody>
      </p:sp>
      <p:sp>
        <p:nvSpPr>
          <p:cNvPr id="8" name="Text 5"/>
          <p:cNvSpPr txBox="1"/>
          <p:nvPr/>
        </p:nvSpPr>
        <p:spPr>
          <a:xfrm>
            <a:off x="868680" y="2194560"/>
            <a:ext cx="356616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Needs Improvement</a:t>
            </a:r>
            <a:endParaRPr lang="en-US" sz="3600" dirty="0"/>
          </a:p>
        </p:txBody>
      </p:sp>
      <p:sp>
        <p:nvSpPr>
          <p:cNvPr id="9" name="Text 6"/>
          <p:cNvSpPr txBox="1"/>
          <p:nvPr/>
        </p:nvSpPr>
        <p:spPr>
          <a:xfrm>
            <a:off x="868680" y="3566160"/>
            <a:ext cx="3566160" cy="2468880"/>
          </a:xfrm>
          <a:prstGeom prst="rect">
            <a:avLst/>
          </a:prstGeom>
          <a:noFill/>
          <a:ln/>
        </p:spPr>
        <p:txBody>
          <a:bodyPr wrap="square" lIns="0" tIns="0" rIns="0" bIns="0" rtlCol="0" anchor="t"/>
          <a:lstStyle/>
          <a:p>
            <a:pPr indent="0" marL="0">
              <a:buNone/>
            </a:pPr>
            <a:r>
              <a:rPr lang="en-US" sz="1400" dirty="0">
                <a:solidFill>
                  <a:schemeClr val="bg1"/>
                </a:solidFill>
              </a:rPr>
              <a:t>Conclusion covers tested builds BLD-04/05 up to cutoff 2026-10-10. 6/8 controls designed adequate-or-partial; 4/6 tests fully effective; 3 High findings open with no confirmed response yet.</a:t>
            </a:r>
            <a:endParaRPr lang="en-US" sz="1400" dirty="0"/>
          </a:p>
        </p:txBody>
      </p:sp>
      <p:sp>
        <p:nvSpPr>
          <p:cNvPr id="10" name="Card"/>
          <p:cNvSpPr/>
          <p:nvPr/>
        </p:nvSpPr>
        <p:spPr>
          <a:xfrm>
            <a:off x="5029200" y="1600200"/>
            <a:ext cx="3200400" cy="4617720"/>
          </a:xfrm>
          <a:prstGeom prst="roundRect">
            <a:avLst>
              <a:gd name="adj" fmla="val 2857"/>
            </a:avLst>
          </a:prstGeom>
          <a:solidFill>
            <a:schemeClr val="bg1">
              <a:alpha val="8000"/>
            </a:schemeClr>
          </a:solidFill>
          <a:ln/>
        </p:spPr>
      </p:sp>
      <p:sp>
        <p:nvSpPr>
          <p:cNvPr id="11" name="Icon circle"/>
          <p:cNvSpPr/>
          <p:nvPr/>
        </p:nvSpPr>
        <p:spPr>
          <a:xfrm>
            <a:off x="5257800" y="1783080"/>
            <a:ext cx="457200" cy="457200"/>
          </a:xfrm>
          <a:prstGeom prst="ellipse">
            <a:avLst/>
          </a:prstGeom>
          <a:solidFill>
            <a:schemeClr val="accent4"/>
          </a:solidFill>
          <a:ln/>
        </p:spPr>
      </p:sp>
      <p:pic>
        <p:nvPicPr>
          <p:cNvPr id="12" name="Icon" descr="preencoded.png">    </p:cNvPr>
          <p:cNvPicPr>
            <a:picLocks noChangeAspect="1"/>
          </p:cNvPicPr>
          <p:nvPr/>
        </p:nvPicPr>
        <p:blipFill>
          <a:blip r:embed="rId1"/>
          <a:stretch>
            <a:fillRect/>
          </a:stretch>
        </p:blipFill>
        <p:spPr>
          <a:xfrm>
            <a:off x="5385816" y="1911096"/>
            <a:ext cx="201168" cy="201168"/>
          </a:xfrm>
          <a:prstGeom prst="rect">
            <a:avLst/>
          </a:prstGeom>
        </p:spPr>
      </p:pic>
      <p:sp>
        <p:nvSpPr>
          <p:cNvPr id="13" name="Text 9"/>
          <p:cNvSpPr txBox="1"/>
          <p:nvPr/>
        </p:nvSpPr>
        <p:spPr>
          <a:xfrm>
            <a:off x="5852160" y="1737360"/>
            <a:ext cx="2194560" cy="548640"/>
          </a:xfrm>
          <a:prstGeom prst="rect">
            <a:avLst/>
          </a:prstGeom>
          <a:noFill/>
          <a:ln/>
        </p:spPr>
        <p:txBody>
          <a:bodyPr wrap="square" lIns="0" tIns="0" rIns="0" bIns="0" rtlCol="0" anchor="ctr"/>
          <a:lstStyle/>
          <a:p>
            <a:pPr indent="0" marL="0">
              <a:buNone/>
            </a:pPr>
            <a:r>
              <a:rPr lang="en-US" sz="1400" b="1" dirty="0">
                <a:solidFill>
                  <a:schemeClr val="bg1"/>
                </a:solidFill>
              </a:rPr>
              <a:t>What WORKS (tested, 0 exceptions)</a:t>
            </a:r>
            <a:endParaRPr lang="en-US" sz="1400" dirty="0"/>
          </a:p>
        </p:txBody>
      </p:sp>
      <p:sp>
        <p:nvSpPr>
          <p:cNvPr id="14" name="Text 10"/>
          <p:cNvSpPr txBox="1"/>
          <p:nvPr/>
        </p:nvSpPr>
        <p:spPr>
          <a:xfrm>
            <a:off x="5303520" y="2514600"/>
            <a:ext cx="2697480" cy="822960"/>
          </a:xfrm>
          <a:prstGeom prst="rect">
            <a:avLst/>
          </a:prstGeom>
          <a:noFill/>
          <a:ln/>
        </p:spPr>
        <p:txBody>
          <a:bodyPr wrap="square" lIns="0" tIns="0" rIns="0" bIns="0" rtlCol="0" anchor="ctr"/>
          <a:lstStyle/>
          <a:p>
            <a:pPr indent="0" marL="0">
              <a:buNone/>
            </a:pPr>
            <a:r>
              <a:rPr lang="en-US" sz="1400" dirty="0">
                <a:solidFill>
                  <a:schemeClr val="bg1"/>
                </a:solidFill>
              </a:rPr>
              <a:t>Wrong-role access blocked 10/10 - CTL-01</a:t>
            </a:r>
            <a:endParaRPr lang="en-US" sz="1400" dirty="0"/>
          </a:p>
        </p:txBody>
      </p:sp>
      <p:sp>
        <p:nvSpPr>
          <p:cNvPr id="15" name="Text 11"/>
          <p:cNvSpPr txBox="1"/>
          <p:nvPr/>
        </p:nvSpPr>
        <p:spPr>
          <a:xfrm>
            <a:off x="5303520" y="3410712"/>
            <a:ext cx="2697480" cy="822960"/>
          </a:xfrm>
          <a:prstGeom prst="rect">
            <a:avLst/>
          </a:prstGeom>
          <a:noFill/>
          <a:ln/>
        </p:spPr>
        <p:txBody>
          <a:bodyPr wrap="square" lIns="0" tIns="0" rIns="0" bIns="0" rtlCol="0" anchor="ctr"/>
          <a:lstStyle/>
          <a:p>
            <a:pPr indent="0" marL="0">
              <a:buNone/>
            </a:pPr>
            <a:r>
              <a:rPr lang="en-US" sz="1400" dirty="0">
                <a:solidFill>
                  <a:schemeClr val="bg1"/>
                </a:solidFill>
              </a:rPr>
              <a:t>CSV checks add-good / skip-bad with logs</a:t>
            </a:r>
            <a:endParaRPr lang="en-US" sz="1400" dirty="0"/>
          </a:p>
        </p:txBody>
      </p:sp>
      <p:sp>
        <p:nvSpPr>
          <p:cNvPr id="16" name="Text 12"/>
          <p:cNvSpPr txBox="1"/>
          <p:nvPr/>
        </p:nvSpPr>
        <p:spPr>
          <a:xfrm>
            <a:off x="5303520" y="4306824"/>
            <a:ext cx="2697480" cy="822960"/>
          </a:xfrm>
          <a:prstGeom prst="rect">
            <a:avLst/>
          </a:prstGeom>
          <a:noFill/>
          <a:ln/>
        </p:spPr>
        <p:txBody>
          <a:bodyPr wrap="square" lIns="0" tIns="0" rIns="0" bIns="0" rtlCol="0" anchor="ctr"/>
          <a:lstStyle/>
          <a:p>
            <a:pPr indent="0" marL="0">
              <a:buNone/>
            </a:pPr>
            <a:r>
              <a:rPr lang="en-US" sz="1400" dirty="0">
                <a:solidFill>
                  <a:schemeClr val="bg1"/>
                </a:solidFill>
              </a:rPr>
              <a:t>Full audit trail on desk work + delete guards</a:t>
            </a:r>
            <a:endParaRPr lang="en-US" sz="1400" dirty="0"/>
          </a:p>
        </p:txBody>
      </p:sp>
      <p:sp>
        <p:nvSpPr>
          <p:cNvPr id="17" name="Text 13"/>
          <p:cNvSpPr txBox="1"/>
          <p:nvPr/>
        </p:nvSpPr>
        <p:spPr>
          <a:xfrm>
            <a:off x="5303520" y="5202936"/>
            <a:ext cx="2697480" cy="822960"/>
          </a:xfrm>
          <a:prstGeom prst="rect">
            <a:avLst/>
          </a:prstGeom>
          <a:noFill/>
          <a:ln/>
        </p:spPr>
        <p:txBody>
          <a:bodyPr wrap="square" lIns="0" tIns="0" rIns="0" bIns="0" rtlCol="0" anchor="ctr"/>
          <a:lstStyle/>
          <a:p>
            <a:pPr indent="0" marL="0">
              <a:buNone/>
            </a:pPr>
            <a:r>
              <a:rPr lang="en-US" sz="1400" dirty="0">
                <a:solidFill>
                  <a:schemeClr val="bg1"/>
                </a:solidFill>
              </a:rPr>
              <a:t>Backups run on schedule, 14/14 logged</a:t>
            </a:r>
            <a:endParaRPr lang="en-US" sz="1400" dirty="0"/>
          </a:p>
        </p:txBody>
      </p:sp>
      <p:sp>
        <p:nvSpPr>
          <p:cNvPr id="18" name="Card"/>
          <p:cNvSpPr/>
          <p:nvPr/>
        </p:nvSpPr>
        <p:spPr>
          <a:xfrm>
            <a:off x="8412480" y="1600200"/>
            <a:ext cx="3200400" cy="4617720"/>
          </a:xfrm>
          <a:prstGeom prst="roundRect">
            <a:avLst>
              <a:gd name="adj" fmla="val 2857"/>
            </a:avLst>
          </a:prstGeom>
          <a:solidFill>
            <a:schemeClr val="bg1">
              <a:alpha val="8000"/>
            </a:schemeClr>
          </a:solidFill>
          <a:ln/>
        </p:spPr>
      </p:sp>
      <p:sp>
        <p:nvSpPr>
          <p:cNvPr id="19" name="Icon circle"/>
          <p:cNvSpPr/>
          <p:nvPr/>
        </p:nvSpPr>
        <p:spPr>
          <a:xfrm>
            <a:off x="8641080" y="1783080"/>
            <a:ext cx="457200" cy="457200"/>
          </a:xfrm>
          <a:prstGeom prst="ellipse">
            <a:avLst/>
          </a:prstGeom>
          <a:solidFill>
            <a:schemeClr val="accent3"/>
          </a:solidFill>
          <a:ln/>
        </p:spPr>
      </p:sp>
      <p:pic>
        <p:nvPicPr>
          <p:cNvPr id="20" name="Icon" descr="preencoded.png">    </p:cNvPr>
          <p:cNvPicPr>
            <a:picLocks noChangeAspect="1"/>
          </p:cNvPicPr>
          <p:nvPr/>
        </p:nvPicPr>
        <p:blipFill>
          <a:blip r:embed="rId2"/>
          <a:stretch>
            <a:fillRect/>
          </a:stretch>
        </p:blipFill>
        <p:spPr>
          <a:xfrm>
            <a:off x="8769096" y="1911096"/>
            <a:ext cx="201168" cy="201168"/>
          </a:xfrm>
          <a:prstGeom prst="rect">
            <a:avLst/>
          </a:prstGeom>
        </p:spPr>
      </p:pic>
      <p:sp>
        <p:nvSpPr>
          <p:cNvPr id="21" name="Text 16"/>
          <p:cNvSpPr txBox="1"/>
          <p:nvPr/>
        </p:nvSpPr>
        <p:spPr>
          <a:xfrm>
            <a:off x="9235440" y="1737360"/>
            <a:ext cx="2194560" cy="548640"/>
          </a:xfrm>
          <a:prstGeom prst="rect">
            <a:avLst/>
          </a:prstGeom>
          <a:noFill/>
          <a:ln/>
        </p:spPr>
        <p:txBody>
          <a:bodyPr wrap="square" lIns="0" tIns="0" rIns="0" bIns="0" rtlCol="0" anchor="ctr"/>
          <a:lstStyle/>
          <a:p>
            <a:pPr indent="0" marL="0">
              <a:buNone/>
            </a:pPr>
            <a:r>
              <a:rPr lang="en-US" sz="1400" b="1" dirty="0">
                <a:solidFill>
                  <a:schemeClr val="bg1"/>
                </a:solidFill>
              </a:rPr>
              <a:t>What must improve (3 High, all Proposed)</a:t>
            </a:r>
            <a:endParaRPr lang="en-US" sz="1400" dirty="0"/>
          </a:p>
        </p:txBody>
      </p:sp>
      <p:sp>
        <p:nvSpPr>
          <p:cNvPr id="22" name="Text 17"/>
          <p:cNvSpPr txBox="1"/>
          <p:nvPr/>
        </p:nvSpPr>
        <p:spPr>
          <a:xfrm>
            <a:off x="8686800" y="2514600"/>
            <a:ext cx="2697480" cy="822960"/>
          </a:xfrm>
          <a:prstGeom prst="rect">
            <a:avLst/>
          </a:prstGeom>
          <a:noFill/>
          <a:ln/>
        </p:spPr>
        <p:txBody>
          <a:bodyPr wrap="square" lIns="0" tIns="0" rIns="0" bIns="0" rtlCol="0" anchor="ctr"/>
          <a:lstStyle/>
          <a:p>
            <a:pPr indent="0" marL="0">
              <a:buNone/>
            </a:pPr>
            <a:r>
              <a:rPr lang="en-US" sz="1400" dirty="0">
                <a:solidFill>
                  <a:schemeClr val="bg1"/>
                </a:solidFill>
              </a:rPr>
              <a:t>Second login check (FND-01 / REC-01 / ORG-02)</a:t>
            </a:r>
            <a:endParaRPr lang="en-US" sz="1400" dirty="0"/>
          </a:p>
        </p:txBody>
      </p:sp>
      <p:sp>
        <p:nvSpPr>
          <p:cNvPr id="23" name="Text 18"/>
          <p:cNvSpPr txBox="1"/>
          <p:nvPr/>
        </p:nvSpPr>
        <p:spPr>
          <a:xfrm>
            <a:off x="8686800" y="3410712"/>
            <a:ext cx="2697480" cy="822960"/>
          </a:xfrm>
          <a:prstGeom prst="rect">
            <a:avLst/>
          </a:prstGeom>
          <a:noFill/>
          <a:ln/>
        </p:spPr>
        <p:txBody>
          <a:bodyPr wrap="square" lIns="0" tIns="0" rIns="0" bIns="0" rtlCol="0" anchor="ctr"/>
          <a:lstStyle/>
          <a:p>
            <a:pPr indent="0" marL="0">
              <a:buNone/>
            </a:pPr>
            <a:r>
              <a:rPr lang="en-US" sz="1400" dirty="0">
                <a:solidFill>
                  <a:schemeClr val="bg1"/>
                </a:solidFill>
              </a:rPr>
              <a:t>One witnessed restore (FND-02 / REC-02 / ORG-03)</a:t>
            </a:r>
            <a:endParaRPr lang="en-US" sz="1400" dirty="0"/>
          </a:p>
        </p:txBody>
      </p:sp>
      <p:sp>
        <p:nvSpPr>
          <p:cNvPr id="24" name="Text 19"/>
          <p:cNvSpPr txBox="1"/>
          <p:nvPr/>
        </p:nvSpPr>
        <p:spPr>
          <a:xfrm>
            <a:off x="8686800" y="4306824"/>
            <a:ext cx="2697480" cy="822960"/>
          </a:xfrm>
          <a:prstGeom prst="rect">
            <a:avLst/>
          </a:prstGeom>
          <a:noFill/>
          <a:ln/>
        </p:spPr>
        <p:txBody>
          <a:bodyPr wrap="square" lIns="0" tIns="0" rIns="0" bIns="0" rtlCol="0" anchor="ctr"/>
          <a:lstStyle/>
          <a:p>
            <a:pPr indent="0" marL="0">
              <a:buNone/>
            </a:pPr>
            <a:r>
              <a:rPr lang="en-US" sz="1400" dirty="0">
                <a:solidFill>
                  <a:schemeClr val="bg1"/>
                </a:solidFill>
              </a:rPr>
              <a:t>Narrow views + export control (FND-03 / REC-03 / ORG-05)</a:t>
            </a:r>
            <a:endParaRPr lang="en-US" sz="1400" dirty="0"/>
          </a:p>
        </p:txBody>
      </p:sp>
      <p:sp>
        <p:nvSpPr>
          <p:cNvPr id="25" name="Text 20"/>
          <p:cNvSpPr txBox="1"/>
          <p:nvPr/>
        </p:nvSpPr>
        <p:spPr>
          <a:xfrm>
            <a:off x="8686800" y="5202936"/>
            <a:ext cx="2697480" cy="822960"/>
          </a:xfrm>
          <a:prstGeom prst="rect">
            <a:avLst/>
          </a:prstGeom>
          <a:noFill/>
          <a:ln/>
        </p:spPr>
        <p:txBody>
          <a:bodyPr wrap="square" lIns="0" tIns="0" rIns="0" bIns="0" rtlCol="0" anchor="ctr"/>
          <a:lstStyle/>
          <a:p>
            <a:pPr indent="0" marL="0">
              <a:buNone/>
            </a:pPr>
            <a:r>
              <a:rPr lang="en-US" sz="1400" dirty="0">
                <a:solidFill>
                  <a:schemeClr val="bg1"/>
                </a:solidFill>
              </a:rPr>
              <a:t>Then: follow-up review + BLD-06 re-test - before live borrower data</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Backdrop circle"/>
          <p:cNvSpPr/>
          <p:nvPr/>
        </p:nvSpPr>
        <p:spPr>
          <a:xfrm>
            <a:off x="8595360" y="-1463040"/>
            <a:ext cx="5852160" cy="5852160"/>
          </a:xfrm>
          <a:prstGeom prst="ellipse">
            <a:avLst/>
          </a:prstGeom>
          <a:solidFill>
            <a:schemeClr val="accent1">
              <a:alpha val="18000"/>
            </a:schemeClr>
          </a:solidFill>
          <a:ln/>
        </p:spPr>
      </p:sp>
      <p:sp>
        <p:nvSpPr>
          <p:cNvPr id="4" name="Text 1"/>
          <p:cNvSpPr txBox="1"/>
          <p:nvPr/>
        </p:nvSpPr>
        <p:spPr>
          <a:xfrm>
            <a:off x="731520" y="914400"/>
            <a:ext cx="9144000" cy="91440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Thank You - Questions?</a:t>
            </a:r>
            <a:endParaRPr lang="en-US" sz="4800" dirty="0"/>
          </a:p>
        </p:txBody>
      </p:sp>
      <p:sp>
        <p:nvSpPr>
          <p:cNvPr id="5" name="Text 2"/>
          <p:cNvSpPr txBox="1"/>
          <p:nvPr/>
        </p:nvSpPr>
        <p:spPr>
          <a:xfrm>
            <a:off x="731520" y="1965960"/>
            <a:ext cx="8686800" cy="457200"/>
          </a:xfrm>
          <a:prstGeom prst="rect">
            <a:avLst/>
          </a:prstGeom>
          <a:noFill/>
          <a:ln/>
        </p:spPr>
        <p:txBody>
          <a:bodyPr wrap="square" lIns="0" tIns="0" rIns="0" bIns="0" rtlCol="0" anchor="t"/>
          <a:lstStyle/>
          <a:p>
            <a:pPr indent="0" marL="0">
              <a:buNone/>
            </a:pPr>
            <a:r>
              <a:rPr lang="en-US" sz="1800" dirty="0">
                <a:solidFill>
                  <a:schemeClr val="bg2"/>
                </a:solidFill>
              </a:rPr>
              <a:t>Anyone may direct a question to any member - all three of us reviewed the whole engagement.</a:t>
            </a:r>
            <a:endParaRPr lang="en-US" sz="1800" dirty="0"/>
          </a:p>
        </p:txBody>
      </p:sp>
      <p:sp>
        <p:nvSpPr>
          <p:cNvPr id="6" name="Topic card"/>
          <p:cNvSpPr/>
          <p:nvPr/>
        </p:nvSpPr>
        <p:spPr>
          <a:xfrm>
            <a:off x="731520" y="2834640"/>
            <a:ext cx="3383280" cy="1097280"/>
          </a:xfrm>
          <a:prstGeom prst="roundRect">
            <a:avLst>
              <a:gd name="adj" fmla="val 8333"/>
            </a:avLst>
          </a:prstGeom>
          <a:solidFill>
            <a:schemeClr val="bg1">
              <a:alpha val="8000"/>
            </a:schemeClr>
          </a:solidFill>
          <a:ln w="9525">
            <a:solidFill>
              <a:schemeClr val="accent6"/>
            </a:solidFill>
            <a:prstDash val="solid"/>
          </a:ln>
        </p:spPr>
      </p:sp>
      <p:sp>
        <p:nvSpPr>
          <p:cNvPr id="7" name="Text 4"/>
          <p:cNvSpPr txBox="1"/>
          <p:nvPr/>
        </p:nvSpPr>
        <p:spPr>
          <a:xfrm>
            <a:off x="960120" y="2971800"/>
            <a:ext cx="2926080" cy="365760"/>
          </a:xfrm>
          <a:prstGeom prst="rect">
            <a:avLst/>
          </a:prstGeom>
          <a:noFill/>
          <a:ln/>
        </p:spPr>
        <p:txBody>
          <a:bodyPr wrap="square" lIns="0" tIns="0" rIns="0" bIns="0" rtlCol="0" anchor="t"/>
          <a:lstStyle/>
          <a:p>
            <a:pPr indent="0" marL="0">
              <a:buNone/>
            </a:pPr>
            <a:r>
              <a:rPr lang="en-US" sz="1800" b="1" dirty="0">
                <a:solidFill>
                  <a:schemeClr val="bg2"/>
                </a:solidFill>
              </a:rPr>
              <a:t>Justin</a:t>
            </a:r>
            <a:endParaRPr lang="en-US" sz="1800" dirty="0"/>
          </a:p>
        </p:txBody>
      </p:sp>
      <p:sp>
        <p:nvSpPr>
          <p:cNvPr id="8" name="Text 5"/>
          <p:cNvSpPr txBox="1"/>
          <p:nvPr/>
        </p:nvSpPr>
        <p:spPr>
          <a:xfrm>
            <a:off x="960120" y="3383280"/>
            <a:ext cx="2926080" cy="365760"/>
          </a:xfrm>
          <a:prstGeom prst="rect">
            <a:avLst/>
          </a:prstGeom>
          <a:noFill/>
          <a:ln/>
        </p:spPr>
        <p:txBody>
          <a:bodyPr wrap="square" lIns="0" tIns="0" rIns="0" bIns="0" rtlCol="0" anchor="t"/>
          <a:lstStyle/>
          <a:p>
            <a:pPr indent="0" marL="0">
              <a:buNone/>
            </a:pPr>
            <a:r>
              <a:rPr lang="en-US" sz="1400" dirty="0">
                <a:solidFill>
                  <a:schemeClr val="bg1"/>
                </a:solidFill>
              </a:rPr>
              <a:t>scope, risks, conclusion</a:t>
            </a:r>
            <a:endParaRPr lang="en-US" sz="1400" dirty="0"/>
          </a:p>
        </p:txBody>
      </p:sp>
      <p:sp>
        <p:nvSpPr>
          <p:cNvPr id="9" name="Topic card"/>
          <p:cNvSpPr/>
          <p:nvPr/>
        </p:nvSpPr>
        <p:spPr>
          <a:xfrm>
            <a:off x="4297680" y="2834640"/>
            <a:ext cx="3383280" cy="1097280"/>
          </a:xfrm>
          <a:prstGeom prst="roundRect">
            <a:avLst>
              <a:gd name="adj" fmla="val 8333"/>
            </a:avLst>
          </a:prstGeom>
          <a:solidFill>
            <a:schemeClr val="bg1">
              <a:alpha val="8000"/>
            </a:schemeClr>
          </a:solidFill>
          <a:ln w="9525">
            <a:solidFill>
              <a:schemeClr val="accent6"/>
            </a:solidFill>
            <a:prstDash val="solid"/>
          </a:ln>
        </p:spPr>
      </p:sp>
      <p:sp>
        <p:nvSpPr>
          <p:cNvPr id="10" name="Text 7"/>
          <p:cNvSpPr txBox="1"/>
          <p:nvPr/>
        </p:nvSpPr>
        <p:spPr>
          <a:xfrm>
            <a:off x="4526280" y="2971800"/>
            <a:ext cx="2926080" cy="365760"/>
          </a:xfrm>
          <a:prstGeom prst="rect">
            <a:avLst/>
          </a:prstGeom>
          <a:noFill/>
          <a:ln/>
        </p:spPr>
        <p:txBody>
          <a:bodyPr wrap="square" lIns="0" tIns="0" rIns="0" bIns="0" rtlCol="0" anchor="t"/>
          <a:lstStyle/>
          <a:p>
            <a:pPr indent="0" marL="0">
              <a:buNone/>
            </a:pPr>
            <a:r>
              <a:rPr lang="en-US" sz="1800" b="1" dirty="0">
                <a:solidFill>
                  <a:schemeClr val="bg2"/>
                </a:solidFill>
              </a:rPr>
              <a:t>Glenn</a:t>
            </a:r>
            <a:endParaRPr lang="en-US" sz="1800" dirty="0"/>
          </a:p>
        </p:txBody>
      </p:sp>
      <p:sp>
        <p:nvSpPr>
          <p:cNvPr id="11" name="Text 8"/>
          <p:cNvSpPr txBox="1"/>
          <p:nvPr/>
        </p:nvSpPr>
        <p:spPr>
          <a:xfrm>
            <a:off x="4526280" y="3383280"/>
            <a:ext cx="2926080" cy="365760"/>
          </a:xfrm>
          <a:prstGeom prst="rect">
            <a:avLst/>
          </a:prstGeom>
          <a:noFill/>
          <a:ln/>
        </p:spPr>
        <p:txBody>
          <a:bodyPr wrap="square" lIns="0" tIns="0" rIns="0" bIns="0" rtlCol="0" anchor="t"/>
          <a:lstStyle/>
          <a:p>
            <a:pPr indent="0" marL="0">
              <a:buNone/>
            </a:pPr>
            <a:r>
              <a:rPr lang="en-US" sz="1400" dirty="0">
                <a:solidFill>
                  <a:schemeClr val="bg1"/>
                </a:solidFill>
              </a:rPr>
              <a:t>system, controls, tests</a:t>
            </a:r>
            <a:endParaRPr lang="en-US" sz="1400" dirty="0"/>
          </a:p>
        </p:txBody>
      </p:sp>
      <p:sp>
        <p:nvSpPr>
          <p:cNvPr id="12" name="Topic card"/>
          <p:cNvSpPr/>
          <p:nvPr/>
        </p:nvSpPr>
        <p:spPr>
          <a:xfrm>
            <a:off x="7863840" y="2834640"/>
            <a:ext cx="3383280" cy="1097280"/>
          </a:xfrm>
          <a:prstGeom prst="roundRect">
            <a:avLst>
              <a:gd name="adj" fmla="val 8333"/>
            </a:avLst>
          </a:prstGeom>
          <a:solidFill>
            <a:schemeClr val="bg1">
              <a:alpha val="8000"/>
            </a:schemeClr>
          </a:solidFill>
          <a:ln w="9525">
            <a:solidFill>
              <a:schemeClr val="accent6"/>
            </a:solidFill>
            <a:prstDash val="solid"/>
          </a:ln>
        </p:spPr>
      </p:sp>
      <p:sp>
        <p:nvSpPr>
          <p:cNvPr id="13" name="Text 10"/>
          <p:cNvSpPr txBox="1"/>
          <p:nvPr/>
        </p:nvSpPr>
        <p:spPr>
          <a:xfrm>
            <a:off x="8092440" y="2971800"/>
            <a:ext cx="2926080" cy="365760"/>
          </a:xfrm>
          <a:prstGeom prst="rect">
            <a:avLst/>
          </a:prstGeom>
          <a:noFill/>
          <a:ln/>
        </p:spPr>
        <p:txBody>
          <a:bodyPr wrap="square" lIns="0" tIns="0" rIns="0" bIns="0" rtlCol="0" anchor="t"/>
          <a:lstStyle/>
          <a:p>
            <a:pPr indent="0" marL="0">
              <a:buNone/>
            </a:pPr>
            <a:r>
              <a:rPr lang="en-US" sz="1800" b="1" dirty="0">
                <a:solidFill>
                  <a:schemeClr val="bg2"/>
                </a:solidFill>
              </a:rPr>
              <a:t>Jenifer</a:t>
            </a:r>
            <a:endParaRPr lang="en-US" sz="1800" dirty="0"/>
          </a:p>
        </p:txBody>
      </p:sp>
      <p:sp>
        <p:nvSpPr>
          <p:cNvPr id="14" name="Text 11"/>
          <p:cNvSpPr txBox="1"/>
          <p:nvPr/>
        </p:nvSpPr>
        <p:spPr>
          <a:xfrm>
            <a:off x="8092440" y="3383280"/>
            <a:ext cx="2926080" cy="365760"/>
          </a:xfrm>
          <a:prstGeom prst="rect">
            <a:avLst/>
          </a:prstGeom>
          <a:noFill/>
          <a:ln/>
        </p:spPr>
        <p:txBody>
          <a:bodyPr wrap="square" lIns="0" tIns="0" rIns="0" bIns="0" rtlCol="0" anchor="t"/>
          <a:lstStyle/>
          <a:p>
            <a:pPr indent="0" marL="0">
              <a:buNone/>
            </a:pPr>
            <a:r>
              <a:rPr lang="en-US" sz="1400" dirty="0">
                <a:solidFill>
                  <a:schemeClr val="bg1"/>
                </a:solidFill>
              </a:rPr>
              <a:t>findings, actions</a:t>
            </a:r>
            <a:endParaRPr lang="en-US" sz="1400" dirty="0"/>
          </a:p>
        </p:txBody>
      </p:sp>
      <p:sp>
        <p:nvSpPr>
          <p:cNvPr id="15" name="Text 12"/>
          <p:cNvSpPr txBox="1"/>
          <p:nvPr/>
        </p:nvSpPr>
        <p:spPr>
          <a:xfrm>
            <a:off x="731520" y="4389120"/>
            <a:ext cx="10058400" cy="365760"/>
          </a:xfrm>
          <a:prstGeom prst="rect">
            <a:avLst/>
          </a:prstGeom>
          <a:noFill/>
          <a:ln/>
        </p:spPr>
        <p:txBody>
          <a:bodyPr wrap="square" lIns="0" tIns="0" rIns="0" bIns="0" rtlCol="0" anchor="t"/>
          <a:lstStyle/>
          <a:p>
            <a:pPr indent="0" marL="0">
              <a:buNone/>
            </a:pPr>
            <a:r>
              <a:rPr lang="en-US" sz="1500" dirty="0">
                <a:solidFill>
                  <a:schemeClr val="bg2"/>
                </a:solidFill>
              </a:rPr>
              <a:t>Evidence on request: EVD index (20 items), test workpapers, REV/AI logs, build lineage - all in the final report.</a:t>
            </a:r>
            <a:endParaRPr lang="en-US" sz="1500" dirty="0"/>
          </a:p>
        </p:txBody>
      </p:sp>
      <p:sp>
        <p:nvSpPr>
          <p:cNvPr id="16" name="Text 13"/>
          <p:cNvSpPr txBox="1"/>
          <p:nvPr/>
        </p:nvSpPr>
        <p:spPr>
          <a:xfrm>
            <a:off x="731520" y="5897880"/>
            <a:ext cx="10972800" cy="457200"/>
          </a:xfrm>
          <a:prstGeom prst="rect">
            <a:avLst/>
          </a:prstGeom>
          <a:noFill/>
          <a:ln/>
        </p:spPr>
        <p:txBody>
          <a:bodyPr wrap="square" lIns="0" tIns="0" rIns="0" bIns="0" rtlCol="0" anchor="t"/>
          <a:lstStyle/>
          <a:p>
            <a:pPr indent="0" marL="0">
              <a:buNone/>
            </a:pPr>
            <a:r>
              <a:rPr lang="en-US" sz="1200" dirty="0">
                <a:solidFill>
                  <a:schemeClr val="accent6"/>
                </a:solidFill>
              </a:rPr>
              <a:t>404NotFound  |  Justin C. Batlangao  |  Glenn Patrick B. Darriguez  |  Ma. Jenifer L. Labag  |  MCST Library (Head Librarian Calixto Nicolas Camangeg)</a:t>
            </a:r>
            <a:endParaRPr lang="en-US" sz="1200" dirty="0"/>
          </a:p>
        </p:txBody>
      </p:sp>
    </p:spTree>
  </p:cSld>
  <p:clrMapOvr>
    <a:masterClrMapping/>
  </p:clrMapOvr>
</p:sld>
</file>

<file path=ppt/theme/theme1.xml><?xml version="1.0" encoding="utf-8"?>
<a:theme xmlns:a="http://schemas.openxmlformats.org/drawingml/2006/main" name="MCST Audit">
  <a:themeElements>
    <a:clrScheme name="MCST Audit">
      <a:dk1>
        <a:srgbClr val="14232E"/>
      </a:dk1>
      <a:lt1>
        <a:srgbClr val="FFFFFF"/>
      </a:lt1>
      <a:dk2>
        <a:srgbClr val="0C2A38"/>
      </a:dk2>
      <a:lt2>
        <a:srgbClr val="EEF3F5"/>
      </a:lt2>
      <a:accent1>
        <a:srgbClr val="0F766E"/>
      </a:accent1>
      <a:accent2>
        <a:srgbClr val="C2410C"/>
      </a:accent2>
      <a:accent3>
        <a:srgbClr val="B91C1C"/>
      </a:accent3>
      <a:accent4>
        <a:srgbClr val="15803D"/>
      </a:accent4>
      <a:accent5>
        <a:srgbClr val="B45309"/>
      </a:accent5>
      <a:accent6>
        <a:srgbClr val="64748B"/>
      </a:accent6>
      <a:hlink>
        <a:srgbClr val="0F766E"/>
      </a:hlink>
      <a:folHlink>
        <a:srgbClr val="64748B"/>
      </a:folHlink>
    </a:clrScheme>
    <a:fontScheme name="MCST 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Audit of the MCST Library Management System</dc:title>
  <dc:subject>PptxGenJS Presentation</dc:subject>
  <dc:creator>404NotFound</dc:creator>
  <cp:lastModifiedBy>404NotFound</cp:lastModifiedBy>
  <cp:revision>1</cp:revision>
  <dcterms:created xsi:type="dcterms:W3CDTF">2026-10-23T14:24:40Z</dcterms:created>
  <dcterms:modified xsi:type="dcterms:W3CDTF">2026-10-23T14:24:40Z</dcterms:modified>
</cp:coreProperties>
</file>