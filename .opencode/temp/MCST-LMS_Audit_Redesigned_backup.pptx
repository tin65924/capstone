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43e6728-663e-37b5-39dd-9f4a7c0261d5}">
          <p14:sldIdLst>
            <p14:sldId id="256"/>
          </p14:sldIdLst>
        </p14:section>
        <p14:section name="Engagement" id="{f5f33454-a979-65dd-493a-372be057f5b9}">
          <p14:sldIdLst>
            <p14:sldId id="257"/>
            <p14:sldId id="258"/>
            <p14:sldId id="259"/>
            <p14:sldId id="260"/>
          </p14:sldIdLst>
        </p14:section>
        <p14:section name="System" id="{cbea3417-274b-1e7c-cb37-61b3edbc5b22}">
          <p14:sldIdLst>
            <p14:sldId id="261"/>
            <p14:sldId id="262"/>
          </p14:sldIdLst>
        </p14:section>
        <p14:section name="Risks and Controls" id="{e6845049-8a4c-3bb8-75ba-1c622b03d238}">
          <p14:sldIdLst>
            <p14:sldId id="263"/>
            <p14:sldId id="264"/>
          </p14:sldIdLst>
        </p14:section>
        <p14:section name="Findings" id="{2c522f9d-7e8a-e89b-e9a7-22f6bf9fee09}">
          <p14:sldIdLst>
            <p14:sldId id="265"/>
            <p14:sldId id="266"/>
            <p14:sldId id="267"/>
            <p14:sldId id="268"/>
          </p14:sldIdLst>
        </p14:section>
        <p14:section name="Evidence and Actions" id="{b08bd0b7-1ca0-d6b1-ca27-6ab0e3b3e64c}">
          <p14:sldIdLst>
            <p14:sldId id="269"/>
            <p14:sldId id="270"/>
            <p14:sldId id="271"/>
          </p14:sldIdLst>
        </p14:section>
        <p14:section name="Conclusion" id="{4db49dc4-7e81-be4e-c5e2-9ef32b78b8a9}">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Residual score</c:v>
                </c:pt>
              </c:strCache>
            </c:strRef>
          </c:tx>
          <c:spPr>
            <a:solidFill>
              <a:srgbClr val="B91C1C"/>
            </a:solidFill>
            <a:effectLst/>
          </c:spPr>
          <c:invertIfNegative val="0"/>
          <c:dLbls>
            <c:numFmt formatCode="#,##0" sourceLinked="0"/>
            <c:txPr>
              <a:bodyPr/>
              <a:lstStyle/>
              <a:p>
                <a:pPr>
                  <a:defRPr b="1" i="0" strike="noStrike" sz="1300" u="none">
                    <a:solidFill>
                      <a:srgbClr val="14232E"/>
                    </a:solidFill>
                    <a:latin typeface="+mn-lt"/>
                  </a:defRPr>
                </a:pPr>
              </a:p>
            </c:txPr>
            <c:showLegendKey val="0"/>
            <c:showVal val="1"/>
            <c:showCatName val="0"/>
            <c:showSerName val="0"/>
            <c:showPercent val="0"/>
            <c:showBubbleSize val="0"/>
            <c:showLeaderLines val="0"/>
          </c:dLbls>
          <c:dPt>
            <c:idx val="0"/>
            <c:invertIfNegative val="0"/>
            <c:bubble3D val="0"/>
            <c:spPr>
              <a:solidFill>
                <a:srgbClr val="B91C1C"/>
              </a:solidFill>
              <a:effectLst/>
            </c:spPr>
          </c:dPt>
          <c:dPt>
            <c:idx val="1"/>
            <c:invertIfNegative val="0"/>
            <c:bubble3D val="0"/>
            <c:spPr>
              <a:solidFill>
                <a:srgbClr val="B91C1C"/>
              </a:solidFill>
              <a:effectLst/>
            </c:spPr>
          </c:dPt>
          <c:dPt>
            <c:idx val="2"/>
            <c:invertIfNegative val="0"/>
            <c:bubble3D val="0"/>
            <c:spPr>
              <a:solidFill>
                <a:srgbClr val="B91C1C"/>
              </a:solidFill>
              <a:effectLst/>
            </c:spPr>
          </c:dPt>
          <c:dPt>
            <c:idx val="3"/>
            <c:invertIfNegative val="0"/>
            <c:bubble3D val="0"/>
            <c:spPr>
              <a:solidFill>
                <a:srgbClr val="64748B"/>
              </a:solidFill>
              <a:effectLst/>
            </c:spPr>
          </c:dPt>
          <c:dPt>
            <c:idx val="4"/>
            <c:invertIfNegative val="0"/>
            <c:bubble3D val="0"/>
            <c:spPr>
              <a:solidFill>
                <a:srgbClr val="64748B"/>
              </a:solidFill>
              <a:effectLst/>
            </c:spPr>
          </c:dPt>
          <c:dPt>
            <c:idx val="5"/>
            <c:invertIfNegative val="0"/>
            <c:bubble3D val="0"/>
            <c:spPr>
              <a:solidFill>
                <a:srgbClr val="64748B"/>
              </a:solidFill>
              <a:effectLst/>
            </c:spPr>
          </c:dPt>
          <c:dPt>
            <c:idx val="6"/>
            <c:invertIfNegative val="0"/>
            <c:bubble3D val="0"/>
            <c:spPr>
              <a:solidFill>
                <a:srgbClr val="64748B"/>
              </a:solidFill>
              <a:effectLst/>
            </c:spPr>
          </c:dPt>
          <c:dPt>
            <c:idx val="7"/>
            <c:invertIfNegative val="0"/>
            <c:bubble3D val="0"/>
            <c:spPr>
              <a:solidFill>
                <a:srgbClr val="64748B"/>
              </a:solidFill>
              <a:effectLst/>
            </c:spPr>
          </c:dPt>
          <c:cat>
            <c:multiLvlStrRef>
              <c:f>Sheet1!$A$2:$A$9</c:f>
              <c:multiLvlStrCache>
                <c:ptCount val="8"/>
                <c:lvl>
                  <c:pt idx="0">
                    <c:v>RSK-01  Staff password leaks - no second login check</c:v>
                  </c:pt>
                  <c:pt idx="1">
                    <c:v>RSK-04  Database loss - restore never shown</c:v>
                  </c:pt>
                  <c:pt idx="2">
                    <c:v>RSK-07  Borrower data exposed in wide views / exports</c:v>
                  </c:pt>
                  <c:pt idx="3">
                    <c:v>RSK-02  Bad CSV rows corrupt book catalog</c:v>
                  </c:pt>
                  <c:pt idx="4">
                    <c:v>RSK-03  Import jobs lost on server restart</c:v>
                  </c:pt>
                  <c:pt idx="5">
                    <c:v>RSK-05  Single cloud provider outage (Accepted)</c:v>
                  </c:pt>
                  <c:pt idx="6">
                    <c:v>RSK-06  Same staff member adds + lends (SoD)</c:v>
                  </c:pt>
                  <c:pt idx="7">
                    <c:v>RSK-08  Settings changed without approval</c:v>
                  </c:pt>
                </c:lvl>
              </c:multiLvlStrCache>
            </c:multiLvlStrRef>
          </c:cat>
          <c:val>
            <c:numRef>
              <c:f>Sheet1!$B$2:$B$9</c:f>
              <c:numCache>
                <c:formatCode>General</c:formatCode>
                <c:ptCount val="8"/>
                <c:pt idx="0">
                  <c:v>16</c:v>
                </c:pt>
                <c:pt idx="1">
                  <c:v>8</c:v>
                </c:pt>
                <c:pt idx="2">
                  <c:v>9</c:v>
                </c:pt>
                <c:pt idx="3">
                  <c:v>9</c:v>
                </c:pt>
                <c:pt idx="4">
                  <c:v>6</c:v>
                </c:pt>
                <c:pt idx="5">
                  <c:v>8</c:v>
                </c:pt>
                <c:pt idx="6">
                  <c:v>6</c:v>
                </c:pt>
                <c:pt idx="7">
                  <c:v>6</c:v>
                </c:pt>
              </c:numCache>
            </c:numRef>
          </c:val>
        </c:ser>
        <c:dLbls>
          <c:numFmt formatCode="#,##0" sourceLinked="0"/>
          <c:txPr>
            <a:bodyPr/>
            <a:lstStyle/>
            <a:p>
              <a:pPr>
                <a:defRPr b="1" i="0" strike="noStrike" sz="1300" u="none">
                  <a:solidFill>
                    <a:srgbClr val="1423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232E"/>
                </a:solidFill>
                <a:latin typeface="+mn-lt"/>
              </a:defRPr>
            </a:pPr>
            <a:endParaRPr lang="en-US"/>
          </a:p>
        </c:txPr>
        <c:crossAx val="2094734552"/>
        <c:crosses val="autoZero"/>
        <c:auto val="1"/>
        <c:lblAlgn val="ctr"/>
        <c:noMultiLvlLbl val="1"/>
      </c:catAx>
      <c:valAx>
        <c:axId val="2094734552"/>
        <c:scaling>
          <c:orientation val="minMax"/>
          <c:max val="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Good day, everyone. We are 404NotFound — Justin Batlangao, Glenn Darriguez, and Jenifer Labag. For our capstone, we audited our own system: the MCST Library Management System, which we built for the MCST Library under Head Librarian Calixto Nicolas Camangeg, the system owner.</a:t>
            </a:r>
          </a:p>
          <a:p/>
          <a:p>
            <a:r>
              <a:t>We tested our own capstone the way an external audit team would — with written criteria, sampled tests, and dated evidence. This is our Final Integrated Professional IT Audit Report, covering Labs 7 to 12. Our evidence closes on October 10, 2026; it covers audited builds BLD-04 and BLD-05; and the report is version 1.0 Final, dated October 20.</a:t>
            </a:r>
          </a:p>
          <a:p/>
          <a:p>
            <a:r>
              <a:t>Over the next fifteen minutes we will show you what we audited, what we tested, what we found, and what we recommend. Let us begin with how the engagement came together.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Our audit was not six separate homework pieces — it is one continuous engagement across six labs, each dated, each building on the last. Lab 7 set scope, objectives, and criteria on September 19 — that is mine. Lab 8 mapped assets, data flows, and accounts on September 26 — Glenn. Lab 9 scored risks and compliance on October 3 — Justin again. Lab 10 evaluated controls, tests, and gaps, also October 3 — Glenn. Lab 11 produced findings and action plans on October 10 — and Jenifer, who also presents today's final integration from Lab 12.</a:t>
            </a:r>
          </a:p>
          <a:p/>
          <a:p>
            <a:r>
              <a:t>One thread holds it all together: every lab shares the same system, the same build records, and the same ID families — OBJ, RSK, CTL, TEST, GAP, FND. When you hear a number today, it traces to that same family in the final report.</a:t>
            </a:r>
          </a:p>
          <a:p/>
          <a:p>
            <a:r>
              <a:t>One last point: everyone built and cross-checked in every lab. Today we divided the telling, not the doing.</a:t>
            </a:r>
          </a:p>
          <a:p/>
          <a:p>
            <a:r>
              <a:t>Q&amp;A cue: 'who did what' — each member created their own content, cross-reviewed another member's work, and contributed to every lab.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What exactly did we audit? The MCST LMS is our own Flask 3.1 web application — catalog, borrowing and returns, fines, requests, buying, stock count, and reports, modules MOD-01 to MOD-08 — running PostgreSQL on Render with timed pg_dump backups, and Google school-email login restricted to @mcst.edu.ph, with role checks on every page. Students and faculty borrow; desk staff circulate; admins manage.</a:t>
            </a:r>
          </a:p>
          <a:p/>
          <a:p>
            <a:r>
              <a:t>Because we own the code, we could give the audit full transparency — every code path, every screen. But we deliberately treated it like any external client: written criteria, sampled tests, dated evidence.</a:t>
            </a:r>
          </a:p>
          <a:p/>
          <a:p>
            <a:r>
              <a:t>The build lineage on the right is real git history, frozen before every lab — BLD-01 through BLD-05. And note BLD-06, build c20f98e: it came after our October 10 evidence cutoff. It is excluded from our conclusions and disclosed separately, as you will see later.</a:t>
            </a:r>
          </a:p>
          <a:p/>
          <a:p>
            <a:r>
              <a:t>Q&amp;A cue: 'why audit your own system?' — the partner benefit is real findings before live use; integrity is handled by evidence anyone can re-open (screenshots, git, logs).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Our four objectives came from Lab 7 and were approved with the library. OBJ-01: access control — only the right people reach the right pages, with rights granted by the Access Approver, ORG-02. OBJ-02: build truth — the frozen build really supports the library work we claim. OBJ-03: traceability — every borrow, fine, and change leaves a named record. OBJ-04: data safety — backup, settings, and reports protect data and hide secrets.</a:t>
            </a:r>
          </a:p>
          <a:p/>
          <a:p>
            <a:r>
              <a:t>Each objective anchors to written criteria, CRT-01 to CRT-04. For example, CRT-01 requires role rules in code, a roles table, and school approvals; CRT-03 requires thin pages, POST-only writes, and audit-trail rows.</a:t>
            </a:r>
          </a:p>
          <a:p/>
          <a:p>
            <a:r>
              <a:t>Our procedures stay inside safe boundaries: records and code inspection, configuration review, walkthroughs, and small demo tests — nothing changed, nothing harmed. We did not do attack testing, live restores, or touch real student data. Demo environment only — and that limit is stated in every conclusion we make.</a:t>
            </a:r>
          </a:p>
          <a:p/>
          <a:p>
            <a:r>
              <a:t>Q&amp;A cue: 'why no attack test?' — outside the approved procedures; we promised no over-claim and kept that promise.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How did we work? The same four-step method through Labs 7 to 12, with every result carrying an ID chain. First, inspect — records, code paths, configuration, forming the EVD-09 and EVD-10 evidence series. Second, walk through — real screens in the demo build, screenshotted only after names are cleaned. Third, test — the TEST-01 to TEST-06 samples. Fourth — the discipline layer — every increment was cross-reviewed by another team member with a written challenge and a recorded resolution: the REV-01 to REV-14 log.</a:t>
            </a:r>
          </a:p>
          <a:p/>
          <a:p>
            <a:r>
              <a:t>On AI: we used it only for wording fixes, count double-checks, and task clarification. Every suggestion was validated against real records, and it was never an evidence source. All six AI rows are disclosed in the portfolio, AIV-01 to AIV-06, with what we verified and what we revised.</a:t>
            </a:r>
          </a:p>
          <a:p/>
          <a:p>
            <a:r>
              <a:t>Q&amp;A cue: 'did AI write your audit?' — no; it shortened sentences and re-checked math; every AI row carries Accept/Revise plus what was verified.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[Glenn Patrick B. Darriguez]</a:t>
            </a:r>
          </a:p>
          <a:p>
            <a:r>
              <a:t>Now the system underneath — Figure 2 of our report. Walk the picture with me. A borrower connects over HTTPS to the Flask application. Behind the app, it talks SQL only to PostgreSQL. Google sits outside as an identity provider — it proves who you are; it never touches library data. On the platform side, a scheduler copies the database on a timed pg_dump, and administrators change settings through the highest-trust path.</a:t>
            </a:r>
          </a:p>
          <a:p/>
          <a:p>
            <a:r>
              <a:t>That is six trust boundaries mapped and named, DEP-01 to DEP-06: public entry, the database line, the Google line, the staff upload path, the backup path, and the admin path.</a:t>
            </a:r>
          </a:p>
          <a:p/>
          <a:p>
            <a:r>
              <a:t>Three points to hold. There are seven registered account types, and the one-time bootstrap admin used for first setup was closed and verified — that is ACC-07. Secrets — database URLs, OAuth keys — live only in environment configuration: never in the app code, never inside this report. And every line on this map names its evidence source.</a:t>
            </a:r>
          </a:p>
          <a:p/>
          <a:p>
            <a:r>
              <a:t>Q&amp;A cue: 'what protects the database?' — env-held credentials plus the admin-only path (DEP-02); provider-side access follows school/provider rules.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[Glenn Patrick B. Darriguez]</a:t>
            </a:r>
          </a:p>
          <a:p>
            <a:r>
              <a:t>Figure 3 shows how data moves through the library, across five flows, FLOW-01 to FLOW-05. FLOW-01 is the heart: borrow, return, and fines — borrowing honors the limits of three books for students and five for faculty, the fine is the rate times days late, and deletion is archive-before-delete, never a hard erase of an active record. FLOW-03 is the CSV import: headers must map, and bad rows are skipped — not half-inserted — with every skip logged. FLOW-04 is login: school email only through Google, and the first-login bootstrap admin closes after setup.</a:t>
            </a:r>
          </a:p>
          <a:p/>
          <a:p>
            <a:r>
              <a:t>Every flow carries written rules for validation at entry, where data is stored, which channel it moves over, and how long it may be kept. And notice the in-line checks: a can-borrow check before a loan, unique accession numbers before a copy is added, approval before a purchase is bought.</a:t>
            </a:r>
          </a:p>
          <a:p/>
          <a:p>
            <a:r>
              <a:t>One flow to remember: borrower data sits in PostgreSQL, and its views should be role-limited under CMP-01 and CMP-02. The weak part of that picture is Finding FND-03 — coming up.</a:t>
            </a:r>
          </a:p>
          <a:p/>
          <a:p>
            <a:r>
              <a:t>Q&amp;A cue: 'where does borrower data sit?' — PostgreSQL (AST-04); views should be role-limited per CMP-01/02 — the weakness is FND-03.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What could go wrong? Lab 9 scored eight risk scenarios — likelihood times impact — adjusted for the safeguards we could actually see in the build. Three are High priority. RSK-01: account takeover — a leaked staff password meets no second check; residual sixteen of twenty-five. RSK-04: recovery unproven — backups are logged, but a restore was never demonstrated; residual eight. RSK-07: borrower data exposed through wide staff views and an open export path. Those three drive our three findings.</a:t>
            </a:r>
          </a:p>
          <a:p/>
          <a:p>
            <a:r>
              <a:t>Two principles in our scoring. First: residuals only drop when a safeguard is proven in the build — the backup log is real, so RSK-04's impact drops from five to four. Second: unmatched safeguards change nothing — RSK-05, a single-provider outage, has no verified safeguard, so nothing drops, and the owner accepts it with a paper control: manual desk steps for outage days.</a:t>
            </a:r>
          </a:p>
          <a:p/>
          <a:p>
            <a:r>
              <a:t>Our compliance base is the Data Privacy Act of 2012 plus school access rules — CMP-01 to CMP-07.</a:t>
            </a:r>
          </a:p>
          <a:p/>
          <a:p>
            <a:r>
              <a:t>Q&amp;A cue: 'why is RSK-01 a 16?' — likelihood 4 x impact 4: passwords leak often and no second check exists; the mitigation is the second factor, aiming for 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[Glenn Patrick B. Darriguez]</a:t>
            </a:r>
          </a:p>
          <a:p>
            <a:r>
              <a:t>With risks named, we looked for the controls that address them — eight controls, CTL-01 to CTL-08 — and tested six under TEST-01 to TEST-06 on build BLD-04, on October 3. Four came back Effective; two came back Partially Effective.</a:t>
            </a:r>
          </a:p>
          <a:p/>
          <a:p>
            <a:r>
              <a:t>TEST-01, wrong-role entry: all ten role-gated pages blocked the intruder — ten out of ten, zero exceptions. TEST-02, CSV upload with two bad rows: six good books added, both bad rows skipped and logged. TEST-03, a full borrow-return-fine cycle: the fine matched the rate-times-days formula, and the audit trail logged the events. TEST-04, delete discipline: a delete on an active book was refused; the archived one was allowed.</a:t>
            </a:r>
          </a:p>
          <a:p/>
          <a:p>
            <a:r>
              <a:t>Then the two partials. TEST-05, the backup log: fourteen runs, fourteen logged — perfect logs, but zero proof any of them restore. TEST-06, settings changes: the change is logged with a name — but there is no approval step before it takes effect.</a:t>
            </a:r>
          </a:p>
          <a:p/>
          <a:p>
            <a:r>
              <a:t>A word on honesty: these are real populations, not cherry-picked samples — all ten pages, the whole fourteen-row log, the entire CSV. Small system, full coverage. The two partials line up with gaps GAP-02 and GAP-05 — and those gaps are exactly where two of our three findings come from.</a:t>
            </a:r>
          </a:p>
          <a:p/>
          <a:p>
            <a:r>
              <a:t>Q&amp;A cue: 'does Partially Effective = failed?' — no: the control partly works (backups run and are logged) but misses the objective — restore proof, approval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From all that evidence, five finding candidates crossed our desk in Lab 11, and we screened each with four questions: is the evidence sufficient, is it material, is it inside our scope, and what exactly happened? Here are the honest answers.</a:t>
            </a:r>
          </a:p>
          <a:p/>
          <a:p>
            <a:r>
              <a:t>FC-01 and FC-02 became findings FND-01 and FND-02. FC-03 is an observation, OBS-01 — a small fix backlog; not a finding, because it is fixable small and tracked, not hidden. FC-04 became FND-03. FC-05 is closed and compensated: the risk it described is already offset by logging plus a monthly owner review.</a:t>
            </a:r>
          </a:p>
          <a:p/>
          <a:p>
            <a:r>
              <a:t>The result: three formal findings, all High. And we want to be explicit — not every candidate became a finding, because inflating the register would dilute the real ones. Materiality disciplined this list, and every one of the five screening decisions carries its evidence IDs.</a:t>
            </a:r>
          </a:p>
          <a:p/>
          <a:p>
            <a:r>
              <a:t>Q&amp;A cue: 'why not more findings?' — materiality: small items would dilute; they are tracked (OBS-01 backlog, FC-05 control note), not hidden.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Finding one, FND-01 — and word care matters here, so follow the five steps. Condition: on BLD-05, no staff or admin login asks for a second check — the screens confirm it. TEST-01 was ten-for-ten on blocking the wrong role, but blocking the wrong role is not the same as stopping a stolen password. Criteria: CRT-01 and CMP-03 say access must fit the role and login must stop outsiders — ORG-02 is the approver in that line. Cause: the second step was never built; the code read shows no second step. Effect: one leaked staff password can read and change all borrower, loan, and fine data. We say exposure, not breach — nothing was lost or seen broken.</a:t>
            </a:r>
          </a:p>
          <a:p/>
          <a:p>
            <a:r>
              <a:t>Why High: residual risk sixteen of twenty-five, full loan and fine data at stake, a single point of failure on the main gate, and every borrower and staff member affected. The limitation, stated on the workpaper: no attack testing was allowed.</a:t>
            </a:r>
          </a:p>
          <a:p/>
          <a:p>
            <a:r>
              <a:t>The recommendation, REC-01: the Access Approver turns on a second check for staff and admin logins — the target is that a stolen password alone fails, and we re-run TEST-01 plus login attempts to prove it.</a:t>
            </a:r>
          </a:p>
          <a:p/>
          <a:p>
            <a:r>
              <a:t>Q&amp;A cue: '10/10 role tests passed — why still a finding?' — role checks stop the wrong people, not a thief with the right password; challenged in REV-13-02.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Finding two, FND-02 — the restore provability point. Condition: fourteen of fourteen backup runs are logged for September and October, completed status — and zero restore demonstrations exist anywhere. Criteria: CMP-05 with CRT-04 requires more than copies; it requires that recovery is actually possible with approval. Cause: a restore needs owner approval and test data, and it was never scheduled — the owner confirmed that, and our search found no record. Effect: if the database dies, desk work may stop for days, and loans and the catalog may be unrecoverable.</a:t>
            </a:r>
          </a:p>
          <a:p/>
          <a:p>
            <a:r>
              <a:t>Why High: because a backup log proves copies exist — it proves nothing about them coming back. If recovery fails once, the loss is total: every loan, every catalog record. This was the item our cross-review challenged hardest — REV-13-01 — and we kept it High on effect, not on the score alone.</a:t>
            </a:r>
          </a:p>
          <a:p/>
          <a:p>
            <a:r>
              <a:t>And the safety point: restoring the live database was outside our approved scope — that is SCP-03 — so the remedy itself stays safe. REC-02: the System Admin runs one witnessed restore onto a test copy, files the approved steps, and verification is simply reading the restore log. One admin hour: the cheapest fix in this report, and the largest single step in assurance gained.</a:t>
            </a:r>
          </a:p>
          <a:p/>
          <a:p>
            <a:r>
              <a:t>Q&amp;A cue: 'why not restore the real DB?' — out of approved scope; the test-copy exercise gives the proof without touching live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Finding three, FND-03 — borrower data exposure. Condition: staff roles open full borrower rows — name, school ID, fines — on desk screens; reports show names; and the export path has no extra rule between the staff role and the file. Criteria: CMP-01 and CMP-02 — the Data Privacy Act line and the school borrower-privacy practice — with CRT-01: private data only for roles with a genuine need to know, and names hidden in reports. Cause: the views were built for desk speed, and the export path was never fenced — the code read found no rule. Effect: a curious or rogue staff member could read or copy many student records. Again — exposure; we saw no misuse.</a:t>
            </a:r>
          </a:p>
          <a:p/>
          <a:p>
            <a:r>
              <a:t>Why High has a two-part answer: many students are affected, and real privacy-law obligations attach. And note this does not conflict with TEST-01 passing — getting in and seeing wide are different questions. Role checks close the door; they do not narrow the room. Limitation: full export was never tested — we had no right to try.</a:t>
            </a:r>
          </a:p>
          <a:p/>
          <a:p>
            <a:r>
              <a:t>REC-03: the Privacy role narrows views to need-to-know, hides names in reports and exports, and turns on an export log.</a:t>
            </a:r>
          </a:p>
          <a:p/>
          <a:p>
            <a:r>
              <a:t>Q&amp;A cue: 'can staff export everything today?' — we did not test export (SCP); the finding rests on wide views seen plus no export rule found; wording softened accordingly.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[Glenn Patrick B. Darriguez]</a:t>
            </a:r>
          </a:p>
          <a:p>
            <a:r>
              <a:t>So how do our conclusions stand on evidence? Here is FND-01 traced end to end — and every finding carries the same chain. Step one, TEST-01: ten out of ten wrong-role visits blocked, and no second step visible on any login screen. Step two, that behavior is locked into evidence — EVD-12-01 and EVD-13-01 — clean, sanitized, dated screenshots tied to the build. Step three, the gap is identified as GAP-01 against controls CTL-01 and CTL-02. Step four, FND-01 is written up in full: condition, criteria, cause, effect, severity. Step five, the response is set — REC-01 with owner and result target — tracked as MAP-01.</a:t>
            </a:r>
          </a:p>
          <a:p/>
          <a:p>
            <a:r>
              <a:t>FND-02's chain runs TEST-05 to EVD-12-04 to GAP-02. FND-03's runs through TEST-01 and the EVD-10 and EVD-13 series to GAP-04.</a:t>
            </a:r>
          </a:p>
          <a:p/>
          <a:p>
            <a:r>
              <a:t>In total, twenty evidence items are indexed — EVD-09-01 through EVD-13-02 — each with its source, date, privacy treatment, and written limitation. And one more thing: evidence protection. No names, counts only, secrets excluded — nothing sensitive ever left the controlled group folder. Ask us for any ID, and we can show you exactly the condition we saw.</a:t>
            </a:r>
          </a:p>
          <a:p/>
          <a:p>
            <a:r>
              <a:t>Q&amp;A cue: 'could screenshots be faked?' — screenshots are only part; the role test uses live behavior, the backup log comes from the system itself, and dates/git tie everything to builds.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Jenifer L. Labag]</a:t>
            </a:r>
          </a:p>
          <a:p>
            <a:r>
              <a:t>So what do we recommend — and honestly, what it is not yet. Three recommendations, each with a named owner, a priority, a target, and a verifiable result.</a:t>
            </a:r>
          </a:p>
          <a:p/>
          <a:p>
            <a:r>
              <a:t>REC-01 — High, next release: a second login check for staff and admin accounts, owned by the Access Approver; the result must be that a stolen password alone fails. REC-02 — High, before our final defense: one witnessed restore on a test copy plus filed restore steps, owned by the System Admin; the result is that recovery becomes demonstrable, verified by reading the restore log. REC-03 — High, next release: narrow staff views to need-to-know, hide names in reports and exports, and log every export, owned by the Privacy role.</a:t>
            </a:r>
          </a:p>
          <a:p/>
          <a:p>
            <a:r>
              <a:t>Now the honest part: all three are our proposals — proposed, not confirmed. No action is claimed as management-approved unless the library owner confirms it. The good news is the price tag: REC-02 is roughly one admin hour; REC-01 and REC-03 are small development tasks for the next release. Each has a verifiable target, so at follow-up we simply re-run the tests. And if the library declines any of these, the residual risk stays — and the report records that acceptance explicitly. Our job is disclosure, then follow-up; theirs is the decision.</a:t>
            </a:r>
          </a:p>
          <a:p/>
          <a:p>
            <a:r>
              <a:t>Q&amp;A cue: 'what if the library says no?' — the residual stays; the report records owner acceptance explicitly; our job is disclosure, then follow-up.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Now the professional-honesty slide: what this audit does not say. Read our limitations plainly. All evidence comes from the demo build and the test site — never live production data. No attack testing, no live restore, no real student records — those are the approved scope limits. Two compliance items stay not determined: CMP-05, because a restore needs approval we could not obtain unilaterally, and CMP-07 on Google's terms. Our samples are small because the system is small, and the populations are honestly listed. So our conclusion is that the system needs improvement — not that it is broken: four of the six tested controls are fully effective.</a:t>
            </a:r>
          </a:p>
          <a:p/>
          <a:p>
            <a:r>
              <a:t>Finally, change after the cutoff. BLD-06, build c20f98e, landed October 11 to 20 — inventory shared-session fixes, set-based reconcile, a condition modal, and Philippine-time timestamps. None of that was tested: it arrived after the cutoff, so it is disclosed — not absorbed into results. That is the Lab 12 manual rule, applied word for word. One flag for follow-up: once deployed, re-run TEST-03, because timestamps could shift fine displays.</a:t>
            </a:r>
          </a:p>
          <a:p/>
          <a:p>
            <a:r>
              <a:t>Q&amp;A cue: 'does the timestamp commit break your conclusion?' — no; conclusions cover BLD-04/05 up to cutoff; BLD-06 gets its own follow-up test after deploy.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[Justin C. Batlangao]</a:t>
            </a:r>
          </a:p>
          <a:p>
            <a:r>
              <a:t>Our overall conclusion: the MCST LMS needs improvement, pending remediation — a fair verdict, and here is why.</a:t>
            </a:r>
          </a:p>
          <a:p/>
          <a:p>
            <a:r>
              <a:t>What works, with evidence we showed today: wrong-role access blocked ten out of ten — control CTL-01; CSV checks that add good rows and skip bad ones, with logs; a full audit trail on desk work with guard rails on deletes; and backups running on schedule — fourteen of fourteen logged.</a:t>
            </a:r>
          </a:p>
          <a:p/>
          <a:p>
            <a:r>
              <a:t>What must improve — the three High findings, all still Proposed: a second login check under FND-01, one witnessed restore under FND-02, and narrower views with export control under FND-03. Then — before live borrower data ever touches this system — a follow-up review and a BLD-06 re-test.</a:t>
            </a:r>
          </a:p>
          <a:p/>
          <a:p>
            <a:r>
              <a:t>We debated whether a different verdict fits — that was a real cross-review argument — but three High findings and no confirmed management response mean improvement must come first. A system that holds student data should not go live with an unproven restore and a single-factor gate.</a:t>
            </a:r>
          </a:p>
          <a:p/>
          <a:p>
            <a:r>
              <a:t>Q&amp;A cue: 'why not Satisfactory instead?' — we debated it in REV cross-review; three High findings plus no confirmed management response means improvement is required first.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a:t>
            </a:r>
          </a:p>
          <a:p>
            <a:r>
              <a:t>Justin: Thank you for your time. Anyone may direct a question to any of us — all three of us reviewed the whole engagement, so no question has to wait for one person. A quick map: Justin owns scope, risks, and the conclusion; Glenn owns the system, controls, and tests; Jenifer owns findings and action plans.</a:t>
            </a:r>
          </a:p>
          <a:p/>
          <a:p>
            <a:r>
              <a:t>Jenifer: If you ask for evidence, we can bring the report on screen — the twenty-item EVD index, the test workpapers, the review and AI logs, and the build lineage.</a:t>
            </a:r>
          </a:p>
          <a:p/>
          <a:p>
            <a:r>
              <a:t>Glenn: Prepared answers, in case: the fine formula is rate times days late under settings control TEST-06; the Data Privacy Act basis is CMP-01; the post-cutoff build is BLD-06 — disclosed and excluded; and the action plan is verified by re-running TEST-01 and TEST-03, reading the restore log, and reviewing the export log once they exist.</a:t>
            </a:r>
          </a:p>
          <a:p/>
          <a:p>
            <a:r>
              <a:t>Q&amp;A cue: about 3 minutes of Q&amp;A; use the report if asked to show evidence — sections and IDs on request.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404NotFound  |  MCST LMS Audit</a:t>
            </a:r>
            <a:endParaRPr lang="en-US" sz="1000" dirty="0"/>
          </a:p>
        </p:txBody>
      </p:sp>
      <p:sp>
        <p:nvSpPr>
          <p:cNvPr id="3" name="Text 1"/>
          <p:cNvSpPr/>
          <p:nvPr>
            <p:ph idx="101" type="title" hasCustomPrompt="1"/>
          </p:nvPr>
        </p:nvSpPr>
        <p:spPr>
          <a:xfrm>
            <a:off x="548640" y="365760"/>
            <a:ext cx="11091672"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404NotFound  |  MCST LMS Audit</a:t>
            </a:r>
            <a:endParaRPr lang="en-US" sz="1000" dirty="0"/>
          </a:p>
        </p:txBody>
      </p:sp>
      <p:sp>
        <p:nvSpPr>
          <p:cNvPr id="3" name="Text 1"/>
          <p:cNvSpPr/>
          <p:nvPr>
            <p:ph idx="101" type="title" hasCustomPrompt="1"/>
          </p:nvPr>
        </p:nvSpPr>
        <p:spPr>
          <a:xfrm>
            <a:off x="548640" y="365760"/>
            <a:ext cx="11091672"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ckdrop circle"/>
          <p:cNvSpPr/>
          <p:nvPr/>
        </p:nvSpPr>
        <p:spPr>
          <a:xfrm>
            <a:off x="8595360" y="-1463040"/>
            <a:ext cx="5852160" cy="5852160"/>
          </a:xfrm>
          <a:prstGeom prst="ellipse">
            <a:avLst/>
          </a:prstGeom>
          <a:solidFill>
            <a:schemeClr val="accent1">
              <a:alpha val="18000"/>
            </a:schemeClr>
          </a:solidFill>
          <a:ln/>
        </p:spPr>
      </p:sp>
      <p:sp>
        <p:nvSpPr>
          <p:cNvPr id="4" name="Backdrop circle 2"/>
          <p:cNvSpPr/>
          <p:nvPr/>
        </p:nvSpPr>
        <p:spPr>
          <a:xfrm>
            <a:off x="9875520" y="2377440"/>
            <a:ext cx="3291840" cy="3291840"/>
          </a:xfrm>
          <a:prstGeom prst="ellipse">
            <a:avLst/>
          </a:prstGeom>
          <a:solidFill>
            <a:schemeClr val="accent1">
              <a:alpha val="30000"/>
            </a:schemeClr>
          </a:solidFill>
          <a:ln/>
        </p:spPr>
      </p:sp>
      <p:sp>
        <p:nvSpPr>
          <p:cNvPr id="5" name="Text 2"/>
          <p:cNvSpPr txBox="1"/>
          <p:nvPr/>
        </p:nvSpPr>
        <p:spPr>
          <a:xfrm>
            <a:off x="731520" y="822960"/>
            <a:ext cx="7315200" cy="320040"/>
          </a:xfrm>
          <a:prstGeom prst="rect">
            <a:avLst/>
          </a:prstGeom>
          <a:noFill/>
          <a:ln/>
        </p:spPr>
        <p:txBody>
          <a:bodyPr wrap="square" lIns="0" tIns="0" rIns="0" bIns="0" rtlCol="0" anchor="t"/>
          <a:lstStyle/>
          <a:p>
            <a:pPr indent="0" marL="0">
              <a:buNone/>
            </a:pPr>
            <a:r>
              <a:rPr lang="en-US" sz="1300" b="1" spc="300" kern="0" dirty="0">
                <a:solidFill>
                  <a:schemeClr val="bg2"/>
                </a:solidFill>
              </a:rPr>
              <a:t>CAPSTONE SYSTEM IT AUDIT ENGAGEMENT</a:t>
            </a:r>
            <a:endParaRPr lang="en-US" sz="1300" dirty="0"/>
          </a:p>
        </p:txBody>
      </p:sp>
      <p:sp>
        <p:nvSpPr>
          <p:cNvPr id="6" name="Text 3"/>
          <p:cNvSpPr txBox="1"/>
          <p:nvPr/>
        </p:nvSpPr>
        <p:spPr>
          <a:xfrm>
            <a:off x="731520" y="1280160"/>
            <a:ext cx="8412480" cy="1737360"/>
          </a:xfrm>
          <a:prstGeom prst="rect">
            <a:avLst/>
          </a:prstGeom>
          <a:noFill/>
          <a:ln/>
        </p:spPr>
        <p:txBody>
          <a:bodyPr wrap="square" lIns="0" tIns="0" rIns="0" bIns="0" rtlCol="0" anchor="t"/>
          <a:lstStyle/>
          <a:p>
            <a:pPr indent="0" marL="0">
              <a:buNone/>
            </a:pPr>
            <a:r>
              <a:rPr lang="en-US" sz="4200" b="1" dirty="0">
                <a:solidFill>
                  <a:schemeClr val="bg1"/>
                </a:solidFill>
                <a:latin typeface="Cambria" pitchFamily="34" charset="0"/>
                <a:ea typeface="Cambria" pitchFamily="34" charset="-122"/>
                <a:cs typeface="Cambria" pitchFamily="34" charset="-120"/>
              </a:rPr>
              <a:t>IT Audit of the MCST Library Management System (MCST LMS)</a:t>
            </a:r>
            <a:endParaRPr lang="en-US" sz="4200" dirty="0"/>
          </a:p>
        </p:txBody>
      </p:sp>
      <p:sp>
        <p:nvSpPr>
          <p:cNvPr id="7" name="Text 4"/>
          <p:cNvSpPr txBox="1"/>
          <p:nvPr/>
        </p:nvSpPr>
        <p:spPr>
          <a:xfrm>
            <a:off x="731520" y="3108960"/>
            <a:ext cx="8595360" cy="365760"/>
          </a:xfrm>
          <a:prstGeom prst="rect">
            <a:avLst/>
          </a:prstGeom>
          <a:noFill/>
          <a:ln/>
        </p:spPr>
        <p:txBody>
          <a:bodyPr wrap="square" lIns="0" tIns="0" rIns="0" bIns="0" rtlCol="0" anchor="t"/>
          <a:lstStyle/>
          <a:p>
            <a:pPr indent="0" marL="0">
              <a:buNone/>
            </a:pPr>
            <a:r>
              <a:rPr lang="en-US" sz="1800" dirty="0">
                <a:solidFill>
                  <a:schemeClr val="bg2"/>
                </a:solidFill>
              </a:rPr>
              <a:t>Final Integrated Professional IT Audit Report  -  Labs 7-12</a:t>
            </a:r>
            <a:endParaRPr lang="en-US" sz="1800" dirty="0"/>
          </a:p>
        </p:txBody>
      </p:sp>
      <p:sp>
        <p:nvSpPr>
          <p:cNvPr id="8" name="Text 5"/>
          <p:cNvSpPr txBox="1"/>
          <p:nvPr/>
        </p:nvSpPr>
        <p:spPr>
          <a:xfrm>
            <a:off x="731520" y="3566160"/>
            <a:ext cx="9144000" cy="320040"/>
          </a:xfrm>
          <a:prstGeom prst="rect">
            <a:avLst/>
          </a:prstGeom>
          <a:noFill/>
          <a:ln/>
        </p:spPr>
        <p:txBody>
          <a:bodyPr wrap="square" lIns="0" tIns="0" rIns="0" bIns="0" rtlCol="0" anchor="t"/>
          <a:lstStyle/>
          <a:p>
            <a:pPr indent="0" marL="0">
              <a:buNone/>
            </a:pPr>
            <a:r>
              <a:rPr lang="en-US" sz="1300" dirty="0">
                <a:solidFill>
                  <a:schemeClr val="accent6"/>
                </a:solidFill>
              </a:rPr>
              <a:t>Evidence cutoff 2026-10-10  |  Audited builds BLD-04/BLD-05  |  Report 1.0 Final, 2026-10-20</a:t>
            </a:r>
            <a:endParaRPr lang="en-US" sz="1300" dirty="0"/>
          </a:p>
        </p:txBody>
      </p:sp>
      <p:sp>
        <p:nvSpPr>
          <p:cNvPr id="9" name="Text 6"/>
          <p:cNvSpPr txBox="1"/>
          <p:nvPr/>
        </p:nvSpPr>
        <p:spPr>
          <a:xfrm>
            <a:off x="731520" y="4434840"/>
            <a:ext cx="3657600" cy="320040"/>
          </a:xfrm>
          <a:prstGeom prst="rect">
            <a:avLst/>
          </a:prstGeom>
          <a:noFill/>
          <a:ln/>
        </p:spPr>
        <p:txBody>
          <a:bodyPr wrap="square" lIns="0" tIns="0" rIns="0" bIns="0" rtlCol="0" anchor="t"/>
          <a:lstStyle/>
          <a:p>
            <a:pPr indent="0" marL="0">
              <a:buNone/>
            </a:pPr>
            <a:r>
              <a:rPr lang="en-US" sz="1400" b="1" dirty="0">
                <a:solidFill>
                  <a:schemeClr val="bg2"/>
                </a:solidFill>
              </a:rPr>
              <a:t>404NotFound</a:t>
            </a:r>
            <a:endParaRPr lang="en-US" sz="1400" dirty="0"/>
          </a:p>
        </p:txBody>
      </p:sp>
      <p:sp>
        <p:nvSpPr>
          <p:cNvPr id="10" name="Team card"/>
          <p:cNvSpPr/>
          <p:nvPr/>
        </p:nvSpPr>
        <p:spPr>
          <a:xfrm>
            <a:off x="731520" y="4846320"/>
            <a:ext cx="3383280" cy="1005840"/>
          </a:xfrm>
          <a:prstGeom prst="roundRect">
            <a:avLst>
              <a:gd name="adj" fmla="val 9091"/>
            </a:avLst>
          </a:prstGeom>
          <a:solidFill>
            <a:schemeClr val="bg1">
              <a:alpha val="8000"/>
            </a:schemeClr>
          </a:solidFill>
          <a:ln w="9525">
            <a:solidFill>
              <a:schemeClr val="accent6"/>
            </a:solidFill>
            <a:prstDash val="solid"/>
          </a:ln>
        </p:spPr>
      </p:sp>
      <p:sp>
        <p:nvSpPr>
          <p:cNvPr id="11" name="Text 8"/>
          <p:cNvSpPr txBox="1"/>
          <p:nvPr/>
        </p:nvSpPr>
        <p:spPr>
          <a:xfrm>
            <a:off x="914400" y="4983480"/>
            <a:ext cx="3017520" cy="365760"/>
          </a:xfrm>
          <a:prstGeom prst="rect">
            <a:avLst/>
          </a:prstGeom>
          <a:noFill/>
          <a:ln/>
        </p:spPr>
        <p:txBody>
          <a:bodyPr wrap="square" lIns="0" tIns="0" rIns="0" bIns="0" rtlCol="0" anchor="t"/>
          <a:lstStyle/>
          <a:p>
            <a:pPr indent="0" marL="0">
              <a:buNone/>
            </a:pPr>
            <a:r>
              <a:rPr lang="en-US" sz="1600" b="1" dirty="0">
                <a:solidFill>
                  <a:schemeClr val="bg1"/>
                </a:solidFill>
              </a:rPr>
              <a:t>Justin C. Batlangao</a:t>
            </a:r>
            <a:endParaRPr lang="en-US" sz="1600" dirty="0"/>
          </a:p>
        </p:txBody>
      </p:sp>
      <p:sp>
        <p:nvSpPr>
          <p:cNvPr id="12" name="Text 9"/>
          <p:cNvSpPr txBox="1"/>
          <p:nvPr/>
        </p:nvSpPr>
        <p:spPr>
          <a:xfrm>
            <a:off x="914400" y="5394960"/>
            <a:ext cx="3017520" cy="320040"/>
          </a:xfrm>
          <a:prstGeom prst="rect">
            <a:avLst/>
          </a:prstGeom>
          <a:noFill/>
          <a:ln/>
        </p:spPr>
        <p:txBody>
          <a:bodyPr wrap="square" lIns="0" tIns="0" rIns="0" bIns="0" rtlCol="0" anchor="t"/>
          <a:lstStyle/>
          <a:p>
            <a:pPr indent="0" marL="0">
              <a:buNone/>
            </a:pPr>
            <a:r>
              <a:rPr lang="en-US" sz="1200" dirty="0">
                <a:solidFill>
                  <a:schemeClr val="bg2"/>
                </a:solidFill>
              </a:rPr>
              <a:t>Findings and Report Lead</a:t>
            </a:r>
            <a:endParaRPr lang="en-US" sz="1200" dirty="0"/>
          </a:p>
        </p:txBody>
      </p:sp>
      <p:sp>
        <p:nvSpPr>
          <p:cNvPr id="13" name="Team card"/>
          <p:cNvSpPr/>
          <p:nvPr/>
        </p:nvSpPr>
        <p:spPr>
          <a:xfrm>
            <a:off x="4297680" y="4846320"/>
            <a:ext cx="3383280" cy="1005840"/>
          </a:xfrm>
          <a:prstGeom prst="roundRect">
            <a:avLst>
              <a:gd name="adj" fmla="val 9091"/>
            </a:avLst>
          </a:prstGeom>
          <a:solidFill>
            <a:schemeClr val="bg1">
              <a:alpha val="8000"/>
            </a:schemeClr>
          </a:solidFill>
          <a:ln w="9525">
            <a:solidFill>
              <a:schemeClr val="accent6"/>
            </a:solidFill>
            <a:prstDash val="solid"/>
          </a:ln>
        </p:spPr>
      </p:sp>
      <p:sp>
        <p:nvSpPr>
          <p:cNvPr id="14" name="Text 11"/>
          <p:cNvSpPr txBox="1"/>
          <p:nvPr/>
        </p:nvSpPr>
        <p:spPr>
          <a:xfrm>
            <a:off x="4480560" y="4983480"/>
            <a:ext cx="3017520" cy="365760"/>
          </a:xfrm>
          <a:prstGeom prst="rect">
            <a:avLst/>
          </a:prstGeom>
          <a:noFill/>
          <a:ln/>
        </p:spPr>
        <p:txBody>
          <a:bodyPr wrap="square" lIns="0" tIns="0" rIns="0" bIns="0" rtlCol="0" anchor="t"/>
          <a:lstStyle/>
          <a:p>
            <a:pPr indent="0" marL="0">
              <a:buNone/>
            </a:pPr>
            <a:r>
              <a:rPr lang="en-US" sz="1600" b="1" dirty="0">
                <a:solidFill>
                  <a:schemeClr val="bg1"/>
                </a:solidFill>
              </a:rPr>
              <a:t>Glenn Patrick B. Darriguez</a:t>
            </a:r>
            <a:endParaRPr lang="en-US" sz="1600" dirty="0"/>
          </a:p>
        </p:txBody>
      </p:sp>
      <p:sp>
        <p:nvSpPr>
          <p:cNvPr id="15" name="Text 12"/>
          <p:cNvSpPr txBox="1"/>
          <p:nvPr/>
        </p:nvSpPr>
        <p:spPr>
          <a:xfrm>
            <a:off x="4480560" y="5394960"/>
            <a:ext cx="3017520" cy="320040"/>
          </a:xfrm>
          <a:prstGeom prst="rect">
            <a:avLst/>
          </a:prstGeom>
          <a:noFill/>
          <a:ln/>
        </p:spPr>
        <p:txBody>
          <a:bodyPr wrap="square" lIns="0" tIns="0" rIns="0" bIns="0" rtlCol="0" anchor="t"/>
          <a:lstStyle/>
          <a:p>
            <a:pPr indent="0" marL="0">
              <a:buNone/>
            </a:pPr>
            <a:r>
              <a:rPr lang="en-US" sz="1200" dirty="0">
                <a:solidFill>
                  <a:schemeClr val="bg2"/>
                </a:solidFill>
              </a:rPr>
              <a:t>Evidence and Root-Cause Analyst</a:t>
            </a:r>
            <a:endParaRPr lang="en-US" sz="1200" dirty="0"/>
          </a:p>
        </p:txBody>
      </p:sp>
      <p:sp>
        <p:nvSpPr>
          <p:cNvPr id="16" name="Team card"/>
          <p:cNvSpPr/>
          <p:nvPr/>
        </p:nvSpPr>
        <p:spPr>
          <a:xfrm>
            <a:off x="7863840" y="4846320"/>
            <a:ext cx="3383280" cy="1005840"/>
          </a:xfrm>
          <a:prstGeom prst="roundRect">
            <a:avLst>
              <a:gd name="adj" fmla="val 9091"/>
            </a:avLst>
          </a:prstGeom>
          <a:solidFill>
            <a:schemeClr val="bg1">
              <a:alpha val="8000"/>
            </a:schemeClr>
          </a:solidFill>
          <a:ln w="9525">
            <a:solidFill>
              <a:schemeClr val="accent6"/>
            </a:solidFill>
            <a:prstDash val="solid"/>
          </a:ln>
        </p:spPr>
      </p:sp>
      <p:sp>
        <p:nvSpPr>
          <p:cNvPr id="17" name="Text 14"/>
          <p:cNvSpPr txBox="1"/>
          <p:nvPr/>
        </p:nvSpPr>
        <p:spPr>
          <a:xfrm>
            <a:off x="8046720" y="4983480"/>
            <a:ext cx="3017520" cy="365760"/>
          </a:xfrm>
          <a:prstGeom prst="rect">
            <a:avLst/>
          </a:prstGeom>
          <a:noFill/>
          <a:ln/>
        </p:spPr>
        <p:txBody>
          <a:bodyPr wrap="square" lIns="0" tIns="0" rIns="0" bIns="0" rtlCol="0" anchor="t"/>
          <a:lstStyle/>
          <a:p>
            <a:pPr indent="0" marL="0">
              <a:buNone/>
            </a:pPr>
            <a:r>
              <a:rPr lang="en-US" sz="1600" b="1" dirty="0">
                <a:solidFill>
                  <a:schemeClr val="bg1"/>
                </a:solidFill>
              </a:rPr>
              <a:t>Ma. Jenifer L. Labag</a:t>
            </a:r>
            <a:endParaRPr lang="en-US" sz="1600" dirty="0"/>
          </a:p>
        </p:txBody>
      </p:sp>
      <p:sp>
        <p:nvSpPr>
          <p:cNvPr id="18" name="Text 15"/>
          <p:cNvSpPr txBox="1"/>
          <p:nvPr/>
        </p:nvSpPr>
        <p:spPr>
          <a:xfrm>
            <a:off x="8046720" y="5394960"/>
            <a:ext cx="3017520" cy="320040"/>
          </a:xfrm>
          <a:prstGeom prst="rect">
            <a:avLst/>
          </a:prstGeom>
          <a:noFill/>
          <a:ln/>
        </p:spPr>
        <p:txBody>
          <a:bodyPr wrap="square" lIns="0" tIns="0" rIns="0" bIns="0" rtlCol="0" anchor="t"/>
          <a:lstStyle/>
          <a:p>
            <a:pPr indent="0" marL="0">
              <a:buNone/>
            </a:pPr>
            <a:r>
              <a:rPr lang="en-US" sz="1200" dirty="0">
                <a:solidFill>
                  <a:schemeClr val="bg2"/>
                </a:solidFill>
              </a:rPr>
              <a:t>Recommendation and Action-Plan Analyst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Our Audit Journey - and Who Presents What</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Six laboratory milestones built one continuous engagement from scope to conclusion</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Timeline line"/>
          <p:cNvSpPr/>
          <p:nvPr/>
        </p:nvSpPr>
        <p:spPr>
          <a:xfrm>
            <a:off x="1394460" y="2130552"/>
            <a:ext cx="9372600" cy="0"/>
          </a:xfrm>
          <a:prstGeom prst="line">
            <a:avLst/>
          </a:prstGeom>
          <a:noFill/>
          <a:ln w="19050">
            <a:solidFill>
              <a:schemeClr val="accent6"/>
            </a:solidFill>
            <a:prstDash val="solid"/>
          </a:ln>
        </p:spPr>
      </p:sp>
      <p:sp>
        <p:nvSpPr>
          <p:cNvPr id="7" name="Timeline node"/>
          <p:cNvSpPr/>
          <p:nvPr/>
        </p:nvSpPr>
        <p:spPr>
          <a:xfrm>
            <a:off x="1138428" y="1874520"/>
            <a:ext cx="512064" cy="512064"/>
          </a:xfrm>
          <a:prstGeom prst="ellipse">
            <a:avLst/>
          </a:prstGeom>
          <a:solidFill>
            <a:schemeClr val="accent1"/>
          </a:solidFill>
          <a:ln w="38100">
            <a:solidFill>
              <a:schemeClr val="bg1"/>
            </a:solidFill>
            <a:prstDash val="solid"/>
          </a:ln>
        </p:spPr>
      </p:sp>
      <p:sp>
        <p:nvSpPr>
          <p:cNvPr id="8" name="Text 5"/>
          <p:cNvSpPr txBox="1"/>
          <p:nvPr/>
        </p:nvSpPr>
        <p:spPr>
          <a:xfrm>
            <a:off x="113842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9" name="Card"/>
          <p:cNvSpPr/>
          <p:nvPr/>
        </p:nvSpPr>
        <p:spPr>
          <a:xfrm>
            <a:off x="54864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10" name="Text 7"/>
          <p:cNvSpPr txBox="1"/>
          <p:nvPr/>
        </p:nvSpPr>
        <p:spPr>
          <a:xfrm>
            <a:off x="68580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7</a:t>
            </a:r>
            <a:endParaRPr lang="en-US" sz="1500" dirty="0"/>
          </a:p>
        </p:txBody>
      </p:sp>
      <p:sp>
        <p:nvSpPr>
          <p:cNvPr id="11" name="Text 8"/>
          <p:cNvSpPr txBox="1"/>
          <p:nvPr/>
        </p:nvSpPr>
        <p:spPr>
          <a:xfrm>
            <a:off x="68580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Scope + objectives + criteria</a:t>
            </a:r>
            <a:endParaRPr lang="en-US" sz="1300" dirty="0"/>
          </a:p>
        </p:txBody>
      </p:sp>
      <p:sp>
        <p:nvSpPr>
          <p:cNvPr id="12" name="Text 9"/>
          <p:cNvSpPr txBox="1"/>
          <p:nvPr/>
        </p:nvSpPr>
        <p:spPr>
          <a:xfrm>
            <a:off x="68580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2026-09-19</a:t>
            </a:r>
            <a:endParaRPr lang="en-US" sz="1100" dirty="0"/>
          </a:p>
        </p:txBody>
      </p:sp>
      <p:sp>
        <p:nvSpPr>
          <p:cNvPr id="13" name="Text 10"/>
          <p:cNvSpPr txBox="1"/>
          <p:nvPr/>
        </p:nvSpPr>
        <p:spPr>
          <a:xfrm>
            <a:off x="68580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Justin</a:t>
            </a:r>
            <a:endParaRPr lang="en-US" sz="1200" dirty="0"/>
          </a:p>
        </p:txBody>
      </p:sp>
      <p:sp>
        <p:nvSpPr>
          <p:cNvPr id="14" name="Timeline node"/>
          <p:cNvSpPr/>
          <p:nvPr/>
        </p:nvSpPr>
        <p:spPr>
          <a:xfrm>
            <a:off x="3012948" y="1874520"/>
            <a:ext cx="512064" cy="512064"/>
          </a:xfrm>
          <a:prstGeom prst="ellipse">
            <a:avLst/>
          </a:prstGeom>
          <a:solidFill>
            <a:schemeClr val="accent1"/>
          </a:solidFill>
          <a:ln w="38100">
            <a:solidFill>
              <a:schemeClr val="bg1"/>
            </a:solidFill>
            <a:prstDash val="solid"/>
          </a:ln>
        </p:spPr>
      </p:sp>
      <p:sp>
        <p:nvSpPr>
          <p:cNvPr id="15" name="Text 12"/>
          <p:cNvSpPr txBox="1"/>
          <p:nvPr/>
        </p:nvSpPr>
        <p:spPr>
          <a:xfrm>
            <a:off x="301294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6" name="Card"/>
          <p:cNvSpPr/>
          <p:nvPr/>
        </p:nvSpPr>
        <p:spPr>
          <a:xfrm>
            <a:off x="242316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17" name="Text 14"/>
          <p:cNvSpPr txBox="1"/>
          <p:nvPr/>
        </p:nvSpPr>
        <p:spPr>
          <a:xfrm>
            <a:off x="256032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8</a:t>
            </a:r>
            <a:endParaRPr lang="en-US" sz="1500" dirty="0"/>
          </a:p>
        </p:txBody>
      </p:sp>
      <p:sp>
        <p:nvSpPr>
          <p:cNvPr id="18" name="Text 15"/>
          <p:cNvSpPr txBox="1"/>
          <p:nvPr/>
        </p:nvSpPr>
        <p:spPr>
          <a:xfrm>
            <a:off x="256032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Assets + flows + accounts</a:t>
            </a:r>
            <a:endParaRPr lang="en-US" sz="1300" dirty="0"/>
          </a:p>
        </p:txBody>
      </p:sp>
      <p:sp>
        <p:nvSpPr>
          <p:cNvPr id="19" name="Text 16"/>
          <p:cNvSpPr txBox="1"/>
          <p:nvPr/>
        </p:nvSpPr>
        <p:spPr>
          <a:xfrm>
            <a:off x="256032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2026-09-26</a:t>
            </a:r>
            <a:endParaRPr lang="en-US" sz="1100" dirty="0"/>
          </a:p>
        </p:txBody>
      </p:sp>
      <p:sp>
        <p:nvSpPr>
          <p:cNvPr id="20" name="Text 17"/>
          <p:cNvSpPr txBox="1"/>
          <p:nvPr/>
        </p:nvSpPr>
        <p:spPr>
          <a:xfrm>
            <a:off x="256032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Glenn</a:t>
            </a:r>
            <a:endParaRPr lang="en-US" sz="1200" dirty="0"/>
          </a:p>
        </p:txBody>
      </p:sp>
      <p:sp>
        <p:nvSpPr>
          <p:cNvPr id="21" name="Timeline node"/>
          <p:cNvSpPr/>
          <p:nvPr/>
        </p:nvSpPr>
        <p:spPr>
          <a:xfrm>
            <a:off x="4887468" y="1874520"/>
            <a:ext cx="512064" cy="512064"/>
          </a:xfrm>
          <a:prstGeom prst="ellipse">
            <a:avLst/>
          </a:prstGeom>
          <a:solidFill>
            <a:schemeClr val="accent1"/>
          </a:solidFill>
          <a:ln w="38100">
            <a:solidFill>
              <a:schemeClr val="bg1"/>
            </a:solidFill>
            <a:prstDash val="solid"/>
          </a:ln>
        </p:spPr>
      </p:sp>
      <p:sp>
        <p:nvSpPr>
          <p:cNvPr id="22" name="Text 19"/>
          <p:cNvSpPr txBox="1"/>
          <p:nvPr/>
        </p:nvSpPr>
        <p:spPr>
          <a:xfrm>
            <a:off x="488746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3" name="Card"/>
          <p:cNvSpPr/>
          <p:nvPr/>
        </p:nvSpPr>
        <p:spPr>
          <a:xfrm>
            <a:off x="429768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24" name="Text 21"/>
          <p:cNvSpPr txBox="1"/>
          <p:nvPr/>
        </p:nvSpPr>
        <p:spPr>
          <a:xfrm>
            <a:off x="443484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9</a:t>
            </a:r>
            <a:endParaRPr lang="en-US" sz="1500" dirty="0"/>
          </a:p>
        </p:txBody>
      </p:sp>
      <p:sp>
        <p:nvSpPr>
          <p:cNvPr id="25" name="Text 22"/>
          <p:cNvSpPr txBox="1"/>
          <p:nvPr/>
        </p:nvSpPr>
        <p:spPr>
          <a:xfrm>
            <a:off x="443484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Risks + compliance</a:t>
            </a:r>
            <a:endParaRPr lang="en-US" sz="1300" dirty="0"/>
          </a:p>
        </p:txBody>
      </p:sp>
      <p:sp>
        <p:nvSpPr>
          <p:cNvPr id="26" name="Text 23"/>
          <p:cNvSpPr txBox="1"/>
          <p:nvPr/>
        </p:nvSpPr>
        <p:spPr>
          <a:xfrm>
            <a:off x="443484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2026-10-03</a:t>
            </a:r>
            <a:endParaRPr lang="en-US" sz="1100" dirty="0"/>
          </a:p>
        </p:txBody>
      </p:sp>
      <p:sp>
        <p:nvSpPr>
          <p:cNvPr id="27" name="Text 24"/>
          <p:cNvSpPr txBox="1"/>
          <p:nvPr/>
        </p:nvSpPr>
        <p:spPr>
          <a:xfrm>
            <a:off x="443484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Justin</a:t>
            </a:r>
            <a:endParaRPr lang="en-US" sz="1200" dirty="0"/>
          </a:p>
        </p:txBody>
      </p:sp>
      <p:sp>
        <p:nvSpPr>
          <p:cNvPr id="28" name="Timeline node"/>
          <p:cNvSpPr/>
          <p:nvPr/>
        </p:nvSpPr>
        <p:spPr>
          <a:xfrm>
            <a:off x="6761988" y="1874520"/>
            <a:ext cx="512064" cy="512064"/>
          </a:xfrm>
          <a:prstGeom prst="ellipse">
            <a:avLst/>
          </a:prstGeom>
          <a:solidFill>
            <a:schemeClr val="accent1"/>
          </a:solidFill>
          <a:ln w="38100">
            <a:solidFill>
              <a:schemeClr val="bg1"/>
            </a:solidFill>
            <a:prstDash val="solid"/>
          </a:ln>
        </p:spPr>
      </p:sp>
      <p:sp>
        <p:nvSpPr>
          <p:cNvPr id="29" name="Text 26"/>
          <p:cNvSpPr txBox="1"/>
          <p:nvPr/>
        </p:nvSpPr>
        <p:spPr>
          <a:xfrm>
            <a:off x="676198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30" name="Card"/>
          <p:cNvSpPr/>
          <p:nvPr/>
        </p:nvSpPr>
        <p:spPr>
          <a:xfrm>
            <a:off x="617220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31" name="Text 28"/>
          <p:cNvSpPr txBox="1"/>
          <p:nvPr/>
        </p:nvSpPr>
        <p:spPr>
          <a:xfrm>
            <a:off x="630936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10</a:t>
            </a:r>
            <a:endParaRPr lang="en-US" sz="1500" dirty="0"/>
          </a:p>
        </p:txBody>
      </p:sp>
      <p:sp>
        <p:nvSpPr>
          <p:cNvPr id="32" name="Text 29"/>
          <p:cNvSpPr txBox="1"/>
          <p:nvPr/>
        </p:nvSpPr>
        <p:spPr>
          <a:xfrm>
            <a:off x="630936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Controls + tests + gaps</a:t>
            </a:r>
            <a:endParaRPr lang="en-US" sz="1300" dirty="0"/>
          </a:p>
        </p:txBody>
      </p:sp>
      <p:sp>
        <p:nvSpPr>
          <p:cNvPr id="33" name="Text 30"/>
          <p:cNvSpPr txBox="1"/>
          <p:nvPr/>
        </p:nvSpPr>
        <p:spPr>
          <a:xfrm>
            <a:off x="630936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2026-10-03</a:t>
            </a:r>
            <a:endParaRPr lang="en-US" sz="1100" dirty="0"/>
          </a:p>
        </p:txBody>
      </p:sp>
      <p:sp>
        <p:nvSpPr>
          <p:cNvPr id="34" name="Text 31"/>
          <p:cNvSpPr txBox="1"/>
          <p:nvPr/>
        </p:nvSpPr>
        <p:spPr>
          <a:xfrm>
            <a:off x="630936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Glenn</a:t>
            </a:r>
            <a:endParaRPr lang="en-US" sz="1200" dirty="0"/>
          </a:p>
        </p:txBody>
      </p:sp>
      <p:sp>
        <p:nvSpPr>
          <p:cNvPr id="35" name="Timeline node"/>
          <p:cNvSpPr/>
          <p:nvPr/>
        </p:nvSpPr>
        <p:spPr>
          <a:xfrm>
            <a:off x="8636508" y="1874520"/>
            <a:ext cx="512064" cy="512064"/>
          </a:xfrm>
          <a:prstGeom prst="ellipse">
            <a:avLst/>
          </a:prstGeom>
          <a:solidFill>
            <a:schemeClr val="accent1"/>
          </a:solidFill>
          <a:ln w="38100">
            <a:solidFill>
              <a:schemeClr val="bg1"/>
            </a:solidFill>
            <a:prstDash val="solid"/>
          </a:ln>
        </p:spPr>
      </p:sp>
      <p:sp>
        <p:nvSpPr>
          <p:cNvPr id="36" name="Text 33"/>
          <p:cNvSpPr txBox="1"/>
          <p:nvPr/>
        </p:nvSpPr>
        <p:spPr>
          <a:xfrm>
            <a:off x="863650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11</a:t>
            </a:r>
            <a:endParaRPr lang="en-US" sz="1600" dirty="0"/>
          </a:p>
        </p:txBody>
      </p:sp>
      <p:sp>
        <p:nvSpPr>
          <p:cNvPr id="37" name="Card"/>
          <p:cNvSpPr/>
          <p:nvPr/>
        </p:nvSpPr>
        <p:spPr>
          <a:xfrm>
            <a:off x="804672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38" name="Text 35"/>
          <p:cNvSpPr txBox="1"/>
          <p:nvPr/>
        </p:nvSpPr>
        <p:spPr>
          <a:xfrm>
            <a:off x="818388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11</a:t>
            </a:r>
            <a:endParaRPr lang="en-US" sz="1500" dirty="0"/>
          </a:p>
        </p:txBody>
      </p:sp>
      <p:sp>
        <p:nvSpPr>
          <p:cNvPr id="39" name="Text 36"/>
          <p:cNvSpPr txBox="1"/>
          <p:nvPr/>
        </p:nvSpPr>
        <p:spPr>
          <a:xfrm>
            <a:off x="818388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Findings + actions</a:t>
            </a:r>
            <a:endParaRPr lang="en-US" sz="1300" dirty="0"/>
          </a:p>
        </p:txBody>
      </p:sp>
      <p:sp>
        <p:nvSpPr>
          <p:cNvPr id="40" name="Text 37"/>
          <p:cNvSpPr txBox="1"/>
          <p:nvPr/>
        </p:nvSpPr>
        <p:spPr>
          <a:xfrm>
            <a:off x="818388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2026-10-10</a:t>
            </a:r>
            <a:endParaRPr lang="en-US" sz="1100" dirty="0"/>
          </a:p>
        </p:txBody>
      </p:sp>
      <p:sp>
        <p:nvSpPr>
          <p:cNvPr id="41" name="Text 38"/>
          <p:cNvSpPr txBox="1"/>
          <p:nvPr/>
        </p:nvSpPr>
        <p:spPr>
          <a:xfrm>
            <a:off x="818388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Ma.</a:t>
            </a:r>
            <a:endParaRPr lang="en-US" sz="1200" dirty="0"/>
          </a:p>
        </p:txBody>
      </p:sp>
      <p:sp>
        <p:nvSpPr>
          <p:cNvPr id="42" name="Timeline node"/>
          <p:cNvSpPr/>
          <p:nvPr/>
        </p:nvSpPr>
        <p:spPr>
          <a:xfrm>
            <a:off x="10511028" y="1874520"/>
            <a:ext cx="512064" cy="512064"/>
          </a:xfrm>
          <a:prstGeom prst="ellipse">
            <a:avLst/>
          </a:prstGeom>
          <a:solidFill>
            <a:schemeClr val="accent1"/>
          </a:solidFill>
          <a:ln w="38100">
            <a:solidFill>
              <a:schemeClr val="bg1"/>
            </a:solidFill>
            <a:prstDash val="solid"/>
          </a:ln>
        </p:spPr>
      </p:sp>
      <p:sp>
        <p:nvSpPr>
          <p:cNvPr id="43" name="Text 40"/>
          <p:cNvSpPr txBox="1"/>
          <p:nvPr/>
        </p:nvSpPr>
        <p:spPr>
          <a:xfrm>
            <a:off x="10511028" y="187452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12</a:t>
            </a:r>
            <a:endParaRPr lang="en-US" sz="1600" dirty="0"/>
          </a:p>
        </p:txBody>
      </p:sp>
      <p:sp>
        <p:nvSpPr>
          <p:cNvPr id="44" name="Card"/>
          <p:cNvSpPr/>
          <p:nvPr/>
        </p:nvSpPr>
        <p:spPr>
          <a:xfrm>
            <a:off x="9921240" y="2606040"/>
            <a:ext cx="1691640" cy="1691640"/>
          </a:xfrm>
          <a:prstGeom prst="roundRect">
            <a:avLst>
              <a:gd name="adj" fmla="val 5405"/>
            </a:avLst>
          </a:prstGeom>
          <a:solidFill>
            <a:schemeClr val="bg2"/>
          </a:solidFill>
          <a:ln/>
          <a:effectLst>
            <a:outerShdw sx="100000" sy="100000" kx="0" ky="0" algn="bl" rotWithShape="0" blurRad="101600" dist="25400" dir="5400000">
              <a:srgbClr val="14232E">
                <a:alpha val="12000"/>
              </a:srgbClr>
            </a:outerShdw>
          </a:effectLst>
        </p:spPr>
      </p:sp>
      <p:sp>
        <p:nvSpPr>
          <p:cNvPr id="45" name="Text 42"/>
          <p:cNvSpPr txBox="1"/>
          <p:nvPr/>
        </p:nvSpPr>
        <p:spPr>
          <a:xfrm>
            <a:off x="10058400" y="2715768"/>
            <a:ext cx="1417320" cy="274320"/>
          </a:xfrm>
          <a:prstGeom prst="rect">
            <a:avLst/>
          </a:prstGeom>
          <a:noFill/>
          <a:ln/>
        </p:spPr>
        <p:txBody>
          <a:bodyPr wrap="square" lIns="0" tIns="0" rIns="0" bIns="0" rtlCol="0" anchor="t"/>
          <a:lstStyle/>
          <a:p>
            <a:pPr indent="0" marL="0">
              <a:buNone/>
            </a:pPr>
            <a:r>
              <a:rPr lang="en-US" sz="1500" b="1" dirty="0">
                <a:solidFill>
                  <a:schemeClr val="tx2"/>
                </a:solidFill>
              </a:rPr>
              <a:t>Lab 12</a:t>
            </a:r>
            <a:endParaRPr lang="en-US" sz="1500" dirty="0"/>
          </a:p>
        </p:txBody>
      </p:sp>
      <p:sp>
        <p:nvSpPr>
          <p:cNvPr id="46" name="Text 43"/>
          <p:cNvSpPr txBox="1"/>
          <p:nvPr/>
        </p:nvSpPr>
        <p:spPr>
          <a:xfrm>
            <a:off x="10058400" y="3017520"/>
            <a:ext cx="1417320" cy="548640"/>
          </a:xfrm>
          <a:prstGeom prst="rect">
            <a:avLst/>
          </a:prstGeom>
          <a:noFill/>
          <a:ln/>
        </p:spPr>
        <p:txBody>
          <a:bodyPr wrap="square" lIns="0" tIns="0" rIns="0" bIns="0" rtlCol="0" anchor="t"/>
          <a:lstStyle/>
          <a:p>
            <a:pPr indent="0" marL="0">
              <a:buNone/>
            </a:pPr>
            <a:r>
              <a:rPr lang="en-US" sz="1300" dirty="0">
                <a:solidFill>
                  <a:schemeClr val="tx1"/>
                </a:solidFill>
              </a:rPr>
              <a:t>Final integration</a:t>
            </a:r>
            <a:endParaRPr lang="en-US" sz="1300" dirty="0"/>
          </a:p>
        </p:txBody>
      </p:sp>
      <p:sp>
        <p:nvSpPr>
          <p:cNvPr id="47" name="Text 44"/>
          <p:cNvSpPr txBox="1"/>
          <p:nvPr/>
        </p:nvSpPr>
        <p:spPr>
          <a:xfrm>
            <a:off x="10058400" y="3611880"/>
            <a:ext cx="1417320" cy="228600"/>
          </a:xfrm>
          <a:prstGeom prst="rect">
            <a:avLst/>
          </a:prstGeom>
          <a:noFill/>
          <a:ln/>
        </p:spPr>
        <p:txBody>
          <a:bodyPr wrap="square" lIns="0" tIns="0" rIns="0" bIns="0" rtlCol="0" anchor="t"/>
          <a:lstStyle/>
          <a:p>
            <a:pPr indent="0" marL="0">
              <a:buNone/>
            </a:pPr>
            <a:r>
              <a:rPr lang="en-US" sz="1100" dirty="0">
                <a:solidFill>
                  <a:schemeClr val="accent6"/>
                </a:solidFill>
              </a:rPr>
              <a:t>2026-10-20</a:t>
            </a:r>
            <a:endParaRPr lang="en-US" sz="1100" dirty="0"/>
          </a:p>
        </p:txBody>
      </p:sp>
      <p:sp>
        <p:nvSpPr>
          <p:cNvPr id="48" name="Text 45"/>
          <p:cNvSpPr txBox="1"/>
          <p:nvPr/>
        </p:nvSpPr>
        <p:spPr>
          <a:xfrm>
            <a:off x="10058400" y="3886200"/>
            <a:ext cx="1417320" cy="274320"/>
          </a:xfrm>
          <a:prstGeom prst="rect">
            <a:avLst/>
          </a:prstGeom>
          <a:noFill/>
          <a:ln/>
        </p:spPr>
        <p:txBody>
          <a:bodyPr wrap="square" lIns="0" tIns="0" rIns="0" bIns="0" rtlCol="0" anchor="t"/>
          <a:lstStyle/>
          <a:p>
            <a:pPr indent="0" marL="0">
              <a:buNone/>
            </a:pPr>
            <a:r>
              <a:rPr lang="en-US" sz="1200" b="1" dirty="0">
                <a:solidFill>
                  <a:schemeClr val="accent1"/>
                </a:solidFill>
              </a:rPr>
              <a:t>Ma.</a:t>
            </a:r>
            <a:endParaRPr lang="en-US" sz="1200" dirty="0"/>
          </a:p>
        </p:txBody>
      </p:sp>
      <p:sp>
        <p:nvSpPr>
          <p:cNvPr id="49" name="Text 46"/>
          <p:cNvSpPr txBox="1"/>
          <p:nvPr/>
        </p:nvSpPr>
        <p:spPr>
          <a:xfrm>
            <a:off x="548640" y="4937760"/>
            <a:ext cx="3520440" cy="1188720"/>
          </a:xfrm>
          <a:prstGeom prst="rect">
            <a:avLst/>
          </a:prstGeom>
          <a:noFill/>
          <a:ln/>
        </p:spPr>
        <p:txBody>
          <a:bodyPr wrap="square" lIns="0" tIns="0" rIns="0" bIns="0" rtlCol="0" anchor="t"/>
          <a:lstStyle/>
          <a:p>
            <a:pPr indent="0" marL="0">
              <a:buNone/>
            </a:pPr>
            <a:r>
              <a:rPr lang="en-US" sz="1400" dirty="0">
                <a:solidFill>
                  <a:schemeClr val="tx1"/>
                </a:solidFill>
              </a:rPr>
              <a:t>One continuous engagement: every lab shares the same system, build records, and ID families (OBJ / RSK / CTL / TEST / GAP / FND).</a:t>
            </a:r>
            <a:endParaRPr lang="en-US" sz="1400" dirty="0"/>
          </a:p>
        </p:txBody>
      </p:sp>
      <p:sp>
        <p:nvSpPr>
          <p:cNvPr id="50" name="Text 47"/>
          <p:cNvSpPr txBox="1"/>
          <p:nvPr/>
        </p:nvSpPr>
        <p:spPr>
          <a:xfrm>
            <a:off x="4315968" y="4937760"/>
            <a:ext cx="3520440" cy="1188720"/>
          </a:xfrm>
          <a:prstGeom prst="rect">
            <a:avLst/>
          </a:prstGeom>
          <a:noFill/>
          <a:ln/>
        </p:spPr>
        <p:txBody>
          <a:bodyPr wrap="square" lIns="0" tIns="0" rIns="0" bIns="0" rtlCol="0" anchor="t"/>
          <a:lstStyle/>
          <a:p>
            <a:pPr indent="0" marL="0">
              <a:buNone/>
            </a:pPr>
            <a:r>
              <a:rPr lang="en-US" sz="1400" dirty="0">
                <a:solidFill>
                  <a:schemeClr val="tx1"/>
                </a:solidFill>
              </a:rPr>
              <a:t>This deck covers: what we audited, what we tested, what we found, what we recommend, and our conclusion.</a:t>
            </a:r>
            <a:endParaRPr lang="en-US" sz="1400" dirty="0"/>
          </a:p>
        </p:txBody>
      </p:sp>
      <p:sp>
        <p:nvSpPr>
          <p:cNvPr id="51" name="Text 48"/>
          <p:cNvSpPr txBox="1"/>
          <p:nvPr/>
        </p:nvSpPr>
        <p:spPr>
          <a:xfrm>
            <a:off x="8083296" y="4937760"/>
            <a:ext cx="3520440" cy="1188720"/>
          </a:xfrm>
          <a:prstGeom prst="rect">
            <a:avLst/>
          </a:prstGeom>
          <a:noFill/>
          <a:ln/>
        </p:spPr>
        <p:txBody>
          <a:bodyPr wrap="square" lIns="0" tIns="0" rIns="0" bIns="0" rtlCol="0" anchor="t"/>
          <a:lstStyle/>
          <a:p>
            <a:pPr indent="0" marL="0">
              <a:buNone/>
            </a:pPr>
            <a:r>
              <a:rPr lang="en-US" sz="1400" dirty="0">
                <a:solidFill>
                  <a:schemeClr val="tx1"/>
                </a:solidFill>
              </a:rPr>
              <a:t>Every claim traces to evidence we collected - we will show the chain, not the paperwork.</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System We Audited</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Client: MCST Library (Head Librarian Calixto Nicolas Camangeg)  |  Our own capstone build - audited like an external team would</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Card"/>
          <p:cNvSpPr/>
          <p:nvPr/>
        </p:nvSpPr>
        <p:spPr>
          <a:xfrm>
            <a:off x="548640" y="1645920"/>
            <a:ext cx="5394960" cy="640080"/>
          </a:xfrm>
          <a:prstGeom prst="roundRect">
            <a:avLst>
              <a:gd name="adj" fmla="val 14286"/>
            </a:avLst>
          </a:prstGeom>
          <a:solidFill>
            <a:schemeClr val="bg2"/>
          </a:solidFill>
          <a:ln/>
        </p:spPr>
      </p:sp>
      <p:sp>
        <p:nvSpPr>
          <p:cNvPr id="7" name="Bullet dot"/>
          <p:cNvSpPr/>
          <p:nvPr/>
        </p:nvSpPr>
        <p:spPr>
          <a:xfrm>
            <a:off x="731520" y="1865376"/>
            <a:ext cx="201168" cy="201168"/>
          </a:xfrm>
          <a:prstGeom prst="ellipse">
            <a:avLst/>
          </a:prstGeom>
          <a:solidFill>
            <a:schemeClr val="accent1"/>
          </a:solidFill>
          <a:ln/>
        </p:spPr>
      </p:sp>
      <p:sp>
        <p:nvSpPr>
          <p:cNvPr id="8" name="Text 5"/>
          <p:cNvSpPr txBox="1"/>
          <p:nvPr/>
        </p:nvSpPr>
        <p:spPr>
          <a:xfrm>
            <a:off x="1097280" y="1691640"/>
            <a:ext cx="4709160" cy="548640"/>
          </a:xfrm>
          <a:prstGeom prst="rect">
            <a:avLst/>
          </a:prstGeom>
          <a:noFill/>
          <a:ln/>
        </p:spPr>
        <p:txBody>
          <a:bodyPr wrap="square" lIns="0" tIns="0" rIns="0" bIns="0" rtlCol="0" anchor="ctr"/>
          <a:lstStyle/>
          <a:p>
            <a:pPr indent="0" marL="0">
              <a:buNone/>
            </a:pPr>
            <a:r>
              <a:rPr lang="en-US" sz="1300" dirty="0">
                <a:solidFill>
                  <a:schemeClr val="tx1"/>
                </a:solidFill>
              </a:rPr>
              <a:t>Flask 3.1 web app: catalog, borrowing, fines, requests, buying, stock check, reports (MOD-01..08)</a:t>
            </a:r>
            <a:endParaRPr lang="en-US" sz="1300" dirty="0"/>
          </a:p>
        </p:txBody>
      </p:sp>
      <p:sp>
        <p:nvSpPr>
          <p:cNvPr id="9" name="Card"/>
          <p:cNvSpPr/>
          <p:nvPr/>
        </p:nvSpPr>
        <p:spPr>
          <a:xfrm>
            <a:off x="548640" y="2395728"/>
            <a:ext cx="5394960" cy="640080"/>
          </a:xfrm>
          <a:prstGeom prst="roundRect">
            <a:avLst>
              <a:gd name="adj" fmla="val 14286"/>
            </a:avLst>
          </a:prstGeom>
          <a:solidFill>
            <a:schemeClr val="bg2"/>
          </a:solidFill>
          <a:ln/>
        </p:spPr>
      </p:sp>
      <p:sp>
        <p:nvSpPr>
          <p:cNvPr id="10" name="Bullet dot"/>
          <p:cNvSpPr/>
          <p:nvPr/>
        </p:nvSpPr>
        <p:spPr>
          <a:xfrm>
            <a:off x="731520" y="2615184"/>
            <a:ext cx="201168" cy="201168"/>
          </a:xfrm>
          <a:prstGeom prst="ellipse">
            <a:avLst/>
          </a:prstGeom>
          <a:solidFill>
            <a:schemeClr val="accent1"/>
          </a:solidFill>
          <a:ln/>
        </p:spPr>
      </p:sp>
      <p:sp>
        <p:nvSpPr>
          <p:cNvPr id="11" name="Text 8"/>
          <p:cNvSpPr txBox="1"/>
          <p:nvPr/>
        </p:nvSpPr>
        <p:spPr>
          <a:xfrm>
            <a:off x="1097280" y="2441448"/>
            <a:ext cx="4709160" cy="548640"/>
          </a:xfrm>
          <a:prstGeom prst="rect">
            <a:avLst/>
          </a:prstGeom>
          <a:noFill/>
          <a:ln/>
        </p:spPr>
        <p:txBody>
          <a:bodyPr wrap="square" lIns="0" tIns="0" rIns="0" bIns="0" rtlCol="0" anchor="ctr"/>
          <a:lstStyle/>
          <a:p>
            <a:pPr indent="0" marL="0">
              <a:buNone/>
            </a:pPr>
            <a:r>
              <a:rPr lang="en-US" sz="1300" dirty="0">
                <a:solidFill>
                  <a:schemeClr val="tx1"/>
                </a:solidFill>
              </a:rPr>
              <a:t>PostgreSQL on Render + timed pg_dump backups</a:t>
            </a:r>
            <a:endParaRPr lang="en-US" sz="1300" dirty="0"/>
          </a:p>
        </p:txBody>
      </p:sp>
      <p:sp>
        <p:nvSpPr>
          <p:cNvPr id="12" name="Card"/>
          <p:cNvSpPr/>
          <p:nvPr/>
        </p:nvSpPr>
        <p:spPr>
          <a:xfrm>
            <a:off x="548640" y="3145536"/>
            <a:ext cx="5394960" cy="640080"/>
          </a:xfrm>
          <a:prstGeom prst="roundRect">
            <a:avLst>
              <a:gd name="adj" fmla="val 14286"/>
            </a:avLst>
          </a:prstGeom>
          <a:solidFill>
            <a:schemeClr val="bg2"/>
          </a:solidFill>
          <a:ln/>
        </p:spPr>
      </p:sp>
      <p:sp>
        <p:nvSpPr>
          <p:cNvPr id="13" name="Bullet dot"/>
          <p:cNvSpPr/>
          <p:nvPr/>
        </p:nvSpPr>
        <p:spPr>
          <a:xfrm>
            <a:off x="731520" y="3364992"/>
            <a:ext cx="201168" cy="201168"/>
          </a:xfrm>
          <a:prstGeom prst="ellipse">
            <a:avLst/>
          </a:prstGeom>
          <a:solidFill>
            <a:schemeClr val="accent1"/>
          </a:solidFill>
          <a:ln/>
        </p:spPr>
      </p:sp>
      <p:sp>
        <p:nvSpPr>
          <p:cNvPr id="14" name="Text 11"/>
          <p:cNvSpPr txBox="1"/>
          <p:nvPr/>
        </p:nvSpPr>
        <p:spPr>
          <a:xfrm>
            <a:off x="1097280" y="3191256"/>
            <a:ext cx="4709160" cy="548640"/>
          </a:xfrm>
          <a:prstGeom prst="rect">
            <a:avLst/>
          </a:prstGeom>
          <a:noFill/>
          <a:ln/>
        </p:spPr>
        <p:txBody>
          <a:bodyPr wrap="square" lIns="0" tIns="0" rIns="0" bIns="0" rtlCol="0" anchor="ctr"/>
          <a:lstStyle/>
          <a:p>
            <a:pPr indent="0" marL="0">
              <a:buNone/>
            </a:pPr>
            <a:r>
              <a:rPr lang="en-US" sz="1300" dirty="0">
                <a:solidFill>
                  <a:schemeClr val="tx1"/>
                </a:solidFill>
              </a:rPr>
              <a:t>Google school-email login (@mcst.edu.ph) with role checks per page</a:t>
            </a:r>
            <a:endParaRPr lang="en-US" sz="1300" dirty="0"/>
          </a:p>
        </p:txBody>
      </p:sp>
      <p:sp>
        <p:nvSpPr>
          <p:cNvPr id="15" name="Card"/>
          <p:cNvSpPr/>
          <p:nvPr/>
        </p:nvSpPr>
        <p:spPr>
          <a:xfrm>
            <a:off x="548640" y="3895344"/>
            <a:ext cx="5394960" cy="640080"/>
          </a:xfrm>
          <a:prstGeom prst="roundRect">
            <a:avLst>
              <a:gd name="adj" fmla="val 14286"/>
            </a:avLst>
          </a:prstGeom>
          <a:solidFill>
            <a:schemeClr val="bg2"/>
          </a:solidFill>
          <a:ln/>
        </p:spPr>
      </p:sp>
      <p:sp>
        <p:nvSpPr>
          <p:cNvPr id="16" name="Bullet dot"/>
          <p:cNvSpPr/>
          <p:nvPr/>
        </p:nvSpPr>
        <p:spPr>
          <a:xfrm>
            <a:off x="731520" y="4114800"/>
            <a:ext cx="201168" cy="201168"/>
          </a:xfrm>
          <a:prstGeom prst="ellipse">
            <a:avLst/>
          </a:prstGeom>
          <a:solidFill>
            <a:schemeClr val="accent1"/>
          </a:solidFill>
          <a:ln/>
        </p:spPr>
      </p:sp>
      <p:sp>
        <p:nvSpPr>
          <p:cNvPr id="17" name="Text 14"/>
          <p:cNvSpPr txBox="1"/>
          <p:nvPr/>
        </p:nvSpPr>
        <p:spPr>
          <a:xfrm>
            <a:off x="1097280" y="3941064"/>
            <a:ext cx="4709160" cy="548640"/>
          </a:xfrm>
          <a:prstGeom prst="rect">
            <a:avLst/>
          </a:prstGeom>
          <a:noFill/>
          <a:ln/>
        </p:spPr>
        <p:txBody>
          <a:bodyPr wrap="square" lIns="0" tIns="0" rIns="0" bIns="0" rtlCol="0" anchor="ctr"/>
          <a:lstStyle/>
          <a:p>
            <a:pPr indent="0" marL="0">
              <a:buNone/>
            </a:pPr>
            <a:r>
              <a:rPr lang="en-US" sz="1300" dirty="0">
                <a:solidFill>
                  <a:schemeClr val="tx1"/>
                </a:solidFill>
              </a:rPr>
              <a:t>Users: students / faculty borrow; desk staff circulate; admins manage</a:t>
            </a:r>
            <a:endParaRPr lang="en-US" sz="1300" dirty="0"/>
          </a:p>
        </p:txBody>
      </p:sp>
      <p:sp>
        <p:nvSpPr>
          <p:cNvPr id="18" name="Card"/>
          <p:cNvSpPr/>
          <p:nvPr/>
        </p:nvSpPr>
        <p:spPr>
          <a:xfrm>
            <a:off x="6217920" y="1645920"/>
            <a:ext cx="5394960" cy="640080"/>
          </a:xfrm>
          <a:prstGeom prst="roundRect">
            <a:avLst>
              <a:gd name="adj" fmla="val 14286"/>
            </a:avLst>
          </a:prstGeom>
          <a:solidFill>
            <a:schemeClr val="bg2"/>
          </a:solidFill>
          <a:ln/>
        </p:spPr>
      </p:sp>
      <p:sp>
        <p:nvSpPr>
          <p:cNvPr id="19" name="Bullet dot"/>
          <p:cNvSpPr/>
          <p:nvPr/>
        </p:nvSpPr>
        <p:spPr>
          <a:xfrm>
            <a:off x="6400800" y="1865376"/>
            <a:ext cx="201168" cy="201168"/>
          </a:xfrm>
          <a:prstGeom prst="ellipse">
            <a:avLst/>
          </a:prstGeom>
          <a:solidFill>
            <a:schemeClr val="accent1"/>
          </a:solidFill>
          <a:ln/>
        </p:spPr>
      </p:sp>
      <p:sp>
        <p:nvSpPr>
          <p:cNvPr id="20" name="Text 17"/>
          <p:cNvSpPr txBox="1"/>
          <p:nvPr/>
        </p:nvSpPr>
        <p:spPr>
          <a:xfrm>
            <a:off x="6766560" y="1691640"/>
            <a:ext cx="4709160" cy="548640"/>
          </a:xfrm>
          <a:prstGeom prst="rect">
            <a:avLst/>
          </a:prstGeom>
          <a:noFill/>
          <a:ln/>
        </p:spPr>
        <p:txBody>
          <a:bodyPr wrap="square" lIns="0" tIns="0" rIns="0" bIns="0" rtlCol="0" anchor="ctr"/>
          <a:lstStyle/>
          <a:p>
            <a:pPr indent="0" marL="0">
              <a:buNone/>
            </a:pPr>
            <a:r>
              <a:rPr lang="en-US" sz="1300" dirty="0">
                <a:solidFill>
                  <a:schemeClr val="tx1"/>
                </a:solidFill>
              </a:rPr>
              <a:t>Real library workflow: request -&gt; buy -&gt; add -&gt; borrow/return -&gt; fines -&gt; stock take</a:t>
            </a:r>
            <a:endParaRPr lang="en-US" sz="1300" dirty="0"/>
          </a:p>
        </p:txBody>
      </p:sp>
      <p:sp>
        <p:nvSpPr>
          <p:cNvPr id="21" name="Card"/>
          <p:cNvSpPr/>
          <p:nvPr/>
        </p:nvSpPr>
        <p:spPr>
          <a:xfrm>
            <a:off x="6217920" y="2395728"/>
            <a:ext cx="5394960" cy="640080"/>
          </a:xfrm>
          <a:prstGeom prst="roundRect">
            <a:avLst>
              <a:gd name="adj" fmla="val 14286"/>
            </a:avLst>
          </a:prstGeom>
          <a:solidFill>
            <a:schemeClr val="bg2"/>
          </a:solidFill>
          <a:ln/>
        </p:spPr>
      </p:sp>
      <p:sp>
        <p:nvSpPr>
          <p:cNvPr id="22" name="Bullet dot"/>
          <p:cNvSpPr/>
          <p:nvPr/>
        </p:nvSpPr>
        <p:spPr>
          <a:xfrm>
            <a:off x="6400800" y="2615184"/>
            <a:ext cx="201168" cy="201168"/>
          </a:xfrm>
          <a:prstGeom prst="ellipse">
            <a:avLst/>
          </a:prstGeom>
          <a:solidFill>
            <a:schemeClr val="accent1"/>
          </a:solidFill>
          <a:ln/>
        </p:spPr>
      </p:sp>
      <p:sp>
        <p:nvSpPr>
          <p:cNvPr id="23" name="Text 20"/>
          <p:cNvSpPr txBox="1"/>
          <p:nvPr/>
        </p:nvSpPr>
        <p:spPr>
          <a:xfrm>
            <a:off x="6766560" y="2441448"/>
            <a:ext cx="4709160" cy="548640"/>
          </a:xfrm>
          <a:prstGeom prst="rect">
            <a:avLst/>
          </a:prstGeom>
          <a:noFill/>
          <a:ln/>
        </p:spPr>
        <p:txBody>
          <a:bodyPr wrap="square" lIns="0" tIns="0" rIns="0" bIns="0" rtlCol="0" anchor="ctr"/>
          <a:lstStyle/>
          <a:p>
            <a:pPr indent="0" marL="0">
              <a:buNone/>
            </a:pPr>
            <a:r>
              <a:rPr lang="en-US" sz="1300" dirty="0">
                <a:solidFill>
                  <a:schemeClr val="tx1"/>
                </a:solidFill>
              </a:rPr>
              <a:t>Key data: book catalog + copies, borrower records, loans and fines, audit trail</a:t>
            </a:r>
            <a:endParaRPr lang="en-US" sz="1300" dirty="0"/>
          </a:p>
        </p:txBody>
      </p:sp>
      <p:sp>
        <p:nvSpPr>
          <p:cNvPr id="24" name="Card"/>
          <p:cNvSpPr/>
          <p:nvPr/>
        </p:nvSpPr>
        <p:spPr>
          <a:xfrm>
            <a:off x="6217920" y="3145536"/>
            <a:ext cx="5394960" cy="640080"/>
          </a:xfrm>
          <a:prstGeom prst="roundRect">
            <a:avLst>
              <a:gd name="adj" fmla="val 14286"/>
            </a:avLst>
          </a:prstGeom>
          <a:solidFill>
            <a:schemeClr val="bg2"/>
          </a:solidFill>
          <a:ln/>
        </p:spPr>
      </p:sp>
      <p:sp>
        <p:nvSpPr>
          <p:cNvPr id="25" name="Bullet dot"/>
          <p:cNvSpPr/>
          <p:nvPr/>
        </p:nvSpPr>
        <p:spPr>
          <a:xfrm>
            <a:off x="6400800" y="3364992"/>
            <a:ext cx="201168" cy="201168"/>
          </a:xfrm>
          <a:prstGeom prst="ellipse">
            <a:avLst/>
          </a:prstGeom>
          <a:solidFill>
            <a:schemeClr val="accent1"/>
          </a:solidFill>
          <a:ln/>
        </p:spPr>
      </p:sp>
      <p:sp>
        <p:nvSpPr>
          <p:cNvPr id="26" name="Text 23"/>
          <p:cNvSpPr txBox="1"/>
          <p:nvPr/>
        </p:nvSpPr>
        <p:spPr>
          <a:xfrm>
            <a:off x="6766560" y="3191256"/>
            <a:ext cx="4709160" cy="548640"/>
          </a:xfrm>
          <a:prstGeom prst="rect">
            <a:avLst/>
          </a:prstGeom>
          <a:noFill/>
          <a:ln/>
        </p:spPr>
        <p:txBody>
          <a:bodyPr wrap="square" lIns="0" tIns="0" rIns="0" bIns="0" rtlCol="0" anchor="ctr"/>
          <a:lstStyle/>
          <a:p>
            <a:pPr indent="0" marL="0">
              <a:buNone/>
            </a:pPr>
            <a:r>
              <a:rPr lang="en-US" sz="1300" dirty="0">
                <a:solidFill>
                  <a:schemeClr val="tx1"/>
                </a:solidFill>
              </a:rPr>
              <a:t>Runs on local demo + Render test site - demo evidence only, honestly stated</a:t>
            </a:r>
            <a:endParaRPr lang="en-US" sz="1300" dirty="0"/>
          </a:p>
        </p:txBody>
      </p:sp>
      <p:sp>
        <p:nvSpPr>
          <p:cNvPr id="27" name="Card"/>
          <p:cNvSpPr/>
          <p:nvPr/>
        </p:nvSpPr>
        <p:spPr>
          <a:xfrm>
            <a:off x="6217920" y="3895344"/>
            <a:ext cx="5394960" cy="640080"/>
          </a:xfrm>
          <a:prstGeom prst="roundRect">
            <a:avLst>
              <a:gd name="adj" fmla="val 14286"/>
            </a:avLst>
          </a:prstGeom>
          <a:solidFill>
            <a:schemeClr val="bg2"/>
          </a:solidFill>
          <a:ln/>
        </p:spPr>
      </p:sp>
      <p:sp>
        <p:nvSpPr>
          <p:cNvPr id="28" name="Bullet dot"/>
          <p:cNvSpPr/>
          <p:nvPr/>
        </p:nvSpPr>
        <p:spPr>
          <a:xfrm>
            <a:off x="6400800" y="4114800"/>
            <a:ext cx="201168" cy="201168"/>
          </a:xfrm>
          <a:prstGeom prst="ellipse">
            <a:avLst/>
          </a:prstGeom>
          <a:solidFill>
            <a:schemeClr val="accent1"/>
          </a:solidFill>
          <a:ln/>
        </p:spPr>
      </p:sp>
      <p:sp>
        <p:nvSpPr>
          <p:cNvPr id="29" name="Text 26"/>
          <p:cNvSpPr txBox="1"/>
          <p:nvPr/>
        </p:nvSpPr>
        <p:spPr>
          <a:xfrm>
            <a:off x="6766560" y="3941064"/>
            <a:ext cx="4709160" cy="548640"/>
          </a:xfrm>
          <a:prstGeom prst="rect">
            <a:avLst/>
          </a:prstGeom>
          <a:noFill/>
          <a:ln/>
        </p:spPr>
        <p:txBody>
          <a:bodyPr wrap="square" lIns="0" tIns="0" rIns="0" bIns="0" rtlCol="0" anchor="ctr"/>
          <a:lstStyle/>
          <a:p>
            <a:pPr indent="0" marL="0">
              <a:buNone/>
            </a:pPr>
            <a:r>
              <a:rPr lang="en-US" sz="1300" dirty="0">
                <a:solidFill>
                  <a:schemeClr val="tx1"/>
                </a:solidFill>
              </a:rPr>
              <a:t>That is why we could show every code path transparently</a:t>
            </a:r>
            <a:endParaRPr lang="en-US" sz="1300" dirty="0"/>
          </a:p>
        </p:txBody>
      </p:sp>
      <p:sp>
        <p:nvSpPr>
          <p:cNvPr id="30" name="Text 27"/>
          <p:cNvSpPr txBox="1"/>
          <p:nvPr/>
        </p:nvSpPr>
        <p:spPr>
          <a:xfrm>
            <a:off x="548640" y="4754880"/>
            <a:ext cx="8229600"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Build lineage - real git history, frozen before every lab</a:t>
            </a:r>
            <a:endParaRPr lang="en-US" sz="1600" dirty="0"/>
          </a:p>
        </p:txBody>
      </p:sp>
      <p:sp>
        <p:nvSpPr>
          <p:cNvPr id="31" name="Build BLD-01"/>
          <p:cNvSpPr/>
          <p:nvPr/>
        </p:nvSpPr>
        <p:spPr>
          <a:xfrm>
            <a:off x="548640" y="5212080"/>
            <a:ext cx="2011680" cy="960120"/>
          </a:xfrm>
          <a:prstGeom prst="roundRect">
            <a:avLst>
              <a:gd name="adj" fmla="val 9524"/>
            </a:avLst>
          </a:prstGeom>
          <a:solidFill>
            <a:schemeClr val="accent1"/>
          </a:solidFill>
          <a:ln/>
        </p:spPr>
      </p:sp>
      <p:sp>
        <p:nvSpPr>
          <p:cNvPr id="32" name="Text 29"/>
          <p:cNvSpPr txBox="1"/>
          <p:nvPr/>
        </p:nvSpPr>
        <p:spPr>
          <a:xfrm>
            <a:off x="640080" y="5303520"/>
            <a:ext cx="1828800" cy="365760"/>
          </a:xfrm>
          <a:prstGeom prst="rect">
            <a:avLst/>
          </a:prstGeom>
          <a:noFill/>
          <a:ln/>
        </p:spPr>
        <p:txBody>
          <a:bodyPr wrap="square" lIns="0" tIns="0" rIns="0" bIns="0" rtlCol="0" anchor="t"/>
          <a:lstStyle/>
          <a:p>
            <a:pPr algn="ctr" indent="0" marL="0">
              <a:buNone/>
            </a:pPr>
            <a:r>
              <a:rPr lang="en-US" sz="1400" b="1" dirty="0">
                <a:solidFill>
                  <a:schemeClr val="bg1"/>
                </a:solidFill>
              </a:rPr>
              <a:t>BLD-01 @ 71e0d30</a:t>
            </a:r>
            <a:endParaRPr lang="en-US" sz="1400" dirty="0"/>
          </a:p>
        </p:txBody>
      </p:sp>
      <p:sp>
        <p:nvSpPr>
          <p:cNvPr id="33" name="Text 30"/>
          <p:cNvSpPr txBox="1"/>
          <p:nvPr/>
        </p:nvSpPr>
        <p:spPr>
          <a:xfrm>
            <a:off x="640080" y="5669280"/>
            <a:ext cx="1828800" cy="411480"/>
          </a:xfrm>
          <a:prstGeom prst="rect">
            <a:avLst/>
          </a:prstGeom>
          <a:noFill/>
          <a:ln/>
        </p:spPr>
        <p:txBody>
          <a:bodyPr wrap="square" lIns="0" tIns="0" rIns="0" bIns="0" rtlCol="0" anchor="t"/>
          <a:lstStyle/>
          <a:p>
            <a:pPr algn="ctr" indent="0" marL="0">
              <a:buNone/>
            </a:pPr>
            <a:r>
              <a:rPr lang="en-US" sz="1200" dirty="0">
                <a:solidFill>
                  <a:schemeClr val="bg1"/>
                </a:solidFill>
              </a:rPr>
              <a:t>Sep 19</a:t>
            </a:r>
            <a:endParaRPr lang="en-US" sz="1200" dirty="0"/>
          </a:p>
        </p:txBody>
      </p:sp>
      <p:sp>
        <p:nvSpPr>
          <p:cNvPr id="34" name="Text 31"/>
          <p:cNvSpPr txBox="1"/>
          <p:nvPr/>
        </p:nvSpPr>
        <p:spPr>
          <a:xfrm>
            <a:off x="2560320" y="5440680"/>
            <a:ext cx="283464" cy="457200"/>
          </a:xfrm>
          <a:prstGeom prst="rect">
            <a:avLst/>
          </a:prstGeom>
          <a:noFill/>
          <a:ln/>
        </p:spPr>
        <p:txBody>
          <a:bodyPr wrap="square" lIns="0" tIns="0" rIns="0" bIns="0" rtlCol="0" anchor="ctr"/>
          <a:lstStyle/>
          <a:p>
            <a:pPr algn="ctr" indent="0" marL="0">
              <a:buNone/>
            </a:pPr>
            <a:r>
              <a:rPr lang="en-US" sz="1800" b="1" dirty="0">
                <a:solidFill>
                  <a:schemeClr val="accent6"/>
                </a:solidFill>
              </a:rPr>
              <a:t>&gt;</a:t>
            </a:r>
            <a:endParaRPr lang="en-US" sz="1800" dirty="0"/>
          </a:p>
        </p:txBody>
      </p:sp>
      <p:sp>
        <p:nvSpPr>
          <p:cNvPr id="35" name="Build BLD-02"/>
          <p:cNvSpPr/>
          <p:nvPr/>
        </p:nvSpPr>
        <p:spPr>
          <a:xfrm>
            <a:off x="2843784" y="5212080"/>
            <a:ext cx="2011680" cy="960120"/>
          </a:xfrm>
          <a:prstGeom prst="roundRect">
            <a:avLst>
              <a:gd name="adj" fmla="val 9524"/>
            </a:avLst>
          </a:prstGeom>
          <a:solidFill>
            <a:schemeClr val="accent1"/>
          </a:solidFill>
          <a:ln/>
        </p:spPr>
      </p:sp>
      <p:sp>
        <p:nvSpPr>
          <p:cNvPr id="36" name="Text 33"/>
          <p:cNvSpPr txBox="1"/>
          <p:nvPr/>
        </p:nvSpPr>
        <p:spPr>
          <a:xfrm>
            <a:off x="2935224" y="5303520"/>
            <a:ext cx="1828800" cy="365760"/>
          </a:xfrm>
          <a:prstGeom prst="rect">
            <a:avLst/>
          </a:prstGeom>
          <a:noFill/>
          <a:ln/>
        </p:spPr>
        <p:txBody>
          <a:bodyPr wrap="square" lIns="0" tIns="0" rIns="0" bIns="0" rtlCol="0" anchor="t"/>
          <a:lstStyle/>
          <a:p>
            <a:pPr algn="ctr" indent="0" marL="0">
              <a:buNone/>
            </a:pPr>
            <a:r>
              <a:rPr lang="en-US" sz="1400" b="1" dirty="0">
                <a:solidFill>
                  <a:schemeClr val="bg1"/>
                </a:solidFill>
              </a:rPr>
              <a:t>BLD-02 @ 82075e8</a:t>
            </a:r>
            <a:endParaRPr lang="en-US" sz="1400" dirty="0"/>
          </a:p>
        </p:txBody>
      </p:sp>
      <p:sp>
        <p:nvSpPr>
          <p:cNvPr id="37" name="Text 34"/>
          <p:cNvSpPr txBox="1"/>
          <p:nvPr/>
        </p:nvSpPr>
        <p:spPr>
          <a:xfrm>
            <a:off x="2935224" y="5669280"/>
            <a:ext cx="1828800" cy="411480"/>
          </a:xfrm>
          <a:prstGeom prst="rect">
            <a:avLst/>
          </a:prstGeom>
          <a:noFill/>
          <a:ln/>
        </p:spPr>
        <p:txBody>
          <a:bodyPr wrap="square" lIns="0" tIns="0" rIns="0" bIns="0" rtlCol="0" anchor="t"/>
          <a:lstStyle/>
          <a:p>
            <a:pPr algn="ctr" indent="0" marL="0">
              <a:buNone/>
            </a:pPr>
            <a:r>
              <a:rPr lang="en-US" sz="1200" dirty="0">
                <a:solidFill>
                  <a:schemeClr val="bg1"/>
                </a:solidFill>
              </a:rPr>
              <a:t>Sep 26</a:t>
            </a:r>
            <a:endParaRPr lang="en-US" sz="1200" dirty="0"/>
          </a:p>
        </p:txBody>
      </p:sp>
      <p:sp>
        <p:nvSpPr>
          <p:cNvPr id="38" name="Text 35"/>
          <p:cNvSpPr txBox="1"/>
          <p:nvPr/>
        </p:nvSpPr>
        <p:spPr>
          <a:xfrm>
            <a:off x="4855464" y="5440680"/>
            <a:ext cx="283464" cy="457200"/>
          </a:xfrm>
          <a:prstGeom prst="rect">
            <a:avLst/>
          </a:prstGeom>
          <a:noFill/>
          <a:ln/>
        </p:spPr>
        <p:txBody>
          <a:bodyPr wrap="square" lIns="0" tIns="0" rIns="0" bIns="0" rtlCol="0" anchor="ctr"/>
          <a:lstStyle/>
          <a:p>
            <a:pPr algn="ctr" indent="0" marL="0">
              <a:buNone/>
            </a:pPr>
            <a:r>
              <a:rPr lang="en-US" sz="1800" b="1" dirty="0">
                <a:solidFill>
                  <a:schemeClr val="accent6"/>
                </a:solidFill>
              </a:rPr>
              <a:t>&gt;</a:t>
            </a:r>
            <a:endParaRPr lang="en-US" sz="1800" dirty="0"/>
          </a:p>
        </p:txBody>
      </p:sp>
      <p:sp>
        <p:nvSpPr>
          <p:cNvPr id="39" name="Build BLD-04"/>
          <p:cNvSpPr/>
          <p:nvPr/>
        </p:nvSpPr>
        <p:spPr>
          <a:xfrm>
            <a:off x="5138928" y="5212080"/>
            <a:ext cx="2011680" cy="960120"/>
          </a:xfrm>
          <a:prstGeom prst="roundRect">
            <a:avLst>
              <a:gd name="adj" fmla="val 9524"/>
            </a:avLst>
          </a:prstGeom>
          <a:solidFill>
            <a:schemeClr val="accent1"/>
          </a:solidFill>
          <a:ln/>
        </p:spPr>
      </p:sp>
      <p:sp>
        <p:nvSpPr>
          <p:cNvPr id="40" name="Text 37"/>
          <p:cNvSpPr txBox="1"/>
          <p:nvPr/>
        </p:nvSpPr>
        <p:spPr>
          <a:xfrm>
            <a:off x="5230368" y="5303520"/>
            <a:ext cx="1828800" cy="365760"/>
          </a:xfrm>
          <a:prstGeom prst="rect">
            <a:avLst/>
          </a:prstGeom>
          <a:noFill/>
          <a:ln/>
        </p:spPr>
        <p:txBody>
          <a:bodyPr wrap="square" lIns="0" tIns="0" rIns="0" bIns="0" rtlCol="0" anchor="t"/>
          <a:lstStyle/>
          <a:p>
            <a:pPr algn="ctr" indent="0" marL="0">
              <a:buNone/>
            </a:pPr>
            <a:r>
              <a:rPr lang="en-US" sz="1400" b="1" dirty="0">
                <a:solidFill>
                  <a:schemeClr val="bg1"/>
                </a:solidFill>
              </a:rPr>
              <a:t>BLD-04 @ 7b9b680</a:t>
            </a:r>
            <a:endParaRPr lang="en-US" sz="1400" dirty="0"/>
          </a:p>
        </p:txBody>
      </p:sp>
      <p:sp>
        <p:nvSpPr>
          <p:cNvPr id="41" name="Text 38"/>
          <p:cNvSpPr txBox="1"/>
          <p:nvPr/>
        </p:nvSpPr>
        <p:spPr>
          <a:xfrm>
            <a:off x="5230368" y="5669280"/>
            <a:ext cx="1828800" cy="411480"/>
          </a:xfrm>
          <a:prstGeom prst="rect">
            <a:avLst/>
          </a:prstGeom>
          <a:noFill/>
          <a:ln/>
        </p:spPr>
        <p:txBody>
          <a:bodyPr wrap="square" lIns="0" tIns="0" rIns="0" bIns="0" rtlCol="0" anchor="t"/>
          <a:lstStyle/>
          <a:p>
            <a:pPr algn="ctr" indent="0" marL="0">
              <a:buNone/>
            </a:pPr>
            <a:r>
              <a:rPr lang="en-US" sz="1200" dirty="0">
                <a:solidFill>
                  <a:schemeClr val="bg1"/>
                </a:solidFill>
              </a:rPr>
              <a:t>tests, Oct 3</a:t>
            </a:r>
            <a:endParaRPr lang="en-US" sz="1200" dirty="0"/>
          </a:p>
        </p:txBody>
      </p:sp>
      <p:sp>
        <p:nvSpPr>
          <p:cNvPr id="42" name="Text 39"/>
          <p:cNvSpPr txBox="1"/>
          <p:nvPr/>
        </p:nvSpPr>
        <p:spPr>
          <a:xfrm>
            <a:off x="7150608" y="5440680"/>
            <a:ext cx="283464" cy="457200"/>
          </a:xfrm>
          <a:prstGeom prst="rect">
            <a:avLst/>
          </a:prstGeom>
          <a:noFill/>
          <a:ln/>
        </p:spPr>
        <p:txBody>
          <a:bodyPr wrap="square" lIns="0" tIns="0" rIns="0" bIns="0" rtlCol="0" anchor="ctr"/>
          <a:lstStyle/>
          <a:p>
            <a:pPr algn="ctr" indent="0" marL="0">
              <a:buNone/>
            </a:pPr>
            <a:r>
              <a:rPr lang="en-US" sz="1800" b="1" dirty="0">
                <a:solidFill>
                  <a:schemeClr val="accent6"/>
                </a:solidFill>
              </a:rPr>
              <a:t>&gt;</a:t>
            </a:r>
            <a:endParaRPr lang="en-US" sz="1800" dirty="0"/>
          </a:p>
        </p:txBody>
      </p:sp>
      <p:sp>
        <p:nvSpPr>
          <p:cNvPr id="43" name="Build BLD-05"/>
          <p:cNvSpPr/>
          <p:nvPr/>
        </p:nvSpPr>
        <p:spPr>
          <a:xfrm>
            <a:off x="7434072" y="5212080"/>
            <a:ext cx="2011680" cy="960120"/>
          </a:xfrm>
          <a:prstGeom prst="roundRect">
            <a:avLst>
              <a:gd name="adj" fmla="val 9524"/>
            </a:avLst>
          </a:prstGeom>
          <a:solidFill>
            <a:schemeClr val="accent1"/>
          </a:solidFill>
          <a:ln/>
        </p:spPr>
      </p:sp>
      <p:sp>
        <p:nvSpPr>
          <p:cNvPr id="44" name="Text 41"/>
          <p:cNvSpPr txBox="1"/>
          <p:nvPr/>
        </p:nvSpPr>
        <p:spPr>
          <a:xfrm>
            <a:off x="7525512" y="5303520"/>
            <a:ext cx="1828800" cy="365760"/>
          </a:xfrm>
          <a:prstGeom prst="rect">
            <a:avLst/>
          </a:prstGeom>
          <a:noFill/>
          <a:ln/>
        </p:spPr>
        <p:txBody>
          <a:bodyPr wrap="square" lIns="0" tIns="0" rIns="0" bIns="0" rtlCol="0" anchor="t"/>
          <a:lstStyle/>
          <a:p>
            <a:pPr algn="ctr" indent="0" marL="0">
              <a:buNone/>
            </a:pPr>
            <a:r>
              <a:rPr lang="en-US" sz="1400" b="1" dirty="0">
                <a:solidFill>
                  <a:schemeClr val="bg1"/>
                </a:solidFill>
              </a:rPr>
              <a:t>BLD-05 @ 5ca2c79</a:t>
            </a:r>
            <a:endParaRPr lang="en-US" sz="1400" dirty="0"/>
          </a:p>
        </p:txBody>
      </p:sp>
      <p:sp>
        <p:nvSpPr>
          <p:cNvPr id="45" name="Text 42"/>
          <p:cNvSpPr txBox="1"/>
          <p:nvPr/>
        </p:nvSpPr>
        <p:spPr>
          <a:xfrm>
            <a:off x="7525512" y="5669280"/>
            <a:ext cx="1828800" cy="411480"/>
          </a:xfrm>
          <a:prstGeom prst="rect">
            <a:avLst/>
          </a:prstGeom>
          <a:noFill/>
          <a:ln/>
        </p:spPr>
        <p:txBody>
          <a:bodyPr wrap="square" lIns="0" tIns="0" rIns="0" bIns="0" rtlCol="0" anchor="t"/>
          <a:lstStyle/>
          <a:p>
            <a:pPr algn="ctr" indent="0" marL="0">
              <a:buNone/>
            </a:pPr>
            <a:r>
              <a:rPr lang="en-US" sz="1200" dirty="0">
                <a:solidFill>
                  <a:schemeClr val="bg1"/>
                </a:solidFill>
              </a:rPr>
              <a:t>confirmations, Oct 10</a:t>
            </a:r>
            <a:endParaRPr lang="en-US" sz="1200" dirty="0"/>
          </a:p>
        </p:txBody>
      </p:sp>
      <p:sp>
        <p:nvSpPr>
          <p:cNvPr id="46" name="Text 43"/>
          <p:cNvSpPr txBox="1"/>
          <p:nvPr/>
        </p:nvSpPr>
        <p:spPr>
          <a:xfrm>
            <a:off x="9445752" y="5440680"/>
            <a:ext cx="283464" cy="457200"/>
          </a:xfrm>
          <a:prstGeom prst="rect">
            <a:avLst/>
          </a:prstGeom>
          <a:noFill/>
          <a:ln/>
        </p:spPr>
        <p:txBody>
          <a:bodyPr wrap="square" lIns="0" tIns="0" rIns="0" bIns="0" rtlCol="0" anchor="ctr"/>
          <a:lstStyle/>
          <a:p>
            <a:pPr algn="ctr" indent="0" marL="0">
              <a:buNone/>
            </a:pPr>
            <a:r>
              <a:rPr lang="en-US" sz="1800" b="1" dirty="0">
                <a:solidFill>
                  <a:schemeClr val="accent6"/>
                </a:solidFill>
              </a:rPr>
              <a:t>&gt;</a:t>
            </a:r>
            <a:endParaRPr lang="en-US" sz="1800" dirty="0"/>
          </a:p>
        </p:txBody>
      </p:sp>
      <p:sp>
        <p:nvSpPr>
          <p:cNvPr id="47" name="Build BLD-06"/>
          <p:cNvSpPr/>
          <p:nvPr/>
        </p:nvSpPr>
        <p:spPr>
          <a:xfrm>
            <a:off x="9729216" y="5212080"/>
            <a:ext cx="2011680" cy="960120"/>
          </a:xfrm>
          <a:prstGeom prst="roundRect">
            <a:avLst>
              <a:gd name="adj" fmla="val 9524"/>
            </a:avLst>
          </a:prstGeom>
          <a:solidFill>
            <a:schemeClr val="bg1"/>
          </a:solidFill>
          <a:ln w="19050">
            <a:solidFill>
              <a:schemeClr val="accent3"/>
            </a:solidFill>
            <a:prstDash val="dash"/>
          </a:ln>
        </p:spPr>
      </p:sp>
      <p:sp>
        <p:nvSpPr>
          <p:cNvPr id="48" name="Text 45"/>
          <p:cNvSpPr txBox="1"/>
          <p:nvPr/>
        </p:nvSpPr>
        <p:spPr>
          <a:xfrm>
            <a:off x="9820656" y="5303520"/>
            <a:ext cx="1828800" cy="365760"/>
          </a:xfrm>
          <a:prstGeom prst="rect">
            <a:avLst/>
          </a:prstGeom>
          <a:noFill/>
          <a:ln/>
        </p:spPr>
        <p:txBody>
          <a:bodyPr wrap="square" lIns="0" tIns="0" rIns="0" bIns="0" rtlCol="0" anchor="t"/>
          <a:lstStyle/>
          <a:p>
            <a:pPr algn="ctr" indent="0" marL="0">
              <a:buNone/>
            </a:pPr>
            <a:r>
              <a:rPr lang="en-US" sz="1400" b="1" dirty="0">
                <a:solidFill>
                  <a:schemeClr val="accent3"/>
                </a:solidFill>
              </a:rPr>
              <a:t>BLD-06 @ c20f98e</a:t>
            </a:r>
            <a:endParaRPr lang="en-US" sz="1400" dirty="0"/>
          </a:p>
        </p:txBody>
      </p:sp>
      <p:sp>
        <p:nvSpPr>
          <p:cNvPr id="49" name="Text 46"/>
          <p:cNvSpPr txBox="1"/>
          <p:nvPr/>
        </p:nvSpPr>
        <p:spPr>
          <a:xfrm>
            <a:off x="9820656" y="5669280"/>
            <a:ext cx="1828800" cy="411480"/>
          </a:xfrm>
          <a:prstGeom prst="rect">
            <a:avLst/>
          </a:prstGeom>
          <a:noFill/>
          <a:ln/>
        </p:spPr>
        <p:txBody>
          <a:bodyPr wrap="square" lIns="0" tIns="0" rIns="0" bIns="0" rtlCol="0" anchor="t"/>
          <a:lstStyle/>
          <a:p>
            <a:pPr algn="ctr" indent="0" marL="0">
              <a:buNone/>
            </a:pPr>
            <a:r>
              <a:rPr lang="en-US" sz="1200" dirty="0">
                <a:solidFill>
                  <a:schemeClr val="accent3"/>
                </a:solidFill>
              </a:rPr>
              <a:t>POST-CUTOFF - excluded</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Audit Objectives and Scope (Lab 7)</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Four objectives supported by criteria CRT-01..04; scope approved with the library owner</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Card"/>
          <p:cNvSpPr/>
          <p:nvPr/>
        </p:nvSpPr>
        <p:spPr>
          <a:xfrm>
            <a:off x="548640" y="1600200"/>
            <a:ext cx="5394960" cy="1280160"/>
          </a:xfrm>
          <a:prstGeom prst="roundRect">
            <a:avLst>
              <a:gd name="adj" fmla="val 7143"/>
            </a:avLst>
          </a:prstGeom>
          <a:solidFill>
            <a:schemeClr val="bg2"/>
          </a:solidFill>
          <a:ln/>
          <a:effectLst>
            <a:outerShdw sx="100000" sy="100000" kx="0" ky="0" algn="bl" rotWithShape="0" blurRad="101600" dist="25400" dir="5400000">
              <a:srgbClr val="14232E">
                <a:alpha val="12000"/>
              </a:srgbClr>
            </a:outerShdw>
          </a:effectLst>
        </p:spPr>
      </p:sp>
      <p:sp>
        <p:nvSpPr>
          <p:cNvPr id="7" name="Icon circle"/>
          <p:cNvSpPr/>
          <p:nvPr/>
        </p:nvSpPr>
        <p:spPr>
          <a:xfrm>
            <a:off x="777240" y="1874520"/>
            <a:ext cx="731520" cy="731520"/>
          </a:xfrm>
          <a:prstGeom prst="ellipse">
            <a:avLst/>
          </a:prstGeom>
          <a:solidFill>
            <a:schemeClr val="accent1"/>
          </a:solidFill>
          <a:ln/>
        </p:spPr>
      </p:sp>
      <p:pic>
        <p:nvPicPr>
          <p:cNvPr id="8" name="Icon" descr="preencoded.png">    </p:cNvPr>
          <p:cNvPicPr>
            <a:picLocks noChangeAspect="1"/>
          </p:cNvPicPr>
          <p:nvPr/>
        </p:nvPicPr>
        <p:blipFill>
          <a:blip r:embed="rId1"/>
          <a:stretch>
            <a:fillRect/>
          </a:stretch>
        </p:blipFill>
        <p:spPr>
          <a:xfrm>
            <a:off x="982066" y="2079346"/>
            <a:ext cx="321869" cy="321869"/>
          </a:xfrm>
          <a:prstGeom prst="rect">
            <a:avLst/>
          </a:prstGeom>
        </p:spPr>
      </p:pic>
      <p:sp>
        <p:nvSpPr>
          <p:cNvPr id="9" name="Text 5"/>
          <p:cNvSpPr txBox="1"/>
          <p:nvPr/>
        </p:nvSpPr>
        <p:spPr>
          <a:xfrm>
            <a:off x="1737360" y="1737360"/>
            <a:ext cx="1828800" cy="274320"/>
          </a:xfrm>
          <a:prstGeom prst="rect">
            <a:avLst/>
          </a:prstGeom>
          <a:noFill/>
          <a:ln/>
        </p:spPr>
        <p:txBody>
          <a:bodyPr wrap="square" lIns="0" tIns="0" rIns="0" bIns="0" rtlCol="0" anchor="t"/>
          <a:lstStyle/>
          <a:p>
            <a:pPr indent="0" marL="0">
              <a:buNone/>
            </a:pPr>
            <a:r>
              <a:rPr lang="en-US" sz="1200" b="1" dirty="0">
                <a:solidFill>
                  <a:schemeClr val="accent1"/>
                </a:solidFill>
              </a:rPr>
              <a:t>OBJ-01</a:t>
            </a:r>
            <a:endParaRPr lang="en-US" sz="1200" dirty="0"/>
          </a:p>
        </p:txBody>
      </p:sp>
      <p:sp>
        <p:nvSpPr>
          <p:cNvPr id="10" name="Text 6"/>
          <p:cNvSpPr txBox="1"/>
          <p:nvPr/>
        </p:nvSpPr>
        <p:spPr>
          <a:xfrm>
            <a:off x="1737360" y="2011680"/>
            <a:ext cx="4023360" cy="548640"/>
          </a:xfrm>
          <a:prstGeom prst="rect">
            <a:avLst/>
          </a:prstGeom>
          <a:noFill/>
          <a:ln/>
        </p:spPr>
        <p:txBody>
          <a:bodyPr wrap="square" lIns="0" tIns="0" rIns="0" bIns="0" rtlCol="0" anchor="t"/>
          <a:lstStyle/>
          <a:p>
            <a:pPr indent="0" marL="0">
              <a:buNone/>
            </a:pPr>
            <a:r>
              <a:rPr lang="en-US" sz="1400" dirty="0">
                <a:solidFill>
                  <a:schemeClr val="tx1"/>
                </a:solidFill>
              </a:rPr>
              <a:t>Access control - only the right people reach the right pages</a:t>
            </a:r>
            <a:endParaRPr lang="en-US" sz="1400" dirty="0"/>
          </a:p>
        </p:txBody>
      </p:sp>
      <p:sp>
        <p:nvSpPr>
          <p:cNvPr id="11" name="Text 7"/>
          <p:cNvSpPr txBox="1"/>
          <p:nvPr/>
        </p:nvSpPr>
        <p:spPr>
          <a:xfrm>
            <a:off x="1737360" y="2560320"/>
            <a:ext cx="4023360" cy="228600"/>
          </a:xfrm>
          <a:prstGeom prst="rect">
            <a:avLst/>
          </a:prstGeom>
          <a:noFill/>
          <a:ln/>
        </p:spPr>
        <p:txBody>
          <a:bodyPr wrap="square" lIns="0" tIns="0" rIns="0" bIns="0" rtlCol="0" anchor="t"/>
          <a:lstStyle/>
          <a:p>
            <a:pPr indent="0" marL="0">
              <a:buNone/>
            </a:pPr>
            <a:r>
              <a:rPr lang="en-US" sz="1100" dirty="0">
                <a:solidFill>
                  <a:schemeClr val="accent6"/>
                </a:solidFill>
              </a:rPr>
              <a:t>SCP-01/05/06 | CRT-01</a:t>
            </a:r>
            <a:endParaRPr lang="en-US" sz="1100" dirty="0"/>
          </a:p>
        </p:txBody>
      </p:sp>
      <p:sp>
        <p:nvSpPr>
          <p:cNvPr id="12" name="Card"/>
          <p:cNvSpPr/>
          <p:nvPr/>
        </p:nvSpPr>
        <p:spPr>
          <a:xfrm>
            <a:off x="6217920" y="1600200"/>
            <a:ext cx="5394960" cy="1280160"/>
          </a:xfrm>
          <a:prstGeom prst="roundRect">
            <a:avLst>
              <a:gd name="adj" fmla="val 7143"/>
            </a:avLst>
          </a:prstGeom>
          <a:solidFill>
            <a:schemeClr val="bg2"/>
          </a:solidFill>
          <a:ln/>
          <a:effectLst>
            <a:outerShdw sx="100000" sy="100000" kx="0" ky="0" algn="bl" rotWithShape="0" blurRad="101600" dist="25400" dir="5400000">
              <a:srgbClr val="14232E">
                <a:alpha val="12000"/>
              </a:srgbClr>
            </a:outerShdw>
          </a:effectLst>
        </p:spPr>
      </p:sp>
      <p:sp>
        <p:nvSpPr>
          <p:cNvPr id="13" name="Icon circle"/>
          <p:cNvSpPr/>
          <p:nvPr/>
        </p:nvSpPr>
        <p:spPr>
          <a:xfrm>
            <a:off x="6446520" y="1874520"/>
            <a:ext cx="731520" cy="731520"/>
          </a:xfrm>
          <a:prstGeom prst="ellipse">
            <a:avLst/>
          </a:prstGeom>
          <a:solidFill>
            <a:schemeClr val="accent1"/>
          </a:solidFill>
          <a:ln/>
        </p:spPr>
      </p:sp>
      <p:pic>
        <p:nvPicPr>
          <p:cNvPr id="14" name="Icon" descr="preencoded.png">    </p:cNvPr>
          <p:cNvPicPr>
            <a:picLocks noChangeAspect="1"/>
          </p:cNvPicPr>
          <p:nvPr/>
        </p:nvPicPr>
        <p:blipFill>
          <a:blip r:embed="rId2"/>
          <a:stretch>
            <a:fillRect/>
          </a:stretch>
        </p:blipFill>
        <p:spPr>
          <a:xfrm>
            <a:off x="6651346" y="2079346"/>
            <a:ext cx="321869" cy="321869"/>
          </a:xfrm>
          <a:prstGeom prst="rect">
            <a:avLst/>
          </a:prstGeom>
        </p:spPr>
      </p:pic>
      <p:sp>
        <p:nvSpPr>
          <p:cNvPr id="15" name="Text 10"/>
          <p:cNvSpPr txBox="1"/>
          <p:nvPr/>
        </p:nvSpPr>
        <p:spPr>
          <a:xfrm>
            <a:off x="7406640" y="1737360"/>
            <a:ext cx="1828800" cy="274320"/>
          </a:xfrm>
          <a:prstGeom prst="rect">
            <a:avLst/>
          </a:prstGeom>
          <a:noFill/>
          <a:ln/>
        </p:spPr>
        <p:txBody>
          <a:bodyPr wrap="square" lIns="0" tIns="0" rIns="0" bIns="0" rtlCol="0" anchor="t"/>
          <a:lstStyle/>
          <a:p>
            <a:pPr indent="0" marL="0">
              <a:buNone/>
            </a:pPr>
            <a:r>
              <a:rPr lang="en-US" sz="1200" b="1" dirty="0">
                <a:solidFill>
                  <a:schemeClr val="accent1"/>
                </a:solidFill>
              </a:rPr>
              <a:t>OBJ-02</a:t>
            </a:r>
            <a:endParaRPr lang="en-US" sz="1200" dirty="0"/>
          </a:p>
        </p:txBody>
      </p:sp>
      <p:sp>
        <p:nvSpPr>
          <p:cNvPr id="16" name="Text 11"/>
          <p:cNvSpPr txBox="1"/>
          <p:nvPr/>
        </p:nvSpPr>
        <p:spPr>
          <a:xfrm>
            <a:off x="7406640" y="2011680"/>
            <a:ext cx="4023360" cy="548640"/>
          </a:xfrm>
          <a:prstGeom prst="rect">
            <a:avLst/>
          </a:prstGeom>
          <a:noFill/>
          <a:ln/>
        </p:spPr>
        <p:txBody>
          <a:bodyPr wrap="square" lIns="0" tIns="0" rIns="0" bIns="0" rtlCol="0" anchor="t"/>
          <a:lstStyle/>
          <a:p>
            <a:pPr indent="0" marL="0">
              <a:buNone/>
            </a:pPr>
            <a:r>
              <a:rPr lang="en-US" sz="1400" dirty="0">
                <a:solidFill>
                  <a:schemeClr val="tx1"/>
                </a:solidFill>
              </a:rPr>
              <a:t>Build truth - the build really supports the library work we claim</a:t>
            </a:r>
            <a:endParaRPr lang="en-US" sz="1400" dirty="0"/>
          </a:p>
        </p:txBody>
      </p:sp>
      <p:sp>
        <p:nvSpPr>
          <p:cNvPr id="17" name="Text 12"/>
          <p:cNvSpPr txBox="1"/>
          <p:nvPr/>
        </p:nvSpPr>
        <p:spPr>
          <a:xfrm>
            <a:off x="7406640" y="2560320"/>
            <a:ext cx="4023360" cy="228600"/>
          </a:xfrm>
          <a:prstGeom prst="rect">
            <a:avLst/>
          </a:prstGeom>
          <a:noFill/>
          <a:ln/>
        </p:spPr>
        <p:txBody>
          <a:bodyPr wrap="square" lIns="0" tIns="0" rIns="0" bIns="0" rtlCol="0" anchor="t"/>
          <a:lstStyle/>
          <a:p>
            <a:pPr indent="0" marL="0">
              <a:buNone/>
            </a:pPr>
            <a:r>
              <a:rPr lang="en-US" sz="1100" dirty="0">
                <a:solidFill>
                  <a:schemeClr val="accent6"/>
                </a:solidFill>
              </a:rPr>
              <a:t>SCP-02/05/07 | CRT-02</a:t>
            </a:r>
            <a:endParaRPr lang="en-US" sz="1100" dirty="0"/>
          </a:p>
        </p:txBody>
      </p:sp>
      <p:sp>
        <p:nvSpPr>
          <p:cNvPr id="18" name="Card"/>
          <p:cNvSpPr/>
          <p:nvPr/>
        </p:nvSpPr>
        <p:spPr>
          <a:xfrm>
            <a:off x="548640" y="3063240"/>
            <a:ext cx="5394960" cy="1280160"/>
          </a:xfrm>
          <a:prstGeom prst="roundRect">
            <a:avLst>
              <a:gd name="adj" fmla="val 7143"/>
            </a:avLst>
          </a:prstGeom>
          <a:solidFill>
            <a:schemeClr val="bg2"/>
          </a:solidFill>
          <a:ln/>
          <a:effectLst>
            <a:outerShdw sx="100000" sy="100000" kx="0" ky="0" algn="bl" rotWithShape="0" blurRad="101600" dist="25400" dir="5400000">
              <a:srgbClr val="14232E">
                <a:alpha val="12000"/>
              </a:srgbClr>
            </a:outerShdw>
          </a:effectLst>
        </p:spPr>
      </p:sp>
      <p:sp>
        <p:nvSpPr>
          <p:cNvPr id="19" name="Icon circle"/>
          <p:cNvSpPr/>
          <p:nvPr/>
        </p:nvSpPr>
        <p:spPr>
          <a:xfrm>
            <a:off x="777240" y="3337560"/>
            <a:ext cx="731520" cy="731520"/>
          </a:xfrm>
          <a:prstGeom prst="ellipse">
            <a:avLst/>
          </a:prstGeom>
          <a:solidFill>
            <a:schemeClr val="accent1"/>
          </a:solidFill>
          <a:ln/>
        </p:spPr>
      </p:sp>
      <p:pic>
        <p:nvPicPr>
          <p:cNvPr id="20" name="Icon" descr="preencoded.png">    </p:cNvPr>
          <p:cNvPicPr>
            <a:picLocks noChangeAspect="1"/>
          </p:cNvPicPr>
          <p:nvPr/>
        </p:nvPicPr>
        <p:blipFill>
          <a:blip r:embed="rId3"/>
          <a:stretch>
            <a:fillRect/>
          </a:stretch>
        </p:blipFill>
        <p:spPr>
          <a:xfrm>
            <a:off x="982066" y="3542386"/>
            <a:ext cx="321869" cy="321869"/>
          </a:xfrm>
          <a:prstGeom prst="rect">
            <a:avLst/>
          </a:prstGeom>
        </p:spPr>
      </p:pic>
      <p:sp>
        <p:nvSpPr>
          <p:cNvPr id="21" name="Text 15"/>
          <p:cNvSpPr txBox="1"/>
          <p:nvPr/>
        </p:nvSpPr>
        <p:spPr>
          <a:xfrm>
            <a:off x="1737360" y="3200400"/>
            <a:ext cx="1828800" cy="274320"/>
          </a:xfrm>
          <a:prstGeom prst="rect">
            <a:avLst/>
          </a:prstGeom>
          <a:noFill/>
          <a:ln/>
        </p:spPr>
        <p:txBody>
          <a:bodyPr wrap="square" lIns="0" tIns="0" rIns="0" bIns="0" rtlCol="0" anchor="t"/>
          <a:lstStyle/>
          <a:p>
            <a:pPr indent="0" marL="0">
              <a:buNone/>
            </a:pPr>
            <a:r>
              <a:rPr lang="en-US" sz="1200" b="1" dirty="0">
                <a:solidFill>
                  <a:schemeClr val="accent1"/>
                </a:solidFill>
              </a:rPr>
              <a:t>OBJ-03</a:t>
            </a:r>
            <a:endParaRPr lang="en-US" sz="1200" dirty="0"/>
          </a:p>
        </p:txBody>
      </p:sp>
      <p:sp>
        <p:nvSpPr>
          <p:cNvPr id="22" name="Text 16"/>
          <p:cNvSpPr txBox="1"/>
          <p:nvPr/>
        </p:nvSpPr>
        <p:spPr>
          <a:xfrm>
            <a:off x="1737360" y="3474720"/>
            <a:ext cx="4023360" cy="548640"/>
          </a:xfrm>
          <a:prstGeom prst="rect">
            <a:avLst/>
          </a:prstGeom>
          <a:noFill/>
          <a:ln/>
        </p:spPr>
        <p:txBody>
          <a:bodyPr wrap="square" lIns="0" tIns="0" rIns="0" bIns="0" rtlCol="0" anchor="t"/>
          <a:lstStyle/>
          <a:p>
            <a:pPr indent="0" marL="0">
              <a:buNone/>
            </a:pPr>
            <a:r>
              <a:rPr lang="en-US" sz="1400" dirty="0">
                <a:solidFill>
                  <a:schemeClr val="tx1"/>
                </a:solidFill>
              </a:rPr>
              <a:t>Traceability - every borrow and change leaves a named record</a:t>
            </a:r>
            <a:endParaRPr lang="en-US" sz="1400" dirty="0"/>
          </a:p>
        </p:txBody>
      </p:sp>
      <p:sp>
        <p:nvSpPr>
          <p:cNvPr id="23" name="Text 17"/>
          <p:cNvSpPr txBox="1"/>
          <p:nvPr/>
        </p:nvSpPr>
        <p:spPr>
          <a:xfrm>
            <a:off x="1737360" y="4023360"/>
            <a:ext cx="4023360" cy="228600"/>
          </a:xfrm>
          <a:prstGeom prst="rect">
            <a:avLst/>
          </a:prstGeom>
          <a:noFill/>
          <a:ln/>
        </p:spPr>
        <p:txBody>
          <a:bodyPr wrap="square" lIns="0" tIns="0" rIns="0" bIns="0" rtlCol="0" anchor="t"/>
          <a:lstStyle/>
          <a:p>
            <a:pPr indent="0" marL="0">
              <a:buNone/>
            </a:pPr>
            <a:r>
              <a:rPr lang="en-US" sz="1100" dirty="0">
                <a:solidFill>
                  <a:schemeClr val="accent6"/>
                </a:solidFill>
              </a:rPr>
              <a:t>SCP-02/04/05 | CRT-03</a:t>
            </a:r>
            <a:endParaRPr lang="en-US" sz="1100" dirty="0"/>
          </a:p>
        </p:txBody>
      </p:sp>
      <p:sp>
        <p:nvSpPr>
          <p:cNvPr id="24" name="Card"/>
          <p:cNvSpPr/>
          <p:nvPr/>
        </p:nvSpPr>
        <p:spPr>
          <a:xfrm>
            <a:off x="6217920" y="3063240"/>
            <a:ext cx="5394960" cy="1280160"/>
          </a:xfrm>
          <a:prstGeom prst="roundRect">
            <a:avLst>
              <a:gd name="adj" fmla="val 7143"/>
            </a:avLst>
          </a:prstGeom>
          <a:solidFill>
            <a:schemeClr val="bg2"/>
          </a:solidFill>
          <a:ln/>
          <a:effectLst>
            <a:outerShdw sx="100000" sy="100000" kx="0" ky="0" algn="bl" rotWithShape="0" blurRad="101600" dist="25400" dir="5400000">
              <a:srgbClr val="14232E">
                <a:alpha val="12000"/>
              </a:srgbClr>
            </a:outerShdw>
          </a:effectLst>
        </p:spPr>
      </p:sp>
      <p:sp>
        <p:nvSpPr>
          <p:cNvPr id="25" name="Icon circle"/>
          <p:cNvSpPr/>
          <p:nvPr/>
        </p:nvSpPr>
        <p:spPr>
          <a:xfrm>
            <a:off x="6446520" y="3337560"/>
            <a:ext cx="731520" cy="731520"/>
          </a:xfrm>
          <a:prstGeom prst="ellipse">
            <a:avLst/>
          </a:prstGeom>
          <a:solidFill>
            <a:schemeClr val="accent1"/>
          </a:solidFill>
          <a:ln/>
        </p:spPr>
      </p:sp>
      <p:pic>
        <p:nvPicPr>
          <p:cNvPr id="26" name="Icon" descr="preencoded.png">    </p:cNvPr>
          <p:cNvPicPr>
            <a:picLocks noChangeAspect="1"/>
          </p:cNvPicPr>
          <p:nvPr/>
        </p:nvPicPr>
        <p:blipFill>
          <a:blip r:embed="rId4"/>
          <a:stretch>
            <a:fillRect/>
          </a:stretch>
        </p:blipFill>
        <p:spPr>
          <a:xfrm>
            <a:off x="6651346" y="3542386"/>
            <a:ext cx="321869" cy="321869"/>
          </a:xfrm>
          <a:prstGeom prst="rect">
            <a:avLst/>
          </a:prstGeom>
        </p:spPr>
      </p:pic>
      <p:sp>
        <p:nvSpPr>
          <p:cNvPr id="27" name="Text 20"/>
          <p:cNvSpPr txBox="1"/>
          <p:nvPr/>
        </p:nvSpPr>
        <p:spPr>
          <a:xfrm>
            <a:off x="7406640" y="3200400"/>
            <a:ext cx="1828800" cy="274320"/>
          </a:xfrm>
          <a:prstGeom prst="rect">
            <a:avLst/>
          </a:prstGeom>
          <a:noFill/>
          <a:ln/>
        </p:spPr>
        <p:txBody>
          <a:bodyPr wrap="square" lIns="0" tIns="0" rIns="0" bIns="0" rtlCol="0" anchor="t"/>
          <a:lstStyle/>
          <a:p>
            <a:pPr indent="0" marL="0">
              <a:buNone/>
            </a:pPr>
            <a:r>
              <a:rPr lang="en-US" sz="1200" b="1" dirty="0">
                <a:solidFill>
                  <a:schemeClr val="accent1"/>
                </a:solidFill>
              </a:rPr>
              <a:t>OBJ-04</a:t>
            </a:r>
            <a:endParaRPr lang="en-US" sz="1200" dirty="0"/>
          </a:p>
        </p:txBody>
      </p:sp>
      <p:sp>
        <p:nvSpPr>
          <p:cNvPr id="28" name="Text 21"/>
          <p:cNvSpPr txBox="1"/>
          <p:nvPr/>
        </p:nvSpPr>
        <p:spPr>
          <a:xfrm>
            <a:off x="7406640" y="3474720"/>
            <a:ext cx="4023360" cy="548640"/>
          </a:xfrm>
          <a:prstGeom prst="rect">
            <a:avLst/>
          </a:prstGeom>
          <a:noFill/>
          <a:ln/>
        </p:spPr>
        <p:txBody>
          <a:bodyPr wrap="square" lIns="0" tIns="0" rIns="0" bIns="0" rtlCol="0" anchor="t"/>
          <a:lstStyle/>
          <a:p>
            <a:pPr indent="0" marL="0">
              <a:buNone/>
            </a:pPr>
            <a:r>
              <a:rPr lang="en-US" sz="1400" dirty="0">
                <a:solidFill>
                  <a:schemeClr val="tx1"/>
                </a:solidFill>
              </a:rPr>
              <a:t>Data safety - backup, settings, reports protect and hide secrets</a:t>
            </a:r>
            <a:endParaRPr lang="en-US" sz="1400" dirty="0"/>
          </a:p>
        </p:txBody>
      </p:sp>
      <p:sp>
        <p:nvSpPr>
          <p:cNvPr id="29" name="Text 22"/>
          <p:cNvSpPr txBox="1"/>
          <p:nvPr/>
        </p:nvSpPr>
        <p:spPr>
          <a:xfrm>
            <a:off x="7406640" y="4023360"/>
            <a:ext cx="4023360" cy="228600"/>
          </a:xfrm>
          <a:prstGeom prst="rect">
            <a:avLst/>
          </a:prstGeom>
          <a:noFill/>
          <a:ln/>
        </p:spPr>
        <p:txBody>
          <a:bodyPr wrap="square" lIns="0" tIns="0" rIns="0" bIns="0" rtlCol="0" anchor="t"/>
          <a:lstStyle/>
          <a:p>
            <a:pPr indent="0" marL="0">
              <a:buNone/>
            </a:pPr>
            <a:r>
              <a:rPr lang="en-US" sz="1100" dirty="0">
                <a:solidFill>
                  <a:schemeClr val="accent6"/>
                </a:solidFill>
              </a:rPr>
              <a:t>SCP-02/03/04 | CRT-04</a:t>
            </a:r>
            <a:endParaRPr lang="en-US" sz="1100" dirty="0"/>
          </a:p>
        </p:txBody>
      </p:sp>
      <p:sp>
        <p:nvSpPr>
          <p:cNvPr id="30" name="Card"/>
          <p:cNvSpPr/>
          <p:nvPr/>
        </p:nvSpPr>
        <p:spPr>
          <a:xfrm>
            <a:off x="548640" y="4617720"/>
            <a:ext cx="5394960" cy="1508760"/>
          </a:xfrm>
          <a:prstGeom prst="roundRect">
            <a:avLst>
              <a:gd name="adj" fmla="val 6061"/>
            </a:avLst>
          </a:prstGeom>
          <a:solidFill>
            <a:schemeClr val="accent4">
              <a:alpha val="10000"/>
            </a:schemeClr>
          </a:solidFill>
          <a:ln/>
        </p:spPr>
      </p:sp>
      <p:sp>
        <p:nvSpPr>
          <p:cNvPr id="31" name="Text 24"/>
          <p:cNvSpPr txBox="1"/>
          <p:nvPr/>
        </p:nvSpPr>
        <p:spPr>
          <a:xfrm>
            <a:off x="777240" y="4754880"/>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In scope (safe procedures)</a:t>
            </a:r>
            <a:endParaRPr lang="en-US" sz="1500" dirty="0"/>
          </a:p>
        </p:txBody>
      </p:sp>
      <p:sp>
        <p:nvSpPr>
          <p:cNvPr id="32" name="Text 25"/>
          <p:cNvSpPr txBox="1"/>
          <p:nvPr/>
        </p:nvSpPr>
        <p:spPr>
          <a:xfrm>
            <a:off x="777240" y="5120640"/>
            <a:ext cx="4937760" cy="868680"/>
          </a:xfrm>
          <a:prstGeom prst="rect">
            <a:avLst/>
          </a:prstGeom>
          <a:noFill/>
          <a:ln/>
        </p:spPr>
        <p:txBody>
          <a:bodyPr wrap="square" lIns="0" tIns="0" rIns="0" bIns="0" rtlCol="0" anchor="t"/>
          <a:lstStyle/>
          <a:p>
            <a:pPr indent="0" marL="0">
              <a:buNone/>
            </a:pPr>
            <a:r>
              <a:rPr lang="en-US" sz="1400" dirty="0">
                <a:solidFill>
                  <a:schemeClr val="tx1"/>
                </a:solidFill>
              </a:rPr>
              <a:t>Records + code inspection, config review, walkthroughs, small demo tests - nothing changed or harmed</a:t>
            </a:r>
            <a:endParaRPr lang="en-US" sz="1400" dirty="0"/>
          </a:p>
        </p:txBody>
      </p:sp>
      <p:sp>
        <p:nvSpPr>
          <p:cNvPr id="33" name="Card"/>
          <p:cNvSpPr/>
          <p:nvPr/>
        </p:nvSpPr>
        <p:spPr>
          <a:xfrm>
            <a:off x="6217920" y="4617720"/>
            <a:ext cx="5394960" cy="1508760"/>
          </a:xfrm>
          <a:prstGeom prst="roundRect">
            <a:avLst>
              <a:gd name="adj" fmla="val 6061"/>
            </a:avLst>
          </a:prstGeom>
          <a:solidFill>
            <a:schemeClr val="accent3">
              <a:alpha val="10000"/>
            </a:schemeClr>
          </a:solidFill>
          <a:ln/>
        </p:spPr>
      </p:sp>
      <p:sp>
        <p:nvSpPr>
          <p:cNvPr id="34" name="Text 27"/>
          <p:cNvSpPr txBox="1"/>
          <p:nvPr/>
        </p:nvSpPr>
        <p:spPr>
          <a:xfrm>
            <a:off x="6446520" y="4754880"/>
            <a:ext cx="4937760" cy="274320"/>
          </a:xfrm>
          <a:prstGeom prst="rect">
            <a:avLst/>
          </a:prstGeom>
          <a:noFill/>
          <a:ln/>
        </p:spPr>
        <p:txBody>
          <a:bodyPr wrap="square" lIns="0" tIns="0" rIns="0" bIns="0" rtlCol="0" anchor="t"/>
          <a:lstStyle/>
          <a:p>
            <a:pPr indent="0" marL="0">
              <a:buNone/>
            </a:pPr>
            <a:r>
              <a:rPr lang="en-US" sz="1500" b="1" dirty="0">
                <a:solidFill>
                  <a:schemeClr val="accent3"/>
                </a:solidFill>
              </a:rPr>
              <a:t>Out of scope / limits (SCP-03/04)</a:t>
            </a:r>
            <a:endParaRPr lang="en-US" sz="1500" dirty="0"/>
          </a:p>
        </p:txBody>
      </p:sp>
      <p:sp>
        <p:nvSpPr>
          <p:cNvPr id="35" name="Text 28"/>
          <p:cNvSpPr txBox="1"/>
          <p:nvPr/>
        </p:nvSpPr>
        <p:spPr>
          <a:xfrm>
            <a:off x="6446520" y="5120640"/>
            <a:ext cx="4937760" cy="868680"/>
          </a:xfrm>
          <a:prstGeom prst="rect">
            <a:avLst/>
          </a:prstGeom>
          <a:noFill/>
          <a:ln/>
        </p:spPr>
        <p:txBody>
          <a:bodyPr wrap="square" lIns="0" tIns="0" rIns="0" bIns="0" rtlCol="0" anchor="t"/>
          <a:lstStyle/>
          <a:p>
            <a:pPr indent="0" marL="0">
              <a:buNone/>
            </a:pPr>
            <a:r>
              <a:rPr lang="en-US" sz="1400" dirty="0">
                <a:solidFill>
                  <a:schemeClr val="tx1"/>
                </a:solidFill>
              </a:rPr>
              <a:t>No attack testing, no live restore, no real student data - demo environment only, stated in every conclusion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We Worked - Evidence First</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Same method through Labs 7-12; every result carries an ID chain</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Card"/>
          <p:cNvSpPr/>
          <p:nvPr/>
        </p:nvSpPr>
        <p:spPr>
          <a:xfrm>
            <a:off x="548640" y="1737360"/>
            <a:ext cx="2468880" cy="2743200"/>
          </a:xfrm>
          <a:prstGeom prst="roundRect">
            <a:avLst>
              <a:gd name="adj" fmla="val 3704"/>
            </a:avLst>
          </a:prstGeom>
          <a:solidFill>
            <a:schemeClr val="bg2"/>
          </a:solidFill>
          <a:ln/>
          <a:effectLst>
            <a:outerShdw sx="100000" sy="100000" kx="0" ky="0" algn="bl" rotWithShape="0" blurRad="101600" dist="25400" dir="5400000">
              <a:srgbClr val="14232E">
                <a:alpha val="12000"/>
              </a:srgbClr>
            </a:outerShdw>
          </a:effectLst>
        </p:spPr>
      </p:sp>
      <p:sp>
        <p:nvSpPr>
          <p:cNvPr id="7" name="Icon circle"/>
          <p:cNvSpPr/>
          <p:nvPr/>
        </p:nvSpPr>
        <p:spPr>
          <a:xfrm>
            <a:off x="822960" y="2011680"/>
            <a:ext cx="777240" cy="777240"/>
          </a:xfrm>
          <a:prstGeom prst="ellipse">
            <a:avLst/>
          </a:prstGeom>
          <a:solidFill>
            <a:schemeClr val="accent1"/>
          </a:solidFill>
          <a:ln/>
        </p:spPr>
      </p:sp>
      <p:pic>
        <p:nvPicPr>
          <p:cNvPr id="8" name="Icon" descr="preencoded.png">    </p:cNvPr>
          <p:cNvPicPr>
            <a:picLocks noChangeAspect="1"/>
          </p:cNvPicPr>
          <p:nvPr/>
        </p:nvPicPr>
        <p:blipFill>
          <a:blip r:embed="rId1"/>
          <a:stretch>
            <a:fillRect/>
          </a:stretch>
        </p:blipFill>
        <p:spPr>
          <a:xfrm>
            <a:off x="1040587" y="2229307"/>
            <a:ext cx="341986" cy="341986"/>
          </a:xfrm>
          <a:prstGeom prst="rect">
            <a:avLst/>
          </a:prstGeom>
        </p:spPr>
      </p:pic>
      <p:sp>
        <p:nvSpPr>
          <p:cNvPr id="9" name="Text 5"/>
          <p:cNvSpPr txBox="1"/>
          <p:nvPr/>
        </p:nvSpPr>
        <p:spPr>
          <a:xfrm>
            <a:off x="2377440" y="1965960"/>
            <a:ext cx="411480" cy="457200"/>
          </a:xfrm>
          <a:prstGeom prst="rect">
            <a:avLst/>
          </a:prstGeom>
          <a:noFill/>
          <a:ln/>
        </p:spPr>
        <p:txBody>
          <a:bodyPr wrap="square" lIns="0" tIns="0" rIns="0" bIns="0" rtlCol="0" anchor="t"/>
          <a:lstStyle/>
          <a:p>
            <a:pPr algn="r" indent="0" marL="0">
              <a:buNone/>
            </a:pPr>
            <a:r>
              <a:rPr lang="en-US" sz="3000" b="1" dirty="0">
                <a:solidFill>
                  <a:schemeClr val="accent6"/>
                </a:solidFill>
                <a:latin typeface="Cambria" pitchFamily="34" charset="0"/>
                <a:ea typeface="Cambria" pitchFamily="34" charset="-122"/>
                <a:cs typeface="Cambria" pitchFamily="34" charset="-120"/>
              </a:rPr>
              <a:t>1</a:t>
            </a:r>
            <a:endParaRPr lang="en-US" sz="3000" dirty="0"/>
          </a:p>
        </p:txBody>
      </p:sp>
      <p:sp>
        <p:nvSpPr>
          <p:cNvPr id="10" name="Text 6"/>
          <p:cNvSpPr txBox="1"/>
          <p:nvPr/>
        </p:nvSpPr>
        <p:spPr>
          <a:xfrm>
            <a:off x="822960" y="2971800"/>
            <a:ext cx="19202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Inspect</a:t>
            </a:r>
            <a:endParaRPr lang="en-US" sz="2000" dirty="0"/>
          </a:p>
        </p:txBody>
      </p:sp>
      <p:sp>
        <p:nvSpPr>
          <p:cNvPr id="11" name="Text 7"/>
          <p:cNvSpPr txBox="1"/>
          <p:nvPr/>
        </p:nvSpPr>
        <p:spPr>
          <a:xfrm>
            <a:off x="822960" y="3429000"/>
            <a:ext cx="1920240" cy="640080"/>
          </a:xfrm>
          <a:prstGeom prst="rect">
            <a:avLst/>
          </a:prstGeom>
          <a:noFill/>
          <a:ln/>
        </p:spPr>
        <p:txBody>
          <a:bodyPr wrap="square" lIns="0" tIns="0" rIns="0" bIns="0" rtlCol="0" anchor="t"/>
          <a:lstStyle/>
          <a:p>
            <a:pPr indent="0" marL="0">
              <a:buNone/>
            </a:pPr>
            <a:r>
              <a:rPr lang="en-US" sz="1400" dirty="0">
                <a:solidFill>
                  <a:schemeClr val="tx1"/>
                </a:solidFill>
              </a:rPr>
              <a:t>records, code paths, configuration</a:t>
            </a:r>
            <a:endParaRPr lang="en-US" sz="1400" dirty="0"/>
          </a:p>
        </p:txBody>
      </p:sp>
      <p:sp>
        <p:nvSpPr>
          <p:cNvPr id="12" name="Text 8"/>
          <p:cNvSpPr txBox="1"/>
          <p:nvPr/>
        </p:nvSpPr>
        <p:spPr>
          <a:xfrm>
            <a:off x="822960" y="4069080"/>
            <a:ext cx="1920240" cy="274320"/>
          </a:xfrm>
          <a:prstGeom prst="rect">
            <a:avLst/>
          </a:prstGeom>
          <a:noFill/>
          <a:ln/>
        </p:spPr>
        <p:txBody>
          <a:bodyPr wrap="square" lIns="0" tIns="0" rIns="0" bIns="0" rtlCol="0" anchor="t"/>
          <a:lstStyle/>
          <a:p>
            <a:pPr indent="0" marL="0">
              <a:buNone/>
            </a:pPr>
            <a:r>
              <a:rPr lang="en-US" sz="1100" b="1" dirty="0">
                <a:solidFill>
                  <a:schemeClr val="accent1"/>
                </a:solidFill>
              </a:rPr>
              <a:t>EVD-09/10/12/13 series</a:t>
            </a:r>
            <a:endParaRPr lang="en-US" sz="1100" dirty="0"/>
          </a:p>
        </p:txBody>
      </p:sp>
      <p:sp>
        <p:nvSpPr>
          <p:cNvPr id="13" name="Text 9"/>
          <p:cNvSpPr txBox="1"/>
          <p:nvPr/>
        </p:nvSpPr>
        <p:spPr>
          <a:xfrm>
            <a:off x="3017520" y="2834640"/>
            <a:ext cx="393192" cy="457200"/>
          </a:xfrm>
          <a:prstGeom prst="rect">
            <a:avLst/>
          </a:prstGeom>
          <a:noFill/>
          <a:ln/>
        </p:spPr>
        <p:txBody>
          <a:bodyPr wrap="square" lIns="0" tIns="0" rIns="0" bIns="0" rtlCol="0" anchor="ctr"/>
          <a:lstStyle/>
          <a:p>
            <a:pPr algn="ctr" indent="0" marL="0">
              <a:buNone/>
            </a:pPr>
            <a:r>
              <a:rPr lang="en-US" sz="2200" b="1" dirty="0">
                <a:solidFill>
                  <a:schemeClr val="accent6"/>
                </a:solidFill>
              </a:rPr>
              <a:t>&gt;</a:t>
            </a:r>
            <a:endParaRPr lang="en-US" sz="2200" dirty="0"/>
          </a:p>
        </p:txBody>
      </p:sp>
      <p:sp>
        <p:nvSpPr>
          <p:cNvPr id="14" name="Card"/>
          <p:cNvSpPr/>
          <p:nvPr/>
        </p:nvSpPr>
        <p:spPr>
          <a:xfrm>
            <a:off x="3410712" y="1737360"/>
            <a:ext cx="2468880" cy="2743200"/>
          </a:xfrm>
          <a:prstGeom prst="roundRect">
            <a:avLst>
              <a:gd name="adj" fmla="val 3704"/>
            </a:avLst>
          </a:prstGeom>
          <a:solidFill>
            <a:schemeClr val="bg2"/>
          </a:solidFill>
          <a:ln/>
          <a:effectLst>
            <a:outerShdw sx="100000" sy="100000" kx="0" ky="0" algn="bl" rotWithShape="0" blurRad="101600" dist="25400" dir="5400000">
              <a:srgbClr val="14232E">
                <a:alpha val="12000"/>
              </a:srgbClr>
            </a:outerShdw>
          </a:effectLst>
        </p:spPr>
      </p:sp>
      <p:sp>
        <p:nvSpPr>
          <p:cNvPr id="15" name="Icon circle"/>
          <p:cNvSpPr/>
          <p:nvPr/>
        </p:nvSpPr>
        <p:spPr>
          <a:xfrm>
            <a:off x="3685032" y="2011680"/>
            <a:ext cx="777240" cy="777240"/>
          </a:xfrm>
          <a:prstGeom prst="ellipse">
            <a:avLst/>
          </a:prstGeom>
          <a:solidFill>
            <a:schemeClr val="accent1"/>
          </a:solidFill>
          <a:ln/>
        </p:spPr>
      </p:sp>
      <p:pic>
        <p:nvPicPr>
          <p:cNvPr id="16" name="Icon" descr="preencoded.png">    </p:cNvPr>
          <p:cNvPicPr>
            <a:picLocks noChangeAspect="1"/>
          </p:cNvPicPr>
          <p:nvPr/>
        </p:nvPicPr>
        <p:blipFill>
          <a:blip r:embed="rId2"/>
          <a:stretch>
            <a:fillRect/>
          </a:stretch>
        </p:blipFill>
        <p:spPr>
          <a:xfrm>
            <a:off x="3902659" y="2229307"/>
            <a:ext cx="341986" cy="341986"/>
          </a:xfrm>
          <a:prstGeom prst="rect">
            <a:avLst/>
          </a:prstGeom>
        </p:spPr>
      </p:pic>
      <p:sp>
        <p:nvSpPr>
          <p:cNvPr id="17" name="Text 12"/>
          <p:cNvSpPr txBox="1"/>
          <p:nvPr/>
        </p:nvSpPr>
        <p:spPr>
          <a:xfrm>
            <a:off x="5239512" y="1965960"/>
            <a:ext cx="411480" cy="457200"/>
          </a:xfrm>
          <a:prstGeom prst="rect">
            <a:avLst/>
          </a:prstGeom>
          <a:noFill/>
          <a:ln/>
        </p:spPr>
        <p:txBody>
          <a:bodyPr wrap="square" lIns="0" tIns="0" rIns="0" bIns="0" rtlCol="0" anchor="t"/>
          <a:lstStyle/>
          <a:p>
            <a:pPr algn="r" indent="0" marL="0">
              <a:buNone/>
            </a:pPr>
            <a:r>
              <a:rPr lang="en-US" sz="3000" b="1" dirty="0">
                <a:solidFill>
                  <a:schemeClr val="accent6"/>
                </a:solidFill>
                <a:latin typeface="Cambria" pitchFamily="34" charset="0"/>
                <a:ea typeface="Cambria" pitchFamily="34" charset="-122"/>
                <a:cs typeface="Cambria" pitchFamily="34" charset="-120"/>
              </a:rPr>
              <a:t>2</a:t>
            </a:r>
            <a:endParaRPr lang="en-US" sz="3000" dirty="0"/>
          </a:p>
        </p:txBody>
      </p:sp>
      <p:sp>
        <p:nvSpPr>
          <p:cNvPr id="18" name="Text 13"/>
          <p:cNvSpPr txBox="1"/>
          <p:nvPr/>
        </p:nvSpPr>
        <p:spPr>
          <a:xfrm>
            <a:off x="3685032" y="2971800"/>
            <a:ext cx="19202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Walk through</a:t>
            </a:r>
            <a:endParaRPr lang="en-US" sz="2000" dirty="0"/>
          </a:p>
        </p:txBody>
      </p:sp>
      <p:sp>
        <p:nvSpPr>
          <p:cNvPr id="19" name="Text 14"/>
          <p:cNvSpPr txBox="1"/>
          <p:nvPr/>
        </p:nvSpPr>
        <p:spPr>
          <a:xfrm>
            <a:off x="3685032" y="3429000"/>
            <a:ext cx="1920240" cy="640080"/>
          </a:xfrm>
          <a:prstGeom prst="rect">
            <a:avLst/>
          </a:prstGeom>
          <a:noFill/>
          <a:ln/>
        </p:spPr>
        <p:txBody>
          <a:bodyPr wrap="square" lIns="0" tIns="0" rIns="0" bIns="0" rtlCol="0" anchor="t"/>
          <a:lstStyle/>
          <a:p>
            <a:pPr indent="0" marL="0">
              <a:buNone/>
            </a:pPr>
            <a:r>
              <a:rPr lang="en-US" sz="1400" dirty="0">
                <a:solidFill>
                  <a:schemeClr val="tx1"/>
                </a:solidFill>
              </a:rPr>
              <a:t>real screens in the demo build</a:t>
            </a:r>
            <a:endParaRPr lang="en-US" sz="1400" dirty="0"/>
          </a:p>
        </p:txBody>
      </p:sp>
      <p:sp>
        <p:nvSpPr>
          <p:cNvPr id="20" name="Text 15"/>
          <p:cNvSpPr txBox="1"/>
          <p:nvPr/>
        </p:nvSpPr>
        <p:spPr>
          <a:xfrm>
            <a:off x="3685032" y="4069080"/>
            <a:ext cx="1920240" cy="274320"/>
          </a:xfrm>
          <a:prstGeom prst="rect">
            <a:avLst/>
          </a:prstGeom>
          <a:noFill/>
          <a:ln/>
        </p:spPr>
        <p:txBody>
          <a:bodyPr wrap="square" lIns="0" tIns="0" rIns="0" bIns="0" rtlCol="0" anchor="t"/>
          <a:lstStyle/>
          <a:p>
            <a:pPr indent="0" marL="0">
              <a:buNone/>
            </a:pPr>
            <a:r>
              <a:rPr lang="en-US" sz="1100" b="1" dirty="0">
                <a:solidFill>
                  <a:schemeClr val="accent1"/>
                </a:solidFill>
              </a:rPr>
              <a:t>clean screenshots - no names</a:t>
            </a:r>
            <a:endParaRPr lang="en-US" sz="1100" dirty="0"/>
          </a:p>
        </p:txBody>
      </p:sp>
      <p:sp>
        <p:nvSpPr>
          <p:cNvPr id="21" name="Text 16"/>
          <p:cNvSpPr txBox="1"/>
          <p:nvPr/>
        </p:nvSpPr>
        <p:spPr>
          <a:xfrm>
            <a:off x="5879592" y="2834640"/>
            <a:ext cx="393192" cy="457200"/>
          </a:xfrm>
          <a:prstGeom prst="rect">
            <a:avLst/>
          </a:prstGeom>
          <a:noFill/>
          <a:ln/>
        </p:spPr>
        <p:txBody>
          <a:bodyPr wrap="square" lIns="0" tIns="0" rIns="0" bIns="0" rtlCol="0" anchor="ctr"/>
          <a:lstStyle/>
          <a:p>
            <a:pPr algn="ctr" indent="0" marL="0">
              <a:buNone/>
            </a:pPr>
            <a:r>
              <a:rPr lang="en-US" sz="2200" b="1" dirty="0">
                <a:solidFill>
                  <a:schemeClr val="accent6"/>
                </a:solidFill>
              </a:rPr>
              <a:t>&gt;</a:t>
            </a:r>
            <a:endParaRPr lang="en-US" sz="2200" dirty="0"/>
          </a:p>
        </p:txBody>
      </p:sp>
      <p:sp>
        <p:nvSpPr>
          <p:cNvPr id="22" name="Card"/>
          <p:cNvSpPr/>
          <p:nvPr/>
        </p:nvSpPr>
        <p:spPr>
          <a:xfrm>
            <a:off x="6272784" y="1737360"/>
            <a:ext cx="2468880" cy="2743200"/>
          </a:xfrm>
          <a:prstGeom prst="roundRect">
            <a:avLst>
              <a:gd name="adj" fmla="val 3704"/>
            </a:avLst>
          </a:prstGeom>
          <a:solidFill>
            <a:schemeClr val="bg2"/>
          </a:solidFill>
          <a:ln/>
          <a:effectLst>
            <a:outerShdw sx="100000" sy="100000" kx="0" ky="0" algn="bl" rotWithShape="0" blurRad="101600" dist="25400" dir="5400000">
              <a:srgbClr val="14232E">
                <a:alpha val="12000"/>
              </a:srgbClr>
            </a:outerShdw>
          </a:effectLst>
        </p:spPr>
      </p:sp>
      <p:sp>
        <p:nvSpPr>
          <p:cNvPr id="23" name="Icon circle"/>
          <p:cNvSpPr/>
          <p:nvPr/>
        </p:nvSpPr>
        <p:spPr>
          <a:xfrm>
            <a:off x="6547104" y="2011680"/>
            <a:ext cx="777240" cy="777240"/>
          </a:xfrm>
          <a:prstGeom prst="ellipse">
            <a:avLst/>
          </a:prstGeom>
          <a:solidFill>
            <a:schemeClr val="accent1"/>
          </a:solidFill>
          <a:ln/>
        </p:spPr>
      </p:sp>
      <p:pic>
        <p:nvPicPr>
          <p:cNvPr id="24" name="Icon" descr="preencoded.png">    </p:cNvPr>
          <p:cNvPicPr>
            <a:picLocks noChangeAspect="1"/>
          </p:cNvPicPr>
          <p:nvPr/>
        </p:nvPicPr>
        <p:blipFill>
          <a:blip r:embed="rId3"/>
          <a:stretch>
            <a:fillRect/>
          </a:stretch>
        </p:blipFill>
        <p:spPr>
          <a:xfrm>
            <a:off x="6764731" y="2229307"/>
            <a:ext cx="341986" cy="341986"/>
          </a:xfrm>
          <a:prstGeom prst="rect">
            <a:avLst/>
          </a:prstGeom>
        </p:spPr>
      </p:pic>
      <p:sp>
        <p:nvSpPr>
          <p:cNvPr id="25" name="Text 19"/>
          <p:cNvSpPr txBox="1"/>
          <p:nvPr/>
        </p:nvSpPr>
        <p:spPr>
          <a:xfrm>
            <a:off x="8101584" y="1965960"/>
            <a:ext cx="411480" cy="457200"/>
          </a:xfrm>
          <a:prstGeom prst="rect">
            <a:avLst/>
          </a:prstGeom>
          <a:noFill/>
          <a:ln/>
        </p:spPr>
        <p:txBody>
          <a:bodyPr wrap="square" lIns="0" tIns="0" rIns="0" bIns="0" rtlCol="0" anchor="t"/>
          <a:lstStyle/>
          <a:p>
            <a:pPr algn="r" indent="0" marL="0">
              <a:buNone/>
            </a:pPr>
            <a:r>
              <a:rPr lang="en-US" sz="3000" b="1" dirty="0">
                <a:solidFill>
                  <a:schemeClr val="accent6"/>
                </a:solidFill>
                <a:latin typeface="Cambria" pitchFamily="34" charset="0"/>
                <a:ea typeface="Cambria" pitchFamily="34" charset="-122"/>
                <a:cs typeface="Cambria" pitchFamily="34" charset="-120"/>
              </a:rPr>
              <a:t>3</a:t>
            </a:r>
            <a:endParaRPr lang="en-US" sz="3000" dirty="0"/>
          </a:p>
        </p:txBody>
      </p:sp>
      <p:sp>
        <p:nvSpPr>
          <p:cNvPr id="26" name="Text 20"/>
          <p:cNvSpPr txBox="1"/>
          <p:nvPr/>
        </p:nvSpPr>
        <p:spPr>
          <a:xfrm>
            <a:off x="6547104" y="2971800"/>
            <a:ext cx="19202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Test</a:t>
            </a:r>
            <a:endParaRPr lang="en-US" sz="2000" dirty="0"/>
          </a:p>
        </p:txBody>
      </p:sp>
      <p:sp>
        <p:nvSpPr>
          <p:cNvPr id="27" name="Text 21"/>
          <p:cNvSpPr txBox="1"/>
          <p:nvPr/>
        </p:nvSpPr>
        <p:spPr>
          <a:xfrm>
            <a:off x="6547104" y="3429000"/>
            <a:ext cx="1920240" cy="640080"/>
          </a:xfrm>
          <a:prstGeom prst="rect">
            <a:avLst/>
          </a:prstGeom>
          <a:noFill/>
          <a:ln/>
        </p:spPr>
        <p:txBody>
          <a:bodyPr wrap="square" lIns="0" tIns="0" rIns="0" bIns="0" rtlCol="0" anchor="t"/>
          <a:lstStyle/>
          <a:p>
            <a:pPr indent="0" marL="0">
              <a:buNone/>
            </a:pPr>
            <a:r>
              <a:rPr lang="en-US" sz="1400" dirty="0">
                <a:solidFill>
                  <a:schemeClr val="tx1"/>
                </a:solidFill>
              </a:rPr>
              <a:t>10/10 pages, CSV file, loan cycle, backup log</a:t>
            </a:r>
            <a:endParaRPr lang="en-US" sz="1400" dirty="0"/>
          </a:p>
        </p:txBody>
      </p:sp>
      <p:sp>
        <p:nvSpPr>
          <p:cNvPr id="28" name="Text 22"/>
          <p:cNvSpPr txBox="1"/>
          <p:nvPr/>
        </p:nvSpPr>
        <p:spPr>
          <a:xfrm>
            <a:off x="6547104" y="4069080"/>
            <a:ext cx="1920240" cy="274320"/>
          </a:xfrm>
          <a:prstGeom prst="rect">
            <a:avLst/>
          </a:prstGeom>
          <a:noFill/>
          <a:ln/>
        </p:spPr>
        <p:txBody>
          <a:bodyPr wrap="square" lIns="0" tIns="0" rIns="0" bIns="0" rtlCol="0" anchor="t"/>
          <a:lstStyle/>
          <a:p>
            <a:pPr indent="0" marL="0">
              <a:buNone/>
            </a:pPr>
            <a:r>
              <a:rPr lang="en-US" sz="1100" b="1" dirty="0">
                <a:solidFill>
                  <a:schemeClr val="accent1"/>
                </a:solidFill>
              </a:rPr>
              <a:t>TEST-01..06 samples</a:t>
            </a:r>
            <a:endParaRPr lang="en-US" sz="1100" dirty="0"/>
          </a:p>
        </p:txBody>
      </p:sp>
      <p:sp>
        <p:nvSpPr>
          <p:cNvPr id="29" name="Text 23"/>
          <p:cNvSpPr txBox="1"/>
          <p:nvPr/>
        </p:nvSpPr>
        <p:spPr>
          <a:xfrm>
            <a:off x="8741664" y="2834640"/>
            <a:ext cx="393192" cy="457200"/>
          </a:xfrm>
          <a:prstGeom prst="rect">
            <a:avLst/>
          </a:prstGeom>
          <a:noFill/>
          <a:ln/>
        </p:spPr>
        <p:txBody>
          <a:bodyPr wrap="square" lIns="0" tIns="0" rIns="0" bIns="0" rtlCol="0" anchor="ctr"/>
          <a:lstStyle/>
          <a:p>
            <a:pPr algn="ctr" indent="0" marL="0">
              <a:buNone/>
            </a:pPr>
            <a:r>
              <a:rPr lang="en-US" sz="2200" b="1" dirty="0">
                <a:solidFill>
                  <a:schemeClr val="accent6"/>
                </a:solidFill>
              </a:rPr>
              <a:t>&gt;</a:t>
            </a:r>
            <a:endParaRPr lang="en-US" sz="2200" dirty="0"/>
          </a:p>
        </p:txBody>
      </p:sp>
      <p:sp>
        <p:nvSpPr>
          <p:cNvPr id="30" name="Card"/>
          <p:cNvSpPr/>
          <p:nvPr/>
        </p:nvSpPr>
        <p:spPr>
          <a:xfrm>
            <a:off x="9134856" y="1737360"/>
            <a:ext cx="2468880" cy="2743200"/>
          </a:xfrm>
          <a:prstGeom prst="roundRect">
            <a:avLst>
              <a:gd name="adj" fmla="val 3704"/>
            </a:avLst>
          </a:prstGeom>
          <a:solidFill>
            <a:schemeClr val="bg2"/>
          </a:solidFill>
          <a:ln/>
          <a:effectLst>
            <a:outerShdw sx="100000" sy="100000" kx="0" ky="0" algn="bl" rotWithShape="0" blurRad="101600" dist="25400" dir="5400000">
              <a:srgbClr val="14232E">
                <a:alpha val="12000"/>
              </a:srgbClr>
            </a:outerShdw>
          </a:effectLst>
        </p:spPr>
      </p:sp>
      <p:sp>
        <p:nvSpPr>
          <p:cNvPr id="31" name="Icon circle"/>
          <p:cNvSpPr/>
          <p:nvPr/>
        </p:nvSpPr>
        <p:spPr>
          <a:xfrm>
            <a:off x="9409176" y="2011680"/>
            <a:ext cx="777240" cy="777240"/>
          </a:xfrm>
          <a:prstGeom prst="ellipse">
            <a:avLst/>
          </a:prstGeom>
          <a:solidFill>
            <a:schemeClr val="accent1"/>
          </a:solidFill>
          <a:ln/>
        </p:spPr>
      </p:sp>
      <p:pic>
        <p:nvPicPr>
          <p:cNvPr id="32" name="Icon" descr="preencoded.png">    </p:cNvPr>
          <p:cNvPicPr>
            <a:picLocks noChangeAspect="1"/>
          </p:cNvPicPr>
          <p:nvPr/>
        </p:nvPicPr>
        <p:blipFill>
          <a:blip r:embed="rId4"/>
          <a:stretch>
            <a:fillRect/>
          </a:stretch>
        </p:blipFill>
        <p:spPr>
          <a:xfrm>
            <a:off x="9626803" y="2229307"/>
            <a:ext cx="341986" cy="341986"/>
          </a:xfrm>
          <a:prstGeom prst="rect">
            <a:avLst/>
          </a:prstGeom>
        </p:spPr>
      </p:pic>
      <p:sp>
        <p:nvSpPr>
          <p:cNvPr id="33" name="Text 26"/>
          <p:cNvSpPr txBox="1"/>
          <p:nvPr/>
        </p:nvSpPr>
        <p:spPr>
          <a:xfrm>
            <a:off x="10963656" y="1965960"/>
            <a:ext cx="411480" cy="457200"/>
          </a:xfrm>
          <a:prstGeom prst="rect">
            <a:avLst/>
          </a:prstGeom>
          <a:noFill/>
          <a:ln/>
        </p:spPr>
        <p:txBody>
          <a:bodyPr wrap="square" lIns="0" tIns="0" rIns="0" bIns="0" rtlCol="0" anchor="t"/>
          <a:lstStyle/>
          <a:p>
            <a:pPr algn="r" indent="0" marL="0">
              <a:buNone/>
            </a:pPr>
            <a:r>
              <a:rPr lang="en-US" sz="3000" b="1" dirty="0">
                <a:solidFill>
                  <a:schemeClr val="accent6"/>
                </a:solidFill>
                <a:latin typeface="Cambria" pitchFamily="34" charset="0"/>
                <a:ea typeface="Cambria" pitchFamily="34" charset="-122"/>
                <a:cs typeface="Cambria" pitchFamily="34" charset="-120"/>
              </a:rPr>
              <a:t>4</a:t>
            </a:r>
            <a:endParaRPr lang="en-US" sz="3000" dirty="0"/>
          </a:p>
        </p:txBody>
      </p:sp>
      <p:sp>
        <p:nvSpPr>
          <p:cNvPr id="34" name="Text 27"/>
          <p:cNvSpPr txBox="1"/>
          <p:nvPr/>
        </p:nvSpPr>
        <p:spPr>
          <a:xfrm>
            <a:off x="9409176" y="2971800"/>
            <a:ext cx="19202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Review</a:t>
            </a:r>
            <a:endParaRPr lang="en-US" sz="2000" dirty="0"/>
          </a:p>
        </p:txBody>
      </p:sp>
      <p:sp>
        <p:nvSpPr>
          <p:cNvPr id="35" name="Text 28"/>
          <p:cNvSpPr txBox="1"/>
          <p:nvPr/>
        </p:nvSpPr>
        <p:spPr>
          <a:xfrm>
            <a:off x="9409176" y="3429000"/>
            <a:ext cx="1920240" cy="640080"/>
          </a:xfrm>
          <a:prstGeom prst="rect">
            <a:avLst/>
          </a:prstGeom>
          <a:noFill/>
          <a:ln/>
        </p:spPr>
        <p:txBody>
          <a:bodyPr wrap="square" lIns="0" tIns="0" rIns="0" bIns="0" rtlCol="0" anchor="t"/>
          <a:lstStyle/>
          <a:p>
            <a:pPr indent="0" marL="0">
              <a:buNone/>
            </a:pPr>
            <a:r>
              <a:rPr lang="en-US" sz="1400" dirty="0">
                <a:solidFill>
                  <a:schemeClr val="tx1"/>
                </a:solidFill>
              </a:rPr>
              <a:t>each member cross-checked + challenged</a:t>
            </a:r>
            <a:endParaRPr lang="en-US" sz="1400" dirty="0"/>
          </a:p>
        </p:txBody>
      </p:sp>
      <p:sp>
        <p:nvSpPr>
          <p:cNvPr id="36" name="Text 29"/>
          <p:cNvSpPr txBox="1"/>
          <p:nvPr/>
        </p:nvSpPr>
        <p:spPr>
          <a:xfrm>
            <a:off x="9409176" y="4069080"/>
            <a:ext cx="1920240" cy="274320"/>
          </a:xfrm>
          <a:prstGeom prst="rect">
            <a:avLst/>
          </a:prstGeom>
          <a:noFill/>
          <a:ln/>
        </p:spPr>
        <p:txBody>
          <a:bodyPr wrap="square" lIns="0" tIns="0" rIns="0" bIns="0" rtlCol="0" anchor="t"/>
          <a:lstStyle/>
          <a:p>
            <a:pPr indent="0" marL="0">
              <a:buNone/>
            </a:pPr>
            <a:r>
              <a:rPr lang="en-US" sz="1100" b="1" dirty="0">
                <a:solidFill>
                  <a:schemeClr val="accent1"/>
                </a:solidFill>
              </a:rPr>
              <a:t>REV-01..14 rows</a:t>
            </a:r>
            <a:endParaRPr lang="en-US" sz="1100" dirty="0"/>
          </a:p>
        </p:txBody>
      </p:sp>
      <p:sp>
        <p:nvSpPr>
          <p:cNvPr id="37" name="Card"/>
          <p:cNvSpPr/>
          <p:nvPr/>
        </p:nvSpPr>
        <p:spPr>
          <a:xfrm>
            <a:off x="548640" y="4846320"/>
            <a:ext cx="11094415" cy="1234440"/>
          </a:xfrm>
          <a:prstGeom prst="roundRect">
            <a:avLst>
              <a:gd name="adj" fmla="val 7407"/>
            </a:avLst>
          </a:prstGeom>
          <a:solidFill>
            <a:schemeClr val="tx2"/>
          </a:solidFill>
          <a:ln/>
        </p:spPr>
      </p:sp>
      <p:sp>
        <p:nvSpPr>
          <p:cNvPr id="38" name="Text 31"/>
          <p:cNvSpPr txBox="1"/>
          <p:nvPr/>
        </p:nvSpPr>
        <p:spPr>
          <a:xfrm>
            <a:off x="914400" y="4937760"/>
            <a:ext cx="10362895" cy="1051560"/>
          </a:xfrm>
          <a:prstGeom prst="rect">
            <a:avLst/>
          </a:prstGeom>
          <a:noFill/>
          <a:ln/>
        </p:spPr>
        <p:txBody>
          <a:bodyPr wrap="square" lIns="0" tIns="0" rIns="0" bIns="0" rtlCol="0" anchor="ctr"/>
          <a:lstStyle/>
          <a:p>
            <a:pPr indent="0" marL="0">
              <a:buNone/>
            </a:pPr>
            <a:r>
              <a:rPr lang="en-US" sz="1600" dirty="0">
                <a:solidFill>
                  <a:schemeClr val="bg1"/>
                </a:solidFill>
              </a:rPr>
              <a:t>AI used only for wording fixes, count double-checks, task clarifications - every suggestion validated against real records; never an evidence source (Portfolio AIV-01..06)</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Architecture and Trust Boundaries</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Figure 2 from the report: Flask app, PostgreSQL, Google OAuth, Render (DEP-01..06)</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Glenn Patrick B. Darriguez</a:t>
            </a:r>
            <a:endParaRPr lang="en-US" sz="1100" dirty="0"/>
          </a:p>
        </p:txBody>
      </p:sp>
      <p:sp>
        <p:nvSpPr>
          <p:cNvPr id="6" name="Card"/>
          <p:cNvSpPr/>
          <p:nvPr/>
        </p:nvSpPr>
        <p:spPr>
          <a:xfrm>
            <a:off x="548640" y="1600200"/>
            <a:ext cx="6949440" cy="4617720"/>
          </a:xfrm>
          <a:prstGeom prst="roundRect">
            <a:avLst>
              <a:gd name="adj" fmla="val 1980"/>
            </a:avLst>
          </a:prstGeom>
          <a:solidFill>
            <a:schemeClr val="bg1"/>
          </a:solidFill>
          <a:ln w="12700">
            <a:solidFill>
              <a:schemeClr val="bg2"/>
            </a:solidFill>
            <a:prstDash val="solid"/>
          </a:ln>
          <a:effectLst>
            <a:outerShdw sx="100000" sy="100000" kx="0" ky="0" algn="bl" rotWithShape="0" blurRad="101600" dist="25400" dir="5400000">
              <a:srgbClr val="14232E">
                <a:alpha val="12000"/>
              </a:srgbClr>
            </a:outerShdw>
          </a:effectLst>
        </p:spPr>
      </p:sp>
      <p:pic>
        <p:nvPicPr>
          <p:cNvPr id="7" name="Figure 2" descr="Figure 2: MCST LMS system context and deployment">    </p:cNvPr>
          <p:cNvPicPr>
            <a:picLocks noChangeAspect="1"/>
          </p:cNvPicPr>
          <p:nvPr/>
        </p:nvPicPr>
        <p:blipFill>
          <a:blip r:embed="rId1"/>
          <a:stretch>
            <a:fillRect/>
          </a:stretch>
        </p:blipFill>
        <p:spPr>
          <a:xfrm>
            <a:off x="685800" y="1763486"/>
            <a:ext cx="6675120" cy="4291149"/>
          </a:xfrm>
          <a:prstGeom prst="rect">
            <a:avLst/>
          </a:prstGeom>
        </p:spPr>
      </p:pic>
      <p:sp>
        <p:nvSpPr>
          <p:cNvPr id="8" name="Card"/>
          <p:cNvSpPr/>
          <p:nvPr/>
        </p:nvSpPr>
        <p:spPr>
          <a:xfrm>
            <a:off x="7772400" y="1600200"/>
            <a:ext cx="3867912" cy="1097280"/>
          </a:xfrm>
          <a:prstGeom prst="roundRect">
            <a:avLst>
              <a:gd name="adj" fmla="val 8333"/>
            </a:avLst>
          </a:prstGeom>
          <a:solidFill>
            <a:schemeClr val="bg2"/>
          </a:solidFill>
          <a:ln/>
        </p:spPr>
      </p:sp>
      <p:sp>
        <p:nvSpPr>
          <p:cNvPr id="9" name="Text 5"/>
          <p:cNvSpPr txBox="1"/>
          <p:nvPr/>
        </p:nvSpPr>
        <p:spPr>
          <a:xfrm>
            <a:off x="7955280" y="1691640"/>
            <a:ext cx="731520"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a:t>
            </a:r>
            <a:endParaRPr lang="en-US" sz="4000" dirty="0"/>
          </a:p>
        </p:txBody>
      </p:sp>
      <p:sp>
        <p:nvSpPr>
          <p:cNvPr id="10" name="Text 6"/>
          <p:cNvSpPr txBox="1"/>
          <p:nvPr/>
        </p:nvSpPr>
        <p:spPr>
          <a:xfrm>
            <a:off x="8686800" y="1691640"/>
            <a:ext cx="2834640" cy="914400"/>
          </a:xfrm>
          <a:prstGeom prst="rect">
            <a:avLst/>
          </a:prstGeom>
          <a:noFill/>
          <a:ln/>
        </p:spPr>
        <p:txBody>
          <a:bodyPr wrap="square" lIns="0" tIns="0" rIns="0" bIns="0" rtlCol="0" anchor="ctr"/>
          <a:lstStyle/>
          <a:p>
            <a:pPr indent="0" marL="0">
              <a:buNone/>
            </a:pPr>
            <a:r>
              <a:rPr lang="en-US" sz="1300" dirty="0">
                <a:solidFill>
                  <a:schemeClr val="tx1"/>
                </a:solidFill>
              </a:rPr>
              <a:t>trust boundaries mapped: public entry, DB line, Google line, staff upload path, backup path, admin path</a:t>
            </a:r>
            <a:endParaRPr lang="en-US" sz="1300" dirty="0"/>
          </a:p>
        </p:txBody>
      </p:sp>
      <p:sp>
        <p:nvSpPr>
          <p:cNvPr id="11" name="Card"/>
          <p:cNvSpPr/>
          <p:nvPr/>
        </p:nvSpPr>
        <p:spPr>
          <a:xfrm>
            <a:off x="7772400" y="2834640"/>
            <a:ext cx="3867912" cy="1097280"/>
          </a:xfrm>
          <a:prstGeom prst="roundRect">
            <a:avLst>
              <a:gd name="adj" fmla="val 8333"/>
            </a:avLst>
          </a:prstGeom>
          <a:solidFill>
            <a:schemeClr val="bg2"/>
          </a:solidFill>
          <a:ln/>
        </p:spPr>
      </p:sp>
      <p:sp>
        <p:nvSpPr>
          <p:cNvPr id="12" name="Text 8"/>
          <p:cNvSpPr txBox="1"/>
          <p:nvPr/>
        </p:nvSpPr>
        <p:spPr>
          <a:xfrm>
            <a:off x="7955280" y="2926080"/>
            <a:ext cx="731520" cy="914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7</a:t>
            </a:r>
            <a:endParaRPr lang="en-US" sz="4000" dirty="0"/>
          </a:p>
        </p:txBody>
      </p:sp>
      <p:sp>
        <p:nvSpPr>
          <p:cNvPr id="13" name="Text 9"/>
          <p:cNvSpPr txBox="1"/>
          <p:nvPr/>
        </p:nvSpPr>
        <p:spPr>
          <a:xfrm>
            <a:off x="8686800" y="2926080"/>
            <a:ext cx="2834640" cy="914400"/>
          </a:xfrm>
          <a:prstGeom prst="rect">
            <a:avLst/>
          </a:prstGeom>
          <a:noFill/>
          <a:ln/>
        </p:spPr>
        <p:txBody>
          <a:bodyPr wrap="square" lIns="0" tIns="0" rIns="0" bIns="0" rtlCol="0" anchor="ctr"/>
          <a:lstStyle/>
          <a:p>
            <a:pPr indent="0" marL="0">
              <a:buNone/>
            </a:pPr>
            <a:r>
              <a:rPr lang="en-US" sz="1300" dirty="0">
                <a:solidFill>
                  <a:schemeClr val="tx1"/>
                </a:solidFill>
              </a:rPr>
              <a:t>account types registered; one-time bootstrap admin was closed and verified (ACC-07)</a:t>
            </a:r>
            <a:endParaRPr lang="en-US" sz="1300" dirty="0"/>
          </a:p>
        </p:txBody>
      </p:sp>
      <p:sp>
        <p:nvSpPr>
          <p:cNvPr id="14" name="Card"/>
          <p:cNvSpPr/>
          <p:nvPr/>
        </p:nvSpPr>
        <p:spPr>
          <a:xfrm>
            <a:off x="7772400" y="4069080"/>
            <a:ext cx="3867912" cy="914400"/>
          </a:xfrm>
          <a:prstGeom prst="roundRect">
            <a:avLst>
              <a:gd name="adj" fmla="val 10000"/>
            </a:avLst>
          </a:prstGeom>
          <a:solidFill>
            <a:schemeClr val="bg2"/>
          </a:solidFill>
          <a:ln/>
        </p:spPr>
      </p:sp>
      <p:sp>
        <p:nvSpPr>
          <p:cNvPr id="15" name="Text 11"/>
          <p:cNvSpPr txBox="1"/>
          <p:nvPr/>
        </p:nvSpPr>
        <p:spPr>
          <a:xfrm>
            <a:off x="7955280" y="4160520"/>
            <a:ext cx="3520440" cy="731520"/>
          </a:xfrm>
          <a:prstGeom prst="rect">
            <a:avLst/>
          </a:prstGeom>
          <a:noFill/>
          <a:ln/>
        </p:spPr>
        <p:txBody>
          <a:bodyPr wrap="square" lIns="0" tIns="0" rIns="0" bIns="0" rtlCol="0" anchor="ctr"/>
          <a:lstStyle/>
          <a:p>
            <a:pPr indent="0" marL="0">
              <a:buNone/>
            </a:pPr>
            <a:r>
              <a:rPr lang="en-US" sz="1400" dirty="0">
                <a:solidFill>
                  <a:schemeClr val="tx1"/>
                </a:solidFill>
              </a:rPr>
              <a:t>Secrets live in environment config - never in the app, never in this report</a:t>
            </a:r>
            <a:endParaRPr lang="en-US" sz="1400" dirty="0"/>
          </a:p>
        </p:txBody>
      </p:sp>
      <p:sp>
        <p:nvSpPr>
          <p:cNvPr id="16" name="Card"/>
          <p:cNvSpPr/>
          <p:nvPr/>
        </p:nvSpPr>
        <p:spPr>
          <a:xfrm>
            <a:off x="7772400" y="5120640"/>
            <a:ext cx="3867912" cy="914400"/>
          </a:xfrm>
          <a:prstGeom prst="roundRect">
            <a:avLst>
              <a:gd name="adj" fmla="val 10000"/>
            </a:avLst>
          </a:prstGeom>
          <a:solidFill>
            <a:schemeClr val="bg2"/>
          </a:solidFill>
          <a:ln/>
        </p:spPr>
      </p:sp>
      <p:sp>
        <p:nvSpPr>
          <p:cNvPr id="17" name="Text 13"/>
          <p:cNvSpPr txBox="1"/>
          <p:nvPr/>
        </p:nvSpPr>
        <p:spPr>
          <a:xfrm>
            <a:off x="7955280" y="5212080"/>
            <a:ext cx="3520440" cy="731520"/>
          </a:xfrm>
          <a:prstGeom prst="rect">
            <a:avLst/>
          </a:prstGeom>
          <a:noFill/>
          <a:ln/>
        </p:spPr>
        <p:txBody>
          <a:bodyPr wrap="square" lIns="0" tIns="0" rIns="0" bIns="0" rtlCol="0" anchor="ctr"/>
          <a:lstStyle/>
          <a:p>
            <a:pPr indent="0" marL="0">
              <a:buNone/>
            </a:pPr>
            <a:r>
              <a:rPr lang="en-US" sz="1400" dirty="0">
                <a:solidFill>
                  <a:schemeClr val="tx1"/>
                </a:solidFill>
              </a:rPr>
              <a:t>Each line names its evidence source (DEP-01..06)</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Data Moves Through the Library</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Figure 3 from the report: five flows with validation, storage, and retention rules (FLOW-01..05)</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Glenn Patrick B. Darriguez</a:t>
            </a:r>
            <a:endParaRPr lang="en-US" sz="1100" dirty="0"/>
          </a:p>
        </p:txBody>
      </p:sp>
      <p:sp>
        <p:nvSpPr>
          <p:cNvPr id="6" name="Card"/>
          <p:cNvSpPr/>
          <p:nvPr/>
        </p:nvSpPr>
        <p:spPr>
          <a:xfrm>
            <a:off x="548640" y="1600200"/>
            <a:ext cx="6309360" cy="4617720"/>
          </a:xfrm>
          <a:prstGeom prst="roundRect">
            <a:avLst>
              <a:gd name="adj" fmla="val 1980"/>
            </a:avLst>
          </a:prstGeom>
          <a:solidFill>
            <a:schemeClr val="bg1"/>
          </a:solidFill>
          <a:ln w="12700">
            <a:solidFill>
              <a:schemeClr val="bg2"/>
            </a:solidFill>
            <a:prstDash val="solid"/>
          </a:ln>
          <a:effectLst>
            <a:outerShdw sx="100000" sy="100000" kx="0" ky="0" algn="bl" rotWithShape="0" blurRad="101600" dist="25400" dir="5400000">
              <a:srgbClr val="14232E">
                <a:alpha val="12000"/>
              </a:srgbClr>
            </a:outerShdw>
          </a:effectLst>
        </p:spPr>
      </p:sp>
      <p:pic>
        <p:nvPicPr>
          <p:cNvPr id="7" name="Figure 3" descr="Figure 3: MCST LMS data flows">    </p:cNvPr>
          <p:cNvPicPr>
            <a:picLocks noChangeAspect="1"/>
          </p:cNvPicPr>
          <p:nvPr/>
        </p:nvPicPr>
        <p:blipFill>
          <a:blip r:embed="rId1"/>
          <a:stretch>
            <a:fillRect/>
          </a:stretch>
        </p:blipFill>
        <p:spPr>
          <a:xfrm>
            <a:off x="598932" y="1691640"/>
            <a:ext cx="6208776" cy="4434840"/>
          </a:xfrm>
          <a:prstGeom prst="rect">
            <a:avLst/>
          </a:prstGeom>
        </p:spPr>
      </p:pic>
      <p:sp>
        <p:nvSpPr>
          <p:cNvPr id="8" name="Card"/>
          <p:cNvSpPr/>
          <p:nvPr/>
        </p:nvSpPr>
        <p:spPr>
          <a:xfrm>
            <a:off x="7132320" y="1600200"/>
            <a:ext cx="4507992" cy="1033272"/>
          </a:xfrm>
          <a:prstGeom prst="roundRect">
            <a:avLst>
              <a:gd name="adj" fmla="val 8850"/>
            </a:avLst>
          </a:prstGeom>
          <a:solidFill>
            <a:schemeClr val="bg2"/>
          </a:solidFill>
          <a:ln/>
        </p:spPr>
      </p:sp>
      <p:sp>
        <p:nvSpPr>
          <p:cNvPr id="9" name="Text 5"/>
          <p:cNvSpPr txBox="1"/>
          <p:nvPr/>
        </p:nvSpPr>
        <p:spPr>
          <a:xfrm>
            <a:off x="7315200" y="1709928"/>
            <a:ext cx="4114800" cy="256032"/>
          </a:xfrm>
          <a:prstGeom prst="rect">
            <a:avLst/>
          </a:prstGeom>
          <a:noFill/>
          <a:ln/>
        </p:spPr>
        <p:txBody>
          <a:bodyPr wrap="square" lIns="0" tIns="0" rIns="0" bIns="0" rtlCol="0" anchor="t"/>
          <a:lstStyle/>
          <a:p>
            <a:pPr indent="0" marL="0">
              <a:buNone/>
            </a:pPr>
            <a:r>
              <a:rPr lang="en-US" sz="1200" b="1" dirty="0">
                <a:solidFill>
                  <a:schemeClr val="accent1"/>
                </a:solidFill>
              </a:rPr>
              <a:t>FLOW-01</a:t>
            </a:r>
            <a:endParaRPr lang="en-US" sz="1200" dirty="0"/>
          </a:p>
        </p:txBody>
      </p:sp>
      <p:sp>
        <p:nvSpPr>
          <p:cNvPr id="10" name="Text 6"/>
          <p:cNvSpPr txBox="1"/>
          <p:nvPr/>
        </p:nvSpPr>
        <p:spPr>
          <a:xfrm>
            <a:off x="7315200" y="1984248"/>
            <a:ext cx="4160520" cy="594360"/>
          </a:xfrm>
          <a:prstGeom prst="rect">
            <a:avLst/>
          </a:prstGeom>
          <a:noFill/>
          <a:ln/>
        </p:spPr>
        <p:txBody>
          <a:bodyPr wrap="square" lIns="0" tIns="0" rIns="0" bIns="0" rtlCol="0" anchor="t"/>
          <a:lstStyle/>
          <a:p>
            <a:pPr indent="0" marL="0">
              <a:buNone/>
            </a:pPr>
            <a:r>
              <a:rPr lang="en-US" sz="1300" dirty="0">
                <a:solidFill>
                  <a:schemeClr val="tx1"/>
                </a:solidFill>
              </a:rPr>
              <a:t>borrow/return/fine: limits (3/5), fine = rate x days late, archive-before-delete</a:t>
            </a:r>
            <a:endParaRPr lang="en-US" sz="1300" dirty="0"/>
          </a:p>
        </p:txBody>
      </p:sp>
      <p:sp>
        <p:nvSpPr>
          <p:cNvPr id="11" name="Card"/>
          <p:cNvSpPr/>
          <p:nvPr/>
        </p:nvSpPr>
        <p:spPr>
          <a:xfrm>
            <a:off x="7132320" y="2770632"/>
            <a:ext cx="4507992" cy="1033272"/>
          </a:xfrm>
          <a:prstGeom prst="roundRect">
            <a:avLst>
              <a:gd name="adj" fmla="val 8850"/>
            </a:avLst>
          </a:prstGeom>
          <a:solidFill>
            <a:schemeClr val="bg2"/>
          </a:solidFill>
          <a:ln/>
        </p:spPr>
      </p:sp>
      <p:sp>
        <p:nvSpPr>
          <p:cNvPr id="12" name="Text 8"/>
          <p:cNvSpPr txBox="1"/>
          <p:nvPr/>
        </p:nvSpPr>
        <p:spPr>
          <a:xfrm>
            <a:off x="7315200" y="2880360"/>
            <a:ext cx="4114800" cy="256032"/>
          </a:xfrm>
          <a:prstGeom prst="rect">
            <a:avLst/>
          </a:prstGeom>
          <a:noFill/>
          <a:ln/>
        </p:spPr>
        <p:txBody>
          <a:bodyPr wrap="square" lIns="0" tIns="0" rIns="0" bIns="0" rtlCol="0" anchor="t"/>
          <a:lstStyle/>
          <a:p>
            <a:pPr indent="0" marL="0">
              <a:buNone/>
            </a:pPr>
            <a:r>
              <a:rPr lang="en-US" sz="1200" b="1" dirty="0">
                <a:solidFill>
                  <a:schemeClr val="accent1"/>
                </a:solidFill>
              </a:rPr>
              <a:t>FLOW-03</a:t>
            </a:r>
            <a:endParaRPr lang="en-US" sz="1200" dirty="0"/>
          </a:p>
        </p:txBody>
      </p:sp>
      <p:sp>
        <p:nvSpPr>
          <p:cNvPr id="13" name="Text 9"/>
          <p:cNvSpPr txBox="1"/>
          <p:nvPr/>
        </p:nvSpPr>
        <p:spPr>
          <a:xfrm>
            <a:off x="7315200" y="3154680"/>
            <a:ext cx="4160520" cy="594360"/>
          </a:xfrm>
          <a:prstGeom prst="rect">
            <a:avLst/>
          </a:prstGeom>
          <a:noFill/>
          <a:ln/>
        </p:spPr>
        <p:txBody>
          <a:bodyPr wrap="square" lIns="0" tIns="0" rIns="0" bIns="0" rtlCol="0" anchor="t"/>
          <a:lstStyle/>
          <a:p>
            <a:pPr indent="0" marL="0">
              <a:buNone/>
            </a:pPr>
            <a:r>
              <a:rPr lang="en-US" sz="1300" dirty="0">
                <a:solidFill>
                  <a:schemeClr val="tx1"/>
                </a:solidFill>
              </a:rPr>
              <a:t>CSV import: header map + required fields; bad rows skipped + logged</a:t>
            </a:r>
            <a:endParaRPr lang="en-US" sz="1300" dirty="0"/>
          </a:p>
        </p:txBody>
      </p:sp>
      <p:sp>
        <p:nvSpPr>
          <p:cNvPr id="14" name="Card"/>
          <p:cNvSpPr/>
          <p:nvPr/>
        </p:nvSpPr>
        <p:spPr>
          <a:xfrm>
            <a:off x="7132320" y="3941064"/>
            <a:ext cx="4507992" cy="1033272"/>
          </a:xfrm>
          <a:prstGeom prst="roundRect">
            <a:avLst>
              <a:gd name="adj" fmla="val 8850"/>
            </a:avLst>
          </a:prstGeom>
          <a:solidFill>
            <a:schemeClr val="bg2"/>
          </a:solidFill>
          <a:ln/>
        </p:spPr>
      </p:sp>
      <p:sp>
        <p:nvSpPr>
          <p:cNvPr id="15" name="Text 11"/>
          <p:cNvSpPr txBox="1"/>
          <p:nvPr/>
        </p:nvSpPr>
        <p:spPr>
          <a:xfrm>
            <a:off x="7315200" y="4050792"/>
            <a:ext cx="4114800" cy="256032"/>
          </a:xfrm>
          <a:prstGeom prst="rect">
            <a:avLst/>
          </a:prstGeom>
          <a:noFill/>
          <a:ln/>
        </p:spPr>
        <p:txBody>
          <a:bodyPr wrap="square" lIns="0" tIns="0" rIns="0" bIns="0" rtlCol="0" anchor="t"/>
          <a:lstStyle/>
          <a:p>
            <a:pPr indent="0" marL="0">
              <a:buNone/>
            </a:pPr>
            <a:r>
              <a:rPr lang="en-US" sz="1200" b="1" dirty="0">
                <a:solidFill>
                  <a:schemeClr val="accent1"/>
                </a:solidFill>
              </a:rPr>
              <a:t>FLOW-04</a:t>
            </a:r>
            <a:endParaRPr lang="en-US" sz="1200" dirty="0"/>
          </a:p>
        </p:txBody>
      </p:sp>
      <p:sp>
        <p:nvSpPr>
          <p:cNvPr id="16" name="Text 12"/>
          <p:cNvSpPr txBox="1"/>
          <p:nvPr/>
        </p:nvSpPr>
        <p:spPr>
          <a:xfrm>
            <a:off x="7315200" y="4325112"/>
            <a:ext cx="4160520" cy="594360"/>
          </a:xfrm>
          <a:prstGeom prst="rect">
            <a:avLst/>
          </a:prstGeom>
          <a:noFill/>
          <a:ln/>
        </p:spPr>
        <p:txBody>
          <a:bodyPr wrap="square" lIns="0" tIns="0" rIns="0" bIns="0" rtlCol="0" anchor="t"/>
          <a:lstStyle/>
          <a:p>
            <a:pPr indent="0" marL="0">
              <a:buNone/>
            </a:pPr>
            <a:r>
              <a:rPr lang="en-US" sz="1300" dirty="0">
                <a:solidFill>
                  <a:schemeClr val="tx1"/>
                </a:solidFill>
              </a:rPr>
              <a:t>login: school email only; first-login admin closed after setup</a:t>
            </a:r>
            <a:endParaRPr lang="en-US" sz="1300" dirty="0"/>
          </a:p>
        </p:txBody>
      </p:sp>
      <p:sp>
        <p:nvSpPr>
          <p:cNvPr id="17" name="Card"/>
          <p:cNvSpPr/>
          <p:nvPr/>
        </p:nvSpPr>
        <p:spPr>
          <a:xfrm>
            <a:off x="7132320" y="5120640"/>
            <a:ext cx="4507992" cy="1097280"/>
          </a:xfrm>
          <a:prstGeom prst="roundRect">
            <a:avLst>
              <a:gd name="adj" fmla="val 8333"/>
            </a:avLst>
          </a:prstGeom>
          <a:solidFill>
            <a:schemeClr val="tx2"/>
          </a:solidFill>
          <a:ln/>
        </p:spPr>
      </p:sp>
      <p:sp>
        <p:nvSpPr>
          <p:cNvPr id="18" name="Text 14"/>
          <p:cNvSpPr txBox="1"/>
          <p:nvPr/>
        </p:nvSpPr>
        <p:spPr>
          <a:xfrm>
            <a:off x="7315200" y="5212080"/>
            <a:ext cx="4160520" cy="914400"/>
          </a:xfrm>
          <a:prstGeom prst="rect">
            <a:avLst/>
          </a:prstGeom>
          <a:noFill/>
          <a:ln/>
        </p:spPr>
        <p:txBody>
          <a:bodyPr wrap="square" lIns="0" tIns="0" rIns="0" bIns="0" rtlCol="0" anchor="ctr"/>
          <a:lstStyle/>
          <a:p>
            <a:pPr indent="0" marL="0">
              <a:buNone/>
            </a:pPr>
            <a:r>
              <a:rPr lang="en-US" sz="1500" b="1" dirty="0">
                <a:solidFill>
                  <a:schemeClr val="bg1"/>
                </a:solidFill>
              </a:rPr>
              <a:t>Every flow has validation, store, channel, and a written retention rule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Could Go Wrong - Risk Profile (Lab 9)</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8 risks scored Likelihood x Impact; 3 High priorities drive our findings</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Text 3"/>
          <p:cNvSpPr txBox="1"/>
          <p:nvPr/>
        </p:nvSpPr>
        <p:spPr>
          <a:xfrm>
            <a:off x="548640" y="1554480"/>
            <a:ext cx="7680960" cy="274320"/>
          </a:xfrm>
          <a:prstGeom prst="rect">
            <a:avLst/>
          </a:prstGeom>
          <a:noFill/>
          <a:ln/>
        </p:spPr>
        <p:txBody>
          <a:bodyPr wrap="square" lIns="0" tIns="0" rIns="0" bIns="0" rtlCol="0" anchor="t"/>
          <a:lstStyle/>
          <a:p>
            <a:pPr indent="0" marL="0">
              <a:buNone/>
            </a:pPr>
            <a:r>
              <a:rPr lang="en-US" sz="1300" b="1" dirty="0">
                <a:solidFill>
                  <a:schemeClr val="tx2"/>
                </a:solidFill>
              </a:rPr>
              <a:t>Residual score (Inherent x Impact, after safeguards)</a:t>
            </a:r>
            <a:endParaRPr lang="en-US" sz="1300" dirty="0"/>
          </a:p>
        </p:txBody>
      </p:sp>
      <p:graphicFrame>
        <p:nvGraphicFramePr>
          <p:cNvPr id="7" name="Chart 0" descr=""/>
          <p:cNvGraphicFramePr/>
          <p:nvPr/>
        </p:nvGraphicFramePr>
        <p:xfrm>
          <a:off x="548640" y="1828800"/>
          <a:ext cx="7680960" cy="4389120"/>
        </p:xfrm>
        <a:graphic xmlns:a="http://schemas.openxmlformats.org/drawingml/2006/main">
          <a:graphicData uri="http://schemas.openxmlformats.org/drawingml/2006/chart">
            <c:chart xmlns:c="http://schemas.openxmlformats.org/drawingml/2006/chart" r:id="rId1"/>
          </a:graphicData>
        </a:graphic>
      </p:graphicFrame>
      <p:sp>
        <p:nvSpPr>
          <p:cNvPr id="8" name="Card"/>
          <p:cNvSpPr/>
          <p:nvPr/>
        </p:nvSpPr>
        <p:spPr>
          <a:xfrm>
            <a:off x="8595360" y="1600200"/>
            <a:ext cx="3044952" cy="1828800"/>
          </a:xfrm>
          <a:prstGeom prst="roundRect">
            <a:avLst>
              <a:gd name="adj" fmla="val 5000"/>
            </a:avLst>
          </a:prstGeom>
          <a:solidFill>
            <a:schemeClr val="accent3">
              <a:alpha val="10000"/>
            </a:schemeClr>
          </a:solidFill>
          <a:ln/>
        </p:spPr>
      </p:sp>
      <p:sp>
        <p:nvSpPr>
          <p:cNvPr id="9" name="Text 5"/>
          <p:cNvSpPr txBox="1"/>
          <p:nvPr/>
        </p:nvSpPr>
        <p:spPr>
          <a:xfrm>
            <a:off x="8778240" y="1691640"/>
            <a:ext cx="914400" cy="914400"/>
          </a:xfrm>
          <a:prstGeom prst="rect">
            <a:avLst/>
          </a:prstGeom>
          <a:noFill/>
          <a:ln/>
        </p:spPr>
        <p:txBody>
          <a:bodyPr wrap="square" lIns="0" tIns="0" rIns="0" bIns="0" rtlCol="0" anchor="ctr"/>
          <a:lstStyle/>
          <a:p>
            <a:pPr indent="0" marL="0">
              <a:buNone/>
            </a:pPr>
            <a:r>
              <a:rPr lang="en-US" sz="6000" b="1" dirty="0">
                <a:solidFill>
                  <a:schemeClr val="accent3"/>
                </a:solidFill>
                <a:latin typeface="Cambria" pitchFamily="34" charset="0"/>
                <a:ea typeface="Cambria" pitchFamily="34" charset="-122"/>
                <a:cs typeface="Cambria" pitchFamily="34" charset="-120"/>
              </a:rPr>
              <a:t>3</a:t>
            </a:r>
            <a:endParaRPr lang="en-US" sz="6000" dirty="0"/>
          </a:p>
        </p:txBody>
      </p:sp>
      <p:sp>
        <p:nvSpPr>
          <p:cNvPr id="10" name="Text 6"/>
          <p:cNvSpPr txBox="1"/>
          <p:nvPr/>
        </p:nvSpPr>
        <p:spPr>
          <a:xfrm>
            <a:off x="8778240" y="2606040"/>
            <a:ext cx="2697480" cy="777240"/>
          </a:xfrm>
          <a:prstGeom prst="rect">
            <a:avLst/>
          </a:prstGeom>
          <a:noFill/>
          <a:ln/>
        </p:spPr>
        <p:txBody>
          <a:bodyPr wrap="square" lIns="0" tIns="0" rIns="0" bIns="0" rtlCol="0" anchor="t"/>
          <a:lstStyle/>
          <a:p>
            <a:pPr indent="0" marL="0">
              <a:buNone/>
            </a:pPr>
            <a:r>
              <a:rPr lang="en-US" sz="1300" dirty="0">
                <a:solidFill>
                  <a:schemeClr val="tx1"/>
                </a:solidFill>
              </a:rPr>
              <a:t>High priorities: RSK-01, RSK-04, RSK-07 - they become our three findings</a:t>
            </a:r>
            <a:endParaRPr lang="en-US" sz="1300" dirty="0"/>
          </a:p>
        </p:txBody>
      </p:sp>
      <p:sp>
        <p:nvSpPr>
          <p:cNvPr id="11" name="Card"/>
          <p:cNvSpPr/>
          <p:nvPr/>
        </p:nvSpPr>
        <p:spPr>
          <a:xfrm>
            <a:off x="8595360" y="3611880"/>
            <a:ext cx="3044952" cy="2606040"/>
          </a:xfrm>
          <a:prstGeom prst="roundRect">
            <a:avLst>
              <a:gd name="adj" fmla="val 3509"/>
            </a:avLst>
          </a:prstGeom>
          <a:solidFill>
            <a:schemeClr val="bg2"/>
          </a:solidFill>
          <a:ln/>
        </p:spPr>
      </p:sp>
      <p:sp>
        <p:nvSpPr>
          <p:cNvPr id="12" name="Text 8"/>
          <p:cNvSpPr txBox="1"/>
          <p:nvPr/>
        </p:nvSpPr>
        <p:spPr>
          <a:xfrm>
            <a:off x="8778240" y="3749040"/>
            <a:ext cx="2697480" cy="2331720"/>
          </a:xfrm>
          <a:prstGeom prst="rect">
            <a:avLst/>
          </a:prstGeom>
          <a:noFill/>
          <a:ln/>
        </p:spPr>
        <p:txBody>
          <a:bodyPr wrap="square" lIns="0" tIns="0" rIns="0" bIns="0" rtlCol="0" anchor="t"/>
          <a:lstStyle/>
          <a:p>
            <a:pPr indent="0" marL="0">
              <a:buNone/>
            </a:pPr>
            <a:r>
              <a:rPr lang="en-US" sz="1300" dirty="0">
                <a:solidFill>
                  <a:schemeClr val="tx1"/>
                </a:solidFill>
              </a:rPr>
              <a:t>Residuals only drop for safeguards proven in the build (e.g., backup log proves RSK-04 impact drops 5 -&gt; 4); unmatched safeguards change nothing. Compliance base: Data Privacy Act + school access rules (CMP-01..07).</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Controls We Evaluated and What the Tests Showed (Lab 10)</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8 controls CTL-01..08; 6 tests TEST-01..06 on build BLD-04 (Oct 3) - 4 Effective, 2 Partially Effective</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Glenn Patrick B. Darriguez</a:t>
            </a:r>
            <a:endParaRPr lang="en-US" sz="1100" dirty="0"/>
          </a:p>
        </p:txBody>
      </p:sp>
      <p:sp>
        <p:nvSpPr>
          <p:cNvPr id="6" name="Card"/>
          <p:cNvSpPr/>
          <p:nvPr/>
        </p:nvSpPr>
        <p:spPr>
          <a:xfrm>
            <a:off x="548640" y="1600200"/>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7" name="Text 4"/>
          <p:cNvSpPr txBox="1"/>
          <p:nvPr/>
        </p:nvSpPr>
        <p:spPr>
          <a:xfrm>
            <a:off x="777240" y="1737360"/>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TEST-01</a:t>
            </a:r>
            <a:endParaRPr lang="en-US" sz="1300" dirty="0"/>
          </a:p>
        </p:txBody>
      </p:sp>
      <p:sp>
        <p:nvSpPr>
          <p:cNvPr id="8" name="Pill Effective"/>
          <p:cNvSpPr/>
          <p:nvPr/>
        </p:nvSpPr>
        <p:spPr>
          <a:xfrm>
            <a:off x="4160520" y="1719072"/>
            <a:ext cx="155448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Effective</a:t>
            </a:r>
            <a:endParaRPr lang="en-US" sz="1100" dirty="0"/>
          </a:p>
        </p:txBody>
      </p:sp>
      <p:sp>
        <p:nvSpPr>
          <p:cNvPr id="9" name="Text 6"/>
          <p:cNvSpPr txBox="1"/>
          <p:nvPr/>
        </p:nvSpPr>
        <p:spPr>
          <a:xfrm>
            <a:off x="777240" y="2075688"/>
            <a:ext cx="4937760" cy="274320"/>
          </a:xfrm>
          <a:prstGeom prst="rect">
            <a:avLst/>
          </a:prstGeom>
          <a:noFill/>
          <a:ln/>
        </p:spPr>
        <p:txBody>
          <a:bodyPr wrap="square" lIns="0" tIns="0" rIns="0" bIns="0" rtlCol="0" anchor="t"/>
          <a:lstStyle/>
          <a:p>
            <a:pPr indent="0" marL="0">
              <a:buNone/>
            </a:pPr>
            <a:r>
              <a:rPr lang="en-US" sz="1400" dirty="0">
                <a:solidFill>
                  <a:schemeClr val="tx1"/>
                </a:solidFill>
              </a:rPr>
              <a:t>Wrong-role entry on 10 pages</a:t>
            </a:r>
            <a:endParaRPr lang="en-US" sz="1400" dirty="0"/>
          </a:p>
        </p:txBody>
      </p:sp>
      <p:sp>
        <p:nvSpPr>
          <p:cNvPr id="10" name="Text 7"/>
          <p:cNvSpPr txBox="1"/>
          <p:nvPr/>
        </p:nvSpPr>
        <p:spPr>
          <a:xfrm>
            <a:off x="777240" y="2377440"/>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10 / 10 blocked - 0 exceptions</a:t>
            </a:r>
            <a:endParaRPr lang="en-US" sz="1500" dirty="0"/>
          </a:p>
        </p:txBody>
      </p:sp>
      <p:sp>
        <p:nvSpPr>
          <p:cNvPr id="11" name="Card"/>
          <p:cNvSpPr/>
          <p:nvPr/>
        </p:nvSpPr>
        <p:spPr>
          <a:xfrm>
            <a:off x="6217920" y="1600200"/>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12" name="Text 9"/>
          <p:cNvSpPr txBox="1"/>
          <p:nvPr/>
        </p:nvSpPr>
        <p:spPr>
          <a:xfrm>
            <a:off x="6446520" y="1737360"/>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TEST-02</a:t>
            </a:r>
            <a:endParaRPr lang="en-US" sz="1300" dirty="0"/>
          </a:p>
        </p:txBody>
      </p:sp>
      <p:sp>
        <p:nvSpPr>
          <p:cNvPr id="13" name="Pill Effective"/>
          <p:cNvSpPr/>
          <p:nvPr/>
        </p:nvSpPr>
        <p:spPr>
          <a:xfrm>
            <a:off x="9829800" y="1719072"/>
            <a:ext cx="155448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Effective</a:t>
            </a:r>
            <a:endParaRPr lang="en-US" sz="1100" dirty="0"/>
          </a:p>
        </p:txBody>
      </p:sp>
      <p:sp>
        <p:nvSpPr>
          <p:cNvPr id="14" name="Text 11"/>
          <p:cNvSpPr txBox="1"/>
          <p:nvPr/>
        </p:nvSpPr>
        <p:spPr>
          <a:xfrm>
            <a:off x="6446520" y="2075688"/>
            <a:ext cx="4937760" cy="274320"/>
          </a:xfrm>
          <a:prstGeom prst="rect">
            <a:avLst/>
          </a:prstGeom>
          <a:noFill/>
          <a:ln/>
        </p:spPr>
        <p:txBody>
          <a:bodyPr wrap="square" lIns="0" tIns="0" rIns="0" bIns="0" rtlCol="0" anchor="t"/>
          <a:lstStyle/>
          <a:p>
            <a:pPr indent="0" marL="0">
              <a:buNone/>
            </a:pPr>
            <a:r>
              <a:rPr lang="en-US" sz="1400" dirty="0">
                <a:solidFill>
                  <a:schemeClr val="tx1"/>
                </a:solidFill>
              </a:rPr>
              <a:t>CSV upload with 2 bad rows</a:t>
            </a:r>
            <a:endParaRPr lang="en-US" sz="1400" dirty="0"/>
          </a:p>
        </p:txBody>
      </p:sp>
      <p:sp>
        <p:nvSpPr>
          <p:cNvPr id="15" name="Text 12"/>
          <p:cNvSpPr txBox="1"/>
          <p:nvPr/>
        </p:nvSpPr>
        <p:spPr>
          <a:xfrm>
            <a:off x="6446520" y="2377440"/>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6 added, 2 skipped + logged</a:t>
            </a:r>
            <a:endParaRPr lang="en-US" sz="1500" dirty="0"/>
          </a:p>
        </p:txBody>
      </p:sp>
      <p:sp>
        <p:nvSpPr>
          <p:cNvPr id="16" name="Card"/>
          <p:cNvSpPr/>
          <p:nvPr/>
        </p:nvSpPr>
        <p:spPr>
          <a:xfrm>
            <a:off x="548640" y="2898648"/>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17" name="Text 14"/>
          <p:cNvSpPr txBox="1"/>
          <p:nvPr/>
        </p:nvSpPr>
        <p:spPr>
          <a:xfrm>
            <a:off x="777240" y="3035808"/>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TEST-03</a:t>
            </a:r>
            <a:endParaRPr lang="en-US" sz="1300" dirty="0"/>
          </a:p>
        </p:txBody>
      </p:sp>
      <p:sp>
        <p:nvSpPr>
          <p:cNvPr id="18" name="Pill Effective"/>
          <p:cNvSpPr/>
          <p:nvPr/>
        </p:nvSpPr>
        <p:spPr>
          <a:xfrm>
            <a:off x="4160520" y="3017520"/>
            <a:ext cx="155448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Effective</a:t>
            </a:r>
            <a:endParaRPr lang="en-US" sz="1100" dirty="0"/>
          </a:p>
        </p:txBody>
      </p:sp>
      <p:sp>
        <p:nvSpPr>
          <p:cNvPr id="19" name="Text 16"/>
          <p:cNvSpPr txBox="1"/>
          <p:nvPr/>
        </p:nvSpPr>
        <p:spPr>
          <a:xfrm>
            <a:off x="777240" y="3374136"/>
            <a:ext cx="4937760" cy="274320"/>
          </a:xfrm>
          <a:prstGeom prst="rect">
            <a:avLst/>
          </a:prstGeom>
          <a:noFill/>
          <a:ln/>
        </p:spPr>
        <p:txBody>
          <a:bodyPr wrap="square" lIns="0" tIns="0" rIns="0" bIns="0" rtlCol="0" anchor="t"/>
          <a:lstStyle/>
          <a:p>
            <a:pPr indent="0" marL="0">
              <a:buNone/>
            </a:pPr>
            <a:r>
              <a:rPr lang="en-US" sz="1400" dirty="0">
                <a:solidFill>
                  <a:schemeClr val="tx1"/>
                </a:solidFill>
              </a:rPr>
              <a:t>Borrow -&gt; return -&gt; fine cycle</a:t>
            </a:r>
            <a:endParaRPr lang="en-US" sz="1400" dirty="0"/>
          </a:p>
        </p:txBody>
      </p:sp>
      <p:sp>
        <p:nvSpPr>
          <p:cNvPr id="20" name="Text 17"/>
          <p:cNvSpPr txBox="1"/>
          <p:nvPr/>
        </p:nvSpPr>
        <p:spPr>
          <a:xfrm>
            <a:off x="777240" y="3675888"/>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Fine matched + 3 log rows</a:t>
            </a:r>
            <a:endParaRPr lang="en-US" sz="1500" dirty="0"/>
          </a:p>
        </p:txBody>
      </p:sp>
      <p:sp>
        <p:nvSpPr>
          <p:cNvPr id="21" name="Card"/>
          <p:cNvSpPr/>
          <p:nvPr/>
        </p:nvSpPr>
        <p:spPr>
          <a:xfrm>
            <a:off x="6217920" y="2898648"/>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22" name="Text 19"/>
          <p:cNvSpPr txBox="1"/>
          <p:nvPr/>
        </p:nvSpPr>
        <p:spPr>
          <a:xfrm>
            <a:off x="6446520" y="3035808"/>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TEST-04</a:t>
            </a:r>
            <a:endParaRPr lang="en-US" sz="1300" dirty="0"/>
          </a:p>
        </p:txBody>
      </p:sp>
      <p:sp>
        <p:nvSpPr>
          <p:cNvPr id="23" name="Pill Effective"/>
          <p:cNvSpPr/>
          <p:nvPr/>
        </p:nvSpPr>
        <p:spPr>
          <a:xfrm>
            <a:off x="9829800" y="3017520"/>
            <a:ext cx="155448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Effective</a:t>
            </a:r>
            <a:endParaRPr lang="en-US" sz="1100" dirty="0"/>
          </a:p>
        </p:txBody>
      </p:sp>
      <p:sp>
        <p:nvSpPr>
          <p:cNvPr id="24" name="Text 21"/>
          <p:cNvSpPr txBox="1"/>
          <p:nvPr/>
        </p:nvSpPr>
        <p:spPr>
          <a:xfrm>
            <a:off x="6446520" y="3374136"/>
            <a:ext cx="4937760" cy="274320"/>
          </a:xfrm>
          <a:prstGeom prst="rect">
            <a:avLst/>
          </a:prstGeom>
          <a:noFill/>
          <a:ln/>
        </p:spPr>
        <p:txBody>
          <a:bodyPr wrap="square" lIns="0" tIns="0" rIns="0" bIns="0" rtlCol="0" anchor="t"/>
          <a:lstStyle/>
          <a:p>
            <a:pPr indent="0" marL="0">
              <a:buNone/>
            </a:pPr>
            <a:r>
              <a:rPr lang="en-US" sz="1400" dirty="0">
                <a:solidFill>
                  <a:schemeClr val="tx1"/>
                </a:solidFill>
              </a:rPr>
              <a:t>Delete active vs archived book</a:t>
            </a:r>
            <a:endParaRPr lang="en-US" sz="1400" dirty="0"/>
          </a:p>
        </p:txBody>
      </p:sp>
      <p:sp>
        <p:nvSpPr>
          <p:cNvPr id="25" name="Text 22"/>
          <p:cNvSpPr txBox="1"/>
          <p:nvPr/>
        </p:nvSpPr>
        <p:spPr>
          <a:xfrm>
            <a:off x="6446520" y="3675888"/>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Active refused; archived allowed</a:t>
            </a:r>
            <a:endParaRPr lang="en-US" sz="1500" dirty="0"/>
          </a:p>
        </p:txBody>
      </p:sp>
      <p:sp>
        <p:nvSpPr>
          <p:cNvPr id="26" name="Card"/>
          <p:cNvSpPr/>
          <p:nvPr/>
        </p:nvSpPr>
        <p:spPr>
          <a:xfrm>
            <a:off x="548640" y="4197096"/>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27" name="Text 24"/>
          <p:cNvSpPr txBox="1"/>
          <p:nvPr/>
        </p:nvSpPr>
        <p:spPr>
          <a:xfrm>
            <a:off x="777240" y="4334256"/>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TEST-05</a:t>
            </a:r>
            <a:endParaRPr lang="en-US" sz="1300" dirty="0"/>
          </a:p>
        </p:txBody>
      </p:sp>
      <p:sp>
        <p:nvSpPr>
          <p:cNvPr id="28" name="Pill Partially Effective"/>
          <p:cNvSpPr/>
          <p:nvPr/>
        </p:nvSpPr>
        <p:spPr>
          <a:xfrm>
            <a:off x="4160520" y="4315968"/>
            <a:ext cx="155448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dirty="0">
                <a:solidFill>
                  <a:schemeClr val="bg1"/>
                </a:solidFill>
              </a:rPr>
              <a:t>Partially Effective</a:t>
            </a:r>
            <a:endParaRPr lang="en-US" sz="1100" dirty="0"/>
          </a:p>
        </p:txBody>
      </p:sp>
      <p:sp>
        <p:nvSpPr>
          <p:cNvPr id="29" name="Text 26"/>
          <p:cNvSpPr txBox="1"/>
          <p:nvPr/>
        </p:nvSpPr>
        <p:spPr>
          <a:xfrm>
            <a:off x="777240" y="4672584"/>
            <a:ext cx="4937760" cy="274320"/>
          </a:xfrm>
          <a:prstGeom prst="rect">
            <a:avLst/>
          </a:prstGeom>
          <a:noFill/>
          <a:ln/>
        </p:spPr>
        <p:txBody>
          <a:bodyPr wrap="square" lIns="0" tIns="0" rIns="0" bIns="0" rtlCol="0" anchor="t"/>
          <a:lstStyle/>
          <a:p>
            <a:pPr indent="0" marL="0">
              <a:buNone/>
            </a:pPr>
            <a:r>
              <a:rPr lang="en-US" sz="1400" dirty="0">
                <a:solidFill>
                  <a:schemeClr val="tx1"/>
                </a:solidFill>
              </a:rPr>
              <a:t>Backup log Sep-Oct (14 runs)</a:t>
            </a:r>
            <a:endParaRPr lang="en-US" sz="1400" dirty="0"/>
          </a:p>
        </p:txBody>
      </p:sp>
      <p:sp>
        <p:nvSpPr>
          <p:cNvPr id="30" name="Text 27"/>
          <p:cNvSpPr txBox="1"/>
          <p:nvPr/>
        </p:nvSpPr>
        <p:spPr>
          <a:xfrm>
            <a:off x="777240" y="4974336"/>
            <a:ext cx="4937760" cy="274320"/>
          </a:xfrm>
          <a:prstGeom prst="rect">
            <a:avLst/>
          </a:prstGeom>
          <a:noFill/>
          <a:ln/>
        </p:spPr>
        <p:txBody>
          <a:bodyPr wrap="square" lIns="0" tIns="0" rIns="0" bIns="0" rtlCol="0" anchor="t"/>
          <a:lstStyle/>
          <a:p>
            <a:pPr indent="0" marL="0">
              <a:buNone/>
            </a:pPr>
            <a:r>
              <a:rPr lang="en-US" sz="1500" b="1" dirty="0">
                <a:solidFill>
                  <a:schemeClr val="accent5"/>
                </a:solidFill>
              </a:rPr>
              <a:t>14/14 logged - NO restore proof</a:t>
            </a:r>
            <a:endParaRPr lang="en-US" sz="1500" dirty="0"/>
          </a:p>
        </p:txBody>
      </p:sp>
      <p:sp>
        <p:nvSpPr>
          <p:cNvPr id="31" name="Card"/>
          <p:cNvSpPr/>
          <p:nvPr/>
        </p:nvSpPr>
        <p:spPr>
          <a:xfrm>
            <a:off x="6217920" y="4197096"/>
            <a:ext cx="5394960" cy="1161288"/>
          </a:xfrm>
          <a:prstGeom prst="roundRect">
            <a:avLst>
              <a:gd name="adj" fmla="val 7874"/>
            </a:avLst>
          </a:prstGeom>
          <a:solidFill>
            <a:schemeClr val="bg2"/>
          </a:solidFill>
          <a:ln/>
          <a:effectLst>
            <a:outerShdw sx="100000" sy="100000" kx="0" ky="0" algn="bl" rotWithShape="0" blurRad="101600" dist="25400" dir="5400000">
              <a:srgbClr val="14232E">
                <a:alpha val="12000"/>
              </a:srgbClr>
            </a:outerShdw>
          </a:effectLst>
        </p:spPr>
      </p:sp>
      <p:sp>
        <p:nvSpPr>
          <p:cNvPr id="32" name="Text 29"/>
          <p:cNvSpPr txBox="1"/>
          <p:nvPr/>
        </p:nvSpPr>
        <p:spPr>
          <a:xfrm>
            <a:off x="6446520" y="4334256"/>
            <a:ext cx="1371600" cy="274320"/>
          </a:xfrm>
          <a:prstGeom prst="rect">
            <a:avLst/>
          </a:prstGeom>
          <a:noFill/>
          <a:ln/>
        </p:spPr>
        <p:txBody>
          <a:bodyPr wrap="square" lIns="0" tIns="0" rIns="0" bIns="0" rtlCol="0" anchor="t"/>
          <a:lstStyle/>
          <a:p>
            <a:pPr indent="0" marL="0">
              <a:buNone/>
            </a:pPr>
            <a:r>
              <a:rPr lang="en-US" sz="1300" b="1" dirty="0">
                <a:solidFill>
                  <a:schemeClr val="tx2"/>
                </a:solidFill>
              </a:rPr>
              <a:t>TEST-06</a:t>
            </a:r>
            <a:endParaRPr lang="en-US" sz="1300" dirty="0"/>
          </a:p>
        </p:txBody>
      </p:sp>
      <p:sp>
        <p:nvSpPr>
          <p:cNvPr id="33" name="Pill Partially Effective"/>
          <p:cNvSpPr/>
          <p:nvPr/>
        </p:nvSpPr>
        <p:spPr>
          <a:xfrm>
            <a:off x="9829800" y="4315968"/>
            <a:ext cx="155448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dirty="0">
                <a:solidFill>
                  <a:schemeClr val="bg1"/>
                </a:solidFill>
              </a:rPr>
              <a:t>Partially Effective</a:t>
            </a:r>
            <a:endParaRPr lang="en-US" sz="1100" dirty="0"/>
          </a:p>
        </p:txBody>
      </p:sp>
      <p:sp>
        <p:nvSpPr>
          <p:cNvPr id="34" name="Text 31"/>
          <p:cNvSpPr txBox="1"/>
          <p:nvPr/>
        </p:nvSpPr>
        <p:spPr>
          <a:xfrm>
            <a:off x="6446520" y="4672584"/>
            <a:ext cx="4937760" cy="274320"/>
          </a:xfrm>
          <a:prstGeom prst="rect">
            <a:avLst/>
          </a:prstGeom>
          <a:noFill/>
          <a:ln/>
        </p:spPr>
        <p:txBody>
          <a:bodyPr wrap="square" lIns="0" tIns="0" rIns="0" bIns="0" rtlCol="0" anchor="t"/>
          <a:lstStyle/>
          <a:p>
            <a:pPr indent="0" marL="0">
              <a:buNone/>
            </a:pPr>
            <a:r>
              <a:rPr lang="en-US" sz="1400" dirty="0">
                <a:solidFill>
                  <a:schemeClr val="tx1"/>
                </a:solidFill>
              </a:rPr>
              <a:t>Settings change + log</a:t>
            </a:r>
            <a:endParaRPr lang="en-US" sz="1400" dirty="0"/>
          </a:p>
        </p:txBody>
      </p:sp>
      <p:sp>
        <p:nvSpPr>
          <p:cNvPr id="35" name="Text 32"/>
          <p:cNvSpPr txBox="1"/>
          <p:nvPr/>
        </p:nvSpPr>
        <p:spPr>
          <a:xfrm>
            <a:off x="6446520" y="4974336"/>
            <a:ext cx="4937760" cy="274320"/>
          </a:xfrm>
          <a:prstGeom prst="rect">
            <a:avLst/>
          </a:prstGeom>
          <a:noFill/>
          <a:ln/>
        </p:spPr>
        <p:txBody>
          <a:bodyPr wrap="square" lIns="0" tIns="0" rIns="0" bIns="0" rtlCol="0" anchor="t"/>
          <a:lstStyle/>
          <a:p>
            <a:pPr indent="0" marL="0">
              <a:buNone/>
            </a:pPr>
            <a:r>
              <a:rPr lang="en-US" sz="1500" b="1" dirty="0">
                <a:solidFill>
                  <a:schemeClr val="accent5"/>
                </a:solidFill>
              </a:rPr>
              <a:t>Logged with name - no approval step</a:t>
            </a:r>
            <a:endParaRPr lang="en-US" sz="1500" dirty="0"/>
          </a:p>
        </p:txBody>
      </p:sp>
      <p:sp>
        <p:nvSpPr>
          <p:cNvPr id="36" name="Card"/>
          <p:cNvSpPr/>
          <p:nvPr/>
        </p:nvSpPr>
        <p:spPr>
          <a:xfrm>
            <a:off x="548640" y="5532120"/>
            <a:ext cx="11094415" cy="731520"/>
          </a:xfrm>
          <a:prstGeom prst="roundRect">
            <a:avLst>
              <a:gd name="adj" fmla="val 12500"/>
            </a:avLst>
          </a:prstGeom>
          <a:solidFill>
            <a:schemeClr val="tx2"/>
          </a:solidFill>
          <a:ln/>
        </p:spPr>
      </p:sp>
      <p:sp>
        <p:nvSpPr>
          <p:cNvPr id="37" name="Text 34"/>
          <p:cNvSpPr txBox="1"/>
          <p:nvPr/>
        </p:nvSpPr>
        <p:spPr>
          <a:xfrm>
            <a:off x="822960" y="5577840"/>
            <a:ext cx="10545775" cy="640080"/>
          </a:xfrm>
          <a:prstGeom prst="rect">
            <a:avLst/>
          </a:prstGeom>
          <a:noFill/>
          <a:ln/>
        </p:spPr>
        <p:txBody>
          <a:bodyPr wrap="square" lIns="0" tIns="0" rIns="0" bIns="0" rtlCol="0" anchor="ctr"/>
          <a:lstStyle/>
          <a:p>
            <a:pPr indent="0" marL="0">
              <a:buNone/>
            </a:pPr>
            <a:r>
              <a:rPr lang="en-US" sz="1300" dirty="0">
                <a:solidFill>
                  <a:schemeClr val="bg1"/>
                </a:solidFill>
              </a:rPr>
              <a:t>All 6 tests: real procedures on the demo build, full populations where small (10 pages, 14 log rows, whole files); evidence EVD-12-01..05 saved clean.</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Key Findings - Three High Items</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From Lab 11 screening: 5 candidates -&gt; 3 formal findings + 1 observation + 1 close (evidence-checked)</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Candidate FC-01"/>
          <p:cNvSpPr/>
          <p:nvPr/>
        </p:nvSpPr>
        <p:spPr>
          <a:xfrm>
            <a:off x="548640" y="1645920"/>
            <a:ext cx="2103120" cy="731520"/>
          </a:xfrm>
          <a:prstGeom prst="roundRect">
            <a:avLst>
              <a:gd name="adj" fmla="val 12500"/>
            </a:avLst>
          </a:prstGeom>
          <a:solidFill>
            <a:schemeClr val="accent3">
              <a:alpha val="12000"/>
            </a:schemeClr>
          </a:solidFill>
          <a:ln w="12700">
            <a:solidFill>
              <a:schemeClr val="accent3"/>
            </a:solidFill>
            <a:prstDash val="solid"/>
          </a:ln>
        </p:spPr>
      </p:sp>
      <p:sp>
        <p:nvSpPr>
          <p:cNvPr id="7" name="Text 4"/>
          <p:cNvSpPr txBox="1"/>
          <p:nvPr/>
        </p:nvSpPr>
        <p:spPr>
          <a:xfrm>
            <a:off x="685800" y="1719072"/>
            <a:ext cx="1828800" cy="274320"/>
          </a:xfrm>
          <a:prstGeom prst="rect">
            <a:avLst/>
          </a:prstGeom>
          <a:noFill/>
          <a:ln/>
        </p:spPr>
        <p:txBody>
          <a:bodyPr wrap="square" lIns="0" tIns="0" rIns="0" bIns="0" rtlCol="0" anchor="t"/>
          <a:lstStyle/>
          <a:p>
            <a:pPr indent="0" marL="0">
              <a:buNone/>
            </a:pPr>
            <a:r>
              <a:rPr lang="en-US" sz="1300" b="1" dirty="0">
                <a:solidFill>
                  <a:schemeClr val="accent3"/>
                </a:solidFill>
              </a:rPr>
              <a:t>FC-01</a:t>
            </a:r>
            <a:endParaRPr lang="en-US" sz="1300" dirty="0"/>
          </a:p>
        </p:txBody>
      </p:sp>
      <p:sp>
        <p:nvSpPr>
          <p:cNvPr id="8" name="Text 5"/>
          <p:cNvSpPr txBox="1"/>
          <p:nvPr/>
        </p:nvSpPr>
        <p:spPr>
          <a:xfrm>
            <a:off x="685800"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Finding -&gt; FND-01</a:t>
            </a:r>
            <a:endParaRPr lang="en-US" sz="1200" dirty="0"/>
          </a:p>
        </p:txBody>
      </p:sp>
      <p:sp>
        <p:nvSpPr>
          <p:cNvPr id="9" name="Candidate FC-02"/>
          <p:cNvSpPr/>
          <p:nvPr/>
        </p:nvSpPr>
        <p:spPr>
          <a:xfrm>
            <a:off x="2795778" y="1645920"/>
            <a:ext cx="2103120" cy="731520"/>
          </a:xfrm>
          <a:prstGeom prst="roundRect">
            <a:avLst>
              <a:gd name="adj" fmla="val 12500"/>
            </a:avLst>
          </a:prstGeom>
          <a:solidFill>
            <a:schemeClr val="accent3">
              <a:alpha val="12000"/>
            </a:schemeClr>
          </a:solidFill>
          <a:ln w="12700">
            <a:solidFill>
              <a:schemeClr val="accent3"/>
            </a:solidFill>
            <a:prstDash val="solid"/>
          </a:ln>
        </p:spPr>
      </p:sp>
      <p:sp>
        <p:nvSpPr>
          <p:cNvPr id="10" name="Text 7"/>
          <p:cNvSpPr txBox="1"/>
          <p:nvPr/>
        </p:nvSpPr>
        <p:spPr>
          <a:xfrm>
            <a:off x="2932938" y="1719072"/>
            <a:ext cx="1828800" cy="274320"/>
          </a:xfrm>
          <a:prstGeom prst="rect">
            <a:avLst/>
          </a:prstGeom>
          <a:noFill/>
          <a:ln/>
        </p:spPr>
        <p:txBody>
          <a:bodyPr wrap="square" lIns="0" tIns="0" rIns="0" bIns="0" rtlCol="0" anchor="t"/>
          <a:lstStyle/>
          <a:p>
            <a:pPr indent="0" marL="0">
              <a:buNone/>
            </a:pPr>
            <a:r>
              <a:rPr lang="en-US" sz="1300" b="1" dirty="0">
                <a:solidFill>
                  <a:schemeClr val="accent3"/>
                </a:solidFill>
              </a:rPr>
              <a:t>FC-02</a:t>
            </a:r>
            <a:endParaRPr lang="en-US" sz="1300" dirty="0"/>
          </a:p>
        </p:txBody>
      </p:sp>
      <p:sp>
        <p:nvSpPr>
          <p:cNvPr id="11" name="Text 8"/>
          <p:cNvSpPr txBox="1"/>
          <p:nvPr/>
        </p:nvSpPr>
        <p:spPr>
          <a:xfrm>
            <a:off x="2932938"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Finding -&gt; FND-02</a:t>
            </a:r>
            <a:endParaRPr lang="en-US" sz="1200" dirty="0"/>
          </a:p>
        </p:txBody>
      </p:sp>
      <p:sp>
        <p:nvSpPr>
          <p:cNvPr id="12" name="Candidate FC-03"/>
          <p:cNvSpPr/>
          <p:nvPr/>
        </p:nvSpPr>
        <p:spPr>
          <a:xfrm>
            <a:off x="5042916" y="1645920"/>
            <a:ext cx="2103120" cy="731520"/>
          </a:xfrm>
          <a:prstGeom prst="roundRect">
            <a:avLst>
              <a:gd name="adj" fmla="val 12500"/>
            </a:avLst>
          </a:prstGeom>
          <a:solidFill>
            <a:schemeClr val="accent5">
              <a:alpha val="12000"/>
            </a:schemeClr>
          </a:solidFill>
          <a:ln w="12700">
            <a:solidFill>
              <a:schemeClr val="accent5"/>
            </a:solidFill>
            <a:prstDash val="solid"/>
          </a:ln>
        </p:spPr>
      </p:sp>
      <p:sp>
        <p:nvSpPr>
          <p:cNvPr id="13" name="Text 10"/>
          <p:cNvSpPr txBox="1"/>
          <p:nvPr/>
        </p:nvSpPr>
        <p:spPr>
          <a:xfrm>
            <a:off x="5180076" y="1719072"/>
            <a:ext cx="1828800" cy="274320"/>
          </a:xfrm>
          <a:prstGeom prst="rect">
            <a:avLst/>
          </a:prstGeom>
          <a:noFill/>
          <a:ln/>
        </p:spPr>
        <p:txBody>
          <a:bodyPr wrap="square" lIns="0" tIns="0" rIns="0" bIns="0" rtlCol="0" anchor="t"/>
          <a:lstStyle/>
          <a:p>
            <a:pPr indent="0" marL="0">
              <a:buNone/>
            </a:pPr>
            <a:r>
              <a:rPr lang="en-US" sz="1300" b="1" dirty="0">
                <a:solidFill>
                  <a:schemeClr val="accent5"/>
                </a:solidFill>
              </a:rPr>
              <a:t>FC-03</a:t>
            </a:r>
            <a:endParaRPr lang="en-US" sz="1300" dirty="0"/>
          </a:p>
        </p:txBody>
      </p:sp>
      <p:sp>
        <p:nvSpPr>
          <p:cNvPr id="14" name="Text 11"/>
          <p:cNvSpPr txBox="1"/>
          <p:nvPr/>
        </p:nvSpPr>
        <p:spPr>
          <a:xfrm>
            <a:off x="5180076"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Observation (OBS-01)</a:t>
            </a:r>
            <a:endParaRPr lang="en-US" sz="1200" dirty="0"/>
          </a:p>
        </p:txBody>
      </p:sp>
      <p:sp>
        <p:nvSpPr>
          <p:cNvPr id="15" name="Candidate FC-04"/>
          <p:cNvSpPr/>
          <p:nvPr/>
        </p:nvSpPr>
        <p:spPr>
          <a:xfrm>
            <a:off x="7290054" y="1645920"/>
            <a:ext cx="2103120" cy="731520"/>
          </a:xfrm>
          <a:prstGeom prst="roundRect">
            <a:avLst>
              <a:gd name="adj" fmla="val 12500"/>
            </a:avLst>
          </a:prstGeom>
          <a:solidFill>
            <a:schemeClr val="accent3">
              <a:alpha val="12000"/>
            </a:schemeClr>
          </a:solidFill>
          <a:ln w="12700">
            <a:solidFill>
              <a:schemeClr val="accent3"/>
            </a:solidFill>
            <a:prstDash val="solid"/>
          </a:ln>
        </p:spPr>
      </p:sp>
      <p:sp>
        <p:nvSpPr>
          <p:cNvPr id="16" name="Text 13"/>
          <p:cNvSpPr txBox="1"/>
          <p:nvPr/>
        </p:nvSpPr>
        <p:spPr>
          <a:xfrm>
            <a:off x="7427214" y="1719072"/>
            <a:ext cx="1828800" cy="274320"/>
          </a:xfrm>
          <a:prstGeom prst="rect">
            <a:avLst/>
          </a:prstGeom>
          <a:noFill/>
          <a:ln/>
        </p:spPr>
        <p:txBody>
          <a:bodyPr wrap="square" lIns="0" tIns="0" rIns="0" bIns="0" rtlCol="0" anchor="t"/>
          <a:lstStyle/>
          <a:p>
            <a:pPr indent="0" marL="0">
              <a:buNone/>
            </a:pPr>
            <a:r>
              <a:rPr lang="en-US" sz="1300" b="1" dirty="0">
                <a:solidFill>
                  <a:schemeClr val="accent3"/>
                </a:solidFill>
              </a:rPr>
              <a:t>FC-04</a:t>
            </a:r>
            <a:endParaRPr lang="en-US" sz="1300" dirty="0"/>
          </a:p>
        </p:txBody>
      </p:sp>
      <p:sp>
        <p:nvSpPr>
          <p:cNvPr id="17" name="Text 14"/>
          <p:cNvSpPr txBox="1"/>
          <p:nvPr/>
        </p:nvSpPr>
        <p:spPr>
          <a:xfrm>
            <a:off x="7427214"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Finding -&gt; FND-03</a:t>
            </a:r>
            <a:endParaRPr lang="en-US" sz="1200" dirty="0"/>
          </a:p>
        </p:txBody>
      </p:sp>
      <p:sp>
        <p:nvSpPr>
          <p:cNvPr id="18" name="Candidate FC-05"/>
          <p:cNvSpPr/>
          <p:nvPr/>
        </p:nvSpPr>
        <p:spPr>
          <a:xfrm>
            <a:off x="9537192" y="1645920"/>
            <a:ext cx="2103120" cy="731520"/>
          </a:xfrm>
          <a:prstGeom prst="roundRect">
            <a:avLst>
              <a:gd name="adj" fmla="val 12500"/>
            </a:avLst>
          </a:prstGeom>
          <a:solidFill>
            <a:schemeClr val="accent4">
              <a:alpha val="12000"/>
            </a:schemeClr>
          </a:solidFill>
          <a:ln w="12700">
            <a:solidFill>
              <a:schemeClr val="accent4"/>
            </a:solidFill>
            <a:prstDash val="solid"/>
          </a:ln>
        </p:spPr>
      </p:sp>
      <p:sp>
        <p:nvSpPr>
          <p:cNvPr id="19" name="Text 16"/>
          <p:cNvSpPr txBox="1"/>
          <p:nvPr/>
        </p:nvSpPr>
        <p:spPr>
          <a:xfrm>
            <a:off x="9674352" y="1719072"/>
            <a:ext cx="1828800" cy="274320"/>
          </a:xfrm>
          <a:prstGeom prst="rect">
            <a:avLst/>
          </a:prstGeom>
          <a:noFill/>
          <a:ln/>
        </p:spPr>
        <p:txBody>
          <a:bodyPr wrap="square" lIns="0" tIns="0" rIns="0" bIns="0" rtlCol="0" anchor="t"/>
          <a:lstStyle/>
          <a:p>
            <a:pPr indent="0" marL="0">
              <a:buNone/>
            </a:pPr>
            <a:r>
              <a:rPr lang="en-US" sz="1300" b="1" dirty="0">
                <a:solidFill>
                  <a:schemeClr val="accent4"/>
                </a:solidFill>
              </a:rPr>
              <a:t>FC-05</a:t>
            </a:r>
            <a:endParaRPr lang="en-US" sz="1300" dirty="0"/>
          </a:p>
        </p:txBody>
      </p:sp>
      <p:sp>
        <p:nvSpPr>
          <p:cNvPr id="20" name="Text 17"/>
          <p:cNvSpPr txBox="1"/>
          <p:nvPr/>
        </p:nvSpPr>
        <p:spPr>
          <a:xfrm>
            <a:off x="9674352" y="2011680"/>
            <a:ext cx="1828800" cy="274320"/>
          </a:xfrm>
          <a:prstGeom prst="rect">
            <a:avLst/>
          </a:prstGeom>
          <a:noFill/>
          <a:ln/>
        </p:spPr>
        <p:txBody>
          <a:bodyPr wrap="square" lIns="0" tIns="0" rIns="0" bIns="0" rtlCol="0" anchor="t"/>
          <a:lstStyle/>
          <a:p>
            <a:pPr indent="0" marL="0">
              <a:buNone/>
            </a:pPr>
            <a:r>
              <a:rPr lang="en-US" sz="1200" dirty="0">
                <a:solidFill>
                  <a:schemeClr val="tx1"/>
                </a:solidFill>
              </a:rPr>
              <a:t>Close (compensated)</a:t>
            </a:r>
            <a:endParaRPr lang="en-US" sz="1200" dirty="0"/>
          </a:p>
        </p:txBody>
      </p:sp>
      <p:sp>
        <p:nvSpPr>
          <p:cNvPr id="21" name="Card"/>
          <p:cNvSpPr/>
          <p:nvPr/>
        </p:nvSpPr>
        <p:spPr>
          <a:xfrm>
            <a:off x="548640" y="2743200"/>
            <a:ext cx="3520440" cy="2377440"/>
          </a:xfrm>
          <a:prstGeom prst="roundRect">
            <a:avLst>
              <a:gd name="adj" fmla="val 3846"/>
            </a:avLst>
          </a:prstGeom>
          <a:solidFill>
            <a:schemeClr val="bg2"/>
          </a:solidFill>
          <a:ln/>
          <a:effectLst>
            <a:outerShdw sx="100000" sy="100000" kx="0" ky="0" algn="bl" rotWithShape="0" blurRad="101600" dist="25400" dir="5400000">
              <a:srgbClr val="14232E">
                <a:alpha val="12000"/>
              </a:srgbClr>
            </a:outerShdw>
          </a:effectLst>
        </p:spPr>
      </p:sp>
      <p:sp>
        <p:nvSpPr>
          <p:cNvPr id="22" name="Text 19"/>
          <p:cNvSpPr txBox="1"/>
          <p:nvPr/>
        </p:nvSpPr>
        <p:spPr>
          <a:xfrm>
            <a:off x="822960" y="3017520"/>
            <a:ext cx="18288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FND-01</a:t>
            </a:r>
            <a:endParaRPr lang="en-US" sz="2800" dirty="0"/>
          </a:p>
        </p:txBody>
      </p:sp>
      <p:sp>
        <p:nvSpPr>
          <p:cNvPr id="23" name="Pill HIGH"/>
          <p:cNvSpPr/>
          <p:nvPr/>
        </p:nvSpPr>
        <p:spPr>
          <a:xfrm>
            <a:off x="2926080" y="3090672"/>
            <a:ext cx="86868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24" name="Text 21"/>
          <p:cNvSpPr txBox="1"/>
          <p:nvPr/>
        </p:nvSpPr>
        <p:spPr>
          <a:xfrm>
            <a:off x="822960" y="3703320"/>
            <a:ext cx="2971800" cy="1234440"/>
          </a:xfrm>
          <a:prstGeom prst="rect">
            <a:avLst/>
          </a:prstGeom>
          <a:noFill/>
          <a:ln/>
        </p:spPr>
        <p:txBody>
          <a:bodyPr wrap="square" lIns="0" tIns="0" rIns="0" bIns="0" rtlCol="0" anchor="t"/>
          <a:lstStyle/>
          <a:p>
            <a:pPr indent="0" marL="0">
              <a:buNone/>
            </a:pPr>
            <a:r>
              <a:rPr lang="en-US" sz="1700" b="1" dirty="0">
                <a:solidFill>
                  <a:schemeClr val="tx1"/>
                </a:solidFill>
              </a:rPr>
              <a:t>Staff Login Without Second Check Allows Full Account Takeover</a:t>
            </a:r>
            <a:endParaRPr lang="en-US" sz="1700" dirty="0"/>
          </a:p>
        </p:txBody>
      </p:sp>
      <p:sp>
        <p:nvSpPr>
          <p:cNvPr id="25" name="Card"/>
          <p:cNvSpPr/>
          <p:nvPr/>
        </p:nvSpPr>
        <p:spPr>
          <a:xfrm>
            <a:off x="4366260" y="2743200"/>
            <a:ext cx="3520440" cy="2377440"/>
          </a:xfrm>
          <a:prstGeom prst="roundRect">
            <a:avLst>
              <a:gd name="adj" fmla="val 3846"/>
            </a:avLst>
          </a:prstGeom>
          <a:solidFill>
            <a:schemeClr val="bg2"/>
          </a:solidFill>
          <a:ln/>
          <a:effectLst>
            <a:outerShdw sx="100000" sy="100000" kx="0" ky="0" algn="bl" rotWithShape="0" blurRad="101600" dist="25400" dir="5400000">
              <a:srgbClr val="14232E">
                <a:alpha val="12000"/>
              </a:srgbClr>
            </a:outerShdw>
          </a:effectLst>
        </p:spPr>
      </p:sp>
      <p:sp>
        <p:nvSpPr>
          <p:cNvPr id="26" name="Text 23"/>
          <p:cNvSpPr txBox="1"/>
          <p:nvPr/>
        </p:nvSpPr>
        <p:spPr>
          <a:xfrm>
            <a:off x="4640580" y="3017520"/>
            <a:ext cx="18288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FND-02</a:t>
            </a:r>
            <a:endParaRPr lang="en-US" sz="2800" dirty="0"/>
          </a:p>
        </p:txBody>
      </p:sp>
      <p:sp>
        <p:nvSpPr>
          <p:cNvPr id="27" name="Pill HIGH"/>
          <p:cNvSpPr/>
          <p:nvPr/>
        </p:nvSpPr>
        <p:spPr>
          <a:xfrm>
            <a:off x="6743700" y="3090672"/>
            <a:ext cx="86868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28" name="Text 25"/>
          <p:cNvSpPr txBox="1"/>
          <p:nvPr/>
        </p:nvSpPr>
        <p:spPr>
          <a:xfrm>
            <a:off x="4640580" y="3703320"/>
            <a:ext cx="2971800" cy="1234440"/>
          </a:xfrm>
          <a:prstGeom prst="rect">
            <a:avLst/>
          </a:prstGeom>
          <a:noFill/>
          <a:ln/>
        </p:spPr>
        <p:txBody>
          <a:bodyPr wrap="square" lIns="0" tIns="0" rIns="0" bIns="0" rtlCol="0" anchor="t"/>
          <a:lstStyle/>
          <a:p>
            <a:pPr indent="0" marL="0">
              <a:buNone/>
            </a:pPr>
            <a:r>
              <a:rPr lang="en-US" sz="1700" b="1" dirty="0">
                <a:solidFill>
                  <a:schemeClr val="tx1"/>
                </a:solidFill>
              </a:rPr>
              <a:t>Restore Never Tested, So Recovery Is Unproven</a:t>
            </a:r>
            <a:endParaRPr lang="en-US" sz="1700" dirty="0"/>
          </a:p>
        </p:txBody>
      </p:sp>
      <p:sp>
        <p:nvSpPr>
          <p:cNvPr id="29" name="Card"/>
          <p:cNvSpPr/>
          <p:nvPr/>
        </p:nvSpPr>
        <p:spPr>
          <a:xfrm>
            <a:off x="8183880" y="2743200"/>
            <a:ext cx="3520440" cy="2377440"/>
          </a:xfrm>
          <a:prstGeom prst="roundRect">
            <a:avLst>
              <a:gd name="adj" fmla="val 3846"/>
            </a:avLst>
          </a:prstGeom>
          <a:solidFill>
            <a:schemeClr val="bg2"/>
          </a:solidFill>
          <a:ln/>
          <a:effectLst>
            <a:outerShdw sx="100000" sy="100000" kx="0" ky="0" algn="bl" rotWithShape="0" blurRad="101600" dist="25400" dir="5400000">
              <a:srgbClr val="14232E">
                <a:alpha val="12000"/>
              </a:srgbClr>
            </a:outerShdw>
          </a:effectLst>
        </p:spPr>
      </p:sp>
      <p:sp>
        <p:nvSpPr>
          <p:cNvPr id="30" name="Text 27"/>
          <p:cNvSpPr txBox="1"/>
          <p:nvPr/>
        </p:nvSpPr>
        <p:spPr>
          <a:xfrm>
            <a:off x="8458200" y="3017520"/>
            <a:ext cx="182880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FND-03</a:t>
            </a:r>
            <a:endParaRPr lang="en-US" sz="2800" dirty="0"/>
          </a:p>
        </p:txBody>
      </p:sp>
      <p:sp>
        <p:nvSpPr>
          <p:cNvPr id="31" name="Pill HIGH"/>
          <p:cNvSpPr/>
          <p:nvPr/>
        </p:nvSpPr>
        <p:spPr>
          <a:xfrm>
            <a:off x="10561320" y="3090672"/>
            <a:ext cx="86868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32" name="Text 29"/>
          <p:cNvSpPr txBox="1"/>
          <p:nvPr/>
        </p:nvSpPr>
        <p:spPr>
          <a:xfrm>
            <a:off x="8458200" y="3703320"/>
            <a:ext cx="2971800" cy="1234440"/>
          </a:xfrm>
          <a:prstGeom prst="rect">
            <a:avLst/>
          </a:prstGeom>
          <a:noFill/>
          <a:ln/>
        </p:spPr>
        <p:txBody>
          <a:bodyPr wrap="square" lIns="0" tIns="0" rIns="0" bIns="0" rtlCol="0" anchor="t"/>
          <a:lstStyle/>
          <a:p>
            <a:pPr indent="0" marL="0">
              <a:buNone/>
            </a:pPr>
            <a:r>
              <a:rPr lang="en-US" sz="1700" b="1" dirty="0">
                <a:solidFill>
                  <a:schemeClr val="tx1"/>
                </a:solidFill>
              </a:rPr>
              <a:t>Wide Staff Views and Open Export Path Expose Borrower Data</a:t>
            </a:r>
            <a:endParaRPr lang="en-US" sz="1700" dirty="0"/>
          </a:p>
        </p:txBody>
      </p:sp>
      <p:sp>
        <p:nvSpPr>
          <p:cNvPr id="33" name="Text 30"/>
          <p:cNvSpPr txBox="1"/>
          <p:nvPr/>
        </p:nvSpPr>
        <p:spPr>
          <a:xfrm>
            <a:off x="548640" y="5440680"/>
            <a:ext cx="11094415" cy="731520"/>
          </a:xfrm>
          <a:prstGeom prst="rect">
            <a:avLst/>
          </a:prstGeom>
          <a:noFill/>
          <a:ln/>
        </p:spPr>
        <p:txBody>
          <a:bodyPr wrap="square" lIns="0" tIns="0" rIns="0" bIns="0" rtlCol="0" anchor="t"/>
          <a:lstStyle/>
          <a:p>
            <a:pPr indent="0" marL="0">
              <a:buNone/>
            </a:pPr>
            <a:r>
              <a:rPr lang="en-US" sz="1400" i="1" dirty="0">
                <a:solidFill>
                  <a:schemeClr val="accent6"/>
                </a:solidFill>
              </a:rPr>
              <a:t>Not every gap became a finding - FC-03 is fixable small (backlog); FC-05 is compensated by logging + monthly review. Honest screening, not finding inflation.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Finding 1 - Staff Login Without Second Check</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FND-01 | HIGH | RSK-01 residual 16 | evidence EVD-12-01 + EVD-13-01</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Text 3"/>
          <p:cNvSpPr txBox="1"/>
          <p:nvPr/>
        </p:nvSpPr>
        <p:spPr>
          <a:xfrm>
            <a:off x="548640" y="1600200"/>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Condition</a:t>
            </a:r>
            <a:endParaRPr lang="en-US" sz="1200" dirty="0"/>
          </a:p>
        </p:txBody>
      </p:sp>
      <p:sp>
        <p:nvSpPr>
          <p:cNvPr id="7" name="Text 4"/>
          <p:cNvSpPr txBox="1"/>
          <p:nvPr/>
        </p:nvSpPr>
        <p:spPr>
          <a:xfrm>
            <a:off x="1737360" y="1600200"/>
            <a:ext cx="5394960" cy="914400"/>
          </a:xfrm>
          <a:prstGeom prst="rect">
            <a:avLst/>
          </a:prstGeom>
          <a:noFill/>
          <a:ln/>
        </p:spPr>
        <p:txBody>
          <a:bodyPr wrap="square" lIns="0" tIns="0" rIns="0" bIns="0" rtlCol="0" anchor="ctr"/>
          <a:lstStyle/>
          <a:p>
            <a:pPr indent="0" marL="0">
              <a:buNone/>
            </a:pPr>
            <a:r>
              <a:rPr lang="en-US" sz="1300" dirty="0">
                <a:solidFill>
                  <a:schemeClr val="tx1"/>
                </a:solidFill>
              </a:rPr>
              <a:t>No staff/admin login asks for a second check (screens confirm; BLD-05, Oct 10)</a:t>
            </a:r>
            <a:endParaRPr lang="en-US" sz="1300" dirty="0"/>
          </a:p>
        </p:txBody>
      </p:sp>
      <p:sp>
        <p:nvSpPr>
          <p:cNvPr id="8" name="Row divider"/>
          <p:cNvSpPr/>
          <p:nvPr/>
        </p:nvSpPr>
        <p:spPr>
          <a:xfrm>
            <a:off x="548640" y="2532888"/>
            <a:ext cx="6583680" cy="0"/>
          </a:xfrm>
          <a:prstGeom prst="line">
            <a:avLst/>
          </a:prstGeom>
          <a:noFill/>
          <a:ln w="12700">
            <a:solidFill>
              <a:schemeClr val="bg2"/>
            </a:solidFill>
            <a:prstDash val="solid"/>
          </a:ln>
        </p:spPr>
      </p:sp>
      <p:sp>
        <p:nvSpPr>
          <p:cNvPr id="9" name="Text 6"/>
          <p:cNvSpPr txBox="1"/>
          <p:nvPr/>
        </p:nvSpPr>
        <p:spPr>
          <a:xfrm>
            <a:off x="548640" y="2551176"/>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Criteria</a:t>
            </a:r>
            <a:endParaRPr lang="en-US" sz="1200" dirty="0"/>
          </a:p>
        </p:txBody>
      </p:sp>
      <p:sp>
        <p:nvSpPr>
          <p:cNvPr id="10" name="Text 7"/>
          <p:cNvSpPr txBox="1"/>
          <p:nvPr/>
        </p:nvSpPr>
        <p:spPr>
          <a:xfrm>
            <a:off x="1737360" y="2551176"/>
            <a:ext cx="5394960" cy="914400"/>
          </a:xfrm>
          <a:prstGeom prst="rect">
            <a:avLst/>
          </a:prstGeom>
          <a:noFill/>
          <a:ln/>
        </p:spPr>
        <p:txBody>
          <a:bodyPr wrap="square" lIns="0" tIns="0" rIns="0" bIns="0" rtlCol="0" anchor="ctr"/>
          <a:lstStyle/>
          <a:p>
            <a:pPr indent="0" marL="0">
              <a:buNone/>
            </a:pPr>
            <a:r>
              <a:rPr lang="en-US" sz="1300" dirty="0">
                <a:solidFill>
                  <a:schemeClr val="tx1"/>
                </a:solidFill>
              </a:rPr>
              <a:t>CRT-01 + CMP-03 - access fits role AND login stops outsiders (approver ORG-02)</a:t>
            </a:r>
            <a:endParaRPr lang="en-US" sz="1300" dirty="0"/>
          </a:p>
        </p:txBody>
      </p:sp>
      <p:sp>
        <p:nvSpPr>
          <p:cNvPr id="11" name="Row divider"/>
          <p:cNvSpPr/>
          <p:nvPr/>
        </p:nvSpPr>
        <p:spPr>
          <a:xfrm>
            <a:off x="548640" y="3483864"/>
            <a:ext cx="6583680" cy="0"/>
          </a:xfrm>
          <a:prstGeom prst="line">
            <a:avLst/>
          </a:prstGeom>
          <a:noFill/>
          <a:ln w="12700">
            <a:solidFill>
              <a:schemeClr val="bg2"/>
            </a:solidFill>
            <a:prstDash val="solid"/>
          </a:ln>
        </p:spPr>
      </p:sp>
      <p:sp>
        <p:nvSpPr>
          <p:cNvPr id="12" name="Text 9"/>
          <p:cNvSpPr txBox="1"/>
          <p:nvPr/>
        </p:nvSpPr>
        <p:spPr>
          <a:xfrm>
            <a:off x="548640" y="3502152"/>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Cause</a:t>
            </a:r>
            <a:endParaRPr lang="en-US" sz="1200" dirty="0"/>
          </a:p>
        </p:txBody>
      </p:sp>
      <p:sp>
        <p:nvSpPr>
          <p:cNvPr id="13" name="Text 10"/>
          <p:cNvSpPr txBox="1"/>
          <p:nvPr/>
        </p:nvSpPr>
        <p:spPr>
          <a:xfrm>
            <a:off x="1737360" y="3502152"/>
            <a:ext cx="5394960" cy="914400"/>
          </a:xfrm>
          <a:prstGeom prst="rect">
            <a:avLst/>
          </a:prstGeom>
          <a:noFill/>
          <a:ln/>
        </p:spPr>
        <p:txBody>
          <a:bodyPr wrap="square" lIns="0" tIns="0" rIns="0" bIns="0" rtlCol="0" anchor="ctr"/>
          <a:lstStyle/>
          <a:p>
            <a:pPr indent="0" marL="0">
              <a:buNone/>
            </a:pPr>
            <a:r>
              <a:rPr lang="en-US" sz="1300" dirty="0">
                <a:solidFill>
                  <a:schemeClr val="tx1"/>
                </a:solidFill>
              </a:rPr>
              <a:t>Second step never built (code read); small team, demo stage</a:t>
            </a:r>
            <a:endParaRPr lang="en-US" sz="1300" dirty="0"/>
          </a:p>
        </p:txBody>
      </p:sp>
      <p:sp>
        <p:nvSpPr>
          <p:cNvPr id="14" name="Row divider"/>
          <p:cNvSpPr/>
          <p:nvPr/>
        </p:nvSpPr>
        <p:spPr>
          <a:xfrm>
            <a:off x="548640" y="4434840"/>
            <a:ext cx="6583680" cy="0"/>
          </a:xfrm>
          <a:prstGeom prst="line">
            <a:avLst/>
          </a:prstGeom>
          <a:noFill/>
          <a:ln w="12700">
            <a:solidFill>
              <a:schemeClr val="bg2"/>
            </a:solidFill>
            <a:prstDash val="solid"/>
          </a:ln>
        </p:spPr>
      </p:sp>
      <p:sp>
        <p:nvSpPr>
          <p:cNvPr id="15" name="Text 12"/>
          <p:cNvSpPr txBox="1"/>
          <p:nvPr/>
        </p:nvSpPr>
        <p:spPr>
          <a:xfrm>
            <a:off x="548640" y="4453128"/>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Effect</a:t>
            </a:r>
            <a:endParaRPr lang="en-US" sz="1200" dirty="0"/>
          </a:p>
        </p:txBody>
      </p:sp>
      <p:sp>
        <p:nvSpPr>
          <p:cNvPr id="16" name="Text 13"/>
          <p:cNvSpPr txBox="1"/>
          <p:nvPr/>
        </p:nvSpPr>
        <p:spPr>
          <a:xfrm>
            <a:off x="1737360" y="4453128"/>
            <a:ext cx="5394960" cy="914400"/>
          </a:xfrm>
          <a:prstGeom prst="rect">
            <a:avLst/>
          </a:prstGeom>
          <a:noFill/>
          <a:ln/>
        </p:spPr>
        <p:txBody>
          <a:bodyPr wrap="square" lIns="0" tIns="0" rIns="0" bIns="0" rtlCol="0" anchor="ctr"/>
          <a:lstStyle/>
          <a:p>
            <a:pPr indent="0" marL="0">
              <a:buNone/>
            </a:pPr>
            <a:r>
              <a:rPr lang="en-US" sz="1300" dirty="0">
                <a:solidFill>
                  <a:schemeClr val="tx1"/>
                </a:solidFill>
              </a:rPr>
              <a:t>One leaked password = full borrower/loan control - exposure, no breach seen</a:t>
            </a:r>
            <a:endParaRPr lang="en-US" sz="1300" dirty="0"/>
          </a:p>
        </p:txBody>
      </p:sp>
      <p:sp>
        <p:nvSpPr>
          <p:cNvPr id="17" name="Row divider"/>
          <p:cNvSpPr/>
          <p:nvPr/>
        </p:nvSpPr>
        <p:spPr>
          <a:xfrm>
            <a:off x="548640" y="5385816"/>
            <a:ext cx="6583680" cy="0"/>
          </a:xfrm>
          <a:prstGeom prst="line">
            <a:avLst/>
          </a:prstGeom>
          <a:noFill/>
          <a:ln w="12700">
            <a:solidFill>
              <a:schemeClr val="bg2"/>
            </a:solidFill>
            <a:prstDash val="solid"/>
          </a:ln>
        </p:spPr>
      </p:sp>
      <p:sp>
        <p:nvSpPr>
          <p:cNvPr id="18" name="Text 15"/>
          <p:cNvSpPr txBox="1"/>
          <p:nvPr/>
        </p:nvSpPr>
        <p:spPr>
          <a:xfrm>
            <a:off x="548640" y="5404104"/>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Limitation</a:t>
            </a:r>
            <a:endParaRPr lang="en-US" sz="1200" dirty="0"/>
          </a:p>
        </p:txBody>
      </p:sp>
      <p:sp>
        <p:nvSpPr>
          <p:cNvPr id="19" name="Text 16"/>
          <p:cNvSpPr txBox="1"/>
          <p:nvPr/>
        </p:nvSpPr>
        <p:spPr>
          <a:xfrm>
            <a:off x="1737360" y="5404104"/>
            <a:ext cx="5394960" cy="914400"/>
          </a:xfrm>
          <a:prstGeom prst="rect">
            <a:avLst/>
          </a:prstGeom>
          <a:noFill/>
          <a:ln/>
        </p:spPr>
        <p:txBody>
          <a:bodyPr wrap="square" lIns="0" tIns="0" rIns="0" bIns="0" rtlCol="0" anchor="ctr"/>
          <a:lstStyle/>
          <a:p>
            <a:pPr indent="0" marL="0">
              <a:buNone/>
            </a:pPr>
            <a:r>
              <a:rPr lang="en-US" sz="1300" dirty="0">
                <a:solidFill>
                  <a:schemeClr val="tx1"/>
                </a:solidFill>
              </a:rPr>
              <a:t>No attack test allowed; stated on the workpaper</a:t>
            </a:r>
            <a:endParaRPr lang="en-US" sz="1300" dirty="0"/>
          </a:p>
        </p:txBody>
      </p:sp>
      <p:sp>
        <p:nvSpPr>
          <p:cNvPr id="20" name="Card"/>
          <p:cNvSpPr/>
          <p:nvPr/>
        </p:nvSpPr>
        <p:spPr>
          <a:xfrm>
            <a:off x="7589520" y="1600200"/>
            <a:ext cx="4050792" cy="2331720"/>
          </a:xfrm>
          <a:prstGeom prst="roundRect">
            <a:avLst>
              <a:gd name="adj" fmla="val 3922"/>
            </a:avLst>
          </a:prstGeom>
          <a:solidFill>
            <a:schemeClr val="accent3">
              <a:alpha val="10000"/>
            </a:schemeClr>
          </a:solidFill>
          <a:ln/>
        </p:spPr>
      </p:sp>
      <p:sp>
        <p:nvSpPr>
          <p:cNvPr id="21" name="Text 18"/>
          <p:cNvSpPr txBox="1"/>
          <p:nvPr/>
        </p:nvSpPr>
        <p:spPr>
          <a:xfrm>
            <a:off x="7818120" y="1737360"/>
            <a:ext cx="3611880" cy="320040"/>
          </a:xfrm>
          <a:prstGeom prst="rect">
            <a:avLst/>
          </a:prstGeom>
          <a:noFill/>
          <a:ln/>
        </p:spPr>
        <p:txBody>
          <a:bodyPr wrap="square" lIns="0" tIns="0" rIns="0" bIns="0" rtlCol="0" anchor="t"/>
          <a:lstStyle/>
          <a:p>
            <a:pPr indent="0" marL="0">
              <a:buNone/>
            </a:pPr>
            <a:r>
              <a:rPr lang="en-US" sz="1500" b="1" dirty="0">
                <a:solidFill>
                  <a:schemeClr val="accent3"/>
                </a:solidFill>
              </a:rPr>
              <a:t>Why HIGH (severity rationale)</a:t>
            </a:r>
            <a:endParaRPr lang="en-US" sz="1500" dirty="0"/>
          </a:p>
        </p:txBody>
      </p:sp>
      <p:sp>
        <p:nvSpPr>
          <p:cNvPr id="22" name="Text 19"/>
          <p:cNvSpPr txBox="1"/>
          <p:nvPr/>
        </p:nvSpPr>
        <p:spPr>
          <a:xfrm>
            <a:off x="7818120" y="2103120"/>
            <a:ext cx="3611880" cy="1737360"/>
          </a:xfrm>
          <a:prstGeom prst="rect">
            <a:avLst/>
          </a:prstGeom>
          <a:noFill/>
          <a:ln/>
        </p:spPr>
        <p:txBody>
          <a:bodyPr wrap="square" lIns="0" tIns="0" rIns="0" bIns="0" rtlCol="0" anchor="t"/>
          <a:lstStyle/>
          <a:p>
            <a:pPr indent="0" marL="0">
              <a:buNone/>
            </a:pPr>
            <a:r>
              <a:rPr lang="en-US" sz="1300" dirty="0">
                <a:solidFill>
                  <a:schemeClr val="tx1"/>
                </a:solidFill>
              </a:rPr>
              <a:t>Residual risk 16 of 25; full loan + fine data at stake; single control failure on the main gate; affected: all borrowers + library staff</a:t>
            </a:r>
            <a:endParaRPr lang="en-US" sz="1300" dirty="0"/>
          </a:p>
        </p:txBody>
      </p:sp>
      <p:sp>
        <p:nvSpPr>
          <p:cNvPr id="23" name="Card"/>
          <p:cNvSpPr/>
          <p:nvPr/>
        </p:nvSpPr>
        <p:spPr>
          <a:xfrm>
            <a:off x="7589520" y="4114800"/>
            <a:ext cx="4050792" cy="2103120"/>
          </a:xfrm>
          <a:prstGeom prst="roundRect">
            <a:avLst>
              <a:gd name="adj" fmla="val 4348"/>
            </a:avLst>
          </a:prstGeom>
          <a:solidFill>
            <a:schemeClr val="accent4">
              <a:alpha val="10000"/>
            </a:schemeClr>
          </a:solidFill>
          <a:ln/>
        </p:spPr>
      </p:sp>
      <p:sp>
        <p:nvSpPr>
          <p:cNvPr id="24" name="Text 21"/>
          <p:cNvSpPr txBox="1"/>
          <p:nvPr/>
        </p:nvSpPr>
        <p:spPr>
          <a:xfrm>
            <a:off x="7818120" y="4251960"/>
            <a:ext cx="3611880" cy="320040"/>
          </a:xfrm>
          <a:prstGeom prst="rect">
            <a:avLst/>
          </a:prstGeom>
          <a:noFill/>
          <a:ln/>
        </p:spPr>
        <p:txBody>
          <a:bodyPr wrap="square" lIns="0" tIns="0" rIns="0" bIns="0" rtlCol="0" anchor="t"/>
          <a:lstStyle/>
          <a:p>
            <a:pPr indent="0" marL="0">
              <a:buNone/>
            </a:pPr>
            <a:r>
              <a:rPr lang="en-US" sz="1500" b="1" dirty="0">
                <a:solidFill>
                  <a:schemeClr val="accent4"/>
                </a:solidFill>
              </a:rPr>
              <a:t>Recommendation REC-01</a:t>
            </a:r>
            <a:endParaRPr lang="en-US" sz="1500" dirty="0"/>
          </a:p>
        </p:txBody>
      </p:sp>
      <p:sp>
        <p:nvSpPr>
          <p:cNvPr id="25" name="Text 22"/>
          <p:cNvSpPr txBox="1"/>
          <p:nvPr/>
        </p:nvSpPr>
        <p:spPr>
          <a:xfrm>
            <a:off x="7818120" y="4617720"/>
            <a:ext cx="3611880" cy="1508760"/>
          </a:xfrm>
          <a:prstGeom prst="rect">
            <a:avLst/>
          </a:prstGeom>
          <a:noFill/>
          <a:ln/>
        </p:spPr>
        <p:txBody>
          <a:bodyPr wrap="square" lIns="0" tIns="0" rIns="0" bIns="0" rtlCol="0" anchor="t"/>
          <a:lstStyle/>
          <a:p>
            <a:pPr indent="0" marL="0">
              <a:buNone/>
            </a:pPr>
            <a:r>
              <a:rPr lang="en-US" sz="1300" dirty="0">
                <a:solidFill>
                  <a:schemeClr val="tx1"/>
                </a:solidFill>
              </a:rPr>
              <a:t>Access Approver (ORG-02) turns on a second check for staff/admin logins; target: stolen password alone fails - re-run TEST-01 + login tries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Finding 2 - Restore Never Tested</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FND-02 | HIGH | RSK-04 intrinsic 10 -&gt; residual 8 | evidence EVD-12-04</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Text 3"/>
          <p:cNvSpPr txBox="1"/>
          <p:nvPr/>
        </p:nvSpPr>
        <p:spPr>
          <a:xfrm>
            <a:off x="548640" y="1600200"/>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Condition</a:t>
            </a:r>
            <a:endParaRPr lang="en-US" sz="1200" dirty="0"/>
          </a:p>
        </p:txBody>
      </p:sp>
      <p:sp>
        <p:nvSpPr>
          <p:cNvPr id="7" name="Text 4"/>
          <p:cNvSpPr txBox="1"/>
          <p:nvPr/>
        </p:nvSpPr>
        <p:spPr>
          <a:xfrm>
            <a:off x="1737360" y="1600200"/>
            <a:ext cx="5394960" cy="914400"/>
          </a:xfrm>
          <a:prstGeom prst="rect">
            <a:avLst/>
          </a:prstGeom>
          <a:noFill/>
          <a:ln/>
        </p:spPr>
        <p:txBody>
          <a:bodyPr wrap="square" lIns="0" tIns="0" rIns="0" bIns="0" rtlCol="0" anchor="ctr"/>
          <a:lstStyle/>
          <a:p>
            <a:pPr indent="0" marL="0">
              <a:buNone/>
            </a:pPr>
            <a:r>
              <a:rPr lang="en-US" sz="1300" dirty="0">
                <a:solidFill>
                  <a:schemeClr val="tx1"/>
                </a:solidFill>
              </a:rPr>
              <a:t>14/14 backup runs logged (Sep-Oct) - but ZERO restore demonstrations exist</a:t>
            </a:r>
            <a:endParaRPr lang="en-US" sz="1300" dirty="0"/>
          </a:p>
        </p:txBody>
      </p:sp>
      <p:sp>
        <p:nvSpPr>
          <p:cNvPr id="8" name="Row divider"/>
          <p:cNvSpPr/>
          <p:nvPr/>
        </p:nvSpPr>
        <p:spPr>
          <a:xfrm>
            <a:off x="548640" y="2532888"/>
            <a:ext cx="6583680" cy="0"/>
          </a:xfrm>
          <a:prstGeom prst="line">
            <a:avLst/>
          </a:prstGeom>
          <a:noFill/>
          <a:ln w="12700">
            <a:solidFill>
              <a:schemeClr val="bg2"/>
            </a:solidFill>
            <a:prstDash val="solid"/>
          </a:ln>
        </p:spPr>
      </p:sp>
      <p:sp>
        <p:nvSpPr>
          <p:cNvPr id="9" name="Text 6"/>
          <p:cNvSpPr txBox="1"/>
          <p:nvPr/>
        </p:nvSpPr>
        <p:spPr>
          <a:xfrm>
            <a:off x="548640" y="2551176"/>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Criteria</a:t>
            </a:r>
            <a:endParaRPr lang="en-US" sz="1200" dirty="0"/>
          </a:p>
        </p:txBody>
      </p:sp>
      <p:sp>
        <p:nvSpPr>
          <p:cNvPr id="10" name="Text 7"/>
          <p:cNvSpPr txBox="1"/>
          <p:nvPr/>
        </p:nvSpPr>
        <p:spPr>
          <a:xfrm>
            <a:off x="1737360" y="2551176"/>
            <a:ext cx="5394960" cy="914400"/>
          </a:xfrm>
          <a:prstGeom prst="rect">
            <a:avLst/>
          </a:prstGeom>
          <a:noFill/>
          <a:ln/>
        </p:spPr>
        <p:txBody>
          <a:bodyPr wrap="square" lIns="0" tIns="0" rIns="0" bIns="0" rtlCol="0" anchor="ctr"/>
          <a:lstStyle/>
          <a:p>
            <a:pPr indent="0" marL="0">
              <a:buNone/>
            </a:pPr>
            <a:r>
              <a:rPr lang="en-US" sz="1300" dirty="0">
                <a:solidFill>
                  <a:schemeClr val="tx1"/>
                </a:solidFill>
              </a:rPr>
              <a:t>CMP-05 + CRT-04 - copies exist AND recovery is possible with approval</a:t>
            </a:r>
            <a:endParaRPr lang="en-US" sz="1300" dirty="0"/>
          </a:p>
        </p:txBody>
      </p:sp>
      <p:sp>
        <p:nvSpPr>
          <p:cNvPr id="11" name="Row divider"/>
          <p:cNvSpPr/>
          <p:nvPr/>
        </p:nvSpPr>
        <p:spPr>
          <a:xfrm>
            <a:off x="548640" y="3483864"/>
            <a:ext cx="6583680" cy="0"/>
          </a:xfrm>
          <a:prstGeom prst="line">
            <a:avLst/>
          </a:prstGeom>
          <a:noFill/>
          <a:ln w="12700">
            <a:solidFill>
              <a:schemeClr val="bg2"/>
            </a:solidFill>
            <a:prstDash val="solid"/>
          </a:ln>
        </p:spPr>
      </p:sp>
      <p:sp>
        <p:nvSpPr>
          <p:cNvPr id="12" name="Text 9"/>
          <p:cNvSpPr txBox="1"/>
          <p:nvPr/>
        </p:nvSpPr>
        <p:spPr>
          <a:xfrm>
            <a:off x="548640" y="3502152"/>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Cause</a:t>
            </a:r>
            <a:endParaRPr lang="en-US" sz="1200" dirty="0"/>
          </a:p>
        </p:txBody>
      </p:sp>
      <p:sp>
        <p:nvSpPr>
          <p:cNvPr id="13" name="Text 10"/>
          <p:cNvSpPr txBox="1"/>
          <p:nvPr/>
        </p:nvSpPr>
        <p:spPr>
          <a:xfrm>
            <a:off x="1737360" y="3502152"/>
            <a:ext cx="5394960" cy="914400"/>
          </a:xfrm>
          <a:prstGeom prst="rect">
            <a:avLst/>
          </a:prstGeom>
          <a:noFill/>
          <a:ln/>
        </p:spPr>
        <p:txBody>
          <a:bodyPr wrap="square" lIns="0" tIns="0" rIns="0" bIns="0" rtlCol="0" anchor="ctr"/>
          <a:lstStyle/>
          <a:p>
            <a:pPr indent="0" marL="0">
              <a:buNone/>
            </a:pPr>
            <a:r>
              <a:rPr lang="en-US" sz="1300" dirty="0">
                <a:solidFill>
                  <a:schemeClr val="tx1"/>
                </a:solidFill>
              </a:rPr>
              <a:t>Restore needs live approval; never scheduled (owner inquiry + no record)</a:t>
            </a:r>
            <a:endParaRPr lang="en-US" sz="1300" dirty="0"/>
          </a:p>
        </p:txBody>
      </p:sp>
      <p:sp>
        <p:nvSpPr>
          <p:cNvPr id="14" name="Row divider"/>
          <p:cNvSpPr/>
          <p:nvPr/>
        </p:nvSpPr>
        <p:spPr>
          <a:xfrm>
            <a:off x="548640" y="4434840"/>
            <a:ext cx="6583680" cy="0"/>
          </a:xfrm>
          <a:prstGeom prst="line">
            <a:avLst/>
          </a:prstGeom>
          <a:noFill/>
          <a:ln w="12700">
            <a:solidFill>
              <a:schemeClr val="bg2"/>
            </a:solidFill>
            <a:prstDash val="solid"/>
          </a:ln>
        </p:spPr>
      </p:sp>
      <p:sp>
        <p:nvSpPr>
          <p:cNvPr id="15" name="Text 12"/>
          <p:cNvSpPr txBox="1"/>
          <p:nvPr/>
        </p:nvSpPr>
        <p:spPr>
          <a:xfrm>
            <a:off x="548640" y="4453128"/>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Effect</a:t>
            </a:r>
            <a:endParaRPr lang="en-US" sz="1200" dirty="0"/>
          </a:p>
        </p:txBody>
      </p:sp>
      <p:sp>
        <p:nvSpPr>
          <p:cNvPr id="16" name="Text 13"/>
          <p:cNvSpPr txBox="1"/>
          <p:nvPr/>
        </p:nvSpPr>
        <p:spPr>
          <a:xfrm>
            <a:off x="1737360" y="4453128"/>
            <a:ext cx="5394960" cy="914400"/>
          </a:xfrm>
          <a:prstGeom prst="rect">
            <a:avLst/>
          </a:prstGeom>
          <a:noFill/>
          <a:ln/>
        </p:spPr>
        <p:txBody>
          <a:bodyPr wrap="square" lIns="0" tIns="0" rIns="0" bIns="0" rtlCol="0" anchor="ctr"/>
          <a:lstStyle/>
          <a:p>
            <a:pPr indent="0" marL="0">
              <a:buNone/>
            </a:pPr>
            <a:r>
              <a:rPr lang="en-US" sz="1300" dirty="0">
                <a:solidFill>
                  <a:schemeClr val="tx1"/>
                </a:solidFill>
              </a:rPr>
              <a:t>If the database is lost, desk work may stop for days; loans/catalog may be unrecoverable</a:t>
            </a:r>
            <a:endParaRPr lang="en-US" sz="1300" dirty="0"/>
          </a:p>
        </p:txBody>
      </p:sp>
      <p:sp>
        <p:nvSpPr>
          <p:cNvPr id="17" name="Row divider"/>
          <p:cNvSpPr/>
          <p:nvPr/>
        </p:nvSpPr>
        <p:spPr>
          <a:xfrm>
            <a:off x="548640" y="5385816"/>
            <a:ext cx="6583680" cy="0"/>
          </a:xfrm>
          <a:prstGeom prst="line">
            <a:avLst/>
          </a:prstGeom>
          <a:noFill/>
          <a:ln w="12700">
            <a:solidFill>
              <a:schemeClr val="bg2"/>
            </a:solidFill>
            <a:prstDash val="solid"/>
          </a:ln>
        </p:spPr>
      </p:sp>
      <p:sp>
        <p:nvSpPr>
          <p:cNvPr id="18" name="Text 15"/>
          <p:cNvSpPr txBox="1"/>
          <p:nvPr/>
        </p:nvSpPr>
        <p:spPr>
          <a:xfrm>
            <a:off x="548640" y="5404104"/>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Limitation</a:t>
            </a:r>
            <a:endParaRPr lang="en-US" sz="1200" dirty="0"/>
          </a:p>
        </p:txBody>
      </p:sp>
      <p:sp>
        <p:nvSpPr>
          <p:cNvPr id="19" name="Text 16"/>
          <p:cNvSpPr txBox="1"/>
          <p:nvPr/>
        </p:nvSpPr>
        <p:spPr>
          <a:xfrm>
            <a:off x="1737360" y="5404104"/>
            <a:ext cx="5394960" cy="914400"/>
          </a:xfrm>
          <a:prstGeom prst="rect">
            <a:avLst/>
          </a:prstGeom>
          <a:noFill/>
          <a:ln/>
        </p:spPr>
        <p:txBody>
          <a:bodyPr wrap="square" lIns="0" tIns="0" rIns="0" bIns="0" rtlCol="0" anchor="ctr"/>
          <a:lstStyle/>
          <a:p>
            <a:pPr indent="0" marL="0">
              <a:buNone/>
            </a:pPr>
            <a:r>
              <a:rPr lang="en-US" sz="1300" dirty="0">
                <a:solidFill>
                  <a:schemeClr val="tx1"/>
                </a:solidFill>
              </a:rPr>
              <a:t>Restore itself was out of scope (SCP-03) - our conclusion: identify it, not test it</a:t>
            </a:r>
            <a:endParaRPr lang="en-US" sz="1300" dirty="0"/>
          </a:p>
        </p:txBody>
      </p:sp>
      <p:sp>
        <p:nvSpPr>
          <p:cNvPr id="20" name="Card"/>
          <p:cNvSpPr/>
          <p:nvPr/>
        </p:nvSpPr>
        <p:spPr>
          <a:xfrm>
            <a:off x="7589520" y="1600200"/>
            <a:ext cx="4050792" cy="2331720"/>
          </a:xfrm>
          <a:prstGeom prst="roundRect">
            <a:avLst>
              <a:gd name="adj" fmla="val 3922"/>
            </a:avLst>
          </a:prstGeom>
          <a:solidFill>
            <a:schemeClr val="accent3">
              <a:alpha val="10000"/>
            </a:schemeClr>
          </a:solidFill>
          <a:ln/>
        </p:spPr>
      </p:sp>
      <p:sp>
        <p:nvSpPr>
          <p:cNvPr id="21" name="Text 18"/>
          <p:cNvSpPr txBox="1"/>
          <p:nvPr/>
        </p:nvSpPr>
        <p:spPr>
          <a:xfrm>
            <a:off x="7818120" y="1737360"/>
            <a:ext cx="3611880" cy="320040"/>
          </a:xfrm>
          <a:prstGeom prst="rect">
            <a:avLst/>
          </a:prstGeom>
          <a:noFill/>
          <a:ln/>
        </p:spPr>
        <p:txBody>
          <a:bodyPr wrap="square" lIns="0" tIns="0" rIns="0" bIns="0" rtlCol="0" anchor="t"/>
          <a:lstStyle/>
          <a:p>
            <a:pPr indent="0" marL="0">
              <a:buNone/>
            </a:pPr>
            <a:r>
              <a:rPr lang="en-US" sz="1500" b="1" dirty="0">
                <a:solidFill>
                  <a:schemeClr val="accent3"/>
                </a:solidFill>
              </a:rPr>
              <a:t>Why HIGH - severity rationale</a:t>
            </a:r>
            <a:endParaRPr lang="en-US" sz="1500" dirty="0"/>
          </a:p>
        </p:txBody>
      </p:sp>
      <p:sp>
        <p:nvSpPr>
          <p:cNvPr id="22" name="Text 19"/>
          <p:cNvSpPr txBox="1"/>
          <p:nvPr/>
        </p:nvSpPr>
        <p:spPr>
          <a:xfrm>
            <a:off x="7818120" y="2103120"/>
            <a:ext cx="3611880" cy="1737360"/>
          </a:xfrm>
          <a:prstGeom prst="rect">
            <a:avLst/>
          </a:prstGeom>
          <a:noFill/>
          <a:ln/>
        </p:spPr>
        <p:txBody>
          <a:bodyPr wrap="square" lIns="0" tIns="0" rIns="0" bIns="0" rtlCol="0" anchor="t"/>
          <a:lstStyle/>
          <a:p>
            <a:pPr indent="0" marL="0">
              <a:buNone/>
            </a:pPr>
            <a:r>
              <a:rPr lang="en-US" sz="1300" dirty="0">
                <a:solidFill>
                  <a:schemeClr val="tx1"/>
                </a:solidFill>
              </a:rPr>
              <a:t>A backup log proves copies exist, NOT that they work. If recovery fails once, the loss is total - all loans + catalog. Team challenged: kept High on effect, not score alone (REV-13-01)</a:t>
            </a:r>
            <a:endParaRPr lang="en-US" sz="1300" dirty="0"/>
          </a:p>
        </p:txBody>
      </p:sp>
      <p:sp>
        <p:nvSpPr>
          <p:cNvPr id="23" name="Card"/>
          <p:cNvSpPr/>
          <p:nvPr/>
        </p:nvSpPr>
        <p:spPr>
          <a:xfrm>
            <a:off x="7589520" y="4114800"/>
            <a:ext cx="4050792" cy="2103120"/>
          </a:xfrm>
          <a:prstGeom prst="roundRect">
            <a:avLst>
              <a:gd name="adj" fmla="val 4348"/>
            </a:avLst>
          </a:prstGeom>
          <a:solidFill>
            <a:schemeClr val="accent4">
              <a:alpha val="10000"/>
            </a:schemeClr>
          </a:solidFill>
          <a:ln/>
        </p:spPr>
      </p:sp>
      <p:sp>
        <p:nvSpPr>
          <p:cNvPr id="24" name="Text 21"/>
          <p:cNvSpPr txBox="1"/>
          <p:nvPr/>
        </p:nvSpPr>
        <p:spPr>
          <a:xfrm>
            <a:off x="7818120" y="4251960"/>
            <a:ext cx="3611880" cy="320040"/>
          </a:xfrm>
          <a:prstGeom prst="rect">
            <a:avLst/>
          </a:prstGeom>
          <a:noFill/>
          <a:ln/>
        </p:spPr>
        <p:txBody>
          <a:bodyPr wrap="square" lIns="0" tIns="0" rIns="0" bIns="0" rtlCol="0" anchor="t"/>
          <a:lstStyle/>
          <a:p>
            <a:pPr indent="0" marL="0">
              <a:buNone/>
            </a:pPr>
            <a:r>
              <a:rPr lang="en-US" sz="1500" b="1" dirty="0">
                <a:solidFill>
                  <a:schemeClr val="accent4"/>
                </a:solidFill>
              </a:rPr>
              <a:t>Recommendation REC-02</a:t>
            </a:r>
            <a:endParaRPr lang="en-US" sz="1500" dirty="0"/>
          </a:p>
        </p:txBody>
      </p:sp>
      <p:sp>
        <p:nvSpPr>
          <p:cNvPr id="25" name="Text 22"/>
          <p:cNvSpPr txBox="1"/>
          <p:nvPr/>
        </p:nvSpPr>
        <p:spPr>
          <a:xfrm>
            <a:off x="7818120" y="4617720"/>
            <a:ext cx="3611880" cy="1508760"/>
          </a:xfrm>
          <a:prstGeom prst="rect">
            <a:avLst/>
          </a:prstGeom>
          <a:noFill/>
          <a:ln/>
        </p:spPr>
        <p:txBody>
          <a:bodyPr wrap="square" lIns="0" tIns="0" rIns="0" bIns="0" rtlCol="0" anchor="t"/>
          <a:lstStyle/>
          <a:p>
            <a:pPr indent="0" marL="0">
              <a:buNone/>
            </a:pPr>
            <a:r>
              <a:rPr lang="en-US" sz="1300" dirty="0">
                <a:solidFill>
                  <a:schemeClr val="tx1"/>
                </a:solidFill>
              </a:rPr>
              <a:t>System Admin (ORG-03) runs ONE witnessed restore on a test copy + files approved restore steps; verified by reading the restore log</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Finding 3 - Borrower Data Exposure</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FND-03 | HIGH | RSK-07 + CMP-01/02 (Data Privacy Act context) | EVD-10-02/03 + EVD-13-02</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Text 3"/>
          <p:cNvSpPr txBox="1"/>
          <p:nvPr/>
        </p:nvSpPr>
        <p:spPr>
          <a:xfrm>
            <a:off x="548640" y="1600200"/>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Condition</a:t>
            </a:r>
            <a:endParaRPr lang="en-US" sz="1200" dirty="0"/>
          </a:p>
        </p:txBody>
      </p:sp>
      <p:sp>
        <p:nvSpPr>
          <p:cNvPr id="7" name="Text 4"/>
          <p:cNvSpPr txBox="1"/>
          <p:nvPr/>
        </p:nvSpPr>
        <p:spPr>
          <a:xfrm>
            <a:off x="1737360" y="1600200"/>
            <a:ext cx="5394960" cy="914400"/>
          </a:xfrm>
          <a:prstGeom prst="rect">
            <a:avLst/>
          </a:prstGeom>
          <a:noFill/>
          <a:ln/>
        </p:spPr>
        <p:txBody>
          <a:bodyPr wrap="square" lIns="0" tIns="0" rIns="0" bIns="0" rtlCol="0" anchor="ctr"/>
          <a:lstStyle/>
          <a:p>
            <a:pPr indent="0" marL="0">
              <a:buNone/>
            </a:pPr>
            <a:r>
              <a:rPr lang="en-US" sz="1300" dirty="0">
                <a:solidFill>
                  <a:schemeClr val="tx1"/>
                </a:solidFill>
              </a:rPr>
              <a:t>Staff roles open FULL borrower rows (name, school ID, fines); reports show names; export path has no extra rule</a:t>
            </a:r>
            <a:endParaRPr lang="en-US" sz="1300" dirty="0"/>
          </a:p>
        </p:txBody>
      </p:sp>
      <p:sp>
        <p:nvSpPr>
          <p:cNvPr id="8" name="Row divider"/>
          <p:cNvSpPr/>
          <p:nvPr/>
        </p:nvSpPr>
        <p:spPr>
          <a:xfrm>
            <a:off x="548640" y="2532888"/>
            <a:ext cx="6583680" cy="0"/>
          </a:xfrm>
          <a:prstGeom prst="line">
            <a:avLst/>
          </a:prstGeom>
          <a:noFill/>
          <a:ln w="12700">
            <a:solidFill>
              <a:schemeClr val="bg2"/>
            </a:solidFill>
            <a:prstDash val="solid"/>
          </a:ln>
        </p:spPr>
      </p:sp>
      <p:sp>
        <p:nvSpPr>
          <p:cNvPr id="9" name="Text 6"/>
          <p:cNvSpPr txBox="1"/>
          <p:nvPr/>
        </p:nvSpPr>
        <p:spPr>
          <a:xfrm>
            <a:off x="548640" y="2551176"/>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Criteria</a:t>
            </a:r>
            <a:endParaRPr lang="en-US" sz="1200" dirty="0"/>
          </a:p>
        </p:txBody>
      </p:sp>
      <p:sp>
        <p:nvSpPr>
          <p:cNvPr id="10" name="Text 7"/>
          <p:cNvSpPr txBox="1"/>
          <p:nvPr/>
        </p:nvSpPr>
        <p:spPr>
          <a:xfrm>
            <a:off x="1737360" y="2551176"/>
            <a:ext cx="5394960" cy="914400"/>
          </a:xfrm>
          <a:prstGeom prst="rect">
            <a:avLst/>
          </a:prstGeom>
          <a:noFill/>
          <a:ln/>
        </p:spPr>
        <p:txBody>
          <a:bodyPr wrap="square" lIns="0" tIns="0" rIns="0" bIns="0" rtlCol="0" anchor="ctr"/>
          <a:lstStyle/>
          <a:p>
            <a:pPr indent="0" marL="0">
              <a:buNone/>
            </a:pPr>
            <a:r>
              <a:rPr lang="en-US" sz="1300" dirty="0">
                <a:solidFill>
                  <a:schemeClr val="tx1"/>
                </a:solidFill>
              </a:rPr>
              <a:t>CMP-01/02 + CRT-01 - private data only for need-to-know roles; names hidden in reports</a:t>
            </a:r>
            <a:endParaRPr lang="en-US" sz="1300" dirty="0"/>
          </a:p>
        </p:txBody>
      </p:sp>
      <p:sp>
        <p:nvSpPr>
          <p:cNvPr id="11" name="Row divider"/>
          <p:cNvSpPr/>
          <p:nvPr/>
        </p:nvSpPr>
        <p:spPr>
          <a:xfrm>
            <a:off x="548640" y="3483864"/>
            <a:ext cx="6583680" cy="0"/>
          </a:xfrm>
          <a:prstGeom prst="line">
            <a:avLst/>
          </a:prstGeom>
          <a:noFill/>
          <a:ln w="12700">
            <a:solidFill>
              <a:schemeClr val="bg2"/>
            </a:solidFill>
            <a:prstDash val="solid"/>
          </a:ln>
        </p:spPr>
      </p:sp>
      <p:sp>
        <p:nvSpPr>
          <p:cNvPr id="12" name="Text 9"/>
          <p:cNvSpPr txBox="1"/>
          <p:nvPr/>
        </p:nvSpPr>
        <p:spPr>
          <a:xfrm>
            <a:off x="548640" y="3502152"/>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Cause</a:t>
            </a:r>
            <a:endParaRPr lang="en-US" sz="1200" dirty="0"/>
          </a:p>
        </p:txBody>
      </p:sp>
      <p:sp>
        <p:nvSpPr>
          <p:cNvPr id="13" name="Text 10"/>
          <p:cNvSpPr txBox="1"/>
          <p:nvPr/>
        </p:nvSpPr>
        <p:spPr>
          <a:xfrm>
            <a:off x="1737360" y="3502152"/>
            <a:ext cx="5394960" cy="914400"/>
          </a:xfrm>
          <a:prstGeom prst="rect">
            <a:avLst/>
          </a:prstGeom>
          <a:noFill/>
          <a:ln/>
        </p:spPr>
        <p:txBody>
          <a:bodyPr wrap="square" lIns="0" tIns="0" rIns="0" bIns="0" rtlCol="0" anchor="ctr"/>
          <a:lstStyle/>
          <a:p>
            <a:pPr indent="0" marL="0">
              <a:buNone/>
            </a:pPr>
            <a:r>
              <a:rPr lang="en-US" sz="1300" dirty="0">
                <a:solidFill>
                  <a:schemeClr val="tx1"/>
                </a:solidFill>
              </a:rPr>
              <a:t>Views built for desk speed; export path never fenced (code read)</a:t>
            </a:r>
            <a:endParaRPr lang="en-US" sz="1300" dirty="0"/>
          </a:p>
        </p:txBody>
      </p:sp>
      <p:sp>
        <p:nvSpPr>
          <p:cNvPr id="14" name="Row divider"/>
          <p:cNvSpPr/>
          <p:nvPr/>
        </p:nvSpPr>
        <p:spPr>
          <a:xfrm>
            <a:off x="548640" y="4434840"/>
            <a:ext cx="6583680" cy="0"/>
          </a:xfrm>
          <a:prstGeom prst="line">
            <a:avLst/>
          </a:prstGeom>
          <a:noFill/>
          <a:ln w="12700">
            <a:solidFill>
              <a:schemeClr val="bg2"/>
            </a:solidFill>
            <a:prstDash val="solid"/>
          </a:ln>
        </p:spPr>
      </p:sp>
      <p:sp>
        <p:nvSpPr>
          <p:cNvPr id="15" name="Text 12"/>
          <p:cNvSpPr txBox="1"/>
          <p:nvPr/>
        </p:nvSpPr>
        <p:spPr>
          <a:xfrm>
            <a:off x="548640" y="4453128"/>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Effect</a:t>
            </a:r>
            <a:endParaRPr lang="en-US" sz="1200" dirty="0"/>
          </a:p>
        </p:txBody>
      </p:sp>
      <p:sp>
        <p:nvSpPr>
          <p:cNvPr id="16" name="Text 13"/>
          <p:cNvSpPr txBox="1"/>
          <p:nvPr/>
        </p:nvSpPr>
        <p:spPr>
          <a:xfrm>
            <a:off x="1737360" y="4453128"/>
            <a:ext cx="5394960" cy="914400"/>
          </a:xfrm>
          <a:prstGeom prst="rect">
            <a:avLst/>
          </a:prstGeom>
          <a:noFill/>
          <a:ln/>
        </p:spPr>
        <p:txBody>
          <a:bodyPr wrap="square" lIns="0" tIns="0" rIns="0" bIns="0" rtlCol="0" anchor="ctr"/>
          <a:lstStyle/>
          <a:p>
            <a:pPr indent="0" marL="0">
              <a:buNone/>
            </a:pPr>
            <a:r>
              <a:rPr lang="en-US" sz="1300" dirty="0">
                <a:solidFill>
                  <a:schemeClr val="tx1"/>
                </a:solidFill>
              </a:rPr>
              <a:t>Curious or rogue staff could read/copy many student records - exposure; no misuse seen</a:t>
            </a:r>
            <a:endParaRPr lang="en-US" sz="1300" dirty="0"/>
          </a:p>
        </p:txBody>
      </p:sp>
      <p:sp>
        <p:nvSpPr>
          <p:cNvPr id="17" name="Row divider"/>
          <p:cNvSpPr/>
          <p:nvPr/>
        </p:nvSpPr>
        <p:spPr>
          <a:xfrm>
            <a:off x="548640" y="5385816"/>
            <a:ext cx="6583680" cy="0"/>
          </a:xfrm>
          <a:prstGeom prst="line">
            <a:avLst/>
          </a:prstGeom>
          <a:noFill/>
          <a:ln w="12700">
            <a:solidFill>
              <a:schemeClr val="bg2"/>
            </a:solidFill>
            <a:prstDash val="solid"/>
          </a:ln>
        </p:spPr>
      </p:sp>
      <p:sp>
        <p:nvSpPr>
          <p:cNvPr id="18" name="Text 15"/>
          <p:cNvSpPr txBox="1"/>
          <p:nvPr/>
        </p:nvSpPr>
        <p:spPr>
          <a:xfrm>
            <a:off x="548640" y="5404104"/>
            <a:ext cx="1143000" cy="914400"/>
          </a:xfrm>
          <a:prstGeom prst="rect">
            <a:avLst/>
          </a:prstGeom>
          <a:noFill/>
          <a:ln/>
        </p:spPr>
        <p:txBody>
          <a:bodyPr wrap="square" lIns="0" tIns="0" rIns="0" bIns="0" rtlCol="0" anchor="ctr"/>
          <a:lstStyle/>
          <a:p>
            <a:pPr indent="0" marL="0">
              <a:buNone/>
            </a:pPr>
            <a:r>
              <a:rPr lang="en-US" sz="1200" b="1" dirty="0">
                <a:solidFill>
                  <a:schemeClr val="accent1"/>
                </a:solidFill>
              </a:rPr>
              <a:t>Limitation</a:t>
            </a:r>
            <a:endParaRPr lang="en-US" sz="1200" dirty="0"/>
          </a:p>
        </p:txBody>
      </p:sp>
      <p:sp>
        <p:nvSpPr>
          <p:cNvPr id="19" name="Text 16"/>
          <p:cNvSpPr txBox="1"/>
          <p:nvPr/>
        </p:nvSpPr>
        <p:spPr>
          <a:xfrm>
            <a:off x="1737360" y="5404104"/>
            <a:ext cx="5394960" cy="914400"/>
          </a:xfrm>
          <a:prstGeom prst="rect">
            <a:avLst/>
          </a:prstGeom>
          <a:noFill/>
          <a:ln/>
        </p:spPr>
        <p:txBody>
          <a:bodyPr wrap="square" lIns="0" tIns="0" rIns="0" bIns="0" rtlCol="0" anchor="ctr"/>
          <a:lstStyle/>
          <a:p>
            <a:pPr indent="0" marL="0">
              <a:buNone/>
            </a:pPr>
            <a:r>
              <a:rPr lang="en-US" sz="1300" dirty="0">
                <a:solidFill>
                  <a:schemeClr val="tx1"/>
                </a:solidFill>
              </a:rPr>
              <a:t>Full export was never tested (not allowed); conclusion rests on views seen + missing rule</a:t>
            </a:r>
            <a:endParaRPr lang="en-US" sz="1300" dirty="0"/>
          </a:p>
        </p:txBody>
      </p:sp>
      <p:sp>
        <p:nvSpPr>
          <p:cNvPr id="20" name="Card"/>
          <p:cNvSpPr/>
          <p:nvPr/>
        </p:nvSpPr>
        <p:spPr>
          <a:xfrm>
            <a:off x="7589520" y="1600200"/>
            <a:ext cx="4050792" cy="2331720"/>
          </a:xfrm>
          <a:prstGeom prst="roundRect">
            <a:avLst>
              <a:gd name="adj" fmla="val 3922"/>
            </a:avLst>
          </a:prstGeom>
          <a:solidFill>
            <a:schemeClr val="accent3">
              <a:alpha val="10000"/>
            </a:schemeClr>
          </a:solidFill>
          <a:ln/>
        </p:spPr>
      </p:sp>
      <p:sp>
        <p:nvSpPr>
          <p:cNvPr id="21" name="Text 18"/>
          <p:cNvSpPr txBox="1"/>
          <p:nvPr/>
        </p:nvSpPr>
        <p:spPr>
          <a:xfrm>
            <a:off x="7818120" y="1737360"/>
            <a:ext cx="3611880" cy="320040"/>
          </a:xfrm>
          <a:prstGeom prst="rect">
            <a:avLst/>
          </a:prstGeom>
          <a:noFill/>
          <a:ln/>
        </p:spPr>
        <p:txBody>
          <a:bodyPr wrap="square" lIns="0" tIns="0" rIns="0" bIns="0" rtlCol="0" anchor="t"/>
          <a:lstStyle/>
          <a:p>
            <a:pPr indent="0" marL="0">
              <a:buNone/>
            </a:pPr>
            <a:r>
              <a:rPr lang="en-US" sz="1500" b="1" dirty="0">
                <a:solidFill>
                  <a:schemeClr val="accent3"/>
                </a:solidFill>
              </a:rPr>
              <a:t>Why HIGH</a:t>
            </a:r>
            <a:endParaRPr lang="en-US" sz="1500" dirty="0"/>
          </a:p>
        </p:txBody>
      </p:sp>
      <p:sp>
        <p:nvSpPr>
          <p:cNvPr id="22" name="Text 19"/>
          <p:cNvSpPr txBox="1"/>
          <p:nvPr/>
        </p:nvSpPr>
        <p:spPr>
          <a:xfrm>
            <a:off x="7818120" y="2103120"/>
            <a:ext cx="3611880" cy="1737360"/>
          </a:xfrm>
          <a:prstGeom prst="rect">
            <a:avLst/>
          </a:prstGeom>
          <a:noFill/>
          <a:ln/>
        </p:spPr>
        <p:txBody>
          <a:bodyPr wrap="square" lIns="0" tIns="0" rIns="0" bIns="0" rtlCol="0" anchor="t"/>
          <a:lstStyle/>
          <a:p>
            <a:pPr indent="0" marL="0">
              <a:buNone/>
            </a:pPr>
            <a:r>
              <a:rPr lang="en-US" sz="1300" dirty="0">
                <a:solidFill>
                  <a:schemeClr val="tx1"/>
                </a:solidFill>
              </a:rPr>
              <a:t>Many students affected + real privacy-law obligations; passing TEST-01 does not clear it: getting IN vs seeing WIDE are different questions</a:t>
            </a:r>
            <a:endParaRPr lang="en-US" sz="1300" dirty="0"/>
          </a:p>
        </p:txBody>
      </p:sp>
      <p:sp>
        <p:nvSpPr>
          <p:cNvPr id="23" name="Card"/>
          <p:cNvSpPr/>
          <p:nvPr/>
        </p:nvSpPr>
        <p:spPr>
          <a:xfrm>
            <a:off x="7589520" y="4114800"/>
            <a:ext cx="4050792" cy="2103120"/>
          </a:xfrm>
          <a:prstGeom prst="roundRect">
            <a:avLst>
              <a:gd name="adj" fmla="val 4348"/>
            </a:avLst>
          </a:prstGeom>
          <a:solidFill>
            <a:schemeClr val="accent4">
              <a:alpha val="10000"/>
            </a:schemeClr>
          </a:solidFill>
          <a:ln/>
        </p:spPr>
      </p:sp>
      <p:sp>
        <p:nvSpPr>
          <p:cNvPr id="24" name="Text 21"/>
          <p:cNvSpPr txBox="1"/>
          <p:nvPr/>
        </p:nvSpPr>
        <p:spPr>
          <a:xfrm>
            <a:off x="7818120" y="4251960"/>
            <a:ext cx="3611880" cy="320040"/>
          </a:xfrm>
          <a:prstGeom prst="rect">
            <a:avLst/>
          </a:prstGeom>
          <a:noFill/>
          <a:ln/>
        </p:spPr>
        <p:txBody>
          <a:bodyPr wrap="square" lIns="0" tIns="0" rIns="0" bIns="0" rtlCol="0" anchor="t"/>
          <a:lstStyle/>
          <a:p>
            <a:pPr indent="0" marL="0">
              <a:buNone/>
            </a:pPr>
            <a:r>
              <a:rPr lang="en-US" sz="1500" b="1" dirty="0">
                <a:solidFill>
                  <a:schemeClr val="accent4"/>
                </a:solidFill>
              </a:rPr>
              <a:t>Recommendation REC-03</a:t>
            </a:r>
            <a:endParaRPr lang="en-US" sz="1500" dirty="0"/>
          </a:p>
        </p:txBody>
      </p:sp>
      <p:sp>
        <p:nvSpPr>
          <p:cNvPr id="25" name="Text 22"/>
          <p:cNvSpPr txBox="1"/>
          <p:nvPr/>
        </p:nvSpPr>
        <p:spPr>
          <a:xfrm>
            <a:off x="7818120" y="4617720"/>
            <a:ext cx="3611880" cy="1508760"/>
          </a:xfrm>
          <a:prstGeom prst="rect">
            <a:avLst/>
          </a:prstGeom>
          <a:noFill/>
          <a:ln/>
        </p:spPr>
        <p:txBody>
          <a:bodyPr wrap="square" lIns="0" tIns="0" rIns="0" bIns="0" rtlCol="0" anchor="t"/>
          <a:lstStyle/>
          <a:p>
            <a:pPr indent="0" marL="0">
              <a:buNone/>
            </a:pPr>
            <a:r>
              <a:rPr lang="en-US" sz="1300" dirty="0">
                <a:solidFill>
                  <a:schemeClr val="tx1"/>
                </a:solidFill>
              </a:rPr>
              <a:t>Privacy role (ORG-05) narrows views to need-to-know, hides names in reports/exports, turns on an export log</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Conclusions Stand on Evidence - The Chain</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Example: FND-01 traced end-to-end; every finding has the same chain in the report</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Glenn Patrick B. Darriguez</a:t>
            </a:r>
            <a:endParaRPr lang="en-US" sz="1100" dirty="0"/>
          </a:p>
        </p:txBody>
      </p:sp>
      <p:sp>
        <p:nvSpPr>
          <p:cNvPr id="6" name="Chain step 1"/>
          <p:cNvSpPr/>
          <p:nvPr/>
        </p:nvSpPr>
        <p:spPr>
          <a:xfrm>
            <a:off x="548640" y="1691640"/>
            <a:ext cx="2057400" cy="2103120"/>
          </a:xfrm>
          <a:prstGeom prst="roundRect">
            <a:avLst>
              <a:gd name="adj" fmla="val 4444"/>
            </a:avLst>
          </a:prstGeom>
          <a:solidFill>
            <a:schemeClr val="bg2"/>
          </a:solidFill>
          <a:ln/>
          <a:effectLst>
            <a:outerShdw sx="100000" sy="100000" kx="0" ky="0" algn="bl" rotWithShape="0" blurRad="101600" dist="25400" dir="5400000">
              <a:srgbClr val="14232E">
                <a:alpha val="12000"/>
              </a:srgbClr>
            </a:outerShdw>
          </a:effectLst>
        </p:spPr>
      </p:sp>
      <p:sp>
        <p:nvSpPr>
          <p:cNvPr id="7" name="Step number"/>
          <p:cNvSpPr/>
          <p:nvPr/>
        </p:nvSpPr>
        <p:spPr>
          <a:xfrm>
            <a:off x="731520" y="1874520"/>
            <a:ext cx="384048" cy="384048"/>
          </a:xfrm>
          <a:prstGeom prst="ellipse">
            <a:avLst/>
          </a:prstGeom>
          <a:solidFill>
            <a:schemeClr val="accent1"/>
          </a:solidFill>
          <a:ln/>
        </p:spPr>
      </p:sp>
      <p:sp>
        <p:nvSpPr>
          <p:cNvPr id="8" name="Text 5"/>
          <p:cNvSpPr txBox="1"/>
          <p:nvPr/>
        </p:nvSpPr>
        <p:spPr>
          <a:xfrm>
            <a:off x="731520" y="1874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731520" y="2423160"/>
            <a:ext cx="1691640" cy="502920"/>
          </a:xfrm>
          <a:prstGeom prst="rect">
            <a:avLst/>
          </a:prstGeom>
          <a:noFill/>
          <a:ln/>
        </p:spPr>
        <p:txBody>
          <a:bodyPr wrap="square" lIns="0" tIns="0" rIns="0" bIns="0" rtlCol="0" anchor="t"/>
          <a:lstStyle/>
          <a:p>
            <a:pPr indent="0" marL="0">
              <a:buNone/>
            </a:pPr>
            <a:r>
              <a:rPr lang="en-US" sz="1400" b="1" dirty="0">
                <a:solidFill>
                  <a:schemeClr val="tx2"/>
                </a:solidFill>
              </a:rPr>
              <a:t>TEST-01</a:t>
            </a:r>
            <a:endParaRPr lang="en-US" sz="1400" dirty="0"/>
          </a:p>
        </p:txBody>
      </p:sp>
      <p:sp>
        <p:nvSpPr>
          <p:cNvPr id="10" name="Text 7"/>
          <p:cNvSpPr txBox="1"/>
          <p:nvPr/>
        </p:nvSpPr>
        <p:spPr>
          <a:xfrm>
            <a:off x="731520" y="2926080"/>
            <a:ext cx="1691640" cy="777240"/>
          </a:xfrm>
          <a:prstGeom prst="rect">
            <a:avLst/>
          </a:prstGeom>
          <a:noFill/>
          <a:ln/>
        </p:spPr>
        <p:txBody>
          <a:bodyPr wrap="square" lIns="0" tIns="0" rIns="0" bIns="0" rtlCol="0" anchor="t"/>
          <a:lstStyle/>
          <a:p>
            <a:pPr indent="0" marL="0">
              <a:buNone/>
            </a:pPr>
            <a:r>
              <a:rPr lang="en-US" sz="1200" dirty="0">
                <a:solidFill>
                  <a:schemeClr val="tx1"/>
                </a:solidFill>
              </a:rPr>
              <a:t>10/10 wrong-role blocked; no second step visible</a:t>
            </a:r>
            <a:endParaRPr lang="en-US" sz="1200" dirty="0"/>
          </a:p>
        </p:txBody>
      </p:sp>
      <p:sp>
        <p:nvSpPr>
          <p:cNvPr id="11" name="Text 8"/>
          <p:cNvSpPr txBox="1"/>
          <p:nvPr/>
        </p:nvSpPr>
        <p:spPr>
          <a:xfrm>
            <a:off x="2606040" y="2468880"/>
            <a:ext cx="182880" cy="457200"/>
          </a:xfrm>
          <a:prstGeom prst="rect">
            <a:avLst/>
          </a:prstGeom>
          <a:noFill/>
          <a:ln/>
        </p:spPr>
        <p:txBody>
          <a:bodyPr wrap="square" lIns="0" tIns="0" rIns="0" bIns="0" rtlCol="0" anchor="ctr"/>
          <a:lstStyle/>
          <a:p>
            <a:pPr algn="ctr" indent="0" marL="0">
              <a:buNone/>
            </a:pPr>
            <a:r>
              <a:rPr lang="en-US" sz="1600" b="1" dirty="0">
                <a:solidFill>
                  <a:schemeClr val="accent6"/>
                </a:solidFill>
              </a:rPr>
              <a:t>&gt;</a:t>
            </a:r>
            <a:endParaRPr lang="en-US" sz="1600" dirty="0"/>
          </a:p>
        </p:txBody>
      </p:sp>
      <p:sp>
        <p:nvSpPr>
          <p:cNvPr id="12" name="Chain step 2"/>
          <p:cNvSpPr/>
          <p:nvPr/>
        </p:nvSpPr>
        <p:spPr>
          <a:xfrm>
            <a:off x="2788920" y="1691640"/>
            <a:ext cx="2057400" cy="2103120"/>
          </a:xfrm>
          <a:prstGeom prst="roundRect">
            <a:avLst>
              <a:gd name="adj" fmla="val 4444"/>
            </a:avLst>
          </a:prstGeom>
          <a:solidFill>
            <a:schemeClr val="bg2"/>
          </a:solidFill>
          <a:ln/>
          <a:effectLst>
            <a:outerShdw sx="100000" sy="100000" kx="0" ky="0" algn="bl" rotWithShape="0" blurRad="101600" dist="25400" dir="5400000">
              <a:srgbClr val="14232E">
                <a:alpha val="12000"/>
              </a:srgbClr>
            </a:outerShdw>
          </a:effectLst>
        </p:spPr>
      </p:sp>
      <p:sp>
        <p:nvSpPr>
          <p:cNvPr id="13" name="Step number"/>
          <p:cNvSpPr/>
          <p:nvPr/>
        </p:nvSpPr>
        <p:spPr>
          <a:xfrm>
            <a:off x="2971800" y="1874520"/>
            <a:ext cx="384048" cy="384048"/>
          </a:xfrm>
          <a:prstGeom prst="ellipse">
            <a:avLst/>
          </a:prstGeom>
          <a:solidFill>
            <a:schemeClr val="accent1"/>
          </a:solidFill>
          <a:ln/>
        </p:spPr>
      </p:sp>
      <p:sp>
        <p:nvSpPr>
          <p:cNvPr id="14" name="Text 11"/>
          <p:cNvSpPr txBox="1"/>
          <p:nvPr/>
        </p:nvSpPr>
        <p:spPr>
          <a:xfrm>
            <a:off x="2971800" y="1874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2971800" y="2423160"/>
            <a:ext cx="1691640" cy="502920"/>
          </a:xfrm>
          <a:prstGeom prst="rect">
            <a:avLst/>
          </a:prstGeom>
          <a:noFill/>
          <a:ln/>
        </p:spPr>
        <p:txBody>
          <a:bodyPr wrap="square" lIns="0" tIns="0" rIns="0" bIns="0" rtlCol="0" anchor="t"/>
          <a:lstStyle/>
          <a:p>
            <a:pPr indent="0" marL="0">
              <a:buNone/>
            </a:pPr>
            <a:r>
              <a:rPr lang="en-US" sz="1400" b="1" dirty="0">
                <a:solidFill>
                  <a:schemeClr val="tx2"/>
                </a:solidFill>
              </a:rPr>
              <a:t>EVD-12-01 / EVD-13-01</a:t>
            </a:r>
            <a:endParaRPr lang="en-US" sz="1400" dirty="0"/>
          </a:p>
        </p:txBody>
      </p:sp>
      <p:sp>
        <p:nvSpPr>
          <p:cNvPr id="16" name="Text 13"/>
          <p:cNvSpPr txBox="1"/>
          <p:nvPr/>
        </p:nvSpPr>
        <p:spPr>
          <a:xfrm>
            <a:off x="2971800" y="2926080"/>
            <a:ext cx="1691640" cy="777240"/>
          </a:xfrm>
          <a:prstGeom prst="rect">
            <a:avLst/>
          </a:prstGeom>
          <a:noFill/>
          <a:ln/>
        </p:spPr>
        <p:txBody>
          <a:bodyPr wrap="square" lIns="0" tIns="0" rIns="0" bIns="0" rtlCol="0" anchor="t"/>
          <a:lstStyle/>
          <a:p>
            <a:pPr indent="0" marL="0">
              <a:buNone/>
            </a:pPr>
            <a:r>
              <a:rPr lang="en-US" sz="1200" dirty="0">
                <a:solidFill>
                  <a:schemeClr val="tx1"/>
                </a:solidFill>
              </a:rPr>
              <a:t>clean screenshots, dated, sanitized</a:t>
            </a:r>
            <a:endParaRPr lang="en-US" sz="1200" dirty="0"/>
          </a:p>
        </p:txBody>
      </p:sp>
      <p:sp>
        <p:nvSpPr>
          <p:cNvPr id="17" name="Text 14"/>
          <p:cNvSpPr txBox="1"/>
          <p:nvPr/>
        </p:nvSpPr>
        <p:spPr>
          <a:xfrm>
            <a:off x="4846320" y="2468880"/>
            <a:ext cx="182880" cy="457200"/>
          </a:xfrm>
          <a:prstGeom prst="rect">
            <a:avLst/>
          </a:prstGeom>
          <a:noFill/>
          <a:ln/>
        </p:spPr>
        <p:txBody>
          <a:bodyPr wrap="square" lIns="0" tIns="0" rIns="0" bIns="0" rtlCol="0" anchor="ctr"/>
          <a:lstStyle/>
          <a:p>
            <a:pPr algn="ctr" indent="0" marL="0">
              <a:buNone/>
            </a:pPr>
            <a:r>
              <a:rPr lang="en-US" sz="1600" b="1" dirty="0">
                <a:solidFill>
                  <a:schemeClr val="accent6"/>
                </a:solidFill>
              </a:rPr>
              <a:t>&gt;</a:t>
            </a:r>
            <a:endParaRPr lang="en-US" sz="1600" dirty="0"/>
          </a:p>
        </p:txBody>
      </p:sp>
      <p:sp>
        <p:nvSpPr>
          <p:cNvPr id="18" name="Chain step 3"/>
          <p:cNvSpPr/>
          <p:nvPr/>
        </p:nvSpPr>
        <p:spPr>
          <a:xfrm>
            <a:off x="5029200" y="1691640"/>
            <a:ext cx="2057400" cy="2103120"/>
          </a:xfrm>
          <a:prstGeom prst="roundRect">
            <a:avLst>
              <a:gd name="adj" fmla="val 4444"/>
            </a:avLst>
          </a:prstGeom>
          <a:solidFill>
            <a:schemeClr val="bg2"/>
          </a:solidFill>
          <a:ln/>
          <a:effectLst>
            <a:outerShdw sx="100000" sy="100000" kx="0" ky="0" algn="bl" rotWithShape="0" blurRad="101600" dist="25400" dir="5400000">
              <a:srgbClr val="14232E">
                <a:alpha val="12000"/>
              </a:srgbClr>
            </a:outerShdw>
          </a:effectLst>
        </p:spPr>
      </p:sp>
      <p:sp>
        <p:nvSpPr>
          <p:cNvPr id="19" name="Step number"/>
          <p:cNvSpPr/>
          <p:nvPr/>
        </p:nvSpPr>
        <p:spPr>
          <a:xfrm>
            <a:off x="5212080" y="1874520"/>
            <a:ext cx="384048" cy="384048"/>
          </a:xfrm>
          <a:prstGeom prst="ellipse">
            <a:avLst/>
          </a:prstGeom>
          <a:solidFill>
            <a:schemeClr val="accent1"/>
          </a:solidFill>
          <a:ln/>
        </p:spPr>
      </p:sp>
      <p:sp>
        <p:nvSpPr>
          <p:cNvPr id="20" name="Text 17"/>
          <p:cNvSpPr txBox="1"/>
          <p:nvPr/>
        </p:nvSpPr>
        <p:spPr>
          <a:xfrm>
            <a:off x="5212080" y="1874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5212080" y="2423160"/>
            <a:ext cx="1691640" cy="502920"/>
          </a:xfrm>
          <a:prstGeom prst="rect">
            <a:avLst/>
          </a:prstGeom>
          <a:noFill/>
          <a:ln/>
        </p:spPr>
        <p:txBody>
          <a:bodyPr wrap="square" lIns="0" tIns="0" rIns="0" bIns="0" rtlCol="0" anchor="t"/>
          <a:lstStyle/>
          <a:p>
            <a:pPr indent="0" marL="0">
              <a:buNone/>
            </a:pPr>
            <a:r>
              <a:rPr lang="en-US" sz="1400" b="1" dirty="0">
                <a:solidFill>
                  <a:schemeClr val="tx2"/>
                </a:solidFill>
              </a:rPr>
              <a:t>GAP-01</a:t>
            </a:r>
            <a:endParaRPr lang="en-US" sz="1400" dirty="0"/>
          </a:p>
        </p:txBody>
      </p:sp>
      <p:sp>
        <p:nvSpPr>
          <p:cNvPr id="22" name="Text 19"/>
          <p:cNvSpPr txBox="1"/>
          <p:nvPr/>
        </p:nvSpPr>
        <p:spPr>
          <a:xfrm>
            <a:off x="5212080" y="2926080"/>
            <a:ext cx="1691640" cy="777240"/>
          </a:xfrm>
          <a:prstGeom prst="rect">
            <a:avLst/>
          </a:prstGeom>
          <a:noFill/>
          <a:ln/>
        </p:spPr>
        <p:txBody>
          <a:bodyPr wrap="square" lIns="0" tIns="0" rIns="0" bIns="0" rtlCol="0" anchor="t"/>
          <a:lstStyle/>
          <a:p>
            <a:pPr indent="0" marL="0">
              <a:buNone/>
            </a:pPr>
            <a:r>
              <a:rPr lang="en-US" sz="1200" dirty="0">
                <a:solidFill>
                  <a:schemeClr val="tx1"/>
                </a:solidFill>
              </a:rPr>
              <a:t>missing control identified (CTL-01/CTL-02)</a:t>
            </a:r>
            <a:endParaRPr lang="en-US" sz="1200" dirty="0"/>
          </a:p>
        </p:txBody>
      </p:sp>
      <p:sp>
        <p:nvSpPr>
          <p:cNvPr id="23" name="Text 20"/>
          <p:cNvSpPr txBox="1"/>
          <p:nvPr/>
        </p:nvSpPr>
        <p:spPr>
          <a:xfrm>
            <a:off x="7086600" y="2468880"/>
            <a:ext cx="182880" cy="457200"/>
          </a:xfrm>
          <a:prstGeom prst="rect">
            <a:avLst/>
          </a:prstGeom>
          <a:noFill/>
          <a:ln/>
        </p:spPr>
        <p:txBody>
          <a:bodyPr wrap="square" lIns="0" tIns="0" rIns="0" bIns="0" rtlCol="0" anchor="ctr"/>
          <a:lstStyle/>
          <a:p>
            <a:pPr algn="ctr" indent="0" marL="0">
              <a:buNone/>
            </a:pPr>
            <a:r>
              <a:rPr lang="en-US" sz="1600" b="1" dirty="0">
                <a:solidFill>
                  <a:schemeClr val="accent6"/>
                </a:solidFill>
              </a:rPr>
              <a:t>&gt;</a:t>
            </a:r>
            <a:endParaRPr lang="en-US" sz="1600" dirty="0"/>
          </a:p>
        </p:txBody>
      </p:sp>
      <p:sp>
        <p:nvSpPr>
          <p:cNvPr id="24" name="Chain step 4"/>
          <p:cNvSpPr/>
          <p:nvPr/>
        </p:nvSpPr>
        <p:spPr>
          <a:xfrm>
            <a:off x="7269480" y="1691640"/>
            <a:ext cx="2057400" cy="2103120"/>
          </a:xfrm>
          <a:prstGeom prst="roundRect">
            <a:avLst>
              <a:gd name="adj" fmla="val 4444"/>
            </a:avLst>
          </a:prstGeom>
          <a:solidFill>
            <a:schemeClr val="bg2"/>
          </a:solidFill>
          <a:ln/>
          <a:effectLst>
            <a:outerShdw sx="100000" sy="100000" kx="0" ky="0" algn="bl" rotWithShape="0" blurRad="101600" dist="25400" dir="5400000">
              <a:srgbClr val="14232E">
                <a:alpha val="12000"/>
              </a:srgbClr>
            </a:outerShdw>
          </a:effectLst>
        </p:spPr>
      </p:sp>
      <p:sp>
        <p:nvSpPr>
          <p:cNvPr id="25" name="Step number"/>
          <p:cNvSpPr/>
          <p:nvPr/>
        </p:nvSpPr>
        <p:spPr>
          <a:xfrm>
            <a:off x="7452360" y="1874520"/>
            <a:ext cx="384048" cy="384048"/>
          </a:xfrm>
          <a:prstGeom prst="ellipse">
            <a:avLst/>
          </a:prstGeom>
          <a:solidFill>
            <a:schemeClr val="accent1"/>
          </a:solidFill>
          <a:ln/>
        </p:spPr>
      </p:sp>
      <p:sp>
        <p:nvSpPr>
          <p:cNvPr id="26" name="Text 23"/>
          <p:cNvSpPr txBox="1"/>
          <p:nvPr/>
        </p:nvSpPr>
        <p:spPr>
          <a:xfrm>
            <a:off x="7452360" y="1874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4"/>
          <p:cNvSpPr txBox="1"/>
          <p:nvPr/>
        </p:nvSpPr>
        <p:spPr>
          <a:xfrm>
            <a:off x="7452360" y="2423160"/>
            <a:ext cx="1691640" cy="502920"/>
          </a:xfrm>
          <a:prstGeom prst="rect">
            <a:avLst/>
          </a:prstGeom>
          <a:noFill/>
          <a:ln/>
        </p:spPr>
        <p:txBody>
          <a:bodyPr wrap="square" lIns="0" tIns="0" rIns="0" bIns="0" rtlCol="0" anchor="t"/>
          <a:lstStyle/>
          <a:p>
            <a:pPr indent="0" marL="0">
              <a:buNone/>
            </a:pPr>
            <a:r>
              <a:rPr lang="en-US" sz="1400" b="1" dirty="0">
                <a:solidFill>
                  <a:schemeClr val="tx2"/>
                </a:solidFill>
              </a:rPr>
              <a:t>FND-01</a:t>
            </a:r>
            <a:endParaRPr lang="en-US" sz="1400" dirty="0"/>
          </a:p>
        </p:txBody>
      </p:sp>
      <p:sp>
        <p:nvSpPr>
          <p:cNvPr id="28" name="Text 25"/>
          <p:cNvSpPr txBox="1"/>
          <p:nvPr/>
        </p:nvSpPr>
        <p:spPr>
          <a:xfrm>
            <a:off x="7452360" y="2926080"/>
            <a:ext cx="1691640" cy="777240"/>
          </a:xfrm>
          <a:prstGeom prst="rect">
            <a:avLst/>
          </a:prstGeom>
          <a:noFill/>
          <a:ln/>
        </p:spPr>
        <p:txBody>
          <a:bodyPr wrap="square" lIns="0" tIns="0" rIns="0" bIns="0" rtlCol="0" anchor="t"/>
          <a:lstStyle/>
          <a:p>
            <a:pPr indent="0" marL="0">
              <a:buNone/>
            </a:pPr>
            <a:r>
              <a:rPr lang="en-US" sz="1200" dirty="0">
                <a:solidFill>
                  <a:schemeClr val="tx1"/>
                </a:solidFill>
              </a:rPr>
              <a:t>condition + criteria + cause + effect + severity</a:t>
            </a:r>
            <a:endParaRPr lang="en-US" sz="1200" dirty="0"/>
          </a:p>
        </p:txBody>
      </p:sp>
      <p:sp>
        <p:nvSpPr>
          <p:cNvPr id="29" name="Text 26"/>
          <p:cNvSpPr txBox="1"/>
          <p:nvPr/>
        </p:nvSpPr>
        <p:spPr>
          <a:xfrm>
            <a:off x="9326880" y="2468880"/>
            <a:ext cx="182880" cy="457200"/>
          </a:xfrm>
          <a:prstGeom prst="rect">
            <a:avLst/>
          </a:prstGeom>
          <a:noFill/>
          <a:ln/>
        </p:spPr>
        <p:txBody>
          <a:bodyPr wrap="square" lIns="0" tIns="0" rIns="0" bIns="0" rtlCol="0" anchor="ctr"/>
          <a:lstStyle/>
          <a:p>
            <a:pPr algn="ctr" indent="0" marL="0">
              <a:buNone/>
            </a:pPr>
            <a:r>
              <a:rPr lang="en-US" sz="1600" b="1" dirty="0">
                <a:solidFill>
                  <a:schemeClr val="accent6"/>
                </a:solidFill>
              </a:rPr>
              <a:t>&gt;</a:t>
            </a:r>
            <a:endParaRPr lang="en-US" sz="1600" dirty="0"/>
          </a:p>
        </p:txBody>
      </p:sp>
      <p:sp>
        <p:nvSpPr>
          <p:cNvPr id="30" name="Chain step 5"/>
          <p:cNvSpPr/>
          <p:nvPr/>
        </p:nvSpPr>
        <p:spPr>
          <a:xfrm>
            <a:off x="9509760" y="1691640"/>
            <a:ext cx="2057400" cy="2103120"/>
          </a:xfrm>
          <a:prstGeom prst="roundRect">
            <a:avLst>
              <a:gd name="adj" fmla="val 4444"/>
            </a:avLst>
          </a:prstGeom>
          <a:solidFill>
            <a:schemeClr val="accent1"/>
          </a:solidFill>
          <a:ln/>
          <a:effectLst>
            <a:outerShdw sx="100000" sy="100000" kx="0" ky="0" algn="bl" rotWithShape="0" blurRad="101600" dist="25400" dir="5400000">
              <a:srgbClr val="14232E">
                <a:alpha val="12000"/>
              </a:srgbClr>
            </a:outerShdw>
          </a:effectLst>
        </p:spPr>
      </p:sp>
      <p:sp>
        <p:nvSpPr>
          <p:cNvPr id="31" name="Step number"/>
          <p:cNvSpPr/>
          <p:nvPr/>
        </p:nvSpPr>
        <p:spPr>
          <a:xfrm>
            <a:off x="9692640" y="1874520"/>
            <a:ext cx="384048" cy="384048"/>
          </a:xfrm>
          <a:prstGeom prst="ellipse">
            <a:avLst/>
          </a:prstGeom>
          <a:solidFill>
            <a:schemeClr val="bg1"/>
          </a:solidFill>
          <a:ln/>
        </p:spPr>
      </p:sp>
      <p:sp>
        <p:nvSpPr>
          <p:cNvPr id="32" name="Text 29"/>
          <p:cNvSpPr txBox="1"/>
          <p:nvPr/>
        </p:nvSpPr>
        <p:spPr>
          <a:xfrm>
            <a:off x="9692640" y="18745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33" name="Text 30"/>
          <p:cNvSpPr txBox="1"/>
          <p:nvPr/>
        </p:nvSpPr>
        <p:spPr>
          <a:xfrm>
            <a:off x="9692640" y="2423160"/>
            <a:ext cx="1691640" cy="502920"/>
          </a:xfrm>
          <a:prstGeom prst="rect">
            <a:avLst/>
          </a:prstGeom>
          <a:noFill/>
          <a:ln/>
        </p:spPr>
        <p:txBody>
          <a:bodyPr wrap="square" lIns="0" tIns="0" rIns="0" bIns="0" rtlCol="0" anchor="t"/>
          <a:lstStyle/>
          <a:p>
            <a:pPr indent="0" marL="0">
              <a:buNone/>
            </a:pPr>
            <a:r>
              <a:rPr lang="en-US" sz="1400" b="1" dirty="0">
                <a:solidFill>
                  <a:schemeClr val="bg1"/>
                </a:solidFill>
              </a:rPr>
              <a:t>REC-01 / MAP-01</a:t>
            </a:r>
            <a:endParaRPr lang="en-US" sz="1400" dirty="0"/>
          </a:p>
        </p:txBody>
      </p:sp>
      <p:sp>
        <p:nvSpPr>
          <p:cNvPr id="34" name="Text 31"/>
          <p:cNvSpPr txBox="1"/>
          <p:nvPr/>
        </p:nvSpPr>
        <p:spPr>
          <a:xfrm>
            <a:off x="9692640" y="2926080"/>
            <a:ext cx="1691640" cy="777240"/>
          </a:xfrm>
          <a:prstGeom prst="rect">
            <a:avLst/>
          </a:prstGeom>
          <a:noFill/>
          <a:ln/>
        </p:spPr>
        <p:txBody>
          <a:bodyPr wrap="square" lIns="0" tIns="0" rIns="0" bIns="0" rtlCol="0" anchor="t"/>
          <a:lstStyle/>
          <a:p>
            <a:pPr indent="0" marL="0">
              <a:buNone/>
            </a:pPr>
            <a:r>
              <a:rPr lang="en-US" sz="1200" dirty="0">
                <a:solidFill>
                  <a:schemeClr val="bg1"/>
                </a:solidFill>
              </a:rPr>
              <a:t>rule-focused action, owner + target set</a:t>
            </a:r>
            <a:endParaRPr lang="en-US" sz="1200" dirty="0"/>
          </a:p>
        </p:txBody>
      </p:sp>
      <p:sp>
        <p:nvSpPr>
          <p:cNvPr id="35" name="Card"/>
          <p:cNvSpPr/>
          <p:nvPr/>
        </p:nvSpPr>
        <p:spPr>
          <a:xfrm>
            <a:off x="548640" y="4206240"/>
            <a:ext cx="3566160" cy="1920240"/>
          </a:xfrm>
          <a:prstGeom prst="roundRect">
            <a:avLst>
              <a:gd name="adj" fmla="val 4762"/>
            </a:avLst>
          </a:prstGeom>
          <a:solidFill>
            <a:schemeClr val="bg2"/>
          </a:solidFill>
          <a:ln/>
        </p:spPr>
      </p:sp>
      <p:sp>
        <p:nvSpPr>
          <p:cNvPr id="36" name="Text 33"/>
          <p:cNvSpPr txBox="1"/>
          <p:nvPr/>
        </p:nvSpPr>
        <p:spPr>
          <a:xfrm>
            <a:off x="777240" y="4343400"/>
            <a:ext cx="3108960" cy="1645920"/>
          </a:xfrm>
          <a:prstGeom prst="rect">
            <a:avLst/>
          </a:prstGeom>
          <a:noFill/>
          <a:ln/>
        </p:spPr>
        <p:txBody>
          <a:bodyPr wrap="square" lIns="0" tIns="0" rIns="0" bIns="0" rtlCol="0" anchor="ctr"/>
          <a:lstStyle/>
          <a:p>
            <a:pPr indent="0" marL="0">
              <a:buNone/>
            </a:pPr>
            <a:r>
              <a:rPr lang="en-US" sz="1400" dirty="0">
                <a:solidFill>
                  <a:schemeClr val="tx1"/>
                </a:solidFill>
              </a:rPr>
              <a:t>Same chain for FND-02 (TEST-05 -&gt; EVD-12-04 -&gt; GAP-02) and FND-03 (TEST-01/EVD-10/13 -&gt; GAP-04).</a:t>
            </a:r>
            <a:endParaRPr lang="en-US" sz="1400" dirty="0"/>
          </a:p>
        </p:txBody>
      </p:sp>
      <p:sp>
        <p:nvSpPr>
          <p:cNvPr id="37" name="Card"/>
          <p:cNvSpPr/>
          <p:nvPr/>
        </p:nvSpPr>
        <p:spPr>
          <a:xfrm>
            <a:off x="4315968" y="4206240"/>
            <a:ext cx="3566160" cy="1920240"/>
          </a:xfrm>
          <a:prstGeom prst="roundRect">
            <a:avLst>
              <a:gd name="adj" fmla="val 4762"/>
            </a:avLst>
          </a:prstGeom>
          <a:solidFill>
            <a:schemeClr val="bg2"/>
          </a:solidFill>
          <a:ln/>
        </p:spPr>
      </p:sp>
      <p:sp>
        <p:nvSpPr>
          <p:cNvPr id="38" name="Text 35"/>
          <p:cNvSpPr txBox="1"/>
          <p:nvPr/>
        </p:nvSpPr>
        <p:spPr>
          <a:xfrm>
            <a:off x="4544568" y="4343400"/>
            <a:ext cx="3108960" cy="1645920"/>
          </a:xfrm>
          <a:prstGeom prst="rect">
            <a:avLst/>
          </a:prstGeom>
          <a:noFill/>
          <a:ln/>
        </p:spPr>
        <p:txBody>
          <a:bodyPr wrap="square" lIns="0" tIns="0" rIns="0" bIns="0" rtlCol="0" anchor="ctr"/>
          <a:lstStyle/>
          <a:p>
            <a:pPr indent="0" marL="0">
              <a:buNone/>
            </a:pPr>
            <a:r>
              <a:rPr lang="en-US" sz="1400" dirty="0">
                <a:solidFill>
                  <a:schemeClr val="tx1"/>
                </a:solidFill>
              </a:rPr>
              <a:t>20 evidence items indexed in the final report (EVD-09-01 .. EVD-13-02) - each with source, date, privacy treatment, and written limitation.</a:t>
            </a:r>
            <a:endParaRPr lang="en-US" sz="1400" dirty="0"/>
          </a:p>
        </p:txBody>
      </p:sp>
      <p:sp>
        <p:nvSpPr>
          <p:cNvPr id="39" name="Card"/>
          <p:cNvSpPr/>
          <p:nvPr/>
        </p:nvSpPr>
        <p:spPr>
          <a:xfrm>
            <a:off x="8083296" y="4206240"/>
            <a:ext cx="3566160" cy="1920240"/>
          </a:xfrm>
          <a:prstGeom prst="roundRect">
            <a:avLst>
              <a:gd name="adj" fmla="val 4762"/>
            </a:avLst>
          </a:prstGeom>
          <a:solidFill>
            <a:schemeClr val="bg2"/>
          </a:solidFill>
          <a:ln/>
        </p:spPr>
      </p:sp>
      <p:sp>
        <p:nvSpPr>
          <p:cNvPr id="40" name="Text 37"/>
          <p:cNvSpPr txBox="1"/>
          <p:nvPr/>
        </p:nvSpPr>
        <p:spPr>
          <a:xfrm>
            <a:off x="8311896" y="4343400"/>
            <a:ext cx="3108960" cy="1645920"/>
          </a:xfrm>
          <a:prstGeom prst="rect">
            <a:avLst/>
          </a:prstGeom>
          <a:noFill/>
          <a:ln/>
        </p:spPr>
        <p:txBody>
          <a:bodyPr wrap="square" lIns="0" tIns="0" rIns="0" bIns="0" rtlCol="0" anchor="ctr"/>
          <a:lstStyle/>
          <a:p>
            <a:pPr indent="0" marL="0">
              <a:buNone/>
            </a:pPr>
            <a:r>
              <a:rPr lang="en-US" sz="1400" dirty="0">
                <a:solidFill>
                  <a:schemeClr val="tx1"/>
                </a:solidFill>
              </a:rPr>
              <a:t>Evidence protection: names hidden, counts only, secrets excluded - nothing sensitive leaves the controlled folder.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We Recommend - and Honestly, What It Is Not Yet</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Roadmap: 3 actions, owners, priorities, target results - status: Proposed (library not yet confirmed)</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Ma. Jenifer L. Labag</a:t>
            </a:r>
            <a:endParaRPr lang="en-US" sz="1100" dirty="0"/>
          </a:p>
        </p:txBody>
      </p:sp>
      <p:sp>
        <p:nvSpPr>
          <p:cNvPr id="6" name="Card"/>
          <p:cNvSpPr/>
          <p:nvPr/>
        </p:nvSpPr>
        <p:spPr>
          <a:xfrm>
            <a:off x="548640" y="1600200"/>
            <a:ext cx="3520440" cy="3611880"/>
          </a:xfrm>
          <a:prstGeom prst="roundRect">
            <a:avLst>
              <a:gd name="adj" fmla="val 2597"/>
            </a:avLst>
          </a:prstGeom>
          <a:solidFill>
            <a:schemeClr val="bg2"/>
          </a:solidFill>
          <a:ln/>
          <a:effectLst>
            <a:outerShdw sx="100000" sy="100000" kx="0" ky="0" algn="bl" rotWithShape="0" blurRad="101600" dist="25400" dir="5400000">
              <a:srgbClr val="14232E">
                <a:alpha val="12000"/>
              </a:srgbClr>
            </a:outerShdw>
          </a:effectLst>
        </p:spPr>
      </p:sp>
      <p:sp>
        <p:nvSpPr>
          <p:cNvPr id="7" name="Text 4"/>
          <p:cNvSpPr txBox="1"/>
          <p:nvPr/>
        </p:nvSpPr>
        <p:spPr>
          <a:xfrm>
            <a:off x="777240" y="1783080"/>
            <a:ext cx="2377440" cy="274320"/>
          </a:xfrm>
          <a:prstGeom prst="rect">
            <a:avLst/>
          </a:prstGeom>
          <a:noFill/>
          <a:ln/>
        </p:spPr>
        <p:txBody>
          <a:bodyPr wrap="square" lIns="0" tIns="0" rIns="0" bIns="0" rtlCol="0" anchor="t"/>
          <a:lstStyle/>
          <a:p>
            <a:pPr indent="0" marL="0">
              <a:buNone/>
            </a:pPr>
            <a:r>
              <a:rPr lang="en-US" sz="1200" b="1" dirty="0">
                <a:solidFill>
                  <a:schemeClr val="accent1"/>
                </a:solidFill>
              </a:rPr>
              <a:t>REC-01  |  MAP-01</a:t>
            </a:r>
            <a:endParaRPr lang="en-US" sz="1200" dirty="0"/>
          </a:p>
        </p:txBody>
      </p:sp>
      <p:sp>
        <p:nvSpPr>
          <p:cNvPr id="8" name="Pill High"/>
          <p:cNvSpPr/>
          <p:nvPr/>
        </p:nvSpPr>
        <p:spPr>
          <a:xfrm>
            <a:off x="3108960" y="1764792"/>
            <a:ext cx="7315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9" name="Text 6"/>
          <p:cNvSpPr txBox="1"/>
          <p:nvPr/>
        </p:nvSpPr>
        <p:spPr>
          <a:xfrm>
            <a:off x="777240" y="2194560"/>
            <a:ext cx="3063240" cy="8686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Second login check for staff + admin accounts</a:t>
            </a:r>
            <a:endParaRPr lang="en-US" sz="1700" dirty="0"/>
          </a:p>
        </p:txBody>
      </p:sp>
      <p:sp>
        <p:nvSpPr>
          <p:cNvPr id="10" name="Text 7"/>
          <p:cNvSpPr txBox="1"/>
          <p:nvPr/>
        </p:nvSpPr>
        <p:spPr>
          <a:xfrm>
            <a:off x="777240" y="320040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Owner</a:t>
            </a:r>
            <a:endParaRPr lang="en-US" sz="1100" dirty="0"/>
          </a:p>
        </p:txBody>
      </p:sp>
      <p:sp>
        <p:nvSpPr>
          <p:cNvPr id="11" name="Text 8"/>
          <p:cNvSpPr txBox="1"/>
          <p:nvPr/>
        </p:nvSpPr>
        <p:spPr>
          <a:xfrm>
            <a:off x="1508760" y="3200400"/>
            <a:ext cx="2331720" cy="548640"/>
          </a:xfrm>
          <a:prstGeom prst="rect">
            <a:avLst/>
          </a:prstGeom>
          <a:noFill/>
          <a:ln/>
        </p:spPr>
        <p:txBody>
          <a:bodyPr wrap="square" lIns="0" tIns="0" rIns="0" bIns="0" rtlCol="0" anchor="ctr"/>
          <a:lstStyle/>
          <a:p>
            <a:pPr indent="0" marL="0">
              <a:buNone/>
            </a:pPr>
            <a:r>
              <a:rPr lang="en-US" sz="1300" dirty="0">
                <a:solidFill>
                  <a:schemeClr val="tx1"/>
                </a:solidFill>
              </a:rPr>
              <a:t>Access Approver (ORG-02)</a:t>
            </a:r>
            <a:endParaRPr lang="en-US" sz="1300" dirty="0"/>
          </a:p>
        </p:txBody>
      </p:sp>
      <p:sp>
        <p:nvSpPr>
          <p:cNvPr id="12" name="Text 9"/>
          <p:cNvSpPr txBox="1"/>
          <p:nvPr/>
        </p:nvSpPr>
        <p:spPr>
          <a:xfrm>
            <a:off x="777240" y="384048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Target</a:t>
            </a:r>
            <a:endParaRPr lang="en-US" sz="1100" dirty="0"/>
          </a:p>
        </p:txBody>
      </p:sp>
      <p:sp>
        <p:nvSpPr>
          <p:cNvPr id="13" name="Text 10"/>
          <p:cNvSpPr txBox="1"/>
          <p:nvPr/>
        </p:nvSpPr>
        <p:spPr>
          <a:xfrm>
            <a:off x="1508760" y="3840480"/>
            <a:ext cx="2331720" cy="548640"/>
          </a:xfrm>
          <a:prstGeom prst="rect">
            <a:avLst/>
          </a:prstGeom>
          <a:noFill/>
          <a:ln/>
        </p:spPr>
        <p:txBody>
          <a:bodyPr wrap="square" lIns="0" tIns="0" rIns="0" bIns="0" rtlCol="0" anchor="ctr"/>
          <a:lstStyle/>
          <a:p>
            <a:pPr indent="0" marL="0">
              <a:buNone/>
            </a:pPr>
            <a:r>
              <a:rPr lang="en-US" sz="1300" dirty="0">
                <a:solidFill>
                  <a:schemeClr val="tx1"/>
                </a:solidFill>
              </a:rPr>
              <a:t>Next release</a:t>
            </a:r>
            <a:endParaRPr lang="en-US" sz="1300" dirty="0"/>
          </a:p>
        </p:txBody>
      </p:sp>
      <p:sp>
        <p:nvSpPr>
          <p:cNvPr id="14" name="Text 11"/>
          <p:cNvSpPr txBox="1"/>
          <p:nvPr/>
        </p:nvSpPr>
        <p:spPr>
          <a:xfrm>
            <a:off x="777240" y="448056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Result</a:t>
            </a:r>
            <a:endParaRPr lang="en-US" sz="1100" dirty="0"/>
          </a:p>
        </p:txBody>
      </p:sp>
      <p:sp>
        <p:nvSpPr>
          <p:cNvPr id="15" name="Text 12"/>
          <p:cNvSpPr txBox="1"/>
          <p:nvPr/>
        </p:nvSpPr>
        <p:spPr>
          <a:xfrm>
            <a:off x="1508760" y="4480560"/>
            <a:ext cx="2331720" cy="548640"/>
          </a:xfrm>
          <a:prstGeom prst="rect">
            <a:avLst/>
          </a:prstGeom>
          <a:noFill/>
          <a:ln/>
        </p:spPr>
        <p:txBody>
          <a:bodyPr wrap="square" lIns="0" tIns="0" rIns="0" bIns="0" rtlCol="0" anchor="ctr"/>
          <a:lstStyle/>
          <a:p>
            <a:pPr indent="0" marL="0">
              <a:buNone/>
            </a:pPr>
            <a:r>
              <a:rPr lang="en-US" sz="1300" dirty="0">
                <a:solidFill>
                  <a:schemeClr val="tx1"/>
                </a:solidFill>
              </a:rPr>
              <a:t>Stolen password alone fails</a:t>
            </a:r>
            <a:endParaRPr lang="en-US" sz="1300" dirty="0"/>
          </a:p>
        </p:txBody>
      </p:sp>
      <p:sp>
        <p:nvSpPr>
          <p:cNvPr id="16" name="Card"/>
          <p:cNvSpPr/>
          <p:nvPr/>
        </p:nvSpPr>
        <p:spPr>
          <a:xfrm>
            <a:off x="4366260" y="1600200"/>
            <a:ext cx="3520440" cy="3611880"/>
          </a:xfrm>
          <a:prstGeom prst="roundRect">
            <a:avLst>
              <a:gd name="adj" fmla="val 2597"/>
            </a:avLst>
          </a:prstGeom>
          <a:solidFill>
            <a:schemeClr val="bg2"/>
          </a:solidFill>
          <a:ln/>
          <a:effectLst>
            <a:outerShdw sx="100000" sy="100000" kx="0" ky="0" algn="bl" rotWithShape="0" blurRad="101600" dist="25400" dir="5400000">
              <a:srgbClr val="14232E">
                <a:alpha val="12000"/>
              </a:srgbClr>
            </a:outerShdw>
          </a:effectLst>
        </p:spPr>
      </p:sp>
      <p:sp>
        <p:nvSpPr>
          <p:cNvPr id="17" name="Text 14"/>
          <p:cNvSpPr txBox="1"/>
          <p:nvPr/>
        </p:nvSpPr>
        <p:spPr>
          <a:xfrm>
            <a:off x="4594860" y="1783080"/>
            <a:ext cx="2377440" cy="274320"/>
          </a:xfrm>
          <a:prstGeom prst="rect">
            <a:avLst/>
          </a:prstGeom>
          <a:noFill/>
          <a:ln/>
        </p:spPr>
        <p:txBody>
          <a:bodyPr wrap="square" lIns="0" tIns="0" rIns="0" bIns="0" rtlCol="0" anchor="t"/>
          <a:lstStyle/>
          <a:p>
            <a:pPr indent="0" marL="0">
              <a:buNone/>
            </a:pPr>
            <a:r>
              <a:rPr lang="en-US" sz="1200" b="1" dirty="0">
                <a:solidFill>
                  <a:schemeClr val="accent1"/>
                </a:solidFill>
              </a:rPr>
              <a:t>REC-02  |  MAP-02</a:t>
            </a:r>
            <a:endParaRPr lang="en-US" sz="1200" dirty="0"/>
          </a:p>
        </p:txBody>
      </p:sp>
      <p:sp>
        <p:nvSpPr>
          <p:cNvPr id="18" name="Pill High"/>
          <p:cNvSpPr/>
          <p:nvPr/>
        </p:nvSpPr>
        <p:spPr>
          <a:xfrm>
            <a:off x="6926580" y="1764792"/>
            <a:ext cx="7315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9" name="Text 16"/>
          <p:cNvSpPr txBox="1"/>
          <p:nvPr/>
        </p:nvSpPr>
        <p:spPr>
          <a:xfrm>
            <a:off x="4594860" y="2194560"/>
            <a:ext cx="3063240" cy="8686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One witnessed restore on a test copy + filed steps</a:t>
            </a:r>
            <a:endParaRPr lang="en-US" sz="1700" dirty="0"/>
          </a:p>
        </p:txBody>
      </p:sp>
      <p:sp>
        <p:nvSpPr>
          <p:cNvPr id="20" name="Text 17"/>
          <p:cNvSpPr txBox="1"/>
          <p:nvPr/>
        </p:nvSpPr>
        <p:spPr>
          <a:xfrm>
            <a:off x="4594860" y="320040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Owner</a:t>
            </a:r>
            <a:endParaRPr lang="en-US" sz="1100" dirty="0"/>
          </a:p>
        </p:txBody>
      </p:sp>
      <p:sp>
        <p:nvSpPr>
          <p:cNvPr id="21" name="Text 18"/>
          <p:cNvSpPr txBox="1"/>
          <p:nvPr/>
        </p:nvSpPr>
        <p:spPr>
          <a:xfrm>
            <a:off x="5326380" y="3200400"/>
            <a:ext cx="2331720" cy="548640"/>
          </a:xfrm>
          <a:prstGeom prst="rect">
            <a:avLst/>
          </a:prstGeom>
          <a:noFill/>
          <a:ln/>
        </p:spPr>
        <p:txBody>
          <a:bodyPr wrap="square" lIns="0" tIns="0" rIns="0" bIns="0" rtlCol="0" anchor="ctr"/>
          <a:lstStyle/>
          <a:p>
            <a:pPr indent="0" marL="0">
              <a:buNone/>
            </a:pPr>
            <a:r>
              <a:rPr lang="en-US" sz="1300" dirty="0">
                <a:solidFill>
                  <a:schemeClr val="tx1"/>
                </a:solidFill>
              </a:rPr>
              <a:t>System Admin (ORG-03)</a:t>
            </a:r>
            <a:endParaRPr lang="en-US" sz="1300" dirty="0"/>
          </a:p>
        </p:txBody>
      </p:sp>
      <p:sp>
        <p:nvSpPr>
          <p:cNvPr id="22" name="Text 19"/>
          <p:cNvSpPr txBox="1"/>
          <p:nvPr/>
        </p:nvSpPr>
        <p:spPr>
          <a:xfrm>
            <a:off x="4594860" y="384048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Target</a:t>
            </a:r>
            <a:endParaRPr lang="en-US" sz="1100" dirty="0"/>
          </a:p>
        </p:txBody>
      </p:sp>
      <p:sp>
        <p:nvSpPr>
          <p:cNvPr id="23" name="Text 20"/>
          <p:cNvSpPr txBox="1"/>
          <p:nvPr/>
        </p:nvSpPr>
        <p:spPr>
          <a:xfrm>
            <a:off x="5326380" y="3840480"/>
            <a:ext cx="2331720" cy="548640"/>
          </a:xfrm>
          <a:prstGeom prst="rect">
            <a:avLst/>
          </a:prstGeom>
          <a:noFill/>
          <a:ln/>
        </p:spPr>
        <p:txBody>
          <a:bodyPr wrap="square" lIns="0" tIns="0" rIns="0" bIns="0" rtlCol="0" anchor="ctr"/>
          <a:lstStyle/>
          <a:p>
            <a:pPr indent="0" marL="0">
              <a:buNone/>
            </a:pPr>
            <a:r>
              <a:rPr lang="en-US" sz="1300" dirty="0">
                <a:solidFill>
                  <a:schemeClr val="tx1"/>
                </a:solidFill>
              </a:rPr>
              <a:t>Before final defense</a:t>
            </a:r>
            <a:endParaRPr lang="en-US" sz="1300" dirty="0"/>
          </a:p>
        </p:txBody>
      </p:sp>
      <p:sp>
        <p:nvSpPr>
          <p:cNvPr id="24" name="Text 21"/>
          <p:cNvSpPr txBox="1"/>
          <p:nvPr/>
        </p:nvSpPr>
        <p:spPr>
          <a:xfrm>
            <a:off x="4594860" y="448056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Result</a:t>
            </a:r>
            <a:endParaRPr lang="en-US" sz="1100" dirty="0"/>
          </a:p>
        </p:txBody>
      </p:sp>
      <p:sp>
        <p:nvSpPr>
          <p:cNvPr id="25" name="Text 22"/>
          <p:cNvSpPr txBox="1"/>
          <p:nvPr/>
        </p:nvSpPr>
        <p:spPr>
          <a:xfrm>
            <a:off x="5326380" y="4480560"/>
            <a:ext cx="2331720" cy="548640"/>
          </a:xfrm>
          <a:prstGeom prst="rect">
            <a:avLst/>
          </a:prstGeom>
          <a:noFill/>
          <a:ln/>
        </p:spPr>
        <p:txBody>
          <a:bodyPr wrap="square" lIns="0" tIns="0" rIns="0" bIns="0" rtlCol="0" anchor="ctr"/>
          <a:lstStyle/>
          <a:p>
            <a:pPr indent="0" marL="0">
              <a:buNone/>
            </a:pPr>
            <a:r>
              <a:rPr lang="en-US" sz="1300" dirty="0">
                <a:solidFill>
                  <a:schemeClr val="tx1"/>
                </a:solidFill>
              </a:rPr>
              <a:t>Recovery becomes demonstrable</a:t>
            </a:r>
            <a:endParaRPr lang="en-US" sz="1300" dirty="0"/>
          </a:p>
        </p:txBody>
      </p:sp>
      <p:sp>
        <p:nvSpPr>
          <p:cNvPr id="26" name="Card"/>
          <p:cNvSpPr/>
          <p:nvPr/>
        </p:nvSpPr>
        <p:spPr>
          <a:xfrm>
            <a:off x="8183880" y="1600200"/>
            <a:ext cx="3520440" cy="3611880"/>
          </a:xfrm>
          <a:prstGeom prst="roundRect">
            <a:avLst>
              <a:gd name="adj" fmla="val 2597"/>
            </a:avLst>
          </a:prstGeom>
          <a:solidFill>
            <a:schemeClr val="bg2"/>
          </a:solidFill>
          <a:ln/>
          <a:effectLst>
            <a:outerShdw sx="100000" sy="100000" kx="0" ky="0" algn="bl" rotWithShape="0" blurRad="101600" dist="25400" dir="5400000">
              <a:srgbClr val="14232E">
                <a:alpha val="12000"/>
              </a:srgbClr>
            </a:outerShdw>
          </a:effectLst>
        </p:spPr>
      </p:sp>
      <p:sp>
        <p:nvSpPr>
          <p:cNvPr id="27" name="Text 24"/>
          <p:cNvSpPr txBox="1"/>
          <p:nvPr/>
        </p:nvSpPr>
        <p:spPr>
          <a:xfrm>
            <a:off x="8412480" y="1783080"/>
            <a:ext cx="2377440" cy="274320"/>
          </a:xfrm>
          <a:prstGeom prst="rect">
            <a:avLst/>
          </a:prstGeom>
          <a:noFill/>
          <a:ln/>
        </p:spPr>
        <p:txBody>
          <a:bodyPr wrap="square" lIns="0" tIns="0" rIns="0" bIns="0" rtlCol="0" anchor="t"/>
          <a:lstStyle/>
          <a:p>
            <a:pPr indent="0" marL="0">
              <a:buNone/>
            </a:pPr>
            <a:r>
              <a:rPr lang="en-US" sz="1200" b="1" dirty="0">
                <a:solidFill>
                  <a:schemeClr val="accent1"/>
                </a:solidFill>
              </a:rPr>
              <a:t>REC-03  |  MAP-03</a:t>
            </a:r>
            <a:endParaRPr lang="en-US" sz="1200" dirty="0"/>
          </a:p>
        </p:txBody>
      </p:sp>
      <p:sp>
        <p:nvSpPr>
          <p:cNvPr id="28" name="Pill High"/>
          <p:cNvSpPr/>
          <p:nvPr/>
        </p:nvSpPr>
        <p:spPr>
          <a:xfrm>
            <a:off x="10744200" y="1764792"/>
            <a:ext cx="7315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8412480" y="2194560"/>
            <a:ext cx="3063240" cy="8686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Narrow staff views, hide names, log exports</a:t>
            </a:r>
            <a:endParaRPr lang="en-US" sz="1700" dirty="0"/>
          </a:p>
        </p:txBody>
      </p:sp>
      <p:sp>
        <p:nvSpPr>
          <p:cNvPr id="30" name="Text 27"/>
          <p:cNvSpPr txBox="1"/>
          <p:nvPr/>
        </p:nvSpPr>
        <p:spPr>
          <a:xfrm>
            <a:off x="8412480" y="320040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Owner</a:t>
            </a:r>
            <a:endParaRPr lang="en-US" sz="1100" dirty="0"/>
          </a:p>
        </p:txBody>
      </p:sp>
      <p:sp>
        <p:nvSpPr>
          <p:cNvPr id="31" name="Text 28"/>
          <p:cNvSpPr txBox="1"/>
          <p:nvPr/>
        </p:nvSpPr>
        <p:spPr>
          <a:xfrm>
            <a:off x="9144000" y="3200400"/>
            <a:ext cx="2331720" cy="548640"/>
          </a:xfrm>
          <a:prstGeom prst="rect">
            <a:avLst/>
          </a:prstGeom>
          <a:noFill/>
          <a:ln/>
        </p:spPr>
        <p:txBody>
          <a:bodyPr wrap="square" lIns="0" tIns="0" rIns="0" bIns="0" rtlCol="0" anchor="ctr"/>
          <a:lstStyle/>
          <a:p>
            <a:pPr indent="0" marL="0">
              <a:buNone/>
            </a:pPr>
            <a:r>
              <a:rPr lang="en-US" sz="1300" dirty="0">
                <a:solidFill>
                  <a:schemeClr val="tx1"/>
                </a:solidFill>
              </a:rPr>
              <a:t>Privacy role (ORG-05)</a:t>
            </a:r>
            <a:endParaRPr lang="en-US" sz="1300" dirty="0"/>
          </a:p>
        </p:txBody>
      </p:sp>
      <p:sp>
        <p:nvSpPr>
          <p:cNvPr id="32" name="Text 29"/>
          <p:cNvSpPr txBox="1"/>
          <p:nvPr/>
        </p:nvSpPr>
        <p:spPr>
          <a:xfrm>
            <a:off x="8412480" y="384048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Target</a:t>
            </a:r>
            <a:endParaRPr lang="en-US" sz="1100" dirty="0"/>
          </a:p>
        </p:txBody>
      </p:sp>
      <p:sp>
        <p:nvSpPr>
          <p:cNvPr id="33" name="Text 30"/>
          <p:cNvSpPr txBox="1"/>
          <p:nvPr/>
        </p:nvSpPr>
        <p:spPr>
          <a:xfrm>
            <a:off x="9144000" y="3840480"/>
            <a:ext cx="2331720" cy="548640"/>
          </a:xfrm>
          <a:prstGeom prst="rect">
            <a:avLst/>
          </a:prstGeom>
          <a:noFill/>
          <a:ln/>
        </p:spPr>
        <p:txBody>
          <a:bodyPr wrap="square" lIns="0" tIns="0" rIns="0" bIns="0" rtlCol="0" anchor="ctr"/>
          <a:lstStyle/>
          <a:p>
            <a:pPr indent="0" marL="0">
              <a:buNone/>
            </a:pPr>
            <a:r>
              <a:rPr lang="en-US" sz="1300" dirty="0">
                <a:solidFill>
                  <a:schemeClr val="tx1"/>
                </a:solidFill>
              </a:rPr>
              <a:t>Next release</a:t>
            </a:r>
            <a:endParaRPr lang="en-US" sz="1300" dirty="0"/>
          </a:p>
        </p:txBody>
      </p:sp>
      <p:sp>
        <p:nvSpPr>
          <p:cNvPr id="34" name="Text 31"/>
          <p:cNvSpPr txBox="1"/>
          <p:nvPr/>
        </p:nvSpPr>
        <p:spPr>
          <a:xfrm>
            <a:off x="8412480" y="4480560"/>
            <a:ext cx="731520" cy="548640"/>
          </a:xfrm>
          <a:prstGeom prst="rect">
            <a:avLst/>
          </a:prstGeom>
          <a:noFill/>
          <a:ln/>
        </p:spPr>
        <p:txBody>
          <a:bodyPr wrap="square" lIns="0" tIns="0" rIns="0" bIns="0" rtlCol="0" anchor="ctr"/>
          <a:lstStyle/>
          <a:p>
            <a:pPr indent="0" marL="0">
              <a:buNone/>
            </a:pPr>
            <a:r>
              <a:rPr lang="en-US" sz="1100" b="1" dirty="0">
                <a:solidFill>
                  <a:schemeClr val="accent6"/>
                </a:solidFill>
              </a:rPr>
              <a:t>Result</a:t>
            </a:r>
            <a:endParaRPr lang="en-US" sz="1100" dirty="0"/>
          </a:p>
        </p:txBody>
      </p:sp>
      <p:sp>
        <p:nvSpPr>
          <p:cNvPr id="35" name="Text 32"/>
          <p:cNvSpPr txBox="1"/>
          <p:nvPr/>
        </p:nvSpPr>
        <p:spPr>
          <a:xfrm>
            <a:off x="9144000" y="4480560"/>
            <a:ext cx="2331720" cy="548640"/>
          </a:xfrm>
          <a:prstGeom prst="rect">
            <a:avLst/>
          </a:prstGeom>
          <a:noFill/>
          <a:ln/>
        </p:spPr>
        <p:txBody>
          <a:bodyPr wrap="square" lIns="0" tIns="0" rIns="0" bIns="0" rtlCol="0" anchor="ctr"/>
          <a:lstStyle/>
          <a:p>
            <a:pPr indent="0" marL="0">
              <a:buNone/>
            </a:pPr>
            <a:r>
              <a:rPr lang="en-US" sz="1300" dirty="0">
                <a:solidFill>
                  <a:schemeClr val="tx1"/>
                </a:solidFill>
              </a:rPr>
              <a:t>Borrower rows visible only to need-to-know roles</a:t>
            </a:r>
            <a:endParaRPr lang="en-US" sz="1300" dirty="0"/>
          </a:p>
        </p:txBody>
      </p:sp>
      <p:sp>
        <p:nvSpPr>
          <p:cNvPr id="36" name="Card"/>
          <p:cNvSpPr/>
          <p:nvPr/>
        </p:nvSpPr>
        <p:spPr>
          <a:xfrm>
            <a:off x="548640" y="5440680"/>
            <a:ext cx="11094415" cy="777240"/>
          </a:xfrm>
          <a:prstGeom prst="roundRect">
            <a:avLst>
              <a:gd name="adj" fmla="val 11765"/>
            </a:avLst>
          </a:prstGeom>
          <a:solidFill>
            <a:schemeClr val="accent5">
              <a:alpha val="12000"/>
            </a:schemeClr>
          </a:solidFill>
          <a:ln/>
        </p:spPr>
      </p:sp>
      <p:sp>
        <p:nvSpPr>
          <p:cNvPr id="37" name="Text 34"/>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400" b="1" dirty="0">
                <a:solidFill>
                  <a:schemeClr val="tx1"/>
                </a:solidFill>
              </a:rPr>
              <a:t>All three are OUR PROPOSALS - no action is claimed as management-approved unless the owner confirms it. That honesty is part of the audit standard we followed.</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This Audit DOES NOT Say (professional honesty)</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Balanced assurance language - conclusions cover only what was tested</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tx2"/>
                </a:solidFill>
              </a:rPr>
              <a:t>Presenter: Justin C. Batlangao</a:t>
            </a:r>
            <a:endParaRPr lang="en-US" sz="1100" dirty="0"/>
          </a:p>
        </p:txBody>
      </p:sp>
      <p:sp>
        <p:nvSpPr>
          <p:cNvPr id="6" name="Icon circle"/>
          <p:cNvSpPr/>
          <p:nvPr/>
        </p:nvSpPr>
        <p:spPr>
          <a:xfrm>
            <a:off x="548640" y="1755648"/>
            <a:ext cx="548640" cy="548640"/>
          </a:xfrm>
          <a:prstGeom prst="ellipse">
            <a:avLst/>
          </a:prstGeom>
          <a:solidFill>
            <a:schemeClr val="accent6"/>
          </a:solidFill>
          <a:ln/>
        </p:spPr>
      </p:sp>
      <p:pic>
        <p:nvPicPr>
          <p:cNvPr id="7" name="Icon" descr="preencoded.png">    </p:cNvPr>
          <p:cNvPicPr>
            <a:picLocks noChangeAspect="1"/>
          </p:cNvPicPr>
          <p:nvPr/>
        </p:nvPicPr>
        <p:blipFill>
          <a:blip r:embed="rId1"/>
          <a:stretch>
            <a:fillRect/>
          </a:stretch>
        </p:blipFill>
        <p:spPr>
          <a:xfrm>
            <a:off x="702259" y="1909267"/>
            <a:ext cx="241402" cy="241402"/>
          </a:xfrm>
          <a:prstGeom prst="rect">
            <a:avLst/>
          </a:prstGeom>
        </p:spPr>
      </p:pic>
      <p:sp>
        <p:nvSpPr>
          <p:cNvPr id="8" name="Text 4"/>
          <p:cNvSpPr txBox="1"/>
          <p:nvPr/>
        </p:nvSpPr>
        <p:spPr>
          <a:xfrm>
            <a:off x="1325880" y="1645920"/>
            <a:ext cx="5120640" cy="777240"/>
          </a:xfrm>
          <a:prstGeom prst="rect">
            <a:avLst/>
          </a:prstGeom>
          <a:noFill/>
          <a:ln/>
        </p:spPr>
        <p:txBody>
          <a:bodyPr wrap="square" lIns="0" tIns="0" rIns="0" bIns="0" rtlCol="0" anchor="ctr"/>
          <a:lstStyle/>
          <a:p>
            <a:pPr indent="0" marL="0">
              <a:buNone/>
            </a:pPr>
            <a:r>
              <a:rPr lang="en-US" sz="1400" dirty="0">
                <a:solidFill>
                  <a:schemeClr val="tx1"/>
                </a:solidFill>
              </a:rPr>
              <a:t>Environment: evidence from demo build + test site only - not live production data</a:t>
            </a:r>
            <a:endParaRPr lang="en-US" sz="1400" dirty="0"/>
          </a:p>
        </p:txBody>
      </p:sp>
      <p:sp>
        <p:nvSpPr>
          <p:cNvPr id="9" name="Icon circle"/>
          <p:cNvSpPr/>
          <p:nvPr/>
        </p:nvSpPr>
        <p:spPr>
          <a:xfrm>
            <a:off x="548640" y="2651760"/>
            <a:ext cx="548640" cy="548640"/>
          </a:xfrm>
          <a:prstGeom prst="ellipse">
            <a:avLst/>
          </a:prstGeom>
          <a:solidFill>
            <a:schemeClr val="accent6"/>
          </a:solidFill>
          <a:ln/>
        </p:spPr>
      </p:sp>
      <p:pic>
        <p:nvPicPr>
          <p:cNvPr id="10" name="Icon" descr="preencoded.png">    </p:cNvPr>
          <p:cNvPicPr>
            <a:picLocks noChangeAspect="1"/>
          </p:cNvPicPr>
          <p:nvPr/>
        </p:nvPicPr>
        <p:blipFill>
          <a:blip r:embed="rId2"/>
          <a:stretch>
            <a:fillRect/>
          </a:stretch>
        </p:blipFill>
        <p:spPr>
          <a:xfrm>
            <a:off x="702259" y="2805379"/>
            <a:ext cx="241402" cy="241402"/>
          </a:xfrm>
          <a:prstGeom prst="rect">
            <a:avLst/>
          </a:prstGeom>
        </p:spPr>
      </p:pic>
      <p:sp>
        <p:nvSpPr>
          <p:cNvPr id="11" name="Text 6"/>
          <p:cNvSpPr txBox="1"/>
          <p:nvPr/>
        </p:nvSpPr>
        <p:spPr>
          <a:xfrm>
            <a:off x="1325880" y="2542032"/>
            <a:ext cx="5120640" cy="777240"/>
          </a:xfrm>
          <a:prstGeom prst="rect">
            <a:avLst/>
          </a:prstGeom>
          <a:noFill/>
          <a:ln/>
        </p:spPr>
        <p:txBody>
          <a:bodyPr wrap="square" lIns="0" tIns="0" rIns="0" bIns="0" rtlCol="0" anchor="ctr"/>
          <a:lstStyle/>
          <a:p>
            <a:pPr indent="0" marL="0">
              <a:buNone/>
            </a:pPr>
            <a:r>
              <a:rPr lang="en-US" sz="1400" dirty="0">
                <a:solidFill>
                  <a:schemeClr val="tx1"/>
                </a:solidFill>
              </a:rPr>
              <a:t>No attack testing, no live restore, no real student records (approved scope limits)</a:t>
            </a:r>
            <a:endParaRPr lang="en-US" sz="1400" dirty="0"/>
          </a:p>
        </p:txBody>
      </p:sp>
      <p:sp>
        <p:nvSpPr>
          <p:cNvPr id="12" name="Icon circle"/>
          <p:cNvSpPr/>
          <p:nvPr/>
        </p:nvSpPr>
        <p:spPr>
          <a:xfrm>
            <a:off x="548640" y="3547872"/>
            <a:ext cx="548640" cy="548640"/>
          </a:xfrm>
          <a:prstGeom prst="ellipse">
            <a:avLst/>
          </a:prstGeom>
          <a:solidFill>
            <a:schemeClr val="accent6"/>
          </a:solidFill>
          <a:ln/>
        </p:spPr>
      </p:sp>
      <p:pic>
        <p:nvPicPr>
          <p:cNvPr id="13" name="Icon" descr="preencoded.png">    </p:cNvPr>
          <p:cNvPicPr>
            <a:picLocks noChangeAspect="1"/>
          </p:cNvPicPr>
          <p:nvPr/>
        </p:nvPicPr>
        <p:blipFill>
          <a:blip r:embed="rId3"/>
          <a:stretch>
            <a:fillRect/>
          </a:stretch>
        </p:blipFill>
        <p:spPr>
          <a:xfrm>
            <a:off x="702259" y="3701491"/>
            <a:ext cx="241402" cy="241402"/>
          </a:xfrm>
          <a:prstGeom prst="rect">
            <a:avLst/>
          </a:prstGeom>
        </p:spPr>
      </p:pic>
      <p:sp>
        <p:nvSpPr>
          <p:cNvPr id="14" name="Text 8"/>
          <p:cNvSpPr txBox="1"/>
          <p:nvPr/>
        </p:nvSpPr>
        <p:spPr>
          <a:xfrm>
            <a:off x="1325880" y="3438144"/>
            <a:ext cx="5120640" cy="777240"/>
          </a:xfrm>
          <a:prstGeom prst="rect">
            <a:avLst/>
          </a:prstGeom>
          <a:noFill/>
          <a:ln/>
        </p:spPr>
        <p:txBody>
          <a:bodyPr wrap="square" lIns="0" tIns="0" rIns="0" bIns="0" rtlCol="0" anchor="ctr"/>
          <a:lstStyle/>
          <a:p>
            <a:pPr indent="0" marL="0">
              <a:buNone/>
            </a:pPr>
            <a:r>
              <a:rPr lang="en-US" sz="1400" dirty="0">
                <a:solidFill>
                  <a:schemeClr val="tx1"/>
                </a:solidFill>
              </a:rPr>
              <a:t>Compliance items CMP-05 (restore) and CMP-07 (Google terms) stay NOT DETERMINED</a:t>
            </a:r>
            <a:endParaRPr lang="en-US" sz="1400" dirty="0"/>
          </a:p>
        </p:txBody>
      </p:sp>
      <p:sp>
        <p:nvSpPr>
          <p:cNvPr id="15" name="Icon circle"/>
          <p:cNvSpPr/>
          <p:nvPr/>
        </p:nvSpPr>
        <p:spPr>
          <a:xfrm>
            <a:off x="548640" y="4443984"/>
            <a:ext cx="548640" cy="548640"/>
          </a:xfrm>
          <a:prstGeom prst="ellipse">
            <a:avLst/>
          </a:prstGeom>
          <a:solidFill>
            <a:schemeClr val="accent6"/>
          </a:solidFill>
          <a:ln/>
        </p:spPr>
      </p:sp>
      <p:pic>
        <p:nvPicPr>
          <p:cNvPr id="16" name="Icon" descr="preencoded.png">    </p:cNvPr>
          <p:cNvPicPr>
            <a:picLocks noChangeAspect="1"/>
          </p:cNvPicPr>
          <p:nvPr/>
        </p:nvPicPr>
        <p:blipFill>
          <a:blip r:embed="rId4"/>
          <a:stretch>
            <a:fillRect/>
          </a:stretch>
        </p:blipFill>
        <p:spPr>
          <a:xfrm>
            <a:off x="702259" y="4597603"/>
            <a:ext cx="241402" cy="241402"/>
          </a:xfrm>
          <a:prstGeom prst="rect">
            <a:avLst/>
          </a:prstGeom>
        </p:spPr>
      </p:pic>
      <p:sp>
        <p:nvSpPr>
          <p:cNvPr id="17" name="Text 10"/>
          <p:cNvSpPr txBox="1"/>
          <p:nvPr/>
        </p:nvSpPr>
        <p:spPr>
          <a:xfrm>
            <a:off x="1325880" y="4334256"/>
            <a:ext cx="5120640" cy="777240"/>
          </a:xfrm>
          <a:prstGeom prst="rect">
            <a:avLst/>
          </a:prstGeom>
          <a:noFill/>
          <a:ln/>
        </p:spPr>
        <p:txBody>
          <a:bodyPr wrap="square" lIns="0" tIns="0" rIns="0" bIns="0" rtlCol="0" anchor="ctr"/>
          <a:lstStyle/>
          <a:p>
            <a:pPr indent="0" marL="0">
              <a:buNone/>
            </a:pPr>
            <a:r>
              <a:rPr lang="en-US" sz="1400" dirty="0">
                <a:solidFill>
                  <a:schemeClr val="tx1"/>
                </a:solidFill>
              </a:rPr>
              <a:t>Samples are small because the system is small - populations honestly listed</a:t>
            </a:r>
            <a:endParaRPr lang="en-US" sz="1400" dirty="0"/>
          </a:p>
        </p:txBody>
      </p:sp>
      <p:sp>
        <p:nvSpPr>
          <p:cNvPr id="18" name="Icon circle"/>
          <p:cNvSpPr/>
          <p:nvPr/>
        </p:nvSpPr>
        <p:spPr>
          <a:xfrm>
            <a:off x="548640" y="5340096"/>
            <a:ext cx="548640" cy="548640"/>
          </a:xfrm>
          <a:prstGeom prst="ellipse">
            <a:avLst/>
          </a:prstGeom>
          <a:solidFill>
            <a:schemeClr val="accent6"/>
          </a:solidFill>
          <a:ln/>
        </p:spPr>
      </p:sp>
      <p:pic>
        <p:nvPicPr>
          <p:cNvPr id="19" name="Icon" descr="preencoded.png">    </p:cNvPr>
          <p:cNvPicPr>
            <a:picLocks noChangeAspect="1"/>
          </p:cNvPicPr>
          <p:nvPr/>
        </p:nvPicPr>
        <p:blipFill>
          <a:blip r:embed="rId5"/>
          <a:stretch>
            <a:fillRect/>
          </a:stretch>
        </p:blipFill>
        <p:spPr>
          <a:xfrm>
            <a:off x="702259" y="5493715"/>
            <a:ext cx="241402" cy="241402"/>
          </a:xfrm>
          <a:prstGeom prst="rect">
            <a:avLst/>
          </a:prstGeom>
        </p:spPr>
      </p:pic>
      <p:sp>
        <p:nvSpPr>
          <p:cNvPr id="20" name="Text 12"/>
          <p:cNvSpPr txBox="1"/>
          <p:nvPr/>
        </p:nvSpPr>
        <p:spPr>
          <a:xfrm>
            <a:off x="1325880" y="5230368"/>
            <a:ext cx="5120640" cy="777240"/>
          </a:xfrm>
          <a:prstGeom prst="rect">
            <a:avLst/>
          </a:prstGeom>
          <a:noFill/>
          <a:ln/>
        </p:spPr>
        <p:txBody>
          <a:bodyPr wrap="square" lIns="0" tIns="0" rIns="0" bIns="0" rtlCol="0" anchor="ctr"/>
          <a:lstStyle/>
          <a:p>
            <a:pPr indent="0" marL="0">
              <a:buNone/>
            </a:pPr>
            <a:r>
              <a:rPr lang="en-US" sz="1400" dirty="0">
                <a:solidFill>
                  <a:schemeClr val="tx1"/>
                </a:solidFill>
              </a:rPr>
              <a:t>Conclusion: needs improvement, NOT 'system is broken' - 4/6 controls fully effective</a:t>
            </a:r>
            <a:endParaRPr lang="en-US" sz="1400" dirty="0"/>
          </a:p>
        </p:txBody>
      </p:sp>
      <p:sp>
        <p:nvSpPr>
          <p:cNvPr id="21" name="Card"/>
          <p:cNvSpPr/>
          <p:nvPr/>
        </p:nvSpPr>
        <p:spPr>
          <a:xfrm>
            <a:off x="6858000" y="1600200"/>
            <a:ext cx="4782312" cy="4617720"/>
          </a:xfrm>
          <a:prstGeom prst="roundRect">
            <a:avLst>
              <a:gd name="adj" fmla="val 1980"/>
            </a:avLst>
          </a:prstGeom>
          <a:solidFill>
            <a:schemeClr val="tx2"/>
          </a:solidFill>
          <a:ln/>
        </p:spPr>
      </p:sp>
      <p:sp>
        <p:nvSpPr>
          <p:cNvPr id="22" name="Icon circle"/>
          <p:cNvSpPr/>
          <p:nvPr/>
        </p:nvSpPr>
        <p:spPr>
          <a:xfrm>
            <a:off x="7132320" y="1828800"/>
            <a:ext cx="594360" cy="594360"/>
          </a:xfrm>
          <a:prstGeom prst="ellipse">
            <a:avLst/>
          </a:prstGeom>
          <a:solidFill>
            <a:schemeClr val="accent5"/>
          </a:solidFill>
          <a:ln/>
        </p:spPr>
      </p:sp>
      <p:pic>
        <p:nvPicPr>
          <p:cNvPr id="23" name="Icon" descr="preencoded.png">    </p:cNvPr>
          <p:cNvPicPr>
            <a:picLocks noChangeAspect="1"/>
          </p:cNvPicPr>
          <p:nvPr/>
        </p:nvPicPr>
        <p:blipFill>
          <a:blip r:embed="rId6"/>
          <a:stretch>
            <a:fillRect/>
          </a:stretch>
        </p:blipFill>
        <p:spPr>
          <a:xfrm>
            <a:off x="7298741" y="1995221"/>
            <a:ext cx="261518" cy="261518"/>
          </a:xfrm>
          <a:prstGeom prst="rect">
            <a:avLst/>
          </a:prstGeom>
        </p:spPr>
      </p:pic>
      <p:sp>
        <p:nvSpPr>
          <p:cNvPr id="24" name="Text 15"/>
          <p:cNvSpPr txBox="1"/>
          <p:nvPr/>
        </p:nvSpPr>
        <p:spPr>
          <a:xfrm>
            <a:off x="7909560" y="1828800"/>
            <a:ext cx="3474720" cy="59436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Change after cutoff - handled correctly</a:t>
            </a:r>
            <a:endParaRPr lang="en-US" sz="1700" dirty="0"/>
          </a:p>
        </p:txBody>
      </p:sp>
      <p:sp>
        <p:nvSpPr>
          <p:cNvPr id="25" name="Text 16"/>
          <p:cNvSpPr txBox="1"/>
          <p:nvPr/>
        </p:nvSpPr>
        <p:spPr>
          <a:xfrm>
            <a:off x="7132320" y="2697480"/>
            <a:ext cx="4251960" cy="1097280"/>
          </a:xfrm>
          <a:prstGeom prst="rect">
            <a:avLst/>
          </a:prstGeom>
          <a:noFill/>
          <a:ln/>
        </p:spPr>
        <p:txBody>
          <a:bodyPr wrap="square" lIns="0" tIns="0" rIns="0" bIns="0" rtlCol="0" anchor="t"/>
          <a:lstStyle/>
          <a:p>
            <a:pPr indent="0" marL="0">
              <a:buNone/>
            </a:pPr>
            <a:r>
              <a:rPr lang="en-US" sz="1300" dirty="0">
                <a:solidFill>
                  <a:schemeClr val="bg2"/>
                </a:solidFill>
              </a:rPr>
              <a:t>BLD-06 @ c20f98e (Oct 11-20): inventory shared-session fixes + set-based reconcile + condition modal + Philippine-time timestamps</a:t>
            </a:r>
            <a:endParaRPr lang="en-US" sz="1300" dirty="0"/>
          </a:p>
        </p:txBody>
      </p:sp>
      <p:sp>
        <p:nvSpPr>
          <p:cNvPr id="26" name="Text 17"/>
          <p:cNvSpPr txBox="1"/>
          <p:nvPr/>
        </p:nvSpPr>
        <p:spPr>
          <a:xfrm>
            <a:off x="7132320" y="3886200"/>
            <a:ext cx="4251960" cy="914400"/>
          </a:xfrm>
          <a:prstGeom prst="rect">
            <a:avLst/>
          </a:prstGeom>
          <a:noFill/>
          <a:ln/>
        </p:spPr>
        <p:txBody>
          <a:bodyPr wrap="square" lIns="0" tIns="0" rIns="0" bIns="0" rtlCol="0" anchor="t"/>
          <a:lstStyle/>
          <a:p>
            <a:pPr indent="0" marL="0">
              <a:buNone/>
            </a:pPr>
            <a:r>
              <a:rPr lang="en-US" sz="1400" b="1" dirty="0">
                <a:solidFill>
                  <a:schemeClr val="bg1"/>
                </a:solidFill>
              </a:rPr>
              <a:t>NOT tested - arrives after the 2026-10-10 cutoff, so it is DISCLOSED, not absorbed into results</a:t>
            </a:r>
            <a:endParaRPr lang="en-US" sz="1400" dirty="0"/>
          </a:p>
        </p:txBody>
      </p:sp>
      <p:sp>
        <p:nvSpPr>
          <p:cNvPr id="27" name="Text 18"/>
          <p:cNvSpPr txBox="1"/>
          <p:nvPr/>
        </p:nvSpPr>
        <p:spPr>
          <a:xfrm>
            <a:off x="7132320" y="4937760"/>
            <a:ext cx="4251960" cy="1097280"/>
          </a:xfrm>
          <a:prstGeom prst="rect">
            <a:avLst/>
          </a:prstGeom>
          <a:noFill/>
          <a:ln/>
        </p:spPr>
        <p:txBody>
          <a:bodyPr wrap="square" lIns="0" tIns="0" rIns="0" bIns="0" rtlCol="0" anchor="t"/>
          <a:lstStyle/>
          <a:p>
            <a:pPr indent="0" marL="0">
              <a:buNone/>
            </a:pPr>
            <a:r>
              <a:rPr lang="en-US" sz="1300" dirty="0">
                <a:solidFill>
                  <a:schemeClr val="bg2"/>
                </a:solidFill>
              </a:rPr>
              <a:t>Flag: re-run TEST-03 (fine/due-date math) after deploy - timestamps could shift fine displays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1" type="title" hasCustomPrompt="1"/>
          </p:nvPr>
        </p:nvSpPr>
        <p:spPr>
          <a:xfrm>
            <a:off x="548640" y="365760"/>
            <a:ext cx="11091672"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Overall Conclusion - Needs Improvement</a:t>
            </a:r>
            <a:endParaRPr lang="en-US" sz="2800" dirty="0"/>
          </a:p>
        </p:txBody>
      </p:sp>
      <p:sp>
        <p:nvSpPr>
          <p:cNvPr id="4"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400" dirty="0">
                <a:solidFill>
                  <a:schemeClr val="bg2"/>
                </a:solidFill>
              </a:rPr>
              <a:t>Pending remediation - built on effective tests + honest gaps + unconfirmed actions</a:t>
            </a:r>
            <a:endParaRPr lang="en-US" sz="1400" dirty="0"/>
          </a:p>
        </p:txBody>
      </p:sp>
      <p:sp>
        <p:nvSpPr>
          <p:cNvPr id="5" name="Presenter chip"/>
          <p:cNvSpPr/>
          <p:nvPr/>
        </p:nvSpPr>
        <p:spPr>
          <a:xfrm>
            <a:off x="8259775" y="6391656"/>
            <a:ext cx="26517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Presenter: Justin C. Batlangao</a:t>
            </a:r>
            <a:endParaRPr lang="en-US" sz="1100" dirty="0"/>
          </a:p>
        </p:txBody>
      </p:sp>
      <p:sp>
        <p:nvSpPr>
          <p:cNvPr id="6" name="Card"/>
          <p:cNvSpPr/>
          <p:nvPr/>
        </p:nvSpPr>
        <p:spPr>
          <a:xfrm>
            <a:off x="548640" y="1600200"/>
            <a:ext cx="4206240" cy="4617720"/>
          </a:xfrm>
          <a:prstGeom prst="roundRect">
            <a:avLst>
              <a:gd name="adj" fmla="val 2174"/>
            </a:avLst>
          </a:prstGeom>
          <a:solidFill>
            <a:schemeClr val="accent5"/>
          </a:solidFill>
          <a:ln/>
        </p:spPr>
      </p:sp>
      <p:sp>
        <p:nvSpPr>
          <p:cNvPr id="7" name="Text 4"/>
          <p:cNvSpPr txBox="1"/>
          <p:nvPr/>
        </p:nvSpPr>
        <p:spPr>
          <a:xfrm>
            <a:off x="868680" y="1828800"/>
            <a:ext cx="3566160" cy="274320"/>
          </a:xfrm>
          <a:prstGeom prst="rect">
            <a:avLst/>
          </a:prstGeom>
          <a:noFill/>
          <a:ln/>
        </p:spPr>
        <p:txBody>
          <a:bodyPr wrap="square" lIns="0" tIns="0" rIns="0" bIns="0" rtlCol="0" anchor="t"/>
          <a:lstStyle/>
          <a:p>
            <a:pPr indent="0" marL="0">
              <a:buNone/>
            </a:pPr>
            <a:r>
              <a:rPr lang="en-US" sz="1300" b="1" spc="300" kern="0" dirty="0">
                <a:solidFill>
                  <a:schemeClr val="bg1"/>
                </a:solidFill>
              </a:rPr>
              <a:t>VERDICT</a:t>
            </a:r>
            <a:endParaRPr lang="en-US" sz="1300" dirty="0"/>
          </a:p>
        </p:txBody>
      </p:sp>
      <p:sp>
        <p:nvSpPr>
          <p:cNvPr id="8" name="Text 5"/>
          <p:cNvSpPr txBox="1"/>
          <p:nvPr/>
        </p:nvSpPr>
        <p:spPr>
          <a:xfrm>
            <a:off x="868680" y="2194560"/>
            <a:ext cx="3566160" cy="10972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Needs Improvement</a:t>
            </a:r>
            <a:endParaRPr lang="en-US" sz="3600" dirty="0"/>
          </a:p>
        </p:txBody>
      </p:sp>
      <p:sp>
        <p:nvSpPr>
          <p:cNvPr id="9" name="Text 6"/>
          <p:cNvSpPr txBox="1"/>
          <p:nvPr/>
        </p:nvSpPr>
        <p:spPr>
          <a:xfrm>
            <a:off x="868680" y="3566160"/>
            <a:ext cx="3566160" cy="2468880"/>
          </a:xfrm>
          <a:prstGeom prst="rect">
            <a:avLst/>
          </a:prstGeom>
          <a:noFill/>
          <a:ln/>
        </p:spPr>
        <p:txBody>
          <a:bodyPr wrap="square" lIns="0" tIns="0" rIns="0" bIns="0" rtlCol="0" anchor="t"/>
          <a:lstStyle/>
          <a:p>
            <a:pPr indent="0" marL="0">
              <a:buNone/>
            </a:pPr>
            <a:r>
              <a:rPr lang="en-US" sz="1400" dirty="0">
                <a:solidFill>
                  <a:schemeClr val="bg1"/>
                </a:solidFill>
              </a:rPr>
              <a:t>Conclusion covers tested builds BLD-04/05 up to cutoff 2026-10-10. 6/8 controls designed adequate-or-partial; 4/6 tests fully effective; 3 High findings open with no confirmed response yet.</a:t>
            </a:r>
            <a:endParaRPr lang="en-US" sz="1400" dirty="0"/>
          </a:p>
        </p:txBody>
      </p:sp>
      <p:sp>
        <p:nvSpPr>
          <p:cNvPr id="10" name="Card"/>
          <p:cNvSpPr/>
          <p:nvPr/>
        </p:nvSpPr>
        <p:spPr>
          <a:xfrm>
            <a:off x="5029200" y="1600200"/>
            <a:ext cx="3200400" cy="4617720"/>
          </a:xfrm>
          <a:prstGeom prst="roundRect">
            <a:avLst>
              <a:gd name="adj" fmla="val 2857"/>
            </a:avLst>
          </a:prstGeom>
          <a:solidFill>
            <a:schemeClr val="bg1">
              <a:alpha val="8000"/>
            </a:schemeClr>
          </a:solidFill>
          <a:ln/>
        </p:spPr>
      </p:sp>
      <p:sp>
        <p:nvSpPr>
          <p:cNvPr id="11" name="Icon circle"/>
          <p:cNvSpPr/>
          <p:nvPr/>
        </p:nvSpPr>
        <p:spPr>
          <a:xfrm>
            <a:off x="5257800" y="1783080"/>
            <a:ext cx="457200" cy="457200"/>
          </a:xfrm>
          <a:prstGeom prst="ellipse">
            <a:avLst/>
          </a:prstGeom>
          <a:solidFill>
            <a:schemeClr val="accent4"/>
          </a:solidFill>
          <a:ln/>
        </p:spPr>
      </p:sp>
      <p:pic>
        <p:nvPicPr>
          <p:cNvPr id="12" name="Icon" descr="preencoded.png">    </p:cNvPr>
          <p:cNvPicPr>
            <a:picLocks noChangeAspect="1"/>
          </p:cNvPicPr>
          <p:nvPr/>
        </p:nvPicPr>
        <p:blipFill>
          <a:blip r:embed="rId1"/>
          <a:stretch>
            <a:fillRect/>
          </a:stretch>
        </p:blipFill>
        <p:spPr>
          <a:xfrm>
            <a:off x="5385816" y="1911096"/>
            <a:ext cx="201168" cy="201168"/>
          </a:xfrm>
          <a:prstGeom prst="rect">
            <a:avLst/>
          </a:prstGeom>
        </p:spPr>
      </p:pic>
      <p:sp>
        <p:nvSpPr>
          <p:cNvPr id="13" name="Text 9"/>
          <p:cNvSpPr txBox="1"/>
          <p:nvPr/>
        </p:nvSpPr>
        <p:spPr>
          <a:xfrm>
            <a:off x="5852160" y="1737360"/>
            <a:ext cx="2194560" cy="548640"/>
          </a:xfrm>
          <a:prstGeom prst="rect">
            <a:avLst/>
          </a:prstGeom>
          <a:noFill/>
          <a:ln/>
        </p:spPr>
        <p:txBody>
          <a:bodyPr wrap="square" lIns="0" tIns="0" rIns="0" bIns="0" rtlCol="0" anchor="ctr"/>
          <a:lstStyle/>
          <a:p>
            <a:pPr indent="0" marL="0">
              <a:buNone/>
            </a:pPr>
            <a:r>
              <a:rPr lang="en-US" sz="1400" b="1" dirty="0">
                <a:solidFill>
                  <a:schemeClr val="bg1"/>
                </a:solidFill>
              </a:rPr>
              <a:t>What WORKS (tested, 0 exceptions)</a:t>
            </a:r>
            <a:endParaRPr lang="en-US" sz="1400" dirty="0"/>
          </a:p>
        </p:txBody>
      </p:sp>
      <p:sp>
        <p:nvSpPr>
          <p:cNvPr id="14" name="Text 10"/>
          <p:cNvSpPr txBox="1"/>
          <p:nvPr/>
        </p:nvSpPr>
        <p:spPr>
          <a:xfrm>
            <a:off x="5303520" y="2514600"/>
            <a:ext cx="2697480" cy="822960"/>
          </a:xfrm>
          <a:prstGeom prst="rect">
            <a:avLst/>
          </a:prstGeom>
          <a:noFill/>
          <a:ln/>
        </p:spPr>
        <p:txBody>
          <a:bodyPr wrap="square" lIns="0" tIns="0" rIns="0" bIns="0" rtlCol="0" anchor="ctr"/>
          <a:lstStyle/>
          <a:p>
            <a:pPr indent="0" marL="0">
              <a:buNone/>
            </a:pPr>
            <a:r>
              <a:rPr lang="en-US" sz="1400" dirty="0">
                <a:solidFill>
                  <a:schemeClr val="bg1"/>
                </a:solidFill>
              </a:rPr>
              <a:t>Wrong-role access blocked 10/10 - CTL-01</a:t>
            </a:r>
            <a:endParaRPr lang="en-US" sz="1400" dirty="0"/>
          </a:p>
        </p:txBody>
      </p:sp>
      <p:sp>
        <p:nvSpPr>
          <p:cNvPr id="15" name="Text 11"/>
          <p:cNvSpPr txBox="1"/>
          <p:nvPr/>
        </p:nvSpPr>
        <p:spPr>
          <a:xfrm>
            <a:off x="5303520" y="3410712"/>
            <a:ext cx="2697480" cy="822960"/>
          </a:xfrm>
          <a:prstGeom prst="rect">
            <a:avLst/>
          </a:prstGeom>
          <a:noFill/>
          <a:ln/>
        </p:spPr>
        <p:txBody>
          <a:bodyPr wrap="square" lIns="0" tIns="0" rIns="0" bIns="0" rtlCol="0" anchor="ctr"/>
          <a:lstStyle/>
          <a:p>
            <a:pPr indent="0" marL="0">
              <a:buNone/>
            </a:pPr>
            <a:r>
              <a:rPr lang="en-US" sz="1400" dirty="0">
                <a:solidFill>
                  <a:schemeClr val="bg1"/>
                </a:solidFill>
              </a:rPr>
              <a:t>CSV checks add-good / skip-bad with logs</a:t>
            </a:r>
            <a:endParaRPr lang="en-US" sz="1400" dirty="0"/>
          </a:p>
        </p:txBody>
      </p:sp>
      <p:sp>
        <p:nvSpPr>
          <p:cNvPr id="16" name="Text 12"/>
          <p:cNvSpPr txBox="1"/>
          <p:nvPr/>
        </p:nvSpPr>
        <p:spPr>
          <a:xfrm>
            <a:off x="5303520" y="4306824"/>
            <a:ext cx="2697480" cy="822960"/>
          </a:xfrm>
          <a:prstGeom prst="rect">
            <a:avLst/>
          </a:prstGeom>
          <a:noFill/>
          <a:ln/>
        </p:spPr>
        <p:txBody>
          <a:bodyPr wrap="square" lIns="0" tIns="0" rIns="0" bIns="0" rtlCol="0" anchor="ctr"/>
          <a:lstStyle/>
          <a:p>
            <a:pPr indent="0" marL="0">
              <a:buNone/>
            </a:pPr>
            <a:r>
              <a:rPr lang="en-US" sz="1400" dirty="0">
                <a:solidFill>
                  <a:schemeClr val="bg1"/>
                </a:solidFill>
              </a:rPr>
              <a:t>Full audit trail on desk work + delete guards</a:t>
            </a:r>
            <a:endParaRPr lang="en-US" sz="1400" dirty="0"/>
          </a:p>
        </p:txBody>
      </p:sp>
      <p:sp>
        <p:nvSpPr>
          <p:cNvPr id="17" name="Text 13"/>
          <p:cNvSpPr txBox="1"/>
          <p:nvPr/>
        </p:nvSpPr>
        <p:spPr>
          <a:xfrm>
            <a:off x="5303520" y="5202936"/>
            <a:ext cx="2697480" cy="822960"/>
          </a:xfrm>
          <a:prstGeom prst="rect">
            <a:avLst/>
          </a:prstGeom>
          <a:noFill/>
          <a:ln/>
        </p:spPr>
        <p:txBody>
          <a:bodyPr wrap="square" lIns="0" tIns="0" rIns="0" bIns="0" rtlCol="0" anchor="ctr"/>
          <a:lstStyle/>
          <a:p>
            <a:pPr indent="0" marL="0">
              <a:buNone/>
            </a:pPr>
            <a:r>
              <a:rPr lang="en-US" sz="1400" dirty="0">
                <a:solidFill>
                  <a:schemeClr val="bg1"/>
                </a:solidFill>
              </a:rPr>
              <a:t>Backups run on schedule, 14/14 logged</a:t>
            </a:r>
            <a:endParaRPr lang="en-US" sz="1400" dirty="0"/>
          </a:p>
        </p:txBody>
      </p:sp>
      <p:sp>
        <p:nvSpPr>
          <p:cNvPr id="18" name="Card"/>
          <p:cNvSpPr/>
          <p:nvPr/>
        </p:nvSpPr>
        <p:spPr>
          <a:xfrm>
            <a:off x="8412480" y="1600200"/>
            <a:ext cx="3200400" cy="4617720"/>
          </a:xfrm>
          <a:prstGeom prst="roundRect">
            <a:avLst>
              <a:gd name="adj" fmla="val 2857"/>
            </a:avLst>
          </a:prstGeom>
          <a:solidFill>
            <a:schemeClr val="bg1">
              <a:alpha val="8000"/>
            </a:schemeClr>
          </a:solidFill>
          <a:ln/>
        </p:spPr>
      </p:sp>
      <p:sp>
        <p:nvSpPr>
          <p:cNvPr id="19" name="Icon circle"/>
          <p:cNvSpPr/>
          <p:nvPr/>
        </p:nvSpPr>
        <p:spPr>
          <a:xfrm>
            <a:off x="8641080" y="1783080"/>
            <a:ext cx="457200" cy="457200"/>
          </a:xfrm>
          <a:prstGeom prst="ellipse">
            <a:avLst/>
          </a:prstGeom>
          <a:solidFill>
            <a:schemeClr val="accent3"/>
          </a:solidFill>
          <a:ln/>
        </p:spPr>
      </p:sp>
      <p:pic>
        <p:nvPicPr>
          <p:cNvPr id="20" name="Icon" descr="preencoded.png">    </p:cNvPr>
          <p:cNvPicPr>
            <a:picLocks noChangeAspect="1"/>
          </p:cNvPicPr>
          <p:nvPr/>
        </p:nvPicPr>
        <p:blipFill>
          <a:blip r:embed="rId2"/>
          <a:stretch>
            <a:fillRect/>
          </a:stretch>
        </p:blipFill>
        <p:spPr>
          <a:xfrm>
            <a:off x="8769096" y="1911096"/>
            <a:ext cx="201168" cy="201168"/>
          </a:xfrm>
          <a:prstGeom prst="rect">
            <a:avLst/>
          </a:prstGeom>
        </p:spPr>
      </p:pic>
      <p:sp>
        <p:nvSpPr>
          <p:cNvPr id="21" name="Text 16"/>
          <p:cNvSpPr txBox="1"/>
          <p:nvPr/>
        </p:nvSpPr>
        <p:spPr>
          <a:xfrm>
            <a:off x="9235440" y="1737360"/>
            <a:ext cx="2194560" cy="548640"/>
          </a:xfrm>
          <a:prstGeom prst="rect">
            <a:avLst/>
          </a:prstGeom>
          <a:noFill/>
          <a:ln/>
        </p:spPr>
        <p:txBody>
          <a:bodyPr wrap="square" lIns="0" tIns="0" rIns="0" bIns="0" rtlCol="0" anchor="ctr"/>
          <a:lstStyle/>
          <a:p>
            <a:pPr indent="0" marL="0">
              <a:buNone/>
            </a:pPr>
            <a:r>
              <a:rPr lang="en-US" sz="1400" b="1" dirty="0">
                <a:solidFill>
                  <a:schemeClr val="bg1"/>
                </a:solidFill>
              </a:rPr>
              <a:t>What must improve (3 High, all Proposed)</a:t>
            </a:r>
            <a:endParaRPr lang="en-US" sz="1400" dirty="0"/>
          </a:p>
        </p:txBody>
      </p:sp>
      <p:sp>
        <p:nvSpPr>
          <p:cNvPr id="22" name="Text 17"/>
          <p:cNvSpPr txBox="1"/>
          <p:nvPr/>
        </p:nvSpPr>
        <p:spPr>
          <a:xfrm>
            <a:off x="8686800" y="2514600"/>
            <a:ext cx="2697480" cy="822960"/>
          </a:xfrm>
          <a:prstGeom prst="rect">
            <a:avLst/>
          </a:prstGeom>
          <a:noFill/>
          <a:ln/>
        </p:spPr>
        <p:txBody>
          <a:bodyPr wrap="square" lIns="0" tIns="0" rIns="0" bIns="0" rtlCol="0" anchor="ctr"/>
          <a:lstStyle/>
          <a:p>
            <a:pPr indent="0" marL="0">
              <a:buNone/>
            </a:pPr>
            <a:r>
              <a:rPr lang="en-US" sz="1400" dirty="0">
                <a:solidFill>
                  <a:schemeClr val="bg1"/>
                </a:solidFill>
              </a:rPr>
              <a:t>Second login check (FND-01 / REC-01 / ORG-02)</a:t>
            </a:r>
            <a:endParaRPr lang="en-US" sz="1400" dirty="0"/>
          </a:p>
        </p:txBody>
      </p:sp>
      <p:sp>
        <p:nvSpPr>
          <p:cNvPr id="23" name="Text 18"/>
          <p:cNvSpPr txBox="1"/>
          <p:nvPr/>
        </p:nvSpPr>
        <p:spPr>
          <a:xfrm>
            <a:off x="8686800" y="3410712"/>
            <a:ext cx="2697480" cy="822960"/>
          </a:xfrm>
          <a:prstGeom prst="rect">
            <a:avLst/>
          </a:prstGeom>
          <a:noFill/>
          <a:ln/>
        </p:spPr>
        <p:txBody>
          <a:bodyPr wrap="square" lIns="0" tIns="0" rIns="0" bIns="0" rtlCol="0" anchor="ctr"/>
          <a:lstStyle/>
          <a:p>
            <a:pPr indent="0" marL="0">
              <a:buNone/>
            </a:pPr>
            <a:r>
              <a:rPr lang="en-US" sz="1400" dirty="0">
                <a:solidFill>
                  <a:schemeClr val="bg1"/>
                </a:solidFill>
              </a:rPr>
              <a:t>One witnessed restore (FND-02 / REC-02 / ORG-03)</a:t>
            </a:r>
            <a:endParaRPr lang="en-US" sz="1400" dirty="0"/>
          </a:p>
        </p:txBody>
      </p:sp>
      <p:sp>
        <p:nvSpPr>
          <p:cNvPr id="24" name="Text 19"/>
          <p:cNvSpPr txBox="1"/>
          <p:nvPr/>
        </p:nvSpPr>
        <p:spPr>
          <a:xfrm>
            <a:off x="8686800" y="4306824"/>
            <a:ext cx="2697480" cy="822960"/>
          </a:xfrm>
          <a:prstGeom prst="rect">
            <a:avLst/>
          </a:prstGeom>
          <a:noFill/>
          <a:ln/>
        </p:spPr>
        <p:txBody>
          <a:bodyPr wrap="square" lIns="0" tIns="0" rIns="0" bIns="0" rtlCol="0" anchor="ctr"/>
          <a:lstStyle/>
          <a:p>
            <a:pPr indent="0" marL="0">
              <a:buNone/>
            </a:pPr>
            <a:r>
              <a:rPr lang="en-US" sz="1400" dirty="0">
                <a:solidFill>
                  <a:schemeClr val="bg1"/>
                </a:solidFill>
              </a:rPr>
              <a:t>Narrow views + export control (FND-03 / REC-03 / ORG-05)</a:t>
            </a:r>
            <a:endParaRPr lang="en-US" sz="1400" dirty="0"/>
          </a:p>
        </p:txBody>
      </p:sp>
      <p:sp>
        <p:nvSpPr>
          <p:cNvPr id="25" name="Text 20"/>
          <p:cNvSpPr txBox="1"/>
          <p:nvPr/>
        </p:nvSpPr>
        <p:spPr>
          <a:xfrm>
            <a:off x="8686800" y="5202936"/>
            <a:ext cx="2697480" cy="822960"/>
          </a:xfrm>
          <a:prstGeom prst="rect">
            <a:avLst/>
          </a:prstGeom>
          <a:noFill/>
          <a:ln/>
        </p:spPr>
        <p:txBody>
          <a:bodyPr wrap="square" lIns="0" tIns="0" rIns="0" bIns="0" rtlCol="0" anchor="ctr"/>
          <a:lstStyle/>
          <a:p>
            <a:pPr indent="0" marL="0">
              <a:buNone/>
            </a:pPr>
            <a:r>
              <a:rPr lang="en-US" sz="1400" dirty="0">
                <a:solidFill>
                  <a:schemeClr val="bg1"/>
                </a:solidFill>
              </a:rPr>
              <a:t>Then: follow-up review + BLD-06 re-test - before live borrower data</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Backdrop circle"/>
          <p:cNvSpPr/>
          <p:nvPr/>
        </p:nvSpPr>
        <p:spPr>
          <a:xfrm>
            <a:off x="8595360" y="-1463040"/>
            <a:ext cx="5852160" cy="5852160"/>
          </a:xfrm>
          <a:prstGeom prst="ellipse">
            <a:avLst/>
          </a:prstGeom>
          <a:solidFill>
            <a:schemeClr val="accent1">
              <a:alpha val="18000"/>
            </a:schemeClr>
          </a:solidFill>
          <a:ln/>
        </p:spPr>
      </p:sp>
      <p:sp>
        <p:nvSpPr>
          <p:cNvPr id="4" name="Text 1"/>
          <p:cNvSpPr txBox="1"/>
          <p:nvPr/>
        </p:nvSpPr>
        <p:spPr>
          <a:xfrm>
            <a:off x="731520" y="914400"/>
            <a:ext cx="9144000" cy="91440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Thank You - Questions?</a:t>
            </a:r>
            <a:endParaRPr lang="en-US" sz="4800" dirty="0"/>
          </a:p>
        </p:txBody>
      </p:sp>
      <p:sp>
        <p:nvSpPr>
          <p:cNvPr id="5" name="Text 2"/>
          <p:cNvSpPr txBox="1"/>
          <p:nvPr/>
        </p:nvSpPr>
        <p:spPr>
          <a:xfrm>
            <a:off x="731520" y="1965960"/>
            <a:ext cx="8686800" cy="457200"/>
          </a:xfrm>
          <a:prstGeom prst="rect">
            <a:avLst/>
          </a:prstGeom>
          <a:noFill/>
          <a:ln/>
        </p:spPr>
        <p:txBody>
          <a:bodyPr wrap="square" lIns="0" tIns="0" rIns="0" bIns="0" rtlCol="0" anchor="t"/>
          <a:lstStyle/>
          <a:p>
            <a:pPr indent="0" marL="0">
              <a:buNone/>
            </a:pPr>
            <a:r>
              <a:rPr lang="en-US" sz="1800" dirty="0">
                <a:solidFill>
                  <a:schemeClr val="bg2"/>
                </a:solidFill>
              </a:rPr>
              <a:t>Anyone may direct a question to any member - all three of us reviewed the whole engagement.</a:t>
            </a:r>
            <a:endParaRPr lang="en-US" sz="1800" dirty="0"/>
          </a:p>
        </p:txBody>
      </p:sp>
      <p:sp>
        <p:nvSpPr>
          <p:cNvPr id="6" name="Topic card"/>
          <p:cNvSpPr/>
          <p:nvPr/>
        </p:nvSpPr>
        <p:spPr>
          <a:xfrm>
            <a:off x="731520" y="2834640"/>
            <a:ext cx="3383280" cy="1097280"/>
          </a:xfrm>
          <a:prstGeom prst="roundRect">
            <a:avLst>
              <a:gd name="adj" fmla="val 8333"/>
            </a:avLst>
          </a:prstGeom>
          <a:solidFill>
            <a:schemeClr val="bg1">
              <a:alpha val="8000"/>
            </a:schemeClr>
          </a:solidFill>
          <a:ln w="9525">
            <a:solidFill>
              <a:schemeClr val="accent6"/>
            </a:solidFill>
            <a:prstDash val="solid"/>
          </a:ln>
        </p:spPr>
      </p:sp>
      <p:sp>
        <p:nvSpPr>
          <p:cNvPr id="7" name="Text 4"/>
          <p:cNvSpPr txBox="1"/>
          <p:nvPr/>
        </p:nvSpPr>
        <p:spPr>
          <a:xfrm>
            <a:off x="960120" y="2971800"/>
            <a:ext cx="2926080" cy="365760"/>
          </a:xfrm>
          <a:prstGeom prst="rect">
            <a:avLst/>
          </a:prstGeom>
          <a:noFill/>
          <a:ln/>
        </p:spPr>
        <p:txBody>
          <a:bodyPr wrap="square" lIns="0" tIns="0" rIns="0" bIns="0" rtlCol="0" anchor="t"/>
          <a:lstStyle/>
          <a:p>
            <a:pPr indent="0" marL="0">
              <a:buNone/>
            </a:pPr>
            <a:r>
              <a:rPr lang="en-US" sz="1800" b="1" dirty="0">
                <a:solidFill>
                  <a:schemeClr val="bg2"/>
                </a:solidFill>
              </a:rPr>
              <a:t>Justin</a:t>
            </a:r>
            <a:endParaRPr lang="en-US" sz="1800" dirty="0"/>
          </a:p>
        </p:txBody>
      </p:sp>
      <p:sp>
        <p:nvSpPr>
          <p:cNvPr id="8" name="Text 5"/>
          <p:cNvSpPr txBox="1"/>
          <p:nvPr/>
        </p:nvSpPr>
        <p:spPr>
          <a:xfrm>
            <a:off x="960120" y="3383280"/>
            <a:ext cx="2926080" cy="365760"/>
          </a:xfrm>
          <a:prstGeom prst="rect">
            <a:avLst/>
          </a:prstGeom>
          <a:noFill/>
          <a:ln/>
        </p:spPr>
        <p:txBody>
          <a:bodyPr wrap="square" lIns="0" tIns="0" rIns="0" bIns="0" rtlCol="0" anchor="t"/>
          <a:lstStyle/>
          <a:p>
            <a:pPr indent="0" marL="0">
              <a:buNone/>
            </a:pPr>
            <a:r>
              <a:rPr lang="en-US" sz="1400" dirty="0">
                <a:solidFill>
                  <a:schemeClr val="bg1"/>
                </a:solidFill>
              </a:rPr>
              <a:t>scope, risks, conclusion</a:t>
            </a:r>
            <a:endParaRPr lang="en-US" sz="1400" dirty="0"/>
          </a:p>
        </p:txBody>
      </p:sp>
      <p:sp>
        <p:nvSpPr>
          <p:cNvPr id="9" name="Topic card"/>
          <p:cNvSpPr/>
          <p:nvPr/>
        </p:nvSpPr>
        <p:spPr>
          <a:xfrm>
            <a:off x="4297680" y="2834640"/>
            <a:ext cx="3383280" cy="1097280"/>
          </a:xfrm>
          <a:prstGeom prst="roundRect">
            <a:avLst>
              <a:gd name="adj" fmla="val 8333"/>
            </a:avLst>
          </a:prstGeom>
          <a:solidFill>
            <a:schemeClr val="bg1">
              <a:alpha val="8000"/>
            </a:schemeClr>
          </a:solidFill>
          <a:ln w="9525">
            <a:solidFill>
              <a:schemeClr val="accent6"/>
            </a:solidFill>
            <a:prstDash val="solid"/>
          </a:ln>
        </p:spPr>
      </p:sp>
      <p:sp>
        <p:nvSpPr>
          <p:cNvPr id="10" name="Text 7"/>
          <p:cNvSpPr txBox="1"/>
          <p:nvPr/>
        </p:nvSpPr>
        <p:spPr>
          <a:xfrm>
            <a:off x="4526280" y="2971800"/>
            <a:ext cx="2926080" cy="365760"/>
          </a:xfrm>
          <a:prstGeom prst="rect">
            <a:avLst/>
          </a:prstGeom>
          <a:noFill/>
          <a:ln/>
        </p:spPr>
        <p:txBody>
          <a:bodyPr wrap="square" lIns="0" tIns="0" rIns="0" bIns="0" rtlCol="0" anchor="t"/>
          <a:lstStyle/>
          <a:p>
            <a:pPr indent="0" marL="0">
              <a:buNone/>
            </a:pPr>
            <a:r>
              <a:rPr lang="en-US" sz="1800" b="1" dirty="0">
                <a:solidFill>
                  <a:schemeClr val="bg2"/>
                </a:solidFill>
              </a:rPr>
              <a:t>Glenn</a:t>
            </a:r>
            <a:endParaRPr lang="en-US" sz="1800" dirty="0"/>
          </a:p>
        </p:txBody>
      </p:sp>
      <p:sp>
        <p:nvSpPr>
          <p:cNvPr id="11" name="Text 8"/>
          <p:cNvSpPr txBox="1"/>
          <p:nvPr/>
        </p:nvSpPr>
        <p:spPr>
          <a:xfrm>
            <a:off x="4526280" y="3383280"/>
            <a:ext cx="2926080" cy="365760"/>
          </a:xfrm>
          <a:prstGeom prst="rect">
            <a:avLst/>
          </a:prstGeom>
          <a:noFill/>
          <a:ln/>
        </p:spPr>
        <p:txBody>
          <a:bodyPr wrap="square" lIns="0" tIns="0" rIns="0" bIns="0" rtlCol="0" anchor="t"/>
          <a:lstStyle/>
          <a:p>
            <a:pPr indent="0" marL="0">
              <a:buNone/>
            </a:pPr>
            <a:r>
              <a:rPr lang="en-US" sz="1400" dirty="0">
                <a:solidFill>
                  <a:schemeClr val="bg1"/>
                </a:solidFill>
              </a:rPr>
              <a:t>system, controls, tests</a:t>
            </a:r>
            <a:endParaRPr lang="en-US" sz="1400" dirty="0"/>
          </a:p>
        </p:txBody>
      </p:sp>
      <p:sp>
        <p:nvSpPr>
          <p:cNvPr id="12" name="Topic card"/>
          <p:cNvSpPr/>
          <p:nvPr/>
        </p:nvSpPr>
        <p:spPr>
          <a:xfrm>
            <a:off x="7863840" y="2834640"/>
            <a:ext cx="3383280" cy="1097280"/>
          </a:xfrm>
          <a:prstGeom prst="roundRect">
            <a:avLst>
              <a:gd name="adj" fmla="val 8333"/>
            </a:avLst>
          </a:prstGeom>
          <a:solidFill>
            <a:schemeClr val="bg1">
              <a:alpha val="8000"/>
            </a:schemeClr>
          </a:solidFill>
          <a:ln w="9525">
            <a:solidFill>
              <a:schemeClr val="accent6"/>
            </a:solidFill>
            <a:prstDash val="solid"/>
          </a:ln>
        </p:spPr>
      </p:sp>
      <p:sp>
        <p:nvSpPr>
          <p:cNvPr id="13" name="Text 10"/>
          <p:cNvSpPr txBox="1"/>
          <p:nvPr/>
        </p:nvSpPr>
        <p:spPr>
          <a:xfrm>
            <a:off x="8092440" y="2971800"/>
            <a:ext cx="2926080" cy="365760"/>
          </a:xfrm>
          <a:prstGeom prst="rect">
            <a:avLst/>
          </a:prstGeom>
          <a:noFill/>
          <a:ln/>
        </p:spPr>
        <p:txBody>
          <a:bodyPr wrap="square" lIns="0" tIns="0" rIns="0" bIns="0" rtlCol="0" anchor="t"/>
          <a:lstStyle/>
          <a:p>
            <a:pPr indent="0" marL="0">
              <a:buNone/>
            </a:pPr>
            <a:r>
              <a:rPr lang="en-US" sz="1800" b="1" dirty="0">
                <a:solidFill>
                  <a:schemeClr val="bg2"/>
                </a:solidFill>
              </a:rPr>
              <a:t>Jenifer</a:t>
            </a:r>
            <a:endParaRPr lang="en-US" sz="1800" dirty="0"/>
          </a:p>
        </p:txBody>
      </p:sp>
      <p:sp>
        <p:nvSpPr>
          <p:cNvPr id="14" name="Text 11"/>
          <p:cNvSpPr txBox="1"/>
          <p:nvPr/>
        </p:nvSpPr>
        <p:spPr>
          <a:xfrm>
            <a:off x="8092440" y="3383280"/>
            <a:ext cx="2926080" cy="365760"/>
          </a:xfrm>
          <a:prstGeom prst="rect">
            <a:avLst/>
          </a:prstGeom>
          <a:noFill/>
          <a:ln/>
        </p:spPr>
        <p:txBody>
          <a:bodyPr wrap="square" lIns="0" tIns="0" rIns="0" bIns="0" rtlCol="0" anchor="t"/>
          <a:lstStyle/>
          <a:p>
            <a:pPr indent="0" marL="0">
              <a:buNone/>
            </a:pPr>
            <a:r>
              <a:rPr lang="en-US" sz="1400" dirty="0">
                <a:solidFill>
                  <a:schemeClr val="bg1"/>
                </a:solidFill>
              </a:rPr>
              <a:t>findings, actions</a:t>
            </a:r>
            <a:endParaRPr lang="en-US" sz="1400" dirty="0"/>
          </a:p>
        </p:txBody>
      </p:sp>
      <p:sp>
        <p:nvSpPr>
          <p:cNvPr id="15" name="Text 12"/>
          <p:cNvSpPr txBox="1"/>
          <p:nvPr/>
        </p:nvSpPr>
        <p:spPr>
          <a:xfrm>
            <a:off x="731520" y="4389120"/>
            <a:ext cx="10058400" cy="365760"/>
          </a:xfrm>
          <a:prstGeom prst="rect">
            <a:avLst/>
          </a:prstGeom>
          <a:noFill/>
          <a:ln/>
        </p:spPr>
        <p:txBody>
          <a:bodyPr wrap="square" lIns="0" tIns="0" rIns="0" bIns="0" rtlCol="0" anchor="t"/>
          <a:lstStyle/>
          <a:p>
            <a:pPr indent="0" marL="0">
              <a:buNone/>
            </a:pPr>
            <a:r>
              <a:rPr lang="en-US" sz="1500" dirty="0">
                <a:solidFill>
                  <a:schemeClr val="bg2"/>
                </a:solidFill>
              </a:rPr>
              <a:t>Evidence on request: EVD index (20 items), test workpapers, REV/AI logs, build lineage - all in the final report.</a:t>
            </a:r>
            <a:endParaRPr lang="en-US" sz="1500" dirty="0"/>
          </a:p>
        </p:txBody>
      </p:sp>
      <p:sp>
        <p:nvSpPr>
          <p:cNvPr id="16" name="Text 13"/>
          <p:cNvSpPr txBox="1"/>
          <p:nvPr/>
        </p:nvSpPr>
        <p:spPr>
          <a:xfrm>
            <a:off x="731520" y="5897880"/>
            <a:ext cx="10972800" cy="457200"/>
          </a:xfrm>
          <a:prstGeom prst="rect">
            <a:avLst/>
          </a:prstGeom>
          <a:noFill/>
          <a:ln/>
        </p:spPr>
        <p:txBody>
          <a:bodyPr wrap="square" lIns="0" tIns="0" rIns="0" bIns="0" rtlCol="0" anchor="t"/>
          <a:lstStyle/>
          <a:p>
            <a:pPr indent="0" marL="0">
              <a:buNone/>
            </a:pPr>
            <a:r>
              <a:rPr lang="en-US" sz="1200" dirty="0">
                <a:solidFill>
                  <a:schemeClr val="accent6"/>
                </a:solidFill>
              </a:rPr>
              <a:t>404NotFound  |  Justin C. Batlangao  |  Glenn Patrick B. Darriguez  |  Ma. Jenifer L. Labag  |  MCST Library (Head Librarian Calixto Nicolas Camangeg)</a:t>
            </a:r>
            <a:endParaRPr lang="en-US" sz="1200" dirty="0"/>
          </a:p>
        </p:txBody>
      </p:sp>
    </p:spTree>
  </p:cSld>
  <p:clrMapOvr>
    <a:masterClrMapping/>
  </p:clrMapOvr>
</p:sld>
</file>

<file path=ppt/theme/theme1.xml><?xml version="1.0" encoding="utf-8"?>
<a:theme xmlns:a="http://schemas.openxmlformats.org/drawingml/2006/main" name="MCST Audit">
  <a:themeElements>
    <a:clrScheme name="MCST Audit">
      <a:dk1>
        <a:srgbClr val="14232E"/>
      </a:dk1>
      <a:lt1>
        <a:srgbClr val="FFFFFF"/>
      </a:lt1>
      <a:dk2>
        <a:srgbClr val="0C2A38"/>
      </a:dk2>
      <a:lt2>
        <a:srgbClr val="EEF3F5"/>
      </a:lt2>
      <a:accent1>
        <a:srgbClr val="0F766E"/>
      </a:accent1>
      <a:accent2>
        <a:srgbClr val="C2410C"/>
      </a:accent2>
      <a:accent3>
        <a:srgbClr val="B91C1C"/>
      </a:accent3>
      <a:accent4>
        <a:srgbClr val="15803D"/>
      </a:accent4>
      <a:accent5>
        <a:srgbClr val="B45309"/>
      </a:accent5>
      <a:accent6>
        <a:srgbClr val="64748B"/>
      </a:accent6>
      <a:hlink>
        <a:srgbClr val="0F766E"/>
      </a:hlink>
      <a:folHlink>
        <a:srgbClr val="64748B"/>
      </a:folHlink>
    </a:clrScheme>
    <a:fontScheme name="MCST Aud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Audit of the MCST Library Management System</dc:title>
  <dc:subject>PptxGenJS Presentation</dc:subject>
  <dc:creator>404NotFound</dc:creator>
  <cp:lastModifiedBy>404NotFound</cp:lastModifiedBy>
  <cp:revision>1</cp:revision>
  <dcterms:created xsi:type="dcterms:W3CDTF">2026-10-23T14:24:40Z</dcterms:created>
  <dcterms:modified xsi:type="dcterms:W3CDTF">2026-10-23T14:24:40Z</dcterms:modified>
</cp:coreProperties>
</file>