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43e6728-663e-37b5-39dd-9f4a7c0261d5}">
          <p14:sldIdLst>
            <p14:sldId id="256"/>
          </p14:sldIdLst>
        </p14:section>
        <p14:section name="Engagement" id="{f5f33454-a979-65dd-493a-372be057f5b9}">
          <p14:sldIdLst>
            <p14:sldId id="257"/>
            <p14:sldId id="258"/>
            <p14:sldId id="259"/>
            <p14:sldId id="260"/>
          </p14:sldIdLst>
        </p14:section>
        <p14:section name="System" id="{cbea3417-274b-1e7c-cb37-61b3edbc5b22}">
          <p14:sldIdLst>
            <p14:sldId id="261"/>
            <p14:sldId id="262"/>
          </p14:sldIdLst>
        </p14:section>
        <p14:section name="Risks and Controls" id="{e6845049-8a4c-3bb8-75ba-1c622b03d238}">
          <p14:sldIdLst>
            <p14:sldId id="263"/>
            <p14:sldId id="264"/>
          </p14:sldIdLst>
        </p14:section>
        <p14:section name="Findings" id="{2c522f9d-7e8a-e89b-e9a7-22f6bf9fee09}">
          <p14:sldIdLst>
            <p14:sldId id="265"/>
            <p14:sldId id="266"/>
            <p14:sldId id="267"/>
            <p14:sldId id="268"/>
          </p14:sldIdLst>
        </p14:section>
        <p14:section name="Evidence and Actions" id="{b08bd0b7-1ca0-d6b1-ca27-6ab0e3b3e64c}">
          <p14:sldIdLst>
            <p14:sldId id="269"/>
            <p14:sldId id="270"/>
            <p14:sldId id="271"/>
          </p14:sldIdLst>
        </p14:section>
        <p14:section name="Conclusion" id="{4db49dc4-7e81-be4e-c5e2-9ef32b78b8a9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 score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423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RSK-01  Staff password leaks - no second login check</c:v>
                  </c:pt>
                  <c:pt idx="1">
                    <c:v>RSK-04  Database loss - restore never shown</c:v>
                  </c:pt>
                  <c:pt idx="2">
                    <c:v>RSK-07  Borrower data exposed in wide views / exports</c:v>
                  </c:pt>
                  <c:pt idx="3">
                    <c:v>RSK-02  Bad CSV rows corrupt book catalog</c:v>
                  </c:pt>
                  <c:pt idx="4">
                    <c:v>RSK-03  Import jobs lost on server restart</c:v>
                  </c:pt>
                  <c:pt idx="5">
                    <c:v>RSK-05  Single cloud provider outage (Accepted)</c:v>
                  </c:pt>
                  <c:pt idx="6">
                    <c:v>RSK-06  Same staff member adds + lends (SoD)</c:v>
                  </c:pt>
                  <c:pt idx="7">
                    <c:v>RSK-08  Settings changed without approval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6</c:v>
                </c:pt>
                <c:pt idx="5">
                  <c:v>8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423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Good day, everyone. We are 404NotFound — Justin Batlangao, Glenn Darriguez, and Jenifer Labag. We audited our own capstone system, the MCST Library Management System, built for the MCST Library under Head Librarian Calixto Nicolas Camangeg — and we tested it the way an external audit team would: written criteria, sampled tests, dated evidence. This is our final integrated report from Labs 7 to 12; evidence closes October 10, audited builds BLD-04 and BLD-05. Today: what we audited, what we tested, what we found, and what we recommend.</a:t>
            </a:r>
          </a:p>
          <a:p>
            <a:r>
              <a:t>Q&amp;A BANK:</a:t>
            </a:r>
          </a:p>
          <a:p>
            <a:r>
              <a:t>1. Why test our own system? Because the partner benefit is a real audit before the library depends on it — and integrity is protected by re-openable evidence (dated screenshots, git builds, system-generated logs), not just trust in one team.</a:t>
            </a:r>
          </a:p>
          <a:p>
            <a:r>
              <a:t>2. What exactly is the deliverable? One integrated report: 4 objectives, 8 risks, 8 controls, 6 tests, 3 findings, 3 recommendations, and a 20-item evidence index — all ID-linked (OBJ/RSK/CTL/TEST/FND/REC).</a:t>
            </a:r>
          </a:p>
          <a:p>
            <a:r>
              <a:t>3. How was it audited? Records and code inspection, a walkthrough of the demo build, six sampled tests, and cross-review — all with dated evidence anyone on the panel can request and re-verify.</a:t>
            </a:r>
          </a:p>
          <a:p>
            <a:r>
              <a:t>4. Who owns the system? The MCST Library, under Head Librarian Calixto Nicolas Camangeg (ORG-01); our group built and maintains it during the capstone, which gives the audit full code access without full audit freedom.</a:t>
            </a:r>
          </a:p>
          <a:p>
            <a:r>
              <a:t>5. One-line takeaway before we start? 'We tried our system the way a third party would — and caught three High gaps before it goes live.'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It was one continuous engagement across six labs, each dated. Lab 7 set scope and criteria; Lab 8, assets and flows; Lab 9, risks and compliance; Lab 10, controls and tests; Lab 11, findings and actions; Lab 12 integrated the final report. Every lab shares the same system, build records, and ID families — OBJ, RSK, CTL, TEST, GAP, FND — so every claim traces. And everyone built and cross-checked in every lab — today we divided the telling, not the doing.</a:t>
            </a:r>
          </a:p>
          <a:p>
            <a:r>
              <a:t>Q&amp;A BANK:</a:t>
            </a:r>
          </a:p>
          <a:p>
            <a:r>
              <a:t>1. Who did what? Every member wrote their lab content, cross-reviewed another lab, and participated in all increments; today's speakers simply match their subjects — Justin: engagement and risks, Glenn: system and tests, Jenifer: findings and actions.</a:t>
            </a:r>
          </a:p>
          <a:p>
            <a:r>
              <a:t>2. Which lab mattered most? Lab 10, because it turned claims into test results — and Lab 11, because results only become findings after screening.</a:t>
            </a:r>
          </a:p>
          <a:p>
            <a:r>
              <a:t>3. Did later labs ever change earlier conclusions? No major rework; the prior-feedback log documents the small consistency fixes made at each increment, each with its closing date.</a:t>
            </a:r>
          </a:p>
          <a:p>
            <a:r>
              <a:t>4. Why all the IDs (OBJ, RSK, CTL, FND)? So any claim traces to its exact register entry in the report — it is how we keep ourselves honest and let you verify.</a:t>
            </a:r>
          </a:p>
          <a:p>
            <a:r>
              <a:t>5. What happened between Oct 10 and 20? Integration and independent QA only — final review FIN-01..03, no new findings, no new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We audited our Flask 3.1 app — catalog, borrowing, fines, requests, buying, stock count, reports: modules MOD-01 to MOD-08 — on PostgreSQL with timed backups, and school-email login with per-page role checks. Because we own the code, we had full transparency, but we audited it like any client: criteria, samples, dated evidence. The build lineage on the right is real git history, frozen every lab — BLD-01 to BLD-05. BLD-06 came after the cutoff — excluded from conclusions, and disclosed later.</a:t>
            </a:r>
          </a:p>
          <a:p>
            <a:r>
              <a:t>Q&amp;A BANK:</a:t>
            </a:r>
          </a:p>
          <a:p>
            <a:r>
              <a:t>1. What data does the system actually hold? Book catalog and copies, borrower records, loans and fines, and the audit trail — assets AST-02 through AST-07; backups sit in AST-08/10.</a:t>
            </a:r>
          </a:p>
          <a:p>
            <a:r>
              <a:t>2. How do we prove the code did not change mid-audit? Every lab freezes a git build (BLD-01..05 with commit hashes); all tests ran only against frozen builds.</a:t>
            </a:r>
          </a:p>
          <a:p>
            <a:r>
              <a:t>3. Is the Render site production? No — a test site; the library is not live yet. That is why 'demo evidence only' is an honest limitation, not an excuse, and it is stated on every conclusion.</a:t>
            </a:r>
          </a:p>
          <a:p>
            <a:r>
              <a:t>4. What is BLD-06? Build c20f98e, Oct 11-20 — inventory shared-session fixes, set-based reconcile, condition modal, PH-time timestamps; post-cutoff, so untested and disclosed.</a:t>
            </a:r>
          </a:p>
          <a:p>
            <a:r>
              <a:t>5. Could transparency be 100 percent? For code and screens, yes — that is the advantage of auditing our own build; for owner processes (restore approval), no, which is exactly Finding FND-02.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Four approved objectives, OBJ-01 to OBJ-04: access control, build truth, traceability, and data safety — each anchored to written criteria CRT-01 to CRT-04. For example, CRT-01 requires role rules in code plus approver ORG-02; CRT-03 requires audited, POST-only desk actions. Our procedures were deliberately safe: record and code inspection, configuration review, walkthroughs, and small demo tests — nothing changed or harmed. No attack testing, no live restore, no real student data — and those limits are stated in every conclusion.</a:t>
            </a:r>
          </a:p>
          <a:p>
            <a:r>
              <a:t>Q&amp;A BANK:</a:t>
            </a:r>
          </a:p>
          <a:p>
            <a:r>
              <a:t>1. Where do the criteria come from? CRT-01..04 combine school access rules, Data Privacy Act obligations, and the agreed capstone requirements — approved in writing with the library owner.</a:t>
            </a:r>
          </a:p>
          <a:p>
            <a:r>
              <a:t>2. Why four objectives and not more? They cover the four angles of 'can we trust this system elsewhere': getting in, doing the work, leaving traces, and protecting data — every lab tallies to one of them.</a:t>
            </a:r>
          </a:p>
          <a:p>
            <a:r>
              <a:t>3. What exactly is excluded (SCP-03/04)? Attack testing, live restores on the real database, and any use of real student data — all evidence is demo-build and sanitized.</a:t>
            </a:r>
          </a:p>
          <a:p>
            <a:r>
              <a:t>4. Could the scope change if the panel requests it? Only with the owner's approval (ORG-01) in writing before work starts; otherwise results and limitations stay as filed.</a:t>
            </a:r>
          </a:p>
          <a:p>
            <a:r>
              <a:t>5. Which objective carries the most risk today? OBJ-04 data safety — unproven recovery (RSK-04) and wide borrower views (RSK-07) are two of our three High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One four-step method across Labs 7 to 12. First, inspect records, code, and configuration — the EVD-09 and EVD-10 series. Second, walk through real demo screens with names cleaned. Third, test — full populations where small. Fourth, cross-review: a written challenge and resolution for every increment, REV-01 to 14. On AI: wording fixes, counts, and clarification only — every suggestion validated, never an evidence source; all six uses are disclosed in the portfolio.</a:t>
            </a:r>
          </a:p>
          <a:p>
            <a:r>
              <a:t>Q&amp;A BANK:</a:t>
            </a:r>
          </a:p>
          <a:p>
            <a:r>
              <a:t>1. Did AI write your audit? No — it shortened sentences, re-checked counts, and clarified tasks (AIV-01..06 with Accept/Revise and what was verified); every fact came from real evidence we handled ourselves.</a:t>
            </a:r>
          </a:p>
          <a:p>
            <a:r>
              <a:t>2. How do cross-reviewers avoid both missing the same thing? Reviewers were assigned different roles than the builder's, and every challenge written into REV-01..14 had to be resolved or the item moved into the gap register.</a:t>
            </a:r>
          </a:p>
          <a:p>
            <a:r>
              <a:t>3. Why no statistical sampling? Populations were small enough to test fully — all 10 role-gated pages, the entire 14-row backup log, the whole CSV file; sampling buys nothing at this size and hides more than it shows.</a:t>
            </a:r>
          </a:p>
          <a:p>
            <a:r>
              <a:t>4. What if a reviewer found an error? Fix on the spot if trivial and re-documented, or raise a logged challenge; anything found after the cutoff goes into the limitation log, not silently into results.</a:t>
            </a:r>
          </a:p>
          <a:p>
            <a:r>
              <a:t>5. What did the walkthrough add beyond the code read? Proof that role checks actually fire per page in the running app, plus visible skip-and-log behavior on the CSV import — behavior never shows in source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SCRIPT:</a:t>
            </a:r>
          </a:p>
          <a:p>
            <a:r>
              <a:t>Figure 2: a borrower connects over HTTPS to Flask, which talks SQL only to PostgreSQL. Google only proves identity — it never touches library data. A scheduler runs the timed backup, and admins use the highest-trust path. Six trust boundaries, DEP-01 to DEP-06, each with a named evidence source. Seven account types — and the one-time bootstrap admin was closed and verified, ACC-07. Secrets live only in environment config: never in the code, never in this report.</a:t>
            </a:r>
          </a:p>
          <a:p>
            <a:r>
              <a:t>Q&amp;A BANK:</a:t>
            </a:r>
          </a:p>
          <a:p>
            <a:r>
              <a:t>1. What protects the database credentials? They live only in environment configuration held on the platform, referenced through the admin-only path (DEP-02); nothing sensitive is in code, in git, or in this report.</a:t>
            </a:r>
          </a:p>
          <a:p>
            <a:r>
              <a:t>2. Can Google ever hold our data hostage? No — Google only proves identity (the login line); if OAuth is suspended, data stays inside PostgreSQL and could still be read by the desk paths (dependency logged as INT-01..05).</a:t>
            </a:r>
          </a:p>
          <a:p>
            <a:r>
              <a:t>3. What stopped the bootstrap admin from being abused? It closed after first setup and was verified closed (ACC-07); follow-up is the quarterly access review under CMP-03 by ORG-02.</a:t>
            </a:r>
          </a:p>
          <a:p>
            <a:r>
              <a:t>4. Are the pg_dump backups on the same server as the database? They are produced by the provider-side scheduler; reach and retention were outside our scope, but backup status is on the system log (EVD-12-04).</a:t>
            </a:r>
          </a:p>
          <a:p>
            <a:r>
              <a:t>5. What is not on this map? Offline side-channels (phone calls, USB, paper notices); they carry no tested interfaces in this audit and are named as an assumption, not a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SCRIPT:</a:t>
            </a:r>
          </a:p>
          <a:p>
            <a:r>
              <a:t>Figure 3 shows five data flows, FLOW-01 to 05. Borrowing honors the three-and-five-book limits; fines are rate times days late; deletion is archive-before-delete. The CSV import requires headers and skips bad rows — logged. Login is school email only, with the bootstrap admin closed after setup. Every flow has written validation, storage, channel, and retention rules. Remember one thing: borrower data sits in PostgreSQL, and its views should be role-limited — the weak part is Finding FND-03.</a:t>
            </a:r>
          </a:p>
          <a:p>
            <a:r>
              <a:t>Q&amp;A BANK:</a:t>
            </a:r>
          </a:p>
          <a:p>
            <a:r>
              <a:t>1. What happens to a bad CSV row? It is skipped and logged — never half-inserted; the run log shows added versus skipped counts (demonstrated in TEST-02).</a:t>
            </a:r>
          </a:p>
          <a:p>
            <a:r>
              <a:t>2. Where are retention rules enforced? The written rules live in the report; enforcement is currently manual — that gap is exactly why the export path in FND-03 ranks High.</a:t>
            </a:r>
          </a:p>
          <a:p>
            <a:r>
              <a:t>3. How are fines computed? Rate times days late, with the rate held in settings guardrails (who may change it is what TEST-06 tested).</a:t>
            </a:r>
          </a:p>
          <a:p>
            <a:r>
              <a:t>4. Who may delete a book and what happens? Desk staff with role-gated pages; active records are refused, archived ones may be removed — tested in TEST-04, both sides.</a:t>
            </a:r>
          </a:p>
          <a:p>
            <a:r>
              <a:t>5. What does a student actually see? Loan limits of three (students) and five (faculty), and a purchase request that waits for approval before it enters the catalog — the flow-internal checks are visible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Lab 9 scored eight risks — likelihood times impact, adjusted only for safeguards proven in the build. Three are High. RSK-01: account takeover — a leaked password meets no second check; residual sixteen of twenty-five. RSK-04: recovery unproven — backups logged, restore never demonstrated; residual eight. RSK-07: borrower data exposed through wide views and an open export path. Those three become our findings. One example of adjustment: RSK-04's backup log is real, so its impact drops five to four. Single-provider outage, RSK-05, is accepted with a paper control. Compliance base: the Data Privacy Act plus school rules.</a:t>
            </a:r>
          </a:p>
          <a:p>
            <a:r>
              <a:t>Q&amp;A BANK:</a:t>
            </a:r>
          </a:p>
          <a:p>
            <a:r>
              <a:t>1. Why is RSK-01 a 16? Likelihood 4 times impact 4: passwords leak often, and there is no second check to catch one compromised password — the mitigation is the second factor, aiming for 8.</a:t>
            </a:r>
          </a:p>
          <a:p>
            <a:r>
              <a:t>2. Why accept rather than mitigate the provider outage (RSK-05)? A standby site costs more than a small school library can carry; the owner signed the acceptance with manual desk steps for outage days.</a:t>
            </a:r>
          </a:p>
          <a:p>
            <a:r>
              <a:t>3. What is the single biggest inherent risk? RSK-04 at inherent 10 — recovery, because the trigger is rare (L=2) but the impact is total (I=5): every loan and every catalog record.</a:t>
            </a:r>
          </a:p>
          <a:p>
            <a:r>
              <a:t>4. Why is the CSV risk only Moderate (RSK-02)? Bad rows are annoying but contained and self-logged, and no private data is exposed — fixable catalog errors, not privacy or access failures.</a:t>
            </a:r>
          </a:p>
          <a:p>
            <a:r>
              <a:t>5. Is any risk score guaranteed to drop after remediation? No — the roadmap states target residuals and a re-test step; a score only moves when the validated safeguard, not an intention, is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SCRIPT:</a:t>
            </a:r>
          </a:p>
          <a:p>
            <a:r>
              <a:t>Eight controls, CTL-01 to 08; six tests on BLD-04. Four came back Effective. TEST-01: wrong-role entry blocked on all ten pages — ten for ten, zero exceptions. TEST-02: CSV upload — six good rows added, two bad rows skipped and logged. TEST-03: a full borrow-return-fine cycle — the fine matched the formula. TEST-04: deleting an active book refused; archived allowed. Two came back Partially Effective. TEST-05: fourteen of fourteen backups logged — but zero proof any restores. TEST-06: settings changes logged with a name — no approval step. These were full populations, not cherry-picked samples. The two partials spill into our findings.</a:t>
            </a:r>
          </a:p>
          <a:p>
            <a:r>
              <a:t>Q&amp;A BANK:</a:t>
            </a:r>
          </a:p>
          <a:p>
            <a:r>
              <a:t>1. Does Partially Effective mean failed? No — the control partly works; it misses a secondary objective: TEST-05 lacks restore proof, TEST-06 lacks a pre-approval step before the change takes effect.</a:t>
            </a:r>
          </a:p>
          <a:p>
            <a:r>
              <a:t>2. Why not test a restore in Lab 10? Its scope ended at observation — and the missing authorization for a restore is itself the finding; REC-02 schedules the restore as a confirmed owner action.</a:t>
            </a:r>
          </a:p>
          <a:p>
            <a:r>
              <a:t>3. What actually makes tests trustworthy? They run against frozen builds; evidence is captured screenshots and system-generated logs, not our word (EVD-12-01..05), and two team members observed each run.</a:t>
            </a:r>
          </a:p>
          <a:p>
            <a:r>
              <a:t>4. How do you know the ten pages are ALL the role-gated pages? The audit trail maps MOD-01..08 route pages; the population list is in the TEST-01 workpaper, section 7.4 (small system, full coverage).</a:t>
            </a:r>
          </a:p>
          <a:p>
            <a:r>
              <a:t>5. Was the fine math re-derived or just observed? Both: TEST-03 borrowed, returned, and matched the fine against the rate-times-days formula on the returned value — independent recalculation, not just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SCRIPT:</a:t>
            </a:r>
          </a:p>
          <a:p>
            <a:r>
              <a:t>Five finding candidates, screened against evidence, materiality, and scope. FC-01 and FC-02 became findings FND-01 and FND-02. FC-03 became OBS-01 — a small, tracked backlog, not worth a finding. FC-04 became FND-03. FC-05 is closed — its risk is already compensated by logging plus a monthly review. Result: three formal findings, all High. We did not inflate the register — materiality disciplined the list, and every screening decision carries its evidence IDs.</a:t>
            </a:r>
          </a:p>
          <a:p>
            <a:r>
              <a:t>Q&amp;A BANK:</a:t>
            </a:r>
          </a:p>
          <a:p>
            <a:r>
              <a:t>1. Why is a real gap like CSV job history not a finding (FC-03)? Materiality: it is an inventory-hygiene inconvenience, not a privacy, access, or recovery failure; it is tracked as OBS-01, not buried.</a:t>
            </a:r>
          </a:p>
          <a:p>
            <a:r>
              <a:t>2. Could any closed candidate (FC-05) resurface later? Yes, if the monthly review stops; the trigger is on the register, and re-opening the finding register is a quick lab-scale job.</a:t>
            </a:r>
          </a:p>
          <a:p>
            <a:r>
              <a:t>3. How do you prove the screening was honest? All five candidates, with decision reasons and evidence IDs, are in the finding register (section 8.1) — nothing was dropped in silence.</a:t>
            </a:r>
          </a:p>
          <a:p>
            <a:r>
              <a:t>4. Which candidate had the weakest evidence? FC-05's compensation claim — it leans on the logging note plus the review habit, so we close it rather than raise it to finding.</a:t>
            </a:r>
          </a:p>
          <a:p>
            <a:r>
              <a:t>5. What exactly makes a finding High? A high residual risk score plus a workpaper gap that independently confirms the control failure; all three meet both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SCRIPT:</a:t>
            </a:r>
          </a:p>
          <a:p>
            <a:r>
              <a:t>Finding one, FND-01. Condition: no staff or admin login asks for a second check on BLD-05. TEST-01 blocked the wrong role ten for ten — but that stops the wrong people, not a thief with the right password. Criteria, CRT-01 and CMP-03: login must stop outsiders. Cause: the second step was never built. Effect: one leaked password could read and change all borrower, loan, and fine data — we say exposure, not breach; nothing was lost. Severity: residual sixteen of twenty-five. REC-01 — ORG-02 turns on a second check; target: a stolen password alone fails.</a:t>
            </a:r>
          </a:p>
          <a:p>
            <a:r>
              <a:t>Q&amp;A BANK:</a:t>
            </a:r>
          </a:p>
          <a:p>
            <a:r>
              <a:t>1. Ten-for-ten role tests passed — so why is this still a finding? Role gating stops the wrong people; it does nothing against a stolen but correct password — the cross-review debate is logged in REV-13-02 and the finding kept.</a:t>
            </a:r>
          </a:p>
          <a:p>
            <a:r>
              <a:t>2. Would the stolen session be visible in the audit trail? No — it enters as a normal-looking staff session; that is precisely why the second check is the recommended countermeasure.</a:t>
            </a:r>
          </a:p>
          <a:p>
            <a:r>
              <a:t>3. Which compliance line backs this? CMP-03, the school account-and-access rule, alongside CRT-01; both currently grade Partial in the compliance register.</a:t>
            </a:r>
          </a:p>
          <a:p>
            <a:r>
              <a:t>4. Why not just say 'add 2FA tomorrow'? Practical steps: choosing the second factor (code, prompt, or hardware), then enrolling each staff account — hence 'next release', not overnight.</a:t>
            </a:r>
          </a:p>
          <a:p>
            <a:r>
              <a:t>5. Is exposure the same as breach? No — exposure means the door is open; breach would be proof someone walked through. Our workpapers state 'no loss seen' for all three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SCRIPT:</a:t>
            </a:r>
          </a:p>
          <a:p>
            <a:r>
              <a:t>Finding two, FND-02 — recovery provability. Condition: fourteen of fourteen backups logged, zero restore demonstrations. CMP-05 with CRT-04 requires not just copies but provable recovery. Cause: a restore needs owner approval and was never scheduled. Effect: if the database died, desk work could stop for days. Why High: a backup log proves copies exist — nothing about them coming back; one failed recovery means total loss. Our cross-review kept it High on effect, not score alone. REC-02 — one witnessed restore on a test copy plus filed steps: one admin hour, the cheapest fix, the biggest assurance gain.</a:t>
            </a:r>
          </a:p>
          <a:p>
            <a:r>
              <a:t>Q&amp;A BANK:</a:t>
            </a:r>
          </a:p>
          <a:p>
            <a:r>
              <a:t>1. Why not restore the real database? Out of approved scope (SCP-03) and not ours to authorize; a test copy gives identical proof without touching live data.</a:t>
            </a:r>
          </a:p>
          <a:p>
            <a:r>
              <a:t>2. What could actually stop a restore from working? Version mismatch, a partial dump, or wrong sequencing — all unknown to us precisely because it has never been run; that unknown IS the finding.</a:t>
            </a:r>
          </a:p>
          <a:p>
            <a:r>
              <a:t>3. Could Recovery stay 'Not Determined' forever? Only if the owner never exercises it — the roadmap sets 'before our final defense' as the target date for REC-02.</a:t>
            </a:r>
          </a:p>
          <a:p>
            <a:r>
              <a:t>4. Who signs off that the restore worked? The System Admin (ORG-03) runs it, the owner (ORG-01) witnesses, and the signed steps and log become evidence in the report pack.</a:t>
            </a:r>
          </a:p>
          <a:p>
            <a:r>
              <a:t>5. Why is this the cheapest fix in the report? Because it converts fourteen logged backups into one demonstrable recovery with roughly a single admin hour — highest assurance per cost, which is why it leads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SCRIPT:</a:t>
            </a:r>
          </a:p>
          <a:p>
            <a:r>
              <a:t>Finding three, FND-03 — borrower data exposure. Staff roles open full borrower rows — name, school ID, fines; reports show names; and the export path has no extra rule. Criteria: the Data Privacy Act line plus CRT-01 — private data only for need-to-know roles. Cause: views built for desk speed; export never fenced. Effect: a curious or rogue staff member could copy many student records — exposure, no misuse seen. And this stands despite TEST-01 passing, because getting in and seeing wide are different questions. REC-03 — narrow views to need-to-know, hide names, log exports.</a:t>
            </a:r>
          </a:p>
          <a:p>
            <a:r>
              <a:t>Q&amp;A BANK:</a:t>
            </a:r>
          </a:p>
          <a:p>
            <a:r>
              <a:t>1. How is FND-03 different from FND-01? FND-01 is about who gets in; FND-03 is about what an insider sees once inside — passing one says nothing about the other, which is why both stand despite TEST-01.</a:t>
            </a:r>
          </a:p>
          <a:p>
            <a:r>
              <a:t>2. Does the Data Privacy Act require hiding names from desk staff? No — desk staff need names for borrowing and notices (CMP-02); the requirement is role-based need-to-know plus report/export naming discipline (CMP-01).</a:t>
            </a:r>
          </a:p>
          <a:p>
            <a:r>
              <a:t>3. Has any student data actually left the system? No — we saw no misuse; the finding is structural exposure, and the workpaper states that explicitly.</a:t>
            </a:r>
          </a:p>
          <a:p>
            <a:r>
              <a:t>4. Would the fix break desk workflows? No — desk screens keep the fields staff need; the narrowing applies to broad views, reports, and the bulk CSV path.</a:t>
            </a:r>
          </a:p>
          <a:p>
            <a:r>
              <a:t>5. What does 'log exports' actually add? A record of who exported what and when — writing it into the audit trail turns deliberate misuse into reviewable, attributable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[Glenn Patrick B. Darriguez]</a:t>
            </a:r>
          </a:p>
          <a:p>
            <a:r>
              <a:t>SCRIPT:</a:t>
            </a:r>
          </a:p>
          <a:p>
            <a:r>
              <a:t>Is our conclusion supported? FND-01, traced end to end. TEST-01: ten for ten blocked, no second step visible. Locked into dated, sanitized evidence — EVD-12-01 and 13-01. The gap is GAP-01 against CTL-01 and 02. Then FND-01 written in full, and REC-01 with a named owner, tracked as MAP-01. FND-02 and FND-03 carry the same chain. Twenty evidence items are indexed, each with source, date, privacy treatment, and limitation. And nothing sensitive ever left the controlled folder — no names, counts only, secrets excluded.</a:t>
            </a:r>
          </a:p>
          <a:p>
            <a:r>
              <a:t>Q&amp;A BANK:</a:t>
            </a:r>
          </a:p>
          <a:p>
            <a:r>
              <a:t>1. Where do the twenty evidence items physically live? In the controlled group drive, sanitized or redacted; the index with sources, dates, and limitations is section 13 of the report.</a:t>
            </a:r>
          </a:p>
          <a:p>
            <a:r>
              <a:t>2. What is MAP-01 beyond REC-01? The management action plan version: owner, target date, expected result, and validation steps — REC says what should happen, MAP says who, when, and how it is verified.</a:t>
            </a:r>
          </a:p>
          <a:p>
            <a:r>
              <a:t>3. Could one finding span several gaps? Yes — FND-01 came from GAP-01; FND-03 covers GAP-04 plus the unfenced export path observed in the same control area.</a:t>
            </a:r>
          </a:p>
          <a:p>
            <a:r>
              <a:t>4. How do you prevent 'evidence drift' across lab dates? Every evidence item is dated to its build (EVD-09..13 keyed to BLD history); nothing is analyzed outside its own frozen build.</a:t>
            </a:r>
          </a:p>
          <a:p>
            <a:r>
              <a:t>5. What makes a chain re-openable for the panel? Fixed IDs plus sanitized samples: give us any ID and we can show you exactly the condition we saw, from the same artifact we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[Ma. Jenifer L. Labag]</a:t>
            </a:r>
          </a:p>
          <a:p>
            <a:r>
              <a:t>SCRIPT:</a:t>
            </a:r>
          </a:p>
          <a:p>
            <a:r>
              <a:t>Three recommendations — each with an owner, a target, and a verifiable result. REC-01, High, next release: a second login check, owned by the Access Approver; result — a stolen password alone fails. REC-02, High, before our final defense: one witnessed restore plus filed steps, owned by the System Admin; result — recovery demonstrable. REC-03, High, next release: narrow views, hide names, log exports, owned by the Privacy role. The honest part: all three are our proposals, not confirmed. If the library declines any, the residual risk stays — and the report records that acceptance.</a:t>
            </a:r>
          </a:p>
          <a:p>
            <a:r>
              <a:t>Q&amp;A BANK:</a:t>
            </a:r>
          </a:p>
          <a:p>
            <a:r>
              <a:t>1. What if the library says no? The residual risk stays as scored, the owner's acceptance is recorded explicitly in the report, and follow-up remains the auditor's job even when the decision is not.</a:t>
            </a:r>
          </a:p>
          <a:p>
            <a:r>
              <a:t>2. When do we expect confirmation? The roadmap asks for an owner decision before our final defense; REC-02's action date and REC-01/REC-03's 'next release' give the owner three concrete decision points.</a:t>
            </a:r>
          </a:p>
          <a:p>
            <a:r>
              <a:t>3. Which fix gives the most value per hour? REC-02 — one admin hour converts fourteen logged backups into one demonstrable recovery; CMP-05 moves from Not Determined to evidenced.</a:t>
            </a:r>
          </a:p>
          <a:p>
            <a:r>
              <a:t>4. Are there guarantees the plan is accepted? None — our deliverable is the proposal plus validation steps, not the management decision; that honesty is part of the audit standard we followed.</a:t>
            </a:r>
          </a:p>
          <a:p>
            <a:r>
              <a:t>5. Who verifies the fixes actually worked? A follow-up review: re-run TEST-01 and TEST-03, read the restore log, review the export log once it exists — all stated as validation per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What this audit does not say. All evidence is from the demo build and test site — never live production data. No attack testing, no live restore, no real student records — the approved scope limits. CMP-05 and CMP-07 stay not determined. Samples are small because the system is small, and populations are honestly listed. And BLD-06, the October 11-to-20 build, arrived after the cutoff: untested — disclosed, not absorbed into results. One flag: re-run TEST-03 after deploy, because timestamps could shift fine displays.</a:t>
            </a:r>
          </a:p>
          <a:p>
            <a:r>
              <a:t>Q&amp;A BANK:</a:t>
            </a:r>
          </a:p>
          <a:p>
            <a:r>
              <a:t>1. Does the new timestamp commit break your conclusion? No — conclusions cover BLD-04/05 up to the Oct 10 cutoff; BLD-06 gets its own flagged follow-up: re-run TEST-03 after deploy.</a:t>
            </a:r>
          </a:p>
          <a:p>
            <a:r>
              <a:t>2. Why 'needs improvement' rather than 'needs immediate action'? Four of six tested controls are fully effective, no live student data runs yet, and remediation is planned before launch — measured language, per the evidence.</a:t>
            </a:r>
          </a:p>
          <a:p>
            <a:r>
              <a:t>3. Could the panel get a re-scored conclusion today? Not responsibly: refresh needs register re-indexing, owner sign-off, and re-testing — each longer than this session; the honest answer is the follow-up plan.</a:t>
            </a:r>
          </a:p>
          <a:p>
            <a:r>
              <a:t>4. Why are CMP-05 and CMP-07 not determined? Both need authority we did not have: a restore execution approval, and a position on Google's provider terms — saying so is cleaner than guessing.</a:t>
            </a:r>
          </a:p>
          <a:p>
            <a:r>
              <a:t>5. What if BLD-06's fixes are launched without verification? That is the flagged risk — which is exactly why the roadmap places the BLD-06 re-test and TEST-03 re-run before any live borrower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[Justin C. Batlangao]</a:t>
            </a:r>
          </a:p>
          <a:p>
            <a:r>
              <a:t>SCRIPT:</a:t>
            </a:r>
          </a:p>
          <a:p>
            <a:r>
              <a:t>Our verdict: Needs Improvement, pending remediation — a fair call. What works, tested: wrong-role access blocked ten for ten, CSV checks with logs, a full audit trail, and fourteen of fourteen backups on schedule. What must improve — the three High findings, all still Proposed: the second login check, one witnessed restore, and narrowed views with export control. Then a follow-up review and a BLD-06 re-test before any live borrower data. A system holding student data should not go live with an unproven restore and a single-factor gate.</a:t>
            </a:r>
          </a:p>
          <a:p>
            <a:r>
              <a:t>Q&amp;A BANK:</a:t>
            </a:r>
          </a:p>
          <a:p>
            <a:r>
              <a:t>1. Why 'improvement' rather than 'satisfactory'? Three High findings and no confirmed management response — the cross-review debate is in the log (REV rows), and improvement-first narrowly carried the day.</a:t>
            </a:r>
          </a:p>
          <a:p>
            <a:r>
              <a:t>2. Which single fix most lifts the verdict? A witnessed successful restore — it moves CMP-05 from Not Determined to evidenced with one administered action.</a:t>
            </a:r>
          </a:p>
          <a:p>
            <a:r>
              <a:t>3. How fast can the verdict change? After the owner confirms the plan and the three validation re-tests pass — the roadmap targets before the final defense; a follow-up review is the formal step.</a:t>
            </a:r>
          </a:p>
          <a:p>
            <a:r>
              <a:t>4. Is there any Critical-level risk we overlooked? No — Critical would need major data loss plus no recovery or detection path; our tests rule that in today's build.</a:t>
            </a:r>
          </a:p>
          <a:p>
            <a:r>
              <a:t>5. What date should the panel watch? The follow-up review — after REC-01..03 responses and the BLD-06 re-test, we re-issue the conclusion on the same ID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[All]</a:t>
            </a:r>
          </a:p>
          <a:p>
            <a:r>
              <a:t>SCRIPT:</a:t>
            </a:r>
          </a:p>
          <a:p>
            <a:r>
              <a:t>Thank you. Any question can go to any of us — all three reviewed the whole engagement. Justin: scope, risks, conclusion. Glenn: system, controls, tests. Jenifer: findings and actions. Evidence on request: the twenty-item EVD index, test workpapers, and logs. Prepared answers: the fine formula is rate times days late under TEST-06; the privacy basis is CMP-01; BLD-06 is post-cutoff and excluded; and the plan is verified by re-running TEST-01 and TEST-03 plus reading the new logs.</a:t>
            </a:r>
          </a:p>
          <a:p>
            <a:r>
              <a:t>Q&amp;A BANK:</a:t>
            </a:r>
          </a:p>
          <a:p>
            <a:r>
              <a:t>1. Where can the panel read more? The integrated final report (18 sections) and this deck, both in the laboratories folder; section 13's evidence index is the fastest entry point.</a:t>
            </a:r>
          </a:p>
          <a:p>
            <a:r>
              <a:t>2. Can we pull a specific EVD item right now? Yes — name the ID; we fetch the sanitized sample from the controlled folder with its source, date, and limitation note attached.</a:t>
            </a:r>
          </a:p>
          <a:p>
            <a:r>
              <a:t>3. What are your next steps as a team? Track REC-01..03 with each named owner (their target dates are before the final defense), and run the follow-up review with the validation re-tests.</a:t>
            </a:r>
          </a:p>
          <a:p>
            <a:r>
              <a:t>4. Any regret about how the audit went? We would have liked more time to witness a restore — that gap is exactly what REC-02 now schedules with the owner.</a:t>
            </a:r>
          </a:p>
          <a:p>
            <a:r>
              <a:t>5. If the library contacts us tomorrow, who should they call first? ORG-02 for REC-01 — staff enrollment is the longest lead-time item, and starting it keeps the plan on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404NotFound  |  MCST LMS Audit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404NotFound  |  MCST LMS Audit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drop circle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Backdrop circle 2"/>
          <p:cNvSpPr/>
          <p:nvPr/>
        </p:nvSpPr>
        <p:spPr>
          <a:xfrm>
            <a:off x="9875520" y="2377440"/>
            <a:ext cx="3291840" cy="329184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CAPSTONE SYSTEM IT AUDIT ENGAGEMENT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28016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Audit of the MCST Library Management System (MCST LMS)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Final Integrated Professional IT Audit Report  -  Labs 7-12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Evidence cutoff 2026-10-10  |  Audited builds BLD-04/BLD-05  |  Report 1.0 Final, 2026-10-20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404NotFound</a:t>
            </a:r>
            <a:endParaRPr lang="en-US" sz="1400" dirty="0"/>
          </a:p>
        </p:txBody>
      </p:sp>
      <p:sp>
        <p:nvSpPr>
          <p:cNvPr id="10" name="Team card"/>
          <p:cNvSpPr/>
          <p:nvPr/>
        </p:nvSpPr>
        <p:spPr>
          <a:xfrm>
            <a:off x="731520" y="48463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Justin C. Batlangao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Findings and Report Lead</a:t>
            </a:r>
            <a:endParaRPr lang="en-US" sz="1200" dirty="0"/>
          </a:p>
        </p:txBody>
      </p:sp>
      <p:sp>
        <p:nvSpPr>
          <p:cNvPr id="13" name="Team card"/>
          <p:cNvSpPr/>
          <p:nvPr/>
        </p:nvSpPr>
        <p:spPr>
          <a:xfrm>
            <a:off x="4297680" y="48463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Glenn Patrick B. Darriguez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Evidence and Root-Cause Analyst</a:t>
            </a:r>
            <a:endParaRPr lang="en-US" sz="1200" dirty="0"/>
          </a:p>
        </p:txBody>
      </p:sp>
      <p:sp>
        <p:nvSpPr>
          <p:cNvPr id="16" name="Team card"/>
          <p:cNvSpPr/>
          <p:nvPr/>
        </p:nvSpPr>
        <p:spPr>
          <a:xfrm>
            <a:off x="7863840" y="48463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Ma. Jenifer L. Labag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Recommendation and Action-Plan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Audit Journey - and Who Presents What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Six laboratory milestones built one continuous engagement from scope to conclusion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Timeline line"/>
          <p:cNvSpPr/>
          <p:nvPr/>
        </p:nvSpPr>
        <p:spPr>
          <a:xfrm>
            <a:off x="1394460" y="2130552"/>
            <a:ext cx="9372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Timeline node"/>
          <p:cNvSpPr/>
          <p:nvPr/>
        </p:nvSpPr>
        <p:spPr>
          <a:xfrm>
            <a:off x="113842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3842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7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Scope + objectives + criteria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2026-09-19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Justin</a:t>
            </a:r>
            <a:endParaRPr lang="en-US" sz="1200" dirty="0"/>
          </a:p>
        </p:txBody>
      </p:sp>
      <p:sp>
        <p:nvSpPr>
          <p:cNvPr id="14" name="Timeline node"/>
          <p:cNvSpPr/>
          <p:nvPr/>
        </p:nvSpPr>
        <p:spPr>
          <a:xfrm>
            <a:off x="301294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1294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242316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56032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8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Assets + flows + accounts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2026-09-26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Glenn</a:t>
            </a:r>
            <a:endParaRPr lang="en-US" sz="1200" dirty="0"/>
          </a:p>
        </p:txBody>
      </p:sp>
      <p:sp>
        <p:nvSpPr>
          <p:cNvPr id="21" name="Timeline node"/>
          <p:cNvSpPr/>
          <p:nvPr/>
        </p:nvSpPr>
        <p:spPr>
          <a:xfrm>
            <a:off x="488746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8746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429768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43484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9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3484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Risks + compliance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43484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2026-10-03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43484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Justin</a:t>
            </a:r>
            <a:endParaRPr lang="en-US" sz="1200" dirty="0"/>
          </a:p>
        </p:txBody>
      </p:sp>
      <p:sp>
        <p:nvSpPr>
          <p:cNvPr id="28" name="Timeline node"/>
          <p:cNvSpPr/>
          <p:nvPr/>
        </p:nvSpPr>
        <p:spPr>
          <a:xfrm>
            <a:off x="676198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6198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617220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30936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10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Controls + tests + gaps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2026-10-03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Glenn</a:t>
            </a:r>
            <a:endParaRPr lang="en-US" sz="1200" dirty="0"/>
          </a:p>
        </p:txBody>
      </p:sp>
      <p:sp>
        <p:nvSpPr>
          <p:cNvPr id="35" name="Timeline node"/>
          <p:cNvSpPr/>
          <p:nvPr/>
        </p:nvSpPr>
        <p:spPr>
          <a:xfrm>
            <a:off x="863650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3650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37" name="Card"/>
          <p:cNvSpPr/>
          <p:nvPr/>
        </p:nvSpPr>
        <p:spPr>
          <a:xfrm>
            <a:off x="804672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818388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11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Findings + actions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18388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2026-10-10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18388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Ma.</a:t>
            </a:r>
            <a:endParaRPr lang="en-US" sz="1200" dirty="0"/>
          </a:p>
        </p:txBody>
      </p:sp>
      <p:sp>
        <p:nvSpPr>
          <p:cNvPr id="42" name="Timeline node"/>
          <p:cNvSpPr/>
          <p:nvPr/>
        </p:nvSpPr>
        <p:spPr>
          <a:xfrm>
            <a:off x="10511028" y="1874520"/>
            <a:ext cx="512064" cy="51206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51102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44" name="Card"/>
          <p:cNvSpPr/>
          <p:nvPr/>
        </p:nvSpPr>
        <p:spPr>
          <a:xfrm>
            <a:off x="9921240" y="2606040"/>
            <a:ext cx="16916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1005840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12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0058400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integration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0058400" y="3611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2026-10-20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1005840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Ma.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4937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continuous engagement: every lab shares the same system, build records, and ID families (OBJ / RSK / CTL / TEST / GAP / FND).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4315968" y="4937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deck covers: what we audited, what we tested, what we found, what we recommend, and our conclusion.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8083296" y="4937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claim traces to evidence we collected - we will show the chain, not the paperwork.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We Audited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Client: MCST Library (Head Librarian Calixto Nicolas Camangeg)  |  Our own capstone build - audited like an external team would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459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7" name="Bullet dot"/>
          <p:cNvSpPr/>
          <p:nvPr/>
        </p:nvSpPr>
        <p:spPr>
          <a:xfrm>
            <a:off x="731520" y="186537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1691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Flask 3.1 web app: catalog, borrowing, fines, requests, buying, stock check, reports (MOD-01..08)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2395728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0" name="Bullet dot"/>
          <p:cNvSpPr/>
          <p:nvPr/>
        </p:nvSpPr>
        <p:spPr>
          <a:xfrm>
            <a:off x="731520" y="261518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4414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on Render + timed pg_dump backups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3145536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3" name="Bullet dot"/>
          <p:cNvSpPr/>
          <p:nvPr/>
        </p:nvSpPr>
        <p:spPr>
          <a:xfrm>
            <a:off x="731520" y="336499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31912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 school-email login (@mcst.edu.ph) with role checks per page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895344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Bullet dot"/>
          <p:cNvSpPr/>
          <p:nvPr/>
        </p:nvSpPr>
        <p:spPr>
          <a:xfrm>
            <a:off x="731520" y="411480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39410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Users: students / faculty borrow; desk staff circulate; admins manage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217920" y="16459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9" name="Bullet dot"/>
          <p:cNvSpPr/>
          <p:nvPr/>
        </p:nvSpPr>
        <p:spPr>
          <a:xfrm>
            <a:off x="6400800" y="186537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766560" y="1691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library workflow: request -&gt; buy -&gt; add -&gt; borrow/return -&gt; fines -&gt; stock take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217920" y="2395728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2" name="Bullet dot"/>
          <p:cNvSpPr/>
          <p:nvPr/>
        </p:nvSpPr>
        <p:spPr>
          <a:xfrm>
            <a:off x="6400800" y="261518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766560" y="24414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Key data: book catalog + copies, borrower records, loans and fines, audit trail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6217920" y="3145536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5" name="Bullet dot"/>
          <p:cNvSpPr/>
          <p:nvPr/>
        </p:nvSpPr>
        <p:spPr>
          <a:xfrm>
            <a:off x="6400800" y="336499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66560" y="31912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on local demo + Render test site - demo evidence only, honestly stated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6217920" y="3895344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8" name="Bullet dot"/>
          <p:cNvSpPr/>
          <p:nvPr/>
        </p:nvSpPr>
        <p:spPr>
          <a:xfrm>
            <a:off x="6400800" y="411480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766560" y="39410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That is why we could show every code path transparently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lineage - real git history, frozen before every lab</a:t>
            </a:r>
            <a:endParaRPr lang="en-US" sz="1600" dirty="0"/>
          </a:p>
        </p:txBody>
      </p:sp>
      <p:sp>
        <p:nvSpPr>
          <p:cNvPr id="31" name="Build BLD-01"/>
          <p:cNvSpPr/>
          <p:nvPr/>
        </p:nvSpPr>
        <p:spPr>
          <a:xfrm>
            <a:off x="548640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BLD-01 @ 71e0d30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Sep 19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560320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35" name="Build BLD-02"/>
          <p:cNvSpPr/>
          <p:nvPr/>
        </p:nvSpPr>
        <p:spPr>
          <a:xfrm>
            <a:off x="2843784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935224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BLD-02 @ 82075e8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2935224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Sep 26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855464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39" name="Build BLD-04"/>
          <p:cNvSpPr/>
          <p:nvPr/>
        </p:nvSpPr>
        <p:spPr>
          <a:xfrm>
            <a:off x="5138928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30368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BLD-04 @ 7b9b680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230368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tests, Oct 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150608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43" name="Build BLD-05"/>
          <p:cNvSpPr/>
          <p:nvPr/>
        </p:nvSpPr>
        <p:spPr>
          <a:xfrm>
            <a:off x="7434072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525512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BLD-05 @ 5ca2c79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7525512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confirmations, Oct 10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445752" y="5440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&gt;</a:t>
            </a:r>
            <a:endParaRPr lang="en-US" sz="1800" dirty="0"/>
          </a:p>
        </p:txBody>
      </p:sp>
      <p:sp>
        <p:nvSpPr>
          <p:cNvPr id="47" name="Build BLD-06"/>
          <p:cNvSpPr/>
          <p:nvPr/>
        </p:nvSpPr>
        <p:spPr>
          <a:xfrm>
            <a:off x="9729216" y="52120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48" name="Text 45"/>
          <p:cNvSpPr txBox="1"/>
          <p:nvPr/>
        </p:nvSpPr>
        <p:spPr>
          <a:xfrm>
            <a:off x="9820656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BLD-06 @ c20f98e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9820656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POST-CUTOFF - excluded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Objectives and Scope (Lab 7)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Four objectives supported by criteria CRT-01..04; scope approved with the library owner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2079346"/>
            <a:ext cx="321869" cy="3218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control - only the right people reach the right pages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73736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SCP-01/05/06 | CRT-01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217920" y="160020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46" y="2079346"/>
            <a:ext cx="321869" cy="3218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066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truth - the build really supports the library work we claim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560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SCP-02/05/07 | CRT-02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48640" y="306324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7724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6" y="3542386"/>
            <a:ext cx="321869" cy="3218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OBJ-03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73736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Traceability - every borrow and change leaves a named record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SCP-02/04/05 | CRT-03</a:t>
            </a:r>
            <a:endParaRPr 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6217920" y="306324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644652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3542386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066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OBJ-04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40664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safety - backup, settings, reports protect and hide secrets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40664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SCP-02/03/04 | CRT-04</a:t>
            </a:r>
            <a:endParaRPr lang="en-US" sz="1100" dirty="0"/>
          </a:p>
        </p:txBody>
      </p:sp>
      <p:sp>
        <p:nvSpPr>
          <p:cNvPr id="30" name="Card"/>
          <p:cNvSpPr/>
          <p:nvPr/>
        </p:nvSpPr>
        <p:spPr>
          <a:xfrm>
            <a:off x="548640" y="4617720"/>
            <a:ext cx="5394960" cy="1508760"/>
          </a:xfrm>
          <a:prstGeom prst="roundRect">
            <a:avLst>
              <a:gd name="adj" fmla="val 6061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724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 scope (safe procedures)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5120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+ code inspection, config review, walkthroughs, small demo tests - nothing changed or harmed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17920" y="4617720"/>
            <a:ext cx="5394960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44652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Out of scope / limits (SCP-03/04)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446520" y="5120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attack testing, no live restore, no real student data - demo environment only, stated in every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Worked - Evidence First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Same method through Labs 7-12; every result carries an ID chain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229307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records, code paths, configuration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EVD-09/10/12/13 series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283464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&gt;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3410712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3685032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659" y="222930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39512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3685032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685032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screens in the demo build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685032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clean screenshots - no names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879592" y="283464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&gt;</a:t>
            </a:r>
            <a:endParaRPr lang="en-US" sz="2200" dirty="0"/>
          </a:p>
        </p:txBody>
      </p:sp>
      <p:sp>
        <p:nvSpPr>
          <p:cNvPr id="22" name="Card"/>
          <p:cNvSpPr/>
          <p:nvPr/>
        </p:nvSpPr>
        <p:spPr>
          <a:xfrm>
            <a:off x="6272784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6547104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31" y="2229307"/>
            <a:ext cx="341986" cy="3419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01584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6547104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547104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10/10 pages, CSV file, loan cycle, backup log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547104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TEST-01..06 samples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741664" y="283464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&gt;</a:t>
            </a:r>
            <a:endParaRPr lang="en-US" sz="2200" dirty="0"/>
          </a:p>
        </p:txBody>
      </p:sp>
      <p:sp>
        <p:nvSpPr>
          <p:cNvPr id="30" name="Card"/>
          <p:cNvSpPr/>
          <p:nvPr/>
        </p:nvSpPr>
        <p:spPr>
          <a:xfrm>
            <a:off x="9134856" y="1737360"/>
            <a:ext cx="2468880" cy="274320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1" name="Icon circle"/>
          <p:cNvSpPr/>
          <p:nvPr/>
        </p:nvSpPr>
        <p:spPr>
          <a:xfrm>
            <a:off x="9409176" y="2011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3" y="2229307"/>
            <a:ext cx="341986" cy="34198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63656" y="1965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9409176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9409176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member cross-checked + challenged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9409176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REV-01..14 rows</a:t>
            </a:r>
            <a:endParaRPr lang="en-US" sz="1100" dirty="0"/>
          </a:p>
        </p:txBody>
      </p:sp>
      <p:sp>
        <p:nvSpPr>
          <p:cNvPr id="37" name="Card"/>
          <p:cNvSpPr/>
          <p:nvPr/>
        </p:nvSpPr>
        <p:spPr>
          <a:xfrm>
            <a:off x="548640" y="4846320"/>
            <a:ext cx="11094415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14400" y="493776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 used only for wording fixes, count double-checks, task clarifications - every suggestion validated against real records; never an evidence source (Portfolio AIV-01..06)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Trust Boundaries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Figure 2 from the report: Flask app, PostgreSQL, Google OAuth, Render (DEP-01..06)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694944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pic>
        <p:nvPicPr>
          <p:cNvPr id="7" name="Figure 2" descr="Figure 2: MCST LMS system context and deploy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63486"/>
            <a:ext cx="6675120" cy="4291149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7772400" y="1600200"/>
            <a:ext cx="3867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95528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trust boundaries mapped: public entry, DB line, Google line, staff upload path, backup path, admin path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7772400" y="2834640"/>
            <a:ext cx="3867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955280" y="2926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2926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types registered; one-time bootstrap admin was closed and verified (ACC-07)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7772400" y="4069080"/>
            <a:ext cx="38679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55280" y="4160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Secrets live in environment config - never in the app, never in this report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772400" y="5120640"/>
            <a:ext cx="38679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955280" y="5212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line names its evidence source (DEP-01..06)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Through the Library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Figure 3 from the report: five flows with validation, storage, and retention rules (FLOW-01..05)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630936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pic>
        <p:nvPicPr>
          <p:cNvPr id="7" name="Figure 3" descr="Figure 3: MCST LMS data fl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691640"/>
            <a:ext cx="6208776" cy="4434840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7132320" y="1600200"/>
            <a:ext cx="4507992" cy="1033272"/>
          </a:xfrm>
          <a:prstGeom prst="roundRect">
            <a:avLst>
              <a:gd name="adj" fmla="val 885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0" y="1709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FLOW-01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19842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borrow/return/fine: limits (3/5), fine = rate x days late, archive-before-delete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7132320" y="2770632"/>
            <a:ext cx="4507992" cy="1033272"/>
          </a:xfrm>
          <a:prstGeom prst="roundRect">
            <a:avLst>
              <a:gd name="adj" fmla="val 885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FLOW-03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3154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CSV import: header map + required fields; bad rows skipped + logged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7132320" y="3941064"/>
            <a:ext cx="4507992" cy="1033272"/>
          </a:xfrm>
          <a:prstGeom prst="roundRect">
            <a:avLst>
              <a:gd name="adj" fmla="val 885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FLOW-04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432511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login: school email only; first-login admin closed after setup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7132320" y="5120640"/>
            <a:ext cx="4507992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15200" y="52120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Every flow has validation, store, channel, and a written retention rule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- Risk Profile (Lab 9)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 risks scored Likelihood x Impact; 3 High priorities drive our findings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Residual score (Inherent x Impact, after safeguards)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76809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"/>
          <p:cNvSpPr/>
          <p:nvPr/>
        </p:nvSpPr>
        <p:spPr>
          <a:xfrm>
            <a:off x="8595360" y="1600200"/>
            <a:ext cx="3044952" cy="1828800"/>
          </a:xfrm>
          <a:prstGeom prst="roundRect">
            <a:avLst>
              <a:gd name="adj" fmla="val 5000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778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2606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 priorities: RSK-01, RSK-04, RSK-07 - they become our three findings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8595360" y="3611880"/>
            <a:ext cx="3044952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778240" y="3749040"/>
            <a:ext cx="2697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Residuals only drop for safeguards proven in the build (e.g., backup log proves RSK-04 impact drops 5 -&gt; 4); unmatched safeguards change nothing. Compliance base: Data Privacy Act + school access rules (CMP-01..07).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We Evaluated and What the Tests Showed (Lab 10)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 controls CTL-01..08; 6 tests TEST-01..06 on build BLD-04 (Oct 3) - 4 Effective, 2 Partially Effective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TEST-01</a:t>
            </a:r>
            <a:endParaRPr lang="en-US" sz="1300" dirty="0"/>
          </a:p>
        </p:txBody>
      </p:sp>
      <p:sp>
        <p:nvSpPr>
          <p:cNvPr id="8" name="Pill Effective"/>
          <p:cNvSpPr/>
          <p:nvPr/>
        </p:nvSpPr>
        <p:spPr>
          <a:xfrm>
            <a:off x="4160520" y="1719072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Wrong-role entry on 10 pages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10 / 10 blocked - 0 exceptions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217920" y="1600200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465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TEST-02</a:t>
            </a:r>
            <a:endParaRPr lang="en-US" sz="1300" dirty="0"/>
          </a:p>
        </p:txBody>
      </p:sp>
      <p:sp>
        <p:nvSpPr>
          <p:cNvPr id="13" name="Pill Effective"/>
          <p:cNvSpPr/>
          <p:nvPr/>
        </p:nvSpPr>
        <p:spPr>
          <a:xfrm>
            <a:off x="9829800" y="1719072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upload with 2 bad rows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6 added, 2 skipped + logged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2898648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TEST-03</a:t>
            </a:r>
            <a:endParaRPr lang="en-US" sz="1300" dirty="0"/>
          </a:p>
        </p:txBody>
      </p:sp>
      <p:sp>
        <p:nvSpPr>
          <p:cNvPr id="18" name="Pill Effective"/>
          <p:cNvSpPr/>
          <p:nvPr/>
        </p:nvSpPr>
        <p:spPr>
          <a:xfrm>
            <a:off x="4160520" y="30175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374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Borrow -&gt; return -&gt; fine cycle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Fine matched + 3 log rows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6217920" y="2898648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4652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TEST-04</a:t>
            </a:r>
            <a:endParaRPr lang="en-US" sz="1300" dirty="0"/>
          </a:p>
        </p:txBody>
      </p:sp>
      <p:sp>
        <p:nvSpPr>
          <p:cNvPr id="23" name="Pill Effective"/>
          <p:cNvSpPr/>
          <p:nvPr/>
        </p:nvSpPr>
        <p:spPr>
          <a:xfrm>
            <a:off x="9829800" y="30175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Effective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3374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Delete active vs archived book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Active refused; archived allowed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548640" y="4197096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7724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TEST-05</a:t>
            </a:r>
            <a:endParaRPr lang="en-US" sz="1300" dirty="0"/>
          </a:p>
        </p:txBody>
      </p:sp>
      <p:sp>
        <p:nvSpPr>
          <p:cNvPr id="28" name="Pill Partially Effective"/>
          <p:cNvSpPr/>
          <p:nvPr/>
        </p:nvSpPr>
        <p:spPr>
          <a:xfrm>
            <a:off x="4160520" y="43159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Partially Effective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672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Backup log Sep-Oct (14 runs)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4974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14/14 logged - NO restore proof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6217920" y="4197096"/>
            <a:ext cx="5394960" cy="1161288"/>
          </a:xfrm>
          <a:prstGeom prst="roundRect">
            <a:avLst>
              <a:gd name="adj" fmla="val 787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44652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TEST-06</a:t>
            </a:r>
            <a:endParaRPr lang="en-US" sz="1300" dirty="0"/>
          </a:p>
        </p:txBody>
      </p:sp>
      <p:sp>
        <p:nvSpPr>
          <p:cNvPr id="33" name="Pill Partially Effective"/>
          <p:cNvSpPr/>
          <p:nvPr/>
        </p:nvSpPr>
        <p:spPr>
          <a:xfrm>
            <a:off x="9829800" y="43159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Partially Effective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46520" y="4672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Settings change + log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46520" y="4974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Logged with name - no approval step</a:t>
            </a:r>
            <a:endParaRPr lang="en-US" sz="1500" dirty="0"/>
          </a:p>
        </p:txBody>
      </p:sp>
      <p:sp>
        <p:nvSpPr>
          <p:cNvPr id="36" name="Card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All 6 tests: real procedures on the demo build, full populations where small (10 pages, 14 log rows, whole files); evidence EVD-12-01..05 saved clean.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- Three High Items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From Lab 11 screening: 5 candidates -&gt; 3 formal findings + 1 observation + 1 close (evidence-checked)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Candidate FC-01"/>
          <p:cNvSpPr/>
          <p:nvPr/>
        </p:nvSpPr>
        <p:spPr>
          <a:xfrm>
            <a:off x="548640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FC-01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-&gt; FND-01</a:t>
            </a:r>
            <a:endParaRPr lang="en-US" sz="1200" dirty="0"/>
          </a:p>
        </p:txBody>
      </p:sp>
      <p:sp>
        <p:nvSpPr>
          <p:cNvPr id="9" name="Candidate FC-02"/>
          <p:cNvSpPr/>
          <p:nvPr/>
        </p:nvSpPr>
        <p:spPr>
          <a:xfrm>
            <a:off x="2795778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32938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FC-02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932938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-&gt; FND-02</a:t>
            </a:r>
            <a:endParaRPr lang="en-US" sz="1200" dirty="0"/>
          </a:p>
        </p:txBody>
      </p:sp>
      <p:sp>
        <p:nvSpPr>
          <p:cNvPr id="12" name="Candidate FC-03"/>
          <p:cNvSpPr/>
          <p:nvPr/>
        </p:nvSpPr>
        <p:spPr>
          <a:xfrm>
            <a:off x="5042916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80076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FC-03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80076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Observation (OBS-01)</a:t>
            </a:r>
            <a:endParaRPr lang="en-US" sz="1200" dirty="0"/>
          </a:p>
        </p:txBody>
      </p:sp>
      <p:sp>
        <p:nvSpPr>
          <p:cNvPr id="15" name="Candidate FC-04"/>
          <p:cNvSpPr/>
          <p:nvPr/>
        </p:nvSpPr>
        <p:spPr>
          <a:xfrm>
            <a:off x="7290054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2721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FC-04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27214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 -&gt; FND-03</a:t>
            </a:r>
            <a:endParaRPr lang="en-US" sz="1200" dirty="0"/>
          </a:p>
        </p:txBody>
      </p:sp>
      <p:sp>
        <p:nvSpPr>
          <p:cNvPr id="18" name="Candidate FC-05"/>
          <p:cNvSpPr/>
          <p:nvPr/>
        </p:nvSpPr>
        <p:spPr>
          <a:xfrm>
            <a:off x="9537192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74352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FC-05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74352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Close (compensated)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274320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FND-01</a:t>
            </a:r>
            <a:endParaRPr lang="en-US" sz="2800" dirty="0"/>
          </a:p>
        </p:txBody>
      </p:sp>
      <p:sp>
        <p:nvSpPr>
          <p:cNvPr id="23" name="Pill HIGH"/>
          <p:cNvSpPr/>
          <p:nvPr/>
        </p:nvSpPr>
        <p:spPr>
          <a:xfrm>
            <a:off x="292608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3703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Staff Login Without Second Check Allows Full Account Takeover</a:t>
            </a:r>
            <a:endParaRPr lang="en-US" sz="1700" dirty="0"/>
          </a:p>
        </p:txBody>
      </p:sp>
      <p:sp>
        <p:nvSpPr>
          <p:cNvPr id="25" name="Card"/>
          <p:cNvSpPr/>
          <p:nvPr/>
        </p:nvSpPr>
        <p:spPr>
          <a:xfrm>
            <a:off x="4366260" y="274320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64058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FND-02</a:t>
            </a:r>
            <a:endParaRPr lang="en-US" sz="2800" dirty="0"/>
          </a:p>
        </p:txBody>
      </p:sp>
      <p:sp>
        <p:nvSpPr>
          <p:cNvPr id="27" name="Pill HIGH"/>
          <p:cNvSpPr/>
          <p:nvPr/>
        </p:nvSpPr>
        <p:spPr>
          <a:xfrm>
            <a:off x="674370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640580" y="3703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Restore Never Tested, So Recovery Is Unproven</a:t>
            </a:r>
            <a:endParaRPr lang="en-US" sz="1700" dirty="0"/>
          </a:p>
        </p:txBody>
      </p:sp>
      <p:sp>
        <p:nvSpPr>
          <p:cNvPr id="29" name="Card"/>
          <p:cNvSpPr/>
          <p:nvPr/>
        </p:nvSpPr>
        <p:spPr>
          <a:xfrm>
            <a:off x="8183880" y="274320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4582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FND-03</a:t>
            </a:r>
            <a:endParaRPr lang="en-US" sz="2800" dirty="0"/>
          </a:p>
        </p:txBody>
      </p:sp>
      <p:sp>
        <p:nvSpPr>
          <p:cNvPr id="31" name="Pill HIGH"/>
          <p:cNvSpPr/>
          <p:nvPr/>
        </p:nvSpPr>
        <p:spPr>
          <a:xfrm>
            <a:off x="1056132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3703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Wide Staff Views and Open Export Path Expose Borrower Data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Not every gap became a finding - FC-03 is fixable small (backlog); FC-05 is compensated by logging + monthly review. Honest screening, not finding inflation.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1 - Staff Login Without Second Check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FND-01 | HIGH | RSK-01 residual 16 | evidence EVD-12-01 + EVD-13-01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staff/admin login asks for a second check (screens confirm; BLD-05, Oct 10)</a:t>
            </a:r>
            <a:endParaRPr lang="en-US" sz="1300" dirty="0"/>
          </a:p>
        </p:txBody>
      </p:sp>
      <p:sp>
        <p:nvSpPr>
          <p:cNvPr id="8" name="Row divider"/>
          <p:cNvSpPr/>
          <p:nvPr/>
        </p:nvSpPr>
        <p:spPr>
          <a:xfrm>
            <a:off x="548640" y="2532888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5117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551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CRT-01 + CMP-03 - access fits role AND login stops outsiders (approver ORG-02)</a:t>
            </a:r>
            <a:endParaRPr lang="en-US" sz="1300" dirty="0"/>
          </a:p>
        </p:txBody>
      </p:sp>
      <p:sp>
        <p:nvSpPr>
          <p:cNvPr id="11" name="Row divider"/>
          <p:cNvSpPr/>
          <p:nvPr/>
        </p:nvSpPr>
        <p:spPr>
          <a:xfrm>
            <a:off x="548640" y="3483864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Cause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50215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Second step never built (code read); small team, demo stage</a:t>
            </a:r>
            <a:endParaRPr lang="en-US" sz="1300" dirty="0"/>
          </a:p>
        </p:txBody>
      </p:sp>
      <p:sp>
        <p:nvSpPr>
          <p:cNvPr id="14" name="Row divider"/>
          <p:cNvSpPr/>
          <p:nvPr/>
        </p:nvSpPr>
        <p:spPr>
          <a:xfrm>
            <a:off x="548640" y="4434840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531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Effect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45312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leaked password = full borrower/loan control - exposure, no breach seen</a:t>
            </a:r>
            <a:endParaRPr lang="en-US" sz="1300" dirty="0"/>
          </a:p>
        </p:txBody>
      </p:sp>
      <p:sp>
        <p:nvSpPr>
          <p:cNvPr id="17" name="Row divider"/>
          <p:cNvSpPr/>
          <p:nvPr/>
        </p:nvSpPr>
        <p:spPr>
          <a:xfrm>
            <a:off x="548640" y="5385816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40410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54041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attack test allowed; stated on the workpaper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589520" y="1600200"/>
            <a:ext cx="4050792" cy="2331720"/>
          </a:xfrm>
          <a:prstGeom prst="roundRect">
            <a:avLst>
              <a:gd name="adj" fmla="val 392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1737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HIGH (severity rationale)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21031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Residual risk 16 of 25; full loan + fine data at stake; single control failure on the main gate; affected: all borrowers + library staff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7589520" y="4114800"/>
            <a:ext cx="4050792" cy="2103120"/>
          </a:xfrm>
          <a:prstGeom prst="roundRect">
            <a:avLst>
              <a:gd name="adj" fmla="val 4348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Recommendation REC-01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Access Approver (ORG-02) turns on a second check for staff/admin logins; target: stolen password alone fails - re-run TEST-01 + login tries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2 - Restore Never Tested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FND-02 | HIGH | RSK-04 intrinsic 10 -&gt; residual 8 | evidence EVD-12-04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14/14 backup runs logged (Sep-Oct) - but ZERO restore demonstrations exist</a:t>
            </a:r>
            <a:endParaRPr lang="en-US" sz="1300" dirty="0"/>
          </a:p>
        </p:txBody>
      </p:sp>
      <p:sp>
        <p:nvSpPr>
          <p:cNvPr id="8" name="Row divider"/>
          <p:cNvSpPr/>
          <p:nvPr/>
        </p:nvSpPr>
        <p:spPr>
          <a:xfrm>
            <a:off x="548640" y="2532888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5117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551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CMP-05 + CRT-04 - copies exist AND recovery is possible with approval</a:t>
            </a:r>
            <a:endParaRPr lang="en-US" sz="1300" dirty="0"/>
          </a:p>
        </p:txBody>
      </p:sp>
      <p:sp>
        <p:nvSpPr>
          <p:cNvPr id="11" name="Row divider"/>
          <p:cNvSpPr/>
          <p:nvPr/>
        </p:nvSpPr>
        <p:spPr>
          <a:xfrm>
            <a:off x="548640" y="3483864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Cause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50215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Restore needs live approval; never scheduled (owner inquiry + no record)</a:t>
            </a:r>
            <a:endParaRPr lang="en-US" sz="1300" dirty="0"/>
          </a:p>
        </p:txBody>
      </p:sp>
      <p:sp>
        <p:nvSpPr>
          <p:cNvPr id="14" name="Row divider"/>
          <p:cNvSpPr/>
          <p:nvPr/>
        </p:nvSpPr>
        <p:spPr>
          <a:xfrm>
            <a:off x="548640" y="4434840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531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Effect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45312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the database is lost, desk work may stop for days; loans/catalog may be unrecoverable</a:t>
            </a:r>
            <a:endParaRPr lang="en-US" sz="1300" dirty="0"/>
          </a:p>
        </p:txBody>
      </p:sp>
      <p:sp>
        <p:nvSpPr>
          <p:cNvPr id="17" name="Row divider"/>
          <p:cNvSpPr/>
          <p:nvPr/>
        </p:nvSpPr>
        <p:spPr>
          <a:xfrm>
            <a:off x="548640" y="5385816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40410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54041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Restore itself was out of scope (SCP-03) - our conclusion: identify it, not test it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589520" y="1600200"/>
            <a:ext cx="4050792" cy="2331720"/>
          </a:xfrm>
          <a:prstGeom prst="roundRect">
            <a:avLst>
              <a:gd name="adj" fmla="val 392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1737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HIGH - severity rationale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21031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backup log proves copies exist, NOT that they work. If recovery fails once, the loss is total - all loans + catalog. Team challenged: kept High on effect, not score alone (REV-13-01)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7589520" y="4114800"/>
            <a:ext cx="4050792" cy="2103120"/>
          </a:xfrm>
          <a:prstGeom prst="roundRect">
            <a:avLst>
              <a:gd name="adj" fmla="val 4348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Recommendation REC-02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System Admin (ORG-03) runs ONE witnessed restore on a test copy + files approved restore steps; verified by reading the restore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3 - Borrower Data Exposure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FND-03 | HIGH | RSK-07 + CMP-01/02 (Data Privacy Act context) | EVD-10-02/03 + EVD-13-02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Staff roles open FULL borrower rows (name, school ID, fines); reports show names; export path has no extra rule</a:t>
            </a:r>
            <a:endParaRPr lang="en-US" sz="1300" dirty="0"/>
          </a:p>
        </p:txBody>
      </p:sp>
      <p:sp>
        <p:nvSpPr>
          <p:cNvPr id="8" name="Row divider"/>
          <p:cNvSpPr/>
          <p:nvPr/>
        </p:nvSpPr>
        <p:spPr>
          <a:xfrm>
            <a:off x="548640" y="2532888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5117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Criteria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5511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CMP-01/02 + CRT-01 - private data only for need-to-know roles; names hidden in reports</a:t>
            </a:r>
            <a:endParaRPr lang="en-US" sz="1300" dirty="0"/>
          </a:p>
        </p:txBody>
      </p:sp>
      <p:sp>
        <p:nvSpPr>
          <p:cNvPr id="11" name="Row divider"/>
          <p:cNvSpPr/>
          <p:nvPr/>
        </p:nvSpPr>
        <p:spPr>
          <a:xfrm>
            <a:off x="548640" y="3483864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0215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Cause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50215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Views built for desk speed; export path never fenced (code read)</a:t>
            </a:r>
            <a:endParaRPr lang="en-US" sz="1300" dirty="0"/>
          </a:p>
        </p:txBody>
      </p:sp>
      <p:sp>
        <p:nvSpPr>
          <p:cNvPr id="14" name="Row divider"/>
          <p:cNvSpPr/>
          <p:nvPr/>
        </p:nvSpPr>
        <p:spPr>
          <a:xfrm>
            <a:off x="548640" y="4434840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531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Effect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45312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Curious or rogue staff could read/copy many student records - exposure; no misuse seen</a:t>
            </a:r>
            <a:endParaRPr lang="en-US" sz="1300" dirty="0"/>
          </a:p>
        </p:txBody>
      </p:sp>
      <p:sp>
        <p:nvSpPr>
          <p:cNvPr id="17" name="Row divider"/>
          <p:cNvSpPr/>
          <p:nvPr/>
        </p:nvSpPr>
        <p:spPr>
          <a:xfrm>
            <a:off x="548640" y="5385816"/>
            <a:ext cx="658368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40410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54041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 export was never tested (not allowed); conclusion rests on views seen + missing rule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589520" y="1600200"/>
            <a:ext cx="4050792" cy="2331720"/>
          </a:xfrm>
          <a:prstGeom prst="roundRect">
            <a:avLst>
              <a:gd name="adj" fmla="val 392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1737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Why HIGH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21031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Many students affected + real privacy-law obligations; passing TEST-01 does not clear it: getting IN vs seeing WIDE are different questions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7589520" y="4114800"/>
            <a:ext cx="4050792" cy="2103120"/>
          </a:xfrm>
          <a:prstGeom prst="roundRect">
            <a:avLst>
              <a:gd name="adj" fmla="val 4348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18120" y="4251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Recommendation REC-03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Privacy role (ORG-05) narrows views to need-to-know, hides names in reports/exports, turns on an export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Conclusions Stand on Evidence - The Chain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Example: FND-01 traced end-to-end; every finding has the same chain in the report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Glenn Patrick B. Darriguez</a:t>
            </a:r>
            <a:endParaRPr lang="en-US" sz="1100" dirty="0"/>
          </a:p>
        </p:txBody>
      </p:sp>
      <p:sp>
        <p:nvSpPr>
          <p:cNvPr id="6" name="Chain step 1"/>
          <p:cNvSpPr/>
          <p:nvPr/>
        </p:nvSpPr>
        <p:spPr>
          <a:xfrm>
            <a:off x="54864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Step number"/>
          <p:cNvSpPr/>
          <p:nvPr/>
        </p:nvSpPr>
        <p:spPr>
          <a:xfrm>
            <a:off x="73152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TEST-01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10/10 wrong-role blocked; no second step visible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Chain step 2"/>
          <p:cNvSpPr/>
          <p:nvPr/>
        </p:nvSpPr>
        <p:spPr>
          <a:xfrm>
            <a:off x="278892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3" name="Step number"/>
          <p:cNvSpPr/>
          <p:nvPr/>
        </p:nvSpPr>
        <p:spPr>
          <a:xfrm>
            <a:off x="297180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EVD-12-01 / EVD-13-01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clean screenshots, dated, sanitized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Chain step 3"/>
          <p:cNvSpPr/>
          <p:nvPr/>
        </p:nvSpPr>
        <p:spPr>
          <a:xfrm>
            <a:off x="502920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9" name="Step number"/>
          <p:cNvSpPr/>
          <p:nvPr/>
        </p:nvSpPr>
        <p:spPr>
          <a:xfrm>
            <a:off x="521208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212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GAP-01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control identified (CTL-01/CTL-02)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Chain step 4"/>
          <p:cNvSpPr/>
          <p:nvPr/>
        </p:nvSpPr>
        <p:spPr>
          <a:xfrm>
            <a:off x="726948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5" name="Step number"/>
          <p:cNvSpPr/>
          <p:nvPr/>
        </p:nvSpPr>
        <p:spPr>
          <a:xfrm>
            <a:off x="7452360" y="1874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4523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FND-01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condition + criteria + cause + effect + severity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468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&gt;</a:t>
            </a:r>
            <a:endParaRPr lang="en-US" sz="1600" dirty="0"/>
          </a:p>
        </p:txBody>
      </p:sp>
      <p:sp>
        <p:nvSpPr>
          <p:cNvPr id="30" name="Chain step 5"/>
          <p:cNvSpPr/>
          <p:nvPr/>
        </p:nvSpPr>
        <p:spPr>
          <a:xfrm>
            <a:off x="9509760" y="169164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31" name="Step number"/>
          <p:cNvSpPr/>
          <p:nvPr/>
        </p:nvSpPr>
        <p:spPr>
          <a:xfrm>
            <a:off x="9692640" y="1874520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692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REC-01 / MAP-01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69264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rule-focused action, owner + target set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43434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chain for FND-02 (TEST-05 -&gt; EVD-12-04 -&gt; GAP-02) and FND-03 (TEST-01/EVD-10/13 -&gt; GAP-04).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4315968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44568" y="43434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evidence items indexed in the final report (EVD-09-01 .. EVD-13-02) - each with source, date, privacy treatment, and written limitation.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8083296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311896" y="43434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 protection: names hidden, counts only, secrets excluded - nothing sensitive leaves the controlled folder.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 - and Honestly, What It Is Not Yet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Roadmap: 3 actions, owners, priorities, target results - status: Proposed (library not yet confirmed)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Ma. Jenifer L. Labag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REC-01  |  MAP-01</a:t>
            </a:r>
            <a:endParaRPr lang="en-US" sz="1200" dirty="0"/>
          </a:p>
        </p:txBody>
      </p:sp>
      <p:sp>
        <p:nvSpPr>
          <p:cNvPr id="8" name="Pill High"/>
          <p:cNvSpPr/>
          <p:nvPr/>
        </p:nvSpPr>
        <p:spPr>
          <a:xfrm>
            <a:off x="3108960" y="176479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login check for staff + admin accounts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Owner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Access Approver (ORG-02)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Target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release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Result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Stolen password alone fails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366260" y="16002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948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REC-02  |  MAP-02</a:t>
            </a:r>
            <a:endParaRPr lang="en-US" sz="1200" dirty="0"/>
          </a:p>
        </p:txBody>
      </p:sp>
      <p:sp>
        <p:nvSpPr>
          <p:cNvPr id="18" name="Pill High"/>
          <p:cNvSpPr/>
          <p:nvPr/>
        </p:nvSpPr>
        <p:spPr>
          <a:xfrm>
            <a:off x="6926580" y="176479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94860" y="2194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witnessed restore on a test copy + filed steps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9486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Owner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32638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System Admin (ORG-03)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9486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Target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2638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Before final defense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9486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Result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32638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Recovery becomes demonstrable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8183880" y="16002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4232E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4124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REC-03  |  MAP-03</a:t>
            </a:r>
            <a:endParaRPr lang="en-US" sz="1200" dirty="0"/>
          </a:p>
        </p:txBody>
      </p:sp>
      <p:sp>
        <p:nvSpPr>
          <p:cNvPr id="28" name="Pill High"/>
          <p:cNvSpPr/>
          <p:nvPr/>
        </p:nvSpPr>
        <p:spPr>
          <a:xfrm>
            <a:off x="10744200" y="1764792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2194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staff views, hide names, log exports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Owner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Privacy role (ORG-05)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Target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release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Result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Borrower rows visible only to need-to-know roles</a:t>
            </a:r>
            <a:endParaRPr lang="en-US" sz="1300" dirty="0"/>
          </a:p>
        </p:txBody>
      </p:sp>
      <p:sp>
        <p:nvSpPr>
          <p:cNvPr id="36" name="Card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 three are OUR PROPOSALS - no action is claimed as management-approved unless the owner confirms it. That honesty is part of the audit standard we followed.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Audit DOES NOT Say (professional honesty)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Balanced assurance language - conclusions cover only what was tested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Icon circle"/>
          <p:cNvSpPr/>
          <p:nvPr/>
        </p:nvSpPr>
        <p:spPr>
          <a:xfrm>
            <a:off x="548640" y="1755648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909267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45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Environment: evidence from demo build + test site only - not live production data</a:t>
            </a:r>
            <a:endParaRPr lang="en-US" sz="1400" dirty="0"/>
          </a:p>
        </p:txBody>
      </p:sp>
      <p:sp>
        <p:nvSpPr>
          <p:cNvPr id="9" name="Icon circle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8053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5420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attack testing, no live restore, no real student records (approved scope limits)</a:t>
            </a:r>
            <a:endParaRPr lang="en-US" sz="1400" dirty="0"/>
          </a:p>
        </p:txBody>
      </p:sp>
      <p:sp>
        <p:nvSpPr>
          <p:cNvPr id="12" name="Icon circle"/>
          <p:cNvSpPr/>
          <p:nvPr/>
        </p:nvSpPr>
        <p:spPr>
          <a:xfrm>
            <a:off x="548640" y="3547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01491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43814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Compliance items CMP-05 (restore) and CMP-07 (Google terms) stay NOT DETERMINED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548640" y="444398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597603"/>
            <a:ext cx="241402" cy="2414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3342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Samples are small because the system is small - populations honestly listed</a:t>
            </a:r>
            <a:endParaRPr lang="en-US" sz="1400" dirty="0"/>
          </a:p>
        </p:txBody>
      </p:sp>
      <p:sp>
        <p:nvSpPr>
          <p:cNvPr id="18" name="Icon circle"/>
          <p:cNvSpPr/>
          <p:nvPr/>
        </p:nvSpPr>
        <p:spPr>
          <a:xfrm>
            <a:off x="548640" y="5340096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493715"/>
            <a:ext cx="241402" cy="2414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25880" y="52303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Conclusion: needs improvement, NOT 'system is broken' - 4/6 controls fully effective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858000" y="1600200"/>
            <a:ext cx="4782312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7132320" y="18288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741" y="1995221"/>
            <a:ext cx="261518" cy="26151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90956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after cutoff - handled correctly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7132320" y="26974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BLD-06 @ c20f98e (Oct 11-20): inventory shared-session fixes + set-based reconcile + condition modal + Philippine-time timestamps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132320" y="38862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tested - arrives after the 2026-10-10 cutoff, so it is DISCLOSED, not absorbed into results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132320" y="493776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Flag: re-run TEST-03 (fine/due-date math) after deploy - timestamps could shift fine displays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Conclusion - Needs Improvement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Pending remediation - built on effective tests + honest gaps + unconfirmed actions</a:t>
            </a:r>
            <a:endParaRPr lang="en-US" sz="1400" dirty="0"/>
          </a:p>
        </p:txBody>
      </p:sp>
      <p:sp>
        <p:nvSpPr>
          <p:cNvPr id="5" name="Presenter chip"/>
          <p:cNvSpPr/>
          <p:nvPr/>
        </p:nvSpPr>
        <p:spPr>
          <a:xfrm>
            <a:off x="8259775" y="6391656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Presenter: Justin C. Batlangao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00200"/>
            <a:ext cx="4206240" cy="4617720"/>
          </a:xfrm>
          <a:prstGeom prst="roundRect">
            <a:avLst>
              <a:gd name="adj" fmla="val 2174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VERDICT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Improvement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661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Conclusion covers tested builds BLD-04/05 up to cutoff 2026-10-10. 6/8 controls designed adequate-or-partial; 4/6 tests fully effective; 3 High findings open with no confirmed response yet.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029200" y="1600200"/>
            <a:ext cx="3200400" cy="4617720"/>
          </a:xfrm>
          <a:prstGeom prst="roundRect">
            <a:avLst>
              <a:gd name="adj" fmla="val 2857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11" name="Icon circle"/>
          <p:cNvSpPr/>
          <p:nvPr/>
        </p:nvSpPr>
        <p:spPr>
          <a:xfrm>
            <a:off x="5257800" y="17830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191109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WORKS (tested, 0 exceptions)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Wrong-role access blocked 10/10 - CTL-01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34107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CSV checks add-good / skip-bad with logs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0" y="430682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audit trail on desk work + delete guards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303520" y="520293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Backups run on schedule, 14/14 logged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412480" y="1600200"/>
            <a:ext cx="3200400" cy="4617720"/>
          </a:xfrm>
          <a:prstGeom prst="roundRect">
            <a:avLst>
              <a:gd name="adj" fmla="val 2857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19" name="Icon circle"/>
          <p:cNvSpPr/>
          <p:nvPr/>
        </p:nvSpPr>
        <p:spPr>
          <a:xfrm>
            <a:off x="8641080" y="1783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191109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354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must improve (3 High, all Proposed)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Second login check (FND-01 / REC-01 / ORG-02)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686800" y="34107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witnessed restore (FND-02 / REC-02 / ORG-03)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686800" y="430682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Narrow views + export control (FND-03 / REC-03 / ORG-05)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0" y="5202936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Then: follow-up review + BLD-06 re-test - before live borrower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drop circle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- Questions?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65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Anyone may direct a question to any member - all three of us reviewed the whole engagement.</a:t>
            </a:r>
            <a:endParaRPr lang="en-US" sz="1800" dirty="0"/>
          </a:p>
        </p:txBody>
      </p:sp>
      <p:sp>
        <p:nvSpPr>
          <p:cNvPr id="6" name="Topic card"/>
          <p:cNvSpPr/>
          <p:nvPr/>
        </p:nvSpPr>
        <p:spPr>
          <a:xfrm>
            <a:off x="731520" y="283464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Justin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scope, risks, conclusion</a:t>
            </a:r>
            <a:endParaRPr lang="en-US" sz="1400" dirty="0"/>
          </a:p>
        </p:txBody>
      </p:sp>
      <p:sp>
        <p:nvSpPr>
          <p:cNvPr id="9" name="Topic card"/>
          <p:cNvSpPr/>
          <p:nvPr/>
        </p:nvSpPr>
        <p:spPr>
          <a:xfrm>
            <a:off x="4297680" y="283464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Glenn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system, controls, tests</a:t>
            </a:r>
            <a:endParaRPr lang="en-US" sz="1400" dirty="0"/>
          </a:p>
        </p:txBody>
      </p:sp>
      <p:sp>
        <p:nvSpPr>
          <p:cNvPr id="12" name="Topic card"/>
          <p:cNvSpPr/>
          <p:nvPr/>
        </p:nvSpPr>
        <p:spPr>
          <a:xfrm>
            <a:off x="7863840" y="2834640"/>
            <a:ext cx="3383280" cy="1097280"/>
          </a:xfrm>
          <a:prstGeom prst="roundRect">
            <a:avLst>
              <a:gd name="adj" fmla="val 833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Jenifer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findings, actions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Evidence on request: EVD index (20 items), test workpapers, REV/AI logs, build lineage - all in the final report.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404NotFound  |  Justin C. Batlangao  |  Glenn Patrick B. Darriguez  |  Ma. Jenifer L. Labag  |  MCST Library (Head Librarian Calixto Nicolas Camangeg)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ST Audit">
  <a:themeElements>
    <a:clrScheme name="MCST Audit">
      <a:dk1>
        <a:srgbClr val="14232E"/>
      </a:dk1>
      <a:lt1>
        <a:srgbClr val="FFFFFF"/>
      </a:lt1>
      <a:dk2>
        <a:srgbClr val="0C2A38"/>
      </a:dk2>
      <a:lt2>
        <a:srgbClr val="EEF3F5"/>
      </a:lt2>
      <a:accent1>
        <a:srgbClr val="0F766E"/>
      </a:accent1>
      <a:accent2>
        <a:srgbClr val="C2410C"/>
      </a:accent2>
      <a:accent3>
        <a:srgbClr val="B91C1C"/>
      </a:accent3>
      <a:accent4>
        <a:srgbClr val="15803D"/>
      </a:accent4>
      <a:accent5>
        <a:srgbClr val="B45309"/>
      </a:accent5>
      <a:accent6>
        <a:srgbClr val="64748B"/>
      </a:accent6>
      <a:hlink>
        <a:srgbClr val="0F766E"/>
      </a:hlink>
      <a:folHlink>
        <a:srgbClr val="64748B"/>
      </a:folHlink>
    </a:clrScheme>
    <a:fontScheme name="MCST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Audit of the MCST Library Management System</dc:title>
  <dc:subject>PptxGenJS Presentation</dc:subject>
  <dc:creator>404NotFound</dc:creator>
  <cp:lastModifiedBy>404NotFound</cp:lastModifiedBy>
  <cp:revision>1</cp:revision>
  <dcterms:created xsi:type="dcterms:W3CDTF">2026-10-23T14:24:40Z</dcterms:created>
  <dcterms:modified xsi:type="dcterms:W3CDTF">2026-10-23T14:24:40Z</dcterms:modified>
</cp:coreProperties>
</file>